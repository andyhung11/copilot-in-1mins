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CoworkPlaybook" TargetMode="External"/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5" Type="http://schemas.openxmlformats.org/officeDocument/2006/relationships/image" Target="../media/image-25-4.png"/><Relationship Id="rId6" Type="http://schemas.openxmlformats.org/officeDocument/2006/relationships/image" Target="../media/image-25-5.png"/><Relationship Id="rId7" Type="http://schemas.openxmlformats.org/officeDocument/2006/relationships/image" Target="../media/image-25-6.png"/><Relationship Id="rId8" Type="http://schemas.openxmlformats.org/officeDocument/2006/relationships/image" Target="../media/image-25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813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3504" y="18745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640080" y="3154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FC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 AI 的实战工作流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7 个电信网络运维的真实场景，看 Copilot 如何跨应用多步执行，并在中高风险操作前显示风险等级、等你批准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3840480" cy="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培训演示文稿 · 客户分享版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今天的内容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37360" y="17007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 Cowork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37360" y="21214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什么是代理式 AI，和一般 Copilot Chat 有什么不同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737360" y="26151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核心能力与运作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737360" y="3035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技能、工作区、操作前审批、自检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34930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737360" y="3529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练习环境准备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737360" y="39502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素材课前放进 OneDrive 和邮箱，让 Cowork 自己去找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44074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737360" y="44439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七大实战场景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737360" y="48646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告警收敛找根因、换机维护窗口、专线 SLA 赔偿、监管通报、资费容量冲击、调取令回复、质量月报诠释，逐一拆解工作流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3218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737360" y="53583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用到你的日常工作里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37360" y="57790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如何把这些场景延伸到自己的工作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IS COWORK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从「对话」到「代理执行」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是 Copilot 的</a:t>
            </a:r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代理式（agentic）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工作模式。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你交付一个目标，它会自己拆解步骤、读取云端文件、加载需要的技能，跨应用产出成果并自检——中高风险操作会显示风险等级并停下来请你批准。你从「快速单轮问答」升级为「交付一个可执行的任务」。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611880"/>
            <a:ext cx="3454298" cy="82296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9319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 Chat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0120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快速单轮问答；适合即时回答和头脑风暴。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68698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8698" y="3611880"/>
            <a:ext cx="3454298" cy="8229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738" y="39319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88738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代理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88738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你给目标，它跨应用多步骤自主执行，可以运行几分钟到几小时。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97317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97317" y="3611880"/>
            <a:ext cx="3454298" cy="8229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357" y="39319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7357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你仍然主导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17357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对外或影响别人的操作，一律先暂停等你批准。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与一般 Copilot Chat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solidFill>
            <a:srgbClr val="0F1031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 Copilot Chat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Cowork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交付目标，跨应用自主多步执行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快速单轮问答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2194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交付目标，跨应用自主多步执行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分钟～数小时（自主执行）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661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秒～分钟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89520" y="2651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分钟～数小时（自主执行）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跨任务与来源的多步骤工作流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6616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单步骤、单个会话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89520" y="3108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跨任务与来源的多步骤工作流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读取云端附件、产出新文件；不访问本地文件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6616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粘贴片段内容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0" y="3566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读取云端附件、产出新文件；不访问本地文件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0233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自动加载 14 个内置技能和自定义技能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56616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单一对话能力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0" y="40233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自动加载 14 个内置技能和自定义技能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4805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OneDrive 里真实的文档、电子表格、演示文稿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6616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聊天窗口里的文字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89520" y="4480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OneDrive 里真实的文档、电子表格、演示文稿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937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计划提示／事件触发：收到邮件或被 @提及时自动执行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56616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每次都要你打开并下指令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589520" y="4937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计划提示／事件触发：收到邮件或被 @提及时自动执行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53949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394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可以通过 Plugins／MCP 连外部系统，官方目录已有 92 个合作伙伴 plugin（D365、SAP、Fabric 等）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566160" y="5394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接地于 M365 数据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589520" y="5394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可以通过 Plugins／MCP 连外部系统，官方目录已有 92 个合作伙伴 plugin（D365、SAP、Fabric 等）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5852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中高风险操作显示风险等级，批准后才执行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566160" y="5852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你自己判断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589520" y="5852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中高风险操作显示风险等级，批准后才执行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四个让 Cowork 不一样的能力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0848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7A4DD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295144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1214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个内置技能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11680" y="26060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Word、Excel、PowerPoint、PDF、Email、Scheduling、Calendar Management、Meetings、Daily Briefing、Enterprise Search、Deep Research、Communications、Adaptive Cards、App（Frontier）。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44488" y="20848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F6CB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800" y="2295144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96048" y="21214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工作区 Workspace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96048" y="26060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右侧面板同时显示进度、输入文件、输出文件、已加载技能、计划任务和已批准的权限，过程透明可追溯。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2519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5994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A8F5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809744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6360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操作前审批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011680" y="51206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中高风险操作显示 RISK-LEVEL；可以批准、取消，或者设置仅限此收件人／仅限此域名／始终允许；多条待审可以一起批准。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324448" y="42519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44488" y="45994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CA501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800" y="4809744"/>
            <a:ext cx="448056" cy="4480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96048" y="46360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新能力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696048" y="51206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计划提示（上限 25 个）和事件触发任务、工作量级别五档调节质量与成本、自定义技能创建后自动生成技能报告（0–100 分四个维度，另有含安全与 RAI 扫描的 5 道独立关卡）、本机 Edge 浏览器（2026/8 GA）、图像生成、Plugins／MCP 连外部系统。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一次代理式工作流，背后发生什么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241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86207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接收目标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上传文件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下达指令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757" y="297180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07833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10169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761" y="286207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07833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规划拆解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507833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理解任务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拆成步骤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10" y="297180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37558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77923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515" y="286207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7558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加载技能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37558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内置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自定义技能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264" y="2971800"/>
            <a:ext cx="201168" cy="20116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4334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64567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0268" y="2862072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4334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执行产出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24334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创建文档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电子表格／邮件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017" y="2971800"/>
            <a:ext cx="201168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111094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513430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8022" y="2862072"/>
            <a:ext cx="438912" cy="43891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111094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8111094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核对数字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与一致性</a:t>
            </a:r>
            <a:endParaRPr lang="en-US" sz="12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0770" y="2971800"/>
            <a:ext cx="201168" cy="201168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997884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10381183" y="269748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5775" y="2862072"/>
            <a:ext cx="438912" cy="43891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97884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操作前审批</a:t>
            </a:r>
            <a:endParaRPr lang="en-US" sz="1400" dirty="0"/>
          </a:p>
        </p:txBody>
      </p:sp>
      <p:sp>
        <p:nvSpPr>
          <p:cNvPr id="39" name="Text 26"/>
          <p:cNvSpPr/>
          <p:nvPr/>
        </p:nvSpPr>
        <p:spPr>
          <a:xfrm>
            <a:off x="997884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对外操作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等你批准</a:t>
            </a:r>
            <a:endParaRPr lang="en-US" sz="1200" dirty="0"/>
          </a:p>
        </p:txBody>
      </p:sp>
      <p:sp>
        <p:nvSpPr>
          <p:cNvPr id="40" name="Text 27"/>
          <p:cNvSpPr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整个过程在「工作区」面板里透明呈现；可以软／硬暂停、恢复或取消任务。</a:t>
            </a:r>
            <a:endParaRPr lang="en-US" sz="1400" dirty="0"/>
          </a:p>
        </p:txBody>
      </p:sp>
      <p:sp>
        <p:nvSpPr>
          <p:cNvPr id="41" name="Text 28"/>
          <p:cNvSpPr/>
          <p:nvPr/>
        </p:nvSpPr>
        <p:spPr>
          <a:xfrm>
            <a:off x="640080" y="52852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启动方式不只是聊天下指令：也能设置「收到指定邮件／被 @提及时」自动触发（事件驱动任务），一样走相同的自检和审批流程。</a:t>
            </a:r>
            <a:endParaRPr lang="en-US" sz="1300" dirty="0"/>
          </a:p>
        </p:txBody>
      </p:sp>
      <p:sp>
        <p:nvSpPr>
          <p:cNvPr id="42" name="Text 2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练习环境准备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素材课前先放进 OneDrive 的 文件/Cowork_Lab/电信运维/，练习时 Cowork 自己去找 · 准备时间 约 20 分钟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📅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43584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先看懂这份教材的日期设定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43584" y="2194560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素材里的日期是固定写死的模拟日期：场景当下是 2026-11-16，数据截止日是 2026-11-13…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78728" y="1874520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874520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3320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82232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 OneDrive 文件夹，把七个场景的素材放进去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82232" y="2194560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OneDrive 建立 文件/Cowork_Lab/电信运维/，底下再开七个子文件夹：TEL1_告警收敛…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779776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779776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283464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43584" y="282549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把联系人清单放在母层，并填上真的收得到信的账号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43584" y="3099816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联系人清单.md 要放在 电信运维 母文件夹，不要放进任何子文件夹。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78728" y="2779776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2779776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443320" y="283464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📧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82232" y="282549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发一封邮件给自己（场景 1 的背景）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82232" y="3099816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用你自己的账号发给自己，主题请照抄：夜班交接事项（2026-11-15 23:00 – 2026-11-16 0…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3685032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685032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373989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43584" y="373075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建好“网络战情室”频道，贴第一条（场景 1 专用）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243584" y="4005072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在你有权限的任一团队底下建立名为 网络战情室 的频道，并确认自己是成员。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78728" y="3685032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78728" y="3685032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6443320" y="373989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💾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82232" y="373075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上傳用/ 的两个文件下载到电脑，不要放进 OneDrive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882232" y="4005072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TEL5_既有方案用量分布.csv（场景 5）和TEL6_调取令.pdf（场景 6）是练习中当场上传的。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4590288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4590288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804672" y="4645152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🧩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43584" y="4636008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确认技能路径可写入，并用桌面版做场景 3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243584" y="4910328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3 会请 Cowork 建立自定义技能，写到 OneDrive/文档/Cowork/skills/sla-…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78728" y="4590288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78728" y="4590288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6443320" y="4645152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♻️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882232" y="4636008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3 会就地改文件，想重做要先还原素材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882232" y="4910328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3 的第四步会直接修改 OneDrive 上的 TEL3_专线故障记录.xlsx（加两列、加一个工作表）…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0080" y="5532120"/>
            <a:ext cx="1091153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" y="5532120"/>
            <a:ext cx="91440" cy="7498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8" name="Text 46"/>
          <p:cNvSpPr/>
          <p:nvPr/>
        </p:nvSpPr>
        <p:spPr>
          <a:xfrm>
            <a:off x="914400" y="5614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开课前最后检查</a:t>
            </a:r>
            <a:endParaRPr lang="en-US" sz="1200" dirty="0"/>
          </a:p>
        </p:txBody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5641848"/>
            <a:ext cx="155448" cy="155448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2999232" y="5586984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OneDrive 的“电信运维”底下七个子文件夹都看得到，文件打得开</a:t>
            </a:r>
            <a:endParaRPr lang="en-US" sz="1050" dirty="0"/>
          </a:p>
        </p:txBody>
      </p:sp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5852160"/>
            <a:ext cx="155448" cy="155448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2999232" y="5797296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联系人清单在“电信运维”母层，不是在子文件夹里，而且邮箱栏已经填了收得到信的账号</a:t>
            </a:r>
            <a:endParaRPr lang="en-US" sz="1050" dirty="0"/>
          </a:p>
        </p:txBody>
      </p:sp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6062472"/>
            <a:ext cx="155448" cy="155448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2999232" y="6007608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邮箱里有那封夜班交接邮件，在收件箱不在垃圾邮件</a:t>
            </a:r>
            <a:endParaRPr lang="en-US" sz="1050" dirty="0"/>
          </a:p>
        </p:txBody>
      </p:sp>
      <p:sp>
        <p:nvSpPr>
          <p:cNvPr id="55" name="Text 5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56" name="Text 51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SCENARIOS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七大实战场景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355010" cy="109728"/>
          </a:xfrm>
          <a:prstGeom prst="rect">
            <a:avLst/>
          </a:prstGeom>
          <a:solidFill>
            <a:srgbClr val="0B2F3A"/>
          </a:solidFill>
          <a:ln/>
        </p:spPr>
      </p:sp>
      <p:sp>
        <p:nvSpPr>
          <p:cNvPr id="7" name="Shape 5"/>
          <p:cNvSpPr/>
          <p:nvPr/>
        </p:nvSpPr>
        <p:spPr>
          <a:xfrm>
            <a:off x="860385" y="2194560"/>
            <a:ext cx="914400" cy="914400"/>
          </a:xfrm>
          <a:prstGeom prst="ellipse">
            <a:avLst/>
          </a:prstGeom>
          <a:solidFill>
            <a:srgbClr val="0B2F3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553" y="239572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163824"/>
            <a:ext cx="1172130" cy="161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8" b="1" dirty="0">
                <a:solidFill>
                  <a:srgbClr val="0B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电信业 · 网络运维</a:t>
            </a:r>
            <a:endParaRPr lang="en-US" sz="978" dirty="0"/>
          </a:p>
        </p:txBody>
      </p:sp>
      <p:sp>
        <p:nvSpPr>
          <p:cNvPr id="10" name="Text 7"/>
          <p:cNvSpPr/>
          <p:nvPr/>
        </p:nvSpPr>
        <p:spPr>
          <a:xfrm>
            <a:off x="731520" y="3380073"/>
            <a:ext cx="1172130" cy="842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凌晨三点的四十条告警：最多的那个不是根因</a:t>
            </a:r>
            <a:endParaRPr lang="en-US" sz="1275" dirty="0"/>
          </a:p>
        </p:txBody>
      </p:sp>
      <p:sp>
        <p:nvSpPr>
          <p:cNvPr id="11" name="Text 8"/>
          <p:cNvSpPr/>
          <p:nvPr/>
        </p:nvSpPr>
        <p:spPr>
          <a:xfrm>
            <a:off x="731520" y="4304379"/>
            <a:ext cx="1172130" cy="673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 Cards · Excel · Teams · 事件触发 Event trigger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731520" y="5060283"/>
            <a:ext cx="1172130" cy="308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20 分钟</a:t>
            </a:r>
            <a:endParaRPr lang="en-US" sz="935" dirty="0"/>
          </a:p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★★★</a:t>
            </a:r>
            <a:endParaRPr lang="en-US" sz="935" dirty="0"/>
          </a:p>
        </p:txBody>
      </p:sp>
      <p:sp>
        <p:nvSpPr>
          <p:cNvPr id="13" name="Shape 10"/>
          <p:cNvSpPr/>
          <p:nvPr/>
        </p:nvSpPr>
        <p:spPr>
          <a:xfrm>
            <a:off x="2232834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232834" y="1828800"/>
            <a:ext cx="1355010" cy="109728"/>
          </a:xfrm>
          <a:prstGeom prst="rect">
            <a:avLst/>
          </a:prstGeom>
          <a:solidFill>
            <a:srgbClr val="14364A"/>
          </a:solidFill>
          <a:ln/>
        </p:spPr>
      </p:sp>
      <p:sp>
        <p:nvSpPr>
          <p:cNvPr id="15" name="Shape 12"/>
          <p:cNvSpPr/>
          <p:nvPr/>
        </p:nvSpPr>
        <p:spPr>
          <a:xfrm>
            <a:off x="2453139" y="2194560"/>
            <a:ext cx="914400" cy="914400"/>
          </a:xfrm>
          <a:prstGeom prst="ellipse">
            <a:avLst/>
          </a:prstGeom>
          <a:solidFill>
            <a:srgbClr val="14364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7" y="2395728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324274" y="3163824"/>
            <a:ext cx="1172130" cy="161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8" b="1" dirty="0">
                <a:solidFill>
                  <a:srgbClr val="14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电信业 · 网络运维</a:t>
            </a:r>
            <a:endParaRPr lang="en-US" sz="978" dirty="0"/>
          </a:p>
        </p:txBody>
      </p:sp>
      <p:sp>
        <p:nvSpPr>
          <p:cNvPr id="18" name="Text 14"/>
          <p:cNvSpPr/>
          <p:nvPr/>
        </p:nvSpPr>
        <p:spPr>
          <a:xfrm>
            <a:off x="2324274" y="3380073"/>
            <a:ext cx="1172130" cy="10525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换机窗口：消费用户最少的那三小时，正好一个都不能动</a:t>
            </a:r>
            <a:endParaRPr lang="en-US" sz="1275" dirty="0"/>
          </a:p>
        </p:txBody>
      </p:sp>
      <p:sp>
        <p:nvSpPr>
          <p:cNvPr id="19" name="Text 15"/>
          <p:cNvSpPr/>
          <p:nvPr/>
        </p:nvSpPr>
        <p:spPr>
          <a:xfrm>
            <a:off x="2324274" y="4514882"/>
            <a:ext cx="1172130" cy="5052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· 会议排程 Scheduling · Email</a:t>
            </a:r>
            <a:endParaRPr lang="en-US" sz="1020" dirty="0"/>
          </a:p>
        </p:txBody>
      </p:sp>
      <p:sp>
        <p:nvSpPr>
          <p:cNvPr id="20" name="Text 16"/>
          <p:cNvSpPr/>
          <p:nvPr/>
        </p:nvSpPr>
        <p:spPr>
          <a:xfrm>
            <a:off x="2324274" y="5102384"/>
            <a:ext cx="1172130" cy="308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15 分钟</a:t>
            </a:r>
            <a:endParaRPr lang="en-US" sz="935" dirty="0"/>
          </a:p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★★☆</a:t>
            </a:r>
            <a:endParaRPr lang="en-US" sz="935" dirty="0"/>
          </a:p>
        </p:txBody>
      </p:sp>
      <p:sp>
        <p:nvSpPr>
          <p:cNvPr id="21" name="Shape 17"/>
          <p:cNvSpPr/>
          <p:nvPr/>
        </p:nvSpPr>
        <p:spPr>
          <a:xfrm>
            <a:off x="3825588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825588" y="1828800"/>
            <a:ext cx="1355010" cy="1097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3" name="Shape 19"/>
          <p:cNvSpPr/>
          <p:nvPr/>
        </p:nvSpPr>
        <p:spPr>
          <a:xfrm>
            <a:off x="4045893" y="2194560"/>
            <a:ext cx="914400" cy="914400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061" y="2395728"/>
            <a:ext cx="512064" cy="5120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917028" y="3163824"/>
            <a:ext cx="1172130" cy="1480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97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电信业 · 网络运维</a:t>
            </a:r>
            <a:endParaRPr lang="en-US" sz="897" dirty="0"/>
          </a:p>
        </p:txBody>
      </p:sp>
      <p:sp>
        <p:nvSpPr>
          <p:cNvPr id="26" name="Text 21"/>
          <p:cNvSpPr/>
          <p:nvPr/>
        </p:nvSpPr>
        <p:spPr>
          <a:xfrm>
            <a:off x="3917028" y="3366783"/>
            <a:ext cx="1172130" cy="772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月可用率达标，照样要赔：合同里的第二道门槛</a:t>
            </a:r>
            <a:endParaRPr lang="en-US" sz="1170" dirty="0"/>
          </a:p>
        </p:txBody>
      </p:sp>
      <p:sp>
        <p:nvSpPr>
          <p:cNvPr id="27" name="Text 22"/>
          <p:cNvSpPr/>
          <p:nvPr/>
        </p:nvSpPr>
        <p:spPr>
          <a:xfrm>
            <a:off x="3917028" y="4221747"/>
            <a:ext cx="1172130" cy="618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6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· 编辑既有文件 Edit existing file · 自定义技能 Skill</a:t>
            </a:r>
            <a:endParaRPr lang="en-US" sz="936" dirty="0"/>
          </a:p>
        </p:txBody>
      </p:sp>
      <p:sp>
        <p:nvSpPr>
          <p:cNvPr id="28" name="Text 23"/>
          <p:cNvSpPr/>
          <p:nvPr/>
        </p:nvSpPr>
        <p:spPr>
          <a:xfrm>
            <a:off x="3917028" y="4922177"/>
            <a:ext cx="1172130" cy="28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25 分钟</a:t>
            </a:r>
            <a:endParaRPr lang="en-US" sz="858" dirty="0"/>
          </a:p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★★★</a:t>
            </a:r>
            <a:endParaRPr lang="en-US" sz="858" dirty="0"/>
          </a:p>
        </p:txBody>
      </p:sp>
      <p:sp>
        <p:nvSpPr>
          <p:cNvPr id="29" name="Shape 24"/>
          <p:cNvSpPr/>
          <p:nvPr/>
        </p:nvSpPr>
        <p:spPr>
          <a:xfrm>
            <a:off x="5418343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418343" y="1828800"/>
            <a:ext cx="1355010" cy="109728"/>
          </a:xfrm>
          <a:prstGeom prst="rect">
            <a:avLst/>
          </a:prstGeom>
          <a:solidFill>
            <a:srgbClr val="4A2B14"/>
          </a:solidFill>
          <a:ln/>
        </p:spPr>
      </p:sp>
      <p:sp>
        <p:nvSpPr>
          <p:cNvPr id="31" name="Shape 26"/>
          <p:cNvSpPr/>
          <p:nvPr/>
        </p:nvSpPr>
        <p:spPr>
          <a:xfrm>
            <a:off x="5638648" y="2194560"/>
            <a:ext cx="914400" cy="914400"/>
          </a:xfrm>
          <a:prstGeom prst="ellipse">
            <a:avLst/>
          </a:prstGeom>
          <a:solidFill>
            <a:srgbClr val="4A2B14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816" y="2395728"/>
            <a:ext cx="512064" cy="51206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509783" y="3163824"/>
            <a:ext cx="1172130" cy="161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8" b="1" dirty="0">
                <a:solidFill>
                  <a:srgbClr val="4A2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电信业 · 网络运维</a:t>
            </a:r>
            <a:endParaRPr lang="en-US" sz="978" dirty="0"/>
          </a:p>
        </p:txBody>
      </p:sp>
      <p:sp>
        <p:nvSpPr>
          <p:cNvPr id="34" name="Text 28"/>
          <p:cNvSpPr/>
          <p:nvPr/>
        </p:nvSpPr>
        <p:spPr>
          <a:xfrm>
            <a:off x="5509783" y="3380073"/>
            <a:ext cx="1172130" cy="631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户数没到门槛，两小时的钟却已经在走</a:t>
            </a:r>
            <a:endParaRPr lang="en-US" sz="1275" dirty="0"/>
          </a:p>
        </p:txBody>
      </p:sp>
      <p:sp>
        <p:nvSpPr>
          <p:cNvPr id="35" name="Text 29"/>
          <p:cNvSpPr/>
          <p:nvPr/>
        </p:nvSpPr>
        <p:spPr>
          <a:xfrm>
            <a:off x="5509783" y="4093877"/>
            <a:ext cx="1172130" cy="1010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沟通撰写 Communications · Excel · Email · 计划提示 Scheduled prompt</a:t>
            </a:r>
            <a:endParaRPr lang="en-US" sz="1020" dirty="0"/>
          </a:p>
        </p:txBody>
      </p:sp>
      <p:sp>
        <p:nvSpPr>
          <p:cNvPr id="36" name="Text 30"/>
          <p:cNvSpPr/>
          <p:nvPr/>
        </p:nvSpPr>
        <p:spPr>
          <a:xfrm>
            <a:off x="5509783" y="5186585"/>
            <a:ext cx="1172130" cy="308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20 分钟</a:t>
            </a:r>
            <a:endParaRPr lang="en-US" sz="935" dirty="0"/>
          </a:p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★★★</a:t>
            </a:r>
            <a:endParaRPr lang="en-US" sz="935" dirty="0"/>
          </a:p>
        </p:txBody>
      </p:sp>
      <p:sp>
        <p:nvSpPr>
          <p:cNvPr id="37" name="Shape 31"/>
          <p:cNvSpPr/>
          <p:nvPr/>
        </p:nvSpPr>
        <p:spPr>
          <a:xfrm>
            <a:off x="7011097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011097" y="1828800"/>
            <a:ext cx="1355010" cy="109728"/>
          </a:xfrm>
          <a:prstGeom prst="rect">
            <a:avLst/>
          </a:prstGeom>
          <a:solidFill>
            <a:srgbClr val="2C1F4A"/>
          </a:solidFill>
          <a:ln/>
        </p:spPr>
      </p:sp>
      <p:sp>
        <p:nvSpPr>
          <p:cNvPr id="39" name="Shape 33"/>
          <p:cNvSpPr/>
          <p:nvPr/>
        </p:nvSpPr>
        <p:spPr>
          <a:xfrm>
            <a:off x="7231402" y="2194560"/>
            <a:ext cx="914400" cy="914400"/>
          </a:xfrm>
          <a:prstGeom prst="ellipse">
            <a:avLst/>
          </a:prstGeom>
          <a:solidFill>
            <a:srgbClr val="2C1F4A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2570" y="2395728"/>
            <a:ext cx="512064" cy="5120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102537" y="3163824"/>
            <a:ext cx="1172130" cy="349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8" b="1" dirty="0">
                <a:solidFill>
                  <a:srgbClr val="2C1F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电信业 · 网络运维</a:t>
            </a:r>
            <a:endParaRPr lang="en-US" sz="1058" dirty="0"/>
          </a:p>
        </p:txBody>
      </p:sp>
      <p:sp>
        <p:nvSpPr>
          <p:cNvPr id="42" name="Text 35"/>
          <p:cNvSpPr/>
          <p:nvPr/>
        </p:nvSpPr>
        <p:spPr>
          <a:xfrm>
            <a:off x="7102537" y="3568040"/>
            <a:ext cx="1172130" cy="6835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用平均值算，这个促案很安全</a:t>
            </a:r>
            <a:endParaRPr lang="en-US" sz="1380" dirty="0"/>
          </a:p>
        </p:txBody>
      </p:sp>
      <p:sp>
        <p:nvSpPr>
          <p:cNvPr id="43" name="Text 36"/>
          <p:cNvSpPr/>
          <p:nvPr/>
        </p:nvSpPr>
        <p:spPr>
          <a:xfrm>
            <a:off x="7102537" y="4333850"/>
            <a:ext cx="1172130" cy="5468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4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上传文件 File upload · Excel · PowerPoint</a:t>
            </a:r>
            <a:endParaRPr lang="en-US" sz="1104" dirty="0"/>
          </a:p>
        </p:txBody>
      </p:sp>
      <p:sp>
        <p:nvSpPr>
          <p:cNvPr id="44" name="Text 37"/>
          <p:cNvSpPr/>
          <p:nvPr/>
        </p:nvSpPr>
        <p:spPr>
          <a:xfrm>
            <a:off x="7102537" y="4962957"/>
            <a:ext cx="1172130" cy="3341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12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25 分钟</a:t>
            </a:r>
            <a:endParaRPr lang="en-US" sz="1012" dirty="0"/>
          </a:p>
          <a:p>
            <a:pPr algn="ctr" indent="0" marL="0">
              <a:buNone/>
            </a:pPr>
            <a:r>
              <a:rPr lang="en-US" sz="1012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★★★</a:t>
            </a:r>
            <a:endParaRPr lang="en-US" sz="1012" dirty="0"/>
          </a:p>
        </p:txBody>
      </p:sp>
      <p:sp>
        <p:nvSpPr>
          <p:cNvPr id="45" name="Shape 38"/>
          <p:cNvSpPr/>
          <p:nvPr/>
        </p:nvSpPr>
        <p:spPr>
          <a:xfrm>
            <a:off x="8603851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8603851" y="1828800"/>
            <a:ext cx="1355010" cy="109728"/>
          </a:xfrm>
          <a:prstGeom prst="rect">
            <a:avLst/>
          </a:prstGeom>
          <a:solidFill>
            <a:srgbClr val="3A2340"/>
          </a:solidFill>
          <a:ln/>
        </p:spPr>
      </p:sp>
      <p:sp>
        <p:nvSpPr>
          <p:cNvPr id="47" name="Shape 40"/>
          <p:cNvSpPr/>
          <p:nvPr/>
        </p:nvSpPr>
        <p:spPr>
          <a:xfrm>
            <a:off x="8824156" y="2194560"/>
            <a:ext cx="914400" cy="914400"/>
          </a:xfrm>
          <a:prstGeom prst="ellipse">
            <a:avLst/>
          </a:prstGeom>
          <a:solidFill>
            <a:srgbClr val="3A2340"/>
          </a:solidFill>
          <a:ln/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5324" y="2395728"/>
            <a:ext cx="512064" cy="512064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8695291" y="3163824"/>
            <a:ext cx="1172130" cy="3797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2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电信业 · 网络运维</a:t>
            </a:r>
            <a:endParaRPr lang="en-US" sz="1150" dirty="0"/>
          </a:p>
        </p:txBody>
      </p:sp>
      <p:sp>
        <p:nvSpPr>
          <p:cNvPr id="50" name="Text 42"/>
          <p:cNvSpPr/>
          <p:nvPr/>
        </p:nvSpPr>
        <p:spPr>
          <a:xfrm>
            <a:off x="8695291" y="3598418"/>
            <a:ext cx="1172130" cy="742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这张令状不能全给，也不能全拒</a:t>
            </a:r>
            <a:endParaRPr lang="en-US" sz="1500" dirty="0"/>
          </a:p>
        </p:txBody>
      </p:sp>
      <p:sp>
        <p:nvSpPr>
          <p:cNvPr id="51" name="Text 43"/>
          <p:cNvSpPr/>
          <p:nvPr/>
        </p:nvSpPr>
        <p:spPr>
          <a:xfrm>
            <a:off x="8695291" y="4423664"/>
            <a:ext cx="117213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上传文件 File upload · PDF · Word</a:t>
            </a:r>
            <a:endParaRPr lang="en-US" sz="1200" dirty="0"/>
          </a:p>
        </p:txBody>
      </p:sp>
      <p:sp>
        <p:nvSpPr>
          <p:cNvPr id="52" name="Text 44"/>
          <p:cNvSpPr/>
          <p:nvPr/>
        </p:nvSpPr>
        <p:spPr>
          <a:xfrm>
            <a:off x="8695291" y="5100320"/>
            <a:ext cx="1172130" cy="363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20 分钟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★★★</a:t>
            </a:r>
            <a:endParaRPr lang="en-US" sz="1100" dirty="0"/>
          </a:p>
        </p:txBody>
      </p:sp>
      <p:sp>
        <p:nvSpPr>
          <p:cNvPr id="53" name="Shape 45"/>
          <p:cNvSpPr/>
          <p:nvPr/>
        </p:nvSpPr>
        <p:spPr>
          <a:xfrm>
            <a:off x="10196605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54" name="Shape 46"/>
          <p:cNvSpPr/>
          <p:nvPr/>
        </p:nvSpPr>
        <p:spPr>
          <a:xfrm>
            <a:off x="10196605" y="1828800"/>
            <a:ext cx="1355010" cy="109728"/>
          </a:xfrm>
          <a:prstGeom prst="rect">
            <a:avLst/>
          </a:prstGeom>
          <a:solidFill>
            <a:srgbClr val="143A2C"/>
          </a:solidFill>
          <a:ln/>
        </p:spPr>
      </p:sp>
      <p:sp>
        <p:nvSpPr>
          <p:cNvPr id="55" name="Shape 47"/>
          <p:cNvSpPr/>
          <p:nvPr/>
        </p:nvSpPr>
        <p:spPr>
          <a:xfrm>
            <a:off x="10416910" y="2194560"/>
            <a:ext cx="914400" cy="914400"/>
          </a:xfrm>
          <a:prstGeom prst="ellipse">
            <a:avLst/>
          </a:prstGeom>
          <a:solidFill>
            <a:srgbClr val="143A2C"/>
          </a:solidFill>
          <a:ln/>
        </p:spPr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8078" y="2395728"/>
            <a:ext cx="512064" cy="512064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10288045" y="3163824"/>
            <a:ext cx="1172130" cy="161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8" b="1" dirty="0">
                <a:solidFill>
                  <a:srgbClr val="143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电信业 · 网络运维</a:t>
            </a:r>
            <a:endParaRPr lang="en-US" sz="978" dirty="0"/>
          </a:p>
        </p:txBody>
      </p:sp>
      <p:sp>
        <p:nvSpPr>
          <p:cNvPr id="58" name="Text 49"/>
          <p:cNvSpPr/>
          <p:nvPr/>
        </p:nvSpPr>
        <p:spPr>
          <a:xfrm>
            <a:off x="10288045" y="3380073"/>
            <a:ext cx="1172130" cy="631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全网达标的那个月，有一个区崩了</a:t>
            </a:r>
            <a:endParaRPr lang="en-US" sz="1275" dirty="0"/>
          </a:p>
        </p:txBody>
      </p:sp>
      <p:sp>
        <p:nvSpPr>
          <p:cNvPr id="59" name="Text 50"/>
          <p:cNvSpPr/>
          <p:nvPr/>
        </p:nvSpPr>
        <p:spPr>
          <a:xfrm>
            <a:off x="10288045" y="4093877"/>
            <a:ext cx="1172130" cy="842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每日简报 Daily Briefing · Excel · 企业搜索 Enterprise Search</a:t>
            </a:r>
            <a:endParaRPr lang="en-US" sz="1020" dirty="0"/>
          </a:p>
        </p:txBody>
      </p:sp>
      <p:sp>
        <p:nvSpPr>
          <p:cNvPr id="60" name="Text 51"/>
          <p:cNvSpPr/>
          <p:nvPr/>
        </p:nvSpPr>
        <p:spPr>
          <a:xfrm>
            <a:off x="10288045" y="5018183"/>
            <a:ext cx="1172130" cy="308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20 分钟</a:t>
            </a:r>
            <a:endParaRPr lang="en-US" sz="935" dirty="0"/>
          </a:p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★★☆</a:t>
            </a:r>
            <a:endParaRPr lang="en-US" sz="935" dirty="0"/>
          </a:p>
        </p:txBody>
      </p:sp>
      <p:sp>
        <p:nvSpPr>
          <p:cNvPr id="61" name="Text 5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62" name="Text 53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2F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B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B2F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电信业 · 网络运维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凌晨三点的四十条告警：最多的那个不是根因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20 分钟 · 难度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71907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 Cards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404872" y="457200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2404872" y="457200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5577840"/>
            <a:ext cx="245059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577840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事件触发 Event trigger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凌晨三点十二分，告警台在半小时内跳出三十八条。值班只有一个人，派工车队只有两组。难的地方不是看不懂告警，是告警数量跟起因没有关系 —— 真正故障的那一台只发了一条，被它拖下水的二十三个小区合计发了三十五条。按数量排序处理，你会先派二十几趟车去修症状。这个场景最后把它设成下次告警邮件进来就自己跑一遍。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26280" y="165506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11226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B2F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112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09397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先让它把三十八条收敛成“几件事”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45973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不用上传任何文件。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29718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B2F3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29535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现在才问根因，并要它说出判断依据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3192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收敛完再问。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383133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B2F3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38130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做成值班台上能直接用的派工卡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17880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凌晨三点不会有人读长文。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46908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B2F3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4690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46725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贴回网络战情室，让下一班看得到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0383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这一步会真的贴到 Teams，会弹出审批卡。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526280" y="55504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B2F3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262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166360" y="5532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设成下次告警邮件进来就自己跑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16636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这一步会真的建立一个事件触发，练习结束后记得停用。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B2F3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01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tel1_01_inpu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tel1_05b_fired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0B2F3A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收敛后的事件数远少于三十八，而且每一条告警都归到了某一个上层网元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根因是下游节点**全部**告警的那一个母站，不是告警条数最多的网元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明确点出“全部 vs 部分”是判准，而不是只说“因为它是母站”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36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4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1436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电信业 · 网络运维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换机窗口：消费用户最少的那三小时，正好一个都不能动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15 分钟 · 难度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499616" y="4572000"/>
            <a:ext cx="2148840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1499616" y="4572000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会议排程 Scheduling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Email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要升级的是上一个场景里故障的那台汇聚节点，作业三小时，必须断。直觉是挑凌晨 —— 消费用户最少。但电信公司有两种客户，而他们的高峰刚好错开：消费者的低谷正是企业批量传输的高峰，而且凌晨还落在住宅区的噪音管制时段内。三个条件各否决一个方案，否决的理由彼此无关，所以没办法用“这案消费用户特别少”去抵别的。最后要把可行的那一案排成真的会议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26280" y="234086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79806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36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77977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让它逐案过三关，而不是给你一个总分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314553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不用上传。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71551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36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715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69722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追问那个“最安静”的窗口为什么反倒不行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406298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三案判完之后再问，否则它会把这个解释塞进上一题的结论里。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63296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36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632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61467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把可行的那一案排成真的协调会议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98043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这一步会真的发出会议邀请，收件人从联系人清单.md查。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5504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364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5532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顺手要一份给企业客户的通知草稿 —— 但先不要发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草稿留在对话里就好。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14364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02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tel2_01_inpu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tel2_04_notice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14364A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三案都逐项过了三关，每一关都有自己的数字与判定，没有被合成一个总分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最后可行的只有一案，而且不是消费用户最少的那一案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噪音管制是用重叠分钟数判的，不是只看窗口有没有落在管制时段里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电信业 · 网络运维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月可用率达标，照样要赔：合同里的第二道门槛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25 分钟 · 难度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3246120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编辑既有文件 Edit existing file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577840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7A4DDB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5778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自定义技能 Skill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客户来信说上个月断了五个多小时，要求赔偿。翻出故障记录一看，总中断确实是 312 分钟 —— 看起来铁定违约。但 SLA 算的不是总中断，是计入故障：计划性维护、客户端设备、不可抗力三款要先扣掉。扣完只剩 32 分钟，月可用率其实达标。照理可以回复不赔 —— 可是合同里还有第二道门槛，而且它跟第一道分开算。最后把这套判定做成一个技能，下次换别条专线也能用。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26280" y="165506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11226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112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09397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先让它逐条分清楚“断了”跟“算数的断了”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45973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不用上传。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29718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29535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现在算两个门槛 —— 而且要分开算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3192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这一步是整个场景的转折。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383133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38130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算赔偿，顺便问一个会被算错的细节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17880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赔偿区间套在“超出门槛的分钟数”上，不是套在总分钟数上。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46908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4690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46725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把判定结果写回原本那份故障记录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0383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这一步会直接修改 OneDrive 上那个文件，不是另存新文件，所以会弹出审批卡。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26280" y="55504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262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166360" y="5532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做成技能，下个月换别条专线直接用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16636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自定义技能在移动版不支持，请用台式机或浏览器。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03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tel3_01_inpu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tel3_05b_saved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六条故障逐条判了计入或排除，而且每一条都指得出依据的条款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总中断与计入故障是两个不同的数字，而且差距很大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月可用率判定是**达标**，没有因为总中断很长就直接判违约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2B14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A2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4A2B1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电信业 · 网络运维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户数没到门槛，两小时的钟却已经在走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20 分钟 · 难度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55117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551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沟通撰写 Communications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499616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1499616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Email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5577840"/>
            <a:ext cx="275234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577840"/>
            <a:ext cx="2752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计划提示 Scheduled prompt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凌晨那场故障，影响 8,400 户 —— 一般通报条款的门槛是 10,000 户，算下来不用通报。合规窗口十有八九就在这里收手了。问题是通报办法还有第二款：只要影响到紧急电话接入，不论户数，而且时限短得多。再加上时限从 NOC 告警那一刻起算，不是从合规收到通知起算 —— 等这封邮件转到合规桌上，可用的时间已经去掉一大半。最后要把“每天检查有没有案子快逾期”排成固定班表。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26280" y="165506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11226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4A2B1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112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2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09397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先问一个看起来很单纯的问题：这件事要不要通报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45973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不用上传。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29718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4A2B1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2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29535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追问时限：从什么时候起算，现在还剩多少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3192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这一步的答案会决定后面要写初报还是完整通报。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383133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4A2B1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2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38130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写通报函正文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17880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公文语气，逐项对应作业要点第 3 节的应载明事项。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46908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4A2B1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4690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2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46725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发给经理会签 —— 不是发给主管机关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0383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这一步会真的发邮件，收件人从联系人清单.md查。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526280" y="55504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4A2B1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262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2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166360" y="5532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排成每天早上自己扫一遍待通报案件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16636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这一步会真的建立一个计划提示，练习结束后记得停用。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4A2B14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2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04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tel4_01_inpu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A2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tel4_05b_automations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A2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4A2B14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两条通报门槛**都**检查了，没有算完户数就停下来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明确指出一般条款不成立（户数没达到门槛），但紧急服务条款成立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说得出紧急服务条款**没有户数下限**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1F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C1F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2C1F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电信业 · 网络运维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用平均值算，这个促案很安全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25 分钟 · 难度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上传文件 File upload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499616" y="5074920"/>
            <a:ext cx="1316736" cy="402336"/>
          </a:xfrm>
          <a:prstGeom prst="roundRect">
            <a:avLst>
              <a:gd name="adj" fmla="val 50000"/>
            </a:avLst>
          </a:prstGeom>
          <a:solidFill>
            <a:srgbClr val="C43E1C"/>
          </a:solidFill>
          <a:ln/>
        </p:spPr>
      </p:sp>
      <p:sp>
        <p:nvSpPr>
          <p:cNvPr id="15" name="Text 12"/>
          <p:cNvSpPr/>
          <p:nvPr/>
        </p:nvSpPr>
        <p:spPr>
          <a:xfrm>
            <a:off x="1499616" y="5074920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PowerPoint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市场部要在十二月推“影音无限畅游”，预估新增十二万户。拿预估平均用量乘一乘，全网忙时余量绰绰有余 —— 演示一页就能结案。但移动数据的用量分布是极度偏斜的：前 5% 的重度用户吃掉三成多的流量，而这些人不是平均散在全国。换成分区、换成 P95 去算，会冒出三个撑不住的区。这个场景要产出的是一份敢让决策层看到坏消息的演示。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26280" y="20665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1F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52374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C1F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1F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50545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先按市场部的算法算一次，确认它真的“过关”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87121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把TEL5_既有方案用量分布.csv拖进对话框，另外两份在 TEL5_资费容量。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4930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C1F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1F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4747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换成分区、换成 P95，再算一次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8404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同一份数据、不同的切法。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4622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C1F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1F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4439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做成给决策层的演示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8097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规范第 4 节写了五件事一定要在演示里。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43153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C1F4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5431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1F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54132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预演一次会被问到的那个问题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77900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市场部一定会说“全网明明有余量”。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2C1F4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1F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05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tel5_01_inpu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1F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tel5_04_notes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1F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2C1F4A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第一层（全网平均）确实算出“过关”，而不是一开始就说有问题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第二层逐区都算了，六个区一个都没漏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高风险区的判定是**两项同时成立**，不是只看其中一项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A234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A2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3A234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电信业 · 网络运维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这张令状不能全给，也不能全拒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20 分钟 · 难度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上传文件 File upload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935224" y="4572000"/>
            <a:ext cx="61264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2935224" y="4572000"/>
            <a:ext cx="612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713232" cy="402336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检察机关来了一张调取令，要一个号码从二月到十一月的全部记录，七天内回复。直觉有两种反应：全部给，或者说“太久了给不了”整张退回。两种都错。因为不同类别的记录留存期限不一样 —— 通信记录留十二个月、账务留五年，但上网历程与基站位置只留六个月。同一张令状，有些类别可以全段提供，有些类别前面那半年已经依法删掉了。回复函必须一类一类写清楚，而且拒绝的部分要叙明法律依据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26280" y="234086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79806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3A234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77977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先读令状，把它要什么拆清楚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314553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把TEL6_调取令.pdf拖进对话框，另外两份在 TEL6_调取令。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71551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3A234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715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69722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逐类算留存起日，看哪几类盖不满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406298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这一步是整个场景的转折：答案不是一个，是四个。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63296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3A234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632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61467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写回复函，用 Word 产出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98043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这是要用印发文的公文，格式与用语都不能是邮件口吻。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5504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3A234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5532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最后让它自己检查有没有超出令状范围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超出范围比提供不足更麻烦 —— 那是我们自己违法。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3A2340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2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06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tel6_01_inpu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2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tel6_04_selfcheck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2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3A2340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四类记录逐类算了留存起日，没有用同一个日期套用到全部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留存起日是从**收文日**往回推，不是从今天或从令状的起日往回推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判定结果是**部分提供**：有的类别全段可给，有的类别只能给后半段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3A2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43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143A2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电信业 · 网络运维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全网达标的那个月，有一个区崩了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约 20 分钟 · 难度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55117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551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每日简报 Daily Briefing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577840"/>
            <a:ext cx="285292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577840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企业搜索 Enterprise Search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十月的全网掉话率 0.43%，目标 0.5%，达标。月报写到这里就可以结束了 —— 而这正是问题所在。全网掉话率是流量加权平均，通话量小的区域就算翻三倍也拉不动它。台中这个月 1.38%，是其他区平均的四倍半，投诉量更占了全月的六成；把它拿掉，全网是 0.31%。这个场景要做的，是让月报讲出平均值藏起来的东西，并且把投诉量拉进来交叉佐证。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26280" y="20665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52374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3A2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50545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先拿到那个“没有问题”的全网数字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87121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不用上传。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4930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3A2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4747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做排除检定，量出平均值盖掉了多少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8404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要点第 2 节写了这个做法。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4622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3A2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4439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把投诉拉进来交叉佐证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8097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 是我们自己量的，投诉是用户讲的。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43153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43A2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5431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54132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做成每月固定格式的简报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77900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要点第 2 节列了四个视角，一个都不能少。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143A2C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3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07 · 实机演示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Cowork 怎么做、产出什么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tel7_01_input_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3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你的输入与指令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tel7_04b_full_c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3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产出成果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143A2C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产出验收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全网掉话率算出来是**达标**，没有为了带出问题而把全网说成不达标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六个区的掉话率都算了，而且跟上月做了比较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做了排除检定，说得出排除后的全网数字与差距几个百分点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MAKE IT YOURS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把场景延伸到你的日常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11165"/>
            <a:ext cx="493776" cy="493776"/>
          </a:xfrm>
          <a:prstGeom prst="ellipse">
            <a:avLst/>
          </a:prstGeom>
          <a:solidFill>
            <a:srgbClr val="0B2F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939181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19656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F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电信业 · 网络运维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749040" y="1819656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把拓扑表里某一个小区的母站改掉，看根因判定会不会跟着变。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442754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2470839"/>
            <a:ext cx="493776" cy="493776"/>
          </a:xfrm>
          <a:prstGeom prst="ellipse">
            <a:avLst/>
          </a:prstGeom>
          <a:solidFill>
            <a:srgbClr val="1436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598855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479330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电信业 · 网络运维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749040" y="2479330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把作业时间从三小时改成两小时，看可行的窗口会不会变多。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3102429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3130514"/>
            <a:ext cx="493776" cy="493776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258530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139005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电信业 · 网络运维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749040" y="3139005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把保证时段门槛改成 25 分钟，看结论会不会翻成不用赔。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3762103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68680" y="3790188"/>
            <a:ext cx="493776" cy="493776"/>
          </a:xfrm>
          <a:prstGeom prst="ellipse">
            <a:avLst/>
          </a:prstGeom>
          <a:solidFill>
            <a:srgbClr val="4A2B1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3918204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3798679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2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电信业 · 网络运维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3749040" y="3798679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把受影响户数改成 12,000，看它会不会改用一般条款的时限。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40080" y="4421777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68680" y="4449862"/>
            <a:ext cx="493776" cy="493776"/>
          </a:xfrm>
          <a:prstGeom prst="ellipse">
            <a:avLst/>
          </a:prstGeom>
          <a:solidFill>
            <a:srgbClr val="2C1F4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4577878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4458353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F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电信业 · 网络运维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749040" y="4458353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把预估新增用户砍半，看高风险区会不会少掉一个。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40080" y="5081451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68680" y="5109537"/>
            <a:ext cx="493776" cy="493776"/>
          </a:xfrm>
          <a:prstGeom prst="ellipse">
            <a:avLst/>
          </a:prstGeom>
          <a:solidFill>
            <a:srgbClr val="3A2340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5237553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554480" y="5118027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3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电信业 · 网络运维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3749040" y="5118027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把令状起日改成八月，看四类会不会全部变成可全段提供。</a:t>
            </a:r>
            <a:endParaRPr lang="en-US" sz="1250" dirty="0"/>
          </a:p>
        </p:txBody>
      </p:sp>
      <p:sp>
        <p:nvSpPr>
          <p:cNvPr id="35" name="Shape 27"/>
          <p:cNvSpPr/>
          <p:nvPr/>
        </p:nvSpPr>
        <p:spPr>
          <a:xfrm>
            <a:off x="640080" y="5741126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868680" y="5769211"/>
            <a:ext cx="493776" cy="493776"/>
          </a:xfrm>
          <a:prstGeom prst="ellipse">
            <a:avLst/>
          </a:prstGeom>
          <a:solidFill>
            <a:srgbClr val="143A2C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" y="5897227"/>
            <a:ext cx="237744" cy="23774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554480" y="5777702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电信业 · 网络运维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3749040" y="5777702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把异常区的通话量改成全网最大，看排除检定还抓不抓得出来。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TRUST &amp;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自动化，但你始终是决策者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3911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操作前审批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203704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中高风险操作会显示 RISK-LEVEL；发邮件、发 Teams、创建会议等操作会先摊开成可编辑的预览，批准后才发出。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044952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09544"/>
            <a:ext cx="448056" cy="4480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02666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控制范围清楚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91640" y="3374136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「不再询问」可以限定此收件人、此域名，或者始终允许；任务可以软／硬暂停、恢复或取消。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215384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379976"/>
            <a:ext cx="448056" cy="448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19709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自动化任务也有把关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691640" y="4544568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计划提示和事件驱动任务有执行频率限制和防循环保护；一律以创建者的权限执行，而且与其他 Cowork 活动一起记录在统一审核日志里，适用 Microsoft Purview 策略。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5385816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550408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3675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限制也要知道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691640" y="571500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不能访问本地文件、删除 OneDrive/SharePoint 文件或读取加密文件；附件 &lt;200MB；自定义技能和第三方 plugin 未经 Microsoft 验证，需要自行审阅。官方明确列出不适用于「免人工审查即需保证正确」的用途。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现在就开始练习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2606040"/>
            <a:ext cx="868680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8036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27157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练习手册</a:t>
            </a:r>
            <a:endParaRPr lang="en-US" sz="1400" dirty="0"/>
          </a:p>
        </p:txBody>
      </p:sp>
      <p:sp>
        <p:nvSpPr>
          <p:cNvPr id="6" name="Text 3">
            <a:hlinkClick r:id="rId3" tooltip=""/>
          </p:cNvPr>
          <p:cNvSpPr/>
          <p:nvPr/>
        </p:nvSpPr>
        <p:spPr>
          <a:xfrm>
            <a:off x="1417320" y="300837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F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aka.ms/CoworkPlaybook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5020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389534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挑一个最贴近你工作的场景开始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425696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43708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自定义技能放 OneDrive /Documents/Cowork/skills/ 下的 SKILL.md（最多 50 个、每个 1MB）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901184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4846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模型选择器：Auto（默认）、GPT 5.5 Frontier、GPT 5.6 Sol／Terra、GPT 6 Astra、Opus 5、Claude Sonnet 5、Claude Fable 5.1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376672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5840" y="532180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工作量级别：Light／Medium（默认）／High／Extra High／Max —— 越高越彻底，但更慢且消耗更多点数</a:t>
            </a:r>
            <a:endParaRPr lang="en-US" sz="14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5852160"/>
            <a:ext cx="237744" cy="23774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05840" y="579729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想要自动触发？到「自动化」页设置计划提示（上限 25 个）或事件触发任务（收到邮件／被 @提及）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A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从提问到交办，标准你决定，执行交给 Cowork。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4389120"/>
            <a:ext cx="32004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365 Copilot Cowork · 培训演示文稿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365 Copilot Cowork 培训</dc:title>
  <dc:subject>PptxGenJS Presentation</dc:subject>
  <dc:creator>Andy Hung</dc:creator>
  <cp:lastModifiedBy>Andy Hung</cp:lastModifiedBy>
  <cp:revision>1</cp:revision>
  <dcterms:created xsi:type="dcterms:W3CDTF">2026-10-05T05:52:28Z</dcterms:created>
  <dcterms:modified xsi:type="dcterms:W3CDTF">2026-10-05T05:52:28Z</dcterms:modified>
</cp:coreProperties>
</file>