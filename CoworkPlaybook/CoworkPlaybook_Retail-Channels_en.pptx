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</p:sldIdLst>
  <p:notesMasterIdLst>
    <p:notesMasterId r:id="rId28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notesMaster" Target="notesMasters/notesMaster1.xml"/><Relationship Id="rId29" Type="http://schemas.openxmlformats.org/officeDocument/2006/relationships/presProps" Target="presProps.xml"/><Relationship Id="rId30" Type="http://schemas.openxmlformats.org/officeDocument/2006/relationships/viewProps" Target="viewProps.xml"/><Relationship Id="rId31" Type="http://schemas.openxmlformats.org/officeDocument/2006/relationships/theme" Target="theme/theme1.xml"/><Relationship Id="rId3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image" Target="../media/image-6-6.png"/><Relationship Id="rId7" Type="http://schemas.openxmlformats.org/officeDocument/2006/relationships/image" Target="../media/image-6-7.png"/><Relationship Id="rId8" Type="http://schemas.openxmlformats.org/officeDocument/2006/relationships/image" Target="../media/image-6-8.png"/><Relationship Id="rId9" Type="http://schemas.openxmlformats.org/officeDocument/2006/relationships/image" Target="../media/image-6-9.png"/><Relationship Id="rId10" Type="http://schemas.openxmlformats.org/officeDocument/2006/relationships/image" Target="../media/image-6-10.png"/><Relationship Id="rId11" Type="http://schemas.openxmlformats.org/officeDocument/2006/relationships/image" Target="../media/image-6-11.png"/><Relationship Id="rId12" Type="http://schemas.openxmlformats.org/officeDocument/2006/relationships/slideLayout" Target="../slideLayouts/slideLayout1.xml"/><Relationship Id="rId1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image" Target="../media/image-8-5.png"/><Relationship Id="rId6" Type="http://schemas.openxmlformats.org/officeDocument/2006/relationships/image" Target="../media/image-8-6.png"/><Relationship Id="rId7" Type="http://schemas.openxmlformats.org/officeDocument/2006/relationships/image" Target="../media/image-8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10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image" Target="../media/image-12-4.png"/><Relationship Id="rId5" Type="http://schemas.openxmlformats.org/officeDocument/2006/relationships/image" Target="../media/image-12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image" Target="../media/image-14-3.png"/><Relationship Id="rId4" Type="http://schemas.openxmlformats.org/officeDocument/2006/relationships/image" Target="../media/image-14-4.png"/><Relationship Id="rId5" Type="http://schemas.openxmlformats.org/officeDocument/2006/relationships/image" Target="../media/image-14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image" Target="../media/image-1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image" Target="../media/image-16-2.png"/><Relationship Id="rId3" Type="http://schemas.openxmlformats.org/officeDocument/2006/relationships/image" Target="../media/image-16-3.png"/><Relationship Id="rId4" Type="http://schemas.openxmlformats.org/officeDocument/2006/relationships/image" Target="../media/image-16-4.png"/><Relationship Id="rId5" Type="http://schemas.openxmlformats.org/officeDocument/2006/relationships/image" Target="../media/image-16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image" Target="../media/image-1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image" Target="../media/image-18-2.png"/><Relationship Id="rId3" Type="http://schemas.openxmlformats.org/officeDocument/2006/relationships/image" Target="../media/image-18-3.png"/><Relationship Id="rId4" Type="http://schemas.openxmlformats.org/officeDocument/2006/relationships/image" Target="../media/image-18-4.png"/><Relationship Id="rId5" Type="http://schemas.openxmlformats.org/officeDocument/2006/relationships/image" Target="../media/image-18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image" Target="../media/image-19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image" Target="../media/image-20-2.png"/><Relationship Id="rId3" Type="http://schemas.openxmlformats.org/officeDocument/2006/relationships/image" Target="../media/image-20-3.png"/><Relationship Id="rId4" Type="http://schemas.openxmlformats.org/officeDocument/2006/relationships/image" Target="../media/image-20-4.png"/><Relationship Id="rId5" Type="http://schemas.openxmlformats.org/officeDocument/2006/relationships/image" Target="../media/image-20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image" Target="../media/image-2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image" Target="../media/image-22-2.png"/><Relationship Id="rId3" Type="http://schemas.openxmlformats.org/officeDocument/2006/relationships/image" Target="../media/image-22-3.png"/><Relationship Id="rId4" Type="http://schemas.openxmlformats.org/officeDocument/2006/relationships/image" Target="../media/image-22-4.png"/><Relationship Id="rId5" Type="http://schemas.openxmlformats.org/officeDocument/2006/relationships/image" Target="../media/image-22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png"/><Relationship Id="rId2" Type="http://schemas.openxmlformats.org/officeDocument/2006/relationships/image" Target="../media/image-23-2.png"/><Relationship Id="rId3" Type="http://schemas.openxmlformats.org/officeDocument/2006/relationships/image" Target="../media/image-23-3.png"/><Relationship Id="rId4" Type="http://schemas.openxmlformats.org/officeDocument/2006/relationships/image" Target="../media/image-23-4.png"/><Relationship Id="rId5" Type="http://schemas.openxmlformats.org/officeDocument/2006/relationships/image" Target="../media/image-23-5.png"/><Relationship Id="rId6" Type="http://schemas.openxmlformats.org/officeDocument/2006/relationships/image" Target="../media/image-23-6.png"/><Relationship Id="rId7" Type="http://schemas.openxmlformats.org/officeDocument/2006/relationships/image" Target="../media/image-23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4-image-1.png"/><Relationship Id="rId2" Type="http://schemas.openxmlformats.org/officeDocument/2006/relationships/image" Target="../media/image-24-2.png"/><Relationship Id="rId3" Type="http://schemas.openxmlformats.org/officeDocument/2006/relationships/image" Target="../media/image-24-3.png"/><Relationship Id="rId4" Type="http://schemas.openxmlformats.org/officeDocument/2006/relationships/image" Target="../media/image-24-4.png"/><Relationship Id="rId5" Type="http://schemas.openxmlformats.org/officeDocument/2006/relationships/image" Target="../media/image-24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hyperlink" Target="https://aka.ms/CoworkPlaybook" TargetMode="External"/><Relationship Id="rId1" Type="http://schemas.openxmlformats.org/officeDocument/2006/relationships/image" Target="../media/Slide-25-image-1.png"/><Relationship Id="rId2" Type="http://schemas.openxmlformats.org/officeDocument/2006/relationships/image" Target="../media/image-25-2.png"/><Relationship Id="rId4" Type="http://schemas.openxmlformats.org/officeDocument/2006/relationships/image" Target="../media/image-25-3.png"/><Relationship Id="rId5" Type="http://schemas.openxmlformats.org/officeDocument/2006/relationships/image" Target="../media/image-25-4.png"/><Relationship Id="rId6" Type="http://schemas.openxmlformats.org/officeDocument/2006/relationships/image" Target="../media/image-25-5.png"/><Relationship Id="rId7" Type="http://schemas.openxmlformats.org/officeDocument/2006/relationships/image" Target="../media/image-25-6.png"/><Relationship Id="rId8" Type="http://schemas.openxmlformats.org/officeDocument/2006/relationships/image" Target="../media/image-25-7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1371600"/>
            <a:ext cx="2788920" cy="457200"/>
          </a:xfrm>
          <a:prstGeom prst="roundRect">
            <a:avLst>
              <a:gd name="adj" fmla="val 50000"/>
            </a:avLst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30000"/>
              </a:srgbClr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1248" y="1481328"/>
            <a:ext cx="237744" cy="23774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143000" y="137160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Microsoft 365 Copilot</a:t>
            </a:r>
            <a:endParaRPr lang="en-US" sz="1300" dirty="0"/>
          </a:p>
        </p:txBody>
      </p:sp>
      <p:sp>
        <p:nvSpPr>
          <p:cNvPr id="5" name="Text 2"/>
          <p:cNvSpPr/>
          <p:nvPr/>
        </p:nvSpPr>
        <p:spPr>
          <a:xfrm>
            <a:off x="603504" y="1874520"/>
            <a:ext cx="100584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Cowork</a:t>
            </a:r>
            <a:endParaRPr lang="en-US" sz="8400" dirty="0"/>
          </a:p>
        </p:txBody>
      </p:sp>
      <p:sp>
        <p:nvSpPr>
          <p:cNvPr id="6" name="Text 3"/>
          <p:cNvSpPr/>
          <p:nvPr/>
        </p:nvSpPr>
        <p:spPr>
          <a:xfrm>
            <a:off x="640080" y="315468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CFC9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Agentic AI at work</a:t>
            </a:r>
            <a:endParaRPr lang="en-US" sz="3400" dirty="0"/>
          </a:p>
        </p:txBody>
      </p:sp>
      <p:sp>
        <p:nvSpPr>
          <p:cNvPr id="7" name="Text 4"/>
          <p:cNvSpPr/>
          <p:nvPr/>
        </p:nvSpPr>
        <p:spPr>
          <a:xfrm>
            <a:off x="640080" y="3977640"/>
            <a:ext cx="9601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B9BCE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Seven retail-channel operations scenarios showing how Copilot turns channel promises into store, lot, cost and data-boundary decisions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640080" y="5074920"/>
            <a:ext cx="3840480" cy="0"/>
          </a:xfrm>
          <a:prstGeom prst="line">
            <a:avLst/>
          </a:prstGeom>
          <a:noFill/>
          <a:ln w="12700">
            <a:solidFill>
              <a:srgbClr val="FFFFFF">
                <a:alpha val="25000"/>
              </a:srgbClr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640080" y="521208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FA3C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Training deck · client-ready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66928"/>
            <a:ext cx="384048" cy="128016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3" name="Text 1"/>
          <p:cNvSpPr/>
          <p:nvPr/>
        </p:nvSpPr>
        <p:spPr>
          <a:xfrm>
            <a:off x="1143000" y="457200"/>
            <a:ext cx="82296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6366F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AGENDA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786384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23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What we'll cover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640080" y="1664208"/>
            <a:ext cx="10058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6366F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01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1737360" y="1700784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E223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Meet Cowork</a:t>
            </a:r>
            <a:endParaRPr lang="en-US" sz="1900" dirty="0"/>
          </a:p>
        </p:txBody>
      </p:sp>
      <p:sp>
        <p:nvSpPr>
          <p:cNvPr id="7" name="Text 5"/>
          <p:cNvSpPr/>
          <p:nvPr/>
        </p:nvSpPr>
        <p:spPr>
          <a:xfrm>
            <a:off x="1737360" y="2121408"/>
            <a:ext cx="9601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B607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What agentic AI is, and how it differs from Copilot Chat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640080" y="2578608"/>
            <a:ext cx="10058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6366F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02</a:t>
            </a:r>
            <a:endParaRPr lang="en-US" sz="3400" dirty="0"/>
          </a:p>
        </p:txBody>
      </p:sp>
      <p:sp>
        <p:nvSpPr>
          <p:cNvPr id="9" name="Text 7"/>
          <p:cNvSpPr/>
          <p:nvPr/>
        </p:nvSpPr>
        <p:spPr>
          <a:xfrm>
            <a:off x="1737360" y="2615184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E223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Core capabilities</a:t>
            </a:r>
            <a:endParaRPr lang="en-US" sz="1900" dirty="0"/>
          </a:p>
        </p:txBody>
      </p:sp>
      <p:sp>
        <p:nvSpPr>
          <p:cNvPr id="10" name="Text 8"/>
          <p:cNvSpPr/>
          <p:nvPr/>
        </p:nvSpPr>
        <p:spPr>
          <a:xfrm>
            <a:off x="1737360" y="3035808"/>
            <a:ext cx="9601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B607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Skills, workspace, approval before action, self-verification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640080" y="3493008"/>
            <a:ext cx="10058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6366F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03</a:t>
            </a:r>
            <a:endParaRPr lang="en-US" sz="3400" dirty="0"/>
          </a:p>
        </p:txBody>
      </p:sp>
      <p:sp>
        <p:nvSpPr>
          <p:cNvPr id="12" name="Text 10"/>
          <p:cNvSpPr/>
          <p:nvPr/>
        </p:nvSpPr>
        <p:spPr>
          <a:xfrm>
            <a:off x="1737360" y="3529584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E223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Set up your practice environment</a:t>
            </a:r>
            <a:endParaRPr lang="en-US" sz="1900" dirty="0"/>
          </a:p>
        </p:txBody>
      </p:sp>
      <p:sp>
        <p:nvSpPr>
          <p:cNvPr id="13" name="Text 11"/>
          <p:cNvSpPr/>
          <p:nvPr/>
        </p:nvSpPr>
        <p:spPr>
          <a:xfrm>
            <a:off x="1737360" y="3950208"/>
            <a:ext cx="9601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B607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Download the samples and drop them into the chat; note which scenarios touch your mailbox and calendar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640080" y="4407408"/>
            <a:ext cx="10058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6366F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04</a:t>
            </a:r>
            <a:endParaRPr lang="en-US" sz="3400" dirty="0"/>
          </a:p>
        </p:txBody>
      </p:sp>
      <p:sp>
        <p:nvSpPr>
          <p:cNvPr id="15" name="Text 13"/>
          <p:cNvSpPr/>
          <p:nvPr/>
        </p:nvSpPr>
        <p:spPr>
          <a:xfrm>
            <a:off x="1737360" y="4443984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E223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Seven retail-channel scenarios</a:t>
            </a:r>
            <a:endParaRPr lang="en-US" sz="1900" dirty="0"/>
          </a:p>
        </p:txBody>
      </p:sp>
      <p:sp>
        <p:nvSpPr>
          <p:cNvPr id="16" name="Text 14"/>
          <p:cNvSpPr/>
          <p:nvPr/>
        </p:nvSpPr>
        <p:spPr>
          <a:xfrm>
            <a:off x="1737360" y="4864608"/>
            <a:ext cx="9601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B607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Cold-chain quarantine, promotion allocation, launch margin, returns policy, opening date, supplier net cost and KPI review</a:t>
            </a:r>
            <a:endParaRPr lang="en-US" sz="1350" dirty="0"/>
          </a:p>
        </p:txBody>
      </p:sp>
      <p:sp>
        <p:nvSpPr>
          <p:cNvPr id="17" name="Text 15"/>
          <p:cNvSpPr/>
          <p:nvPr/>
        </p:nvSpPr>
        <p:spPr>
          <a:xfrm>
            <a:off x="640080" y="5321808"/>
            <a:ext cx="10058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6366F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05</a:t>
            </a:r>
            <a:endParaRPr lang="en-US" sz="3400" dirty="0"/>
          </a:p>
        </p:txBody>
      </p:sp>
      <p:sp>
        <p:nvSpPr>
          <p:cNvPr id="18" name="Text 16"/>
          <p:cNvSpPr/>
          <p:nvPr/>
        </p:nvSpPr>
        <p:spPr>
          <a:xfrm>
            <a:off x="1737360" y="5358384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E223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Make it your own</a:t>
            </a:r>
            <a:endParaRPr lang="en-US" sz="1900" dirty="0"/>
          </a:p>
        </p:txBody>
      </p:sp>
      <p:sp>
        <p:nvSpPr>
          <p:cNvPr id="19" name="Text 17"/>
          <p:cNvSpPr/>
          <p:nvPr/>
        </p:nvSpPr>
        <p:spPr>
          <a:xfrm>
            <a:off x="1737360" y="5779008"/>
            <a:ext cx="9601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B607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How to extend these scenarios to your own work</a:t>
            </a:r>
            <a:endParaRPr lang="en-US" sz="1350" dirty="0"/>
          </a:p>
        </p:txBody>
      </p:sp>
      <p:sp>
        <p:nvSpPr>
          <p:cNvPr id="20" name="Text 18"/>
          <p:cNvSpPr/>
          <p:nvPr/>
        </p:nvSpPr>
        <p:spPr>
          <a:xfrm>
            <a:off x="64008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07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Microsoft 365 Copilot Cowork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11002975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07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66928"/>
            <a:ext cx="384048" cy="128016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3" name="Text 1"/>
          <p:cNvSpPr/>
          <p:nvPr/>
        </p:nvSpPr>
        <p:spPr>
          <a:xfrm>
            <a:off x="1143000" y="457200"/>
            <a:ext cx="82296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6366F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WHAT IS COWORK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786384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23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From "chat" to "agentic execution"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640080" y="1737360"/>
            <a:ext cx="10881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Cowork is Copilot's </a:t>
            </a:r>
            <a:pPr indent="0" marL="0">
              <a:buNone/>
            </a:pPr>
            <a:r>
              <a:rPr lang="en-US" sz="2200" b="1" dirty="0">
                <a:solidFill>
                  <a:srgbClr val="6366F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agentic</a:t>
            </a:r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working mode.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640080" y="2286000"/>
            <a:ext cx="10881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5B607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You hand it a goal; it breaks the work into steps, reads your cloud files, loads the skills it needs, produces results across apps and checks its own work — pausing for your approval, with a risk level shown, before any medium or high-risk action. You move from quick single-turn answers to handing over a task that actually gets done.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40080" y="3611880"/>
            <a:ext cx="3454298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7F2"/>
            </a:solidFill>
            <a:prstDash val="solid"/>
          </a:ln>
          <a:effectLst>
            <a:outerShdw sx="100000" sy="100000" kx="0" ky="0" algn="bl" rotWithShape="0" blurRad="101600" dist="25400" dir="5400000">
              <a:srgbClr val="9AA0C0">
                <a:alpha val="1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640080" y="3611880"/>
            <a:ext cx="3454298" cy="82296"/>
          </a:xfrm>
          <a:prstGeom prst="rect">
            <a:avLst/>
          </a:prstGeom>
          <a:solidFill>
            <a:srgbClr val="94A3B8"/>
          </a:solidFill>
          <a:ln/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0120" y="3931920"/>
            <a:ext cx="457200" cy="45720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960120" y="4526280"/>
            <a:ext cx="281421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223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Copilot Chat</a:t>
            </a:r>
            <a:endParaRPr lang="en-US" sz="1700" dirty="0"/>
          </a:p>
        </p:txBody>
      </p:sp>
      <p:sp>
        <p:nvSpPr>
          <p:cNvPr id="11" name="Text 8"/>
          <p:cNvSpPr/>
          <p:nvPr/>
        </p:nvSpPr>
        <p:spPr>
          <a:xfrm>
            <a:off x="960120" y="4937760"/>
            <a:ext cx="2814218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5B607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Quick single-turn answers; great for instant replies and brainstorming.</a:t>
            </a:r>
            <a:endParaRPr lang="en-US" sz="1400" dirty="0"/>
          </a:p>
        </p:txBody>
      </p:sp>
      <p:sp>
        <p:nvSpPr>
          <p:cNvPr id="12" name="Shape 9"/>
          <p:cNvSpPr/>
          <p:nvPr/>
        </p:nvSpPr>
        <p:spPr>
          <a:xfrm>
            <a:off x="4368698" y="3611880"/>
            <a:ext cx="3454298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7F2"/>
            </a:solidFill>
            <a:prstDash val="solid"/>
          </a:ln>
          <a:effectLst>
            <a:outerShdw sx="100000" sy="100000" kx="0" ky="0" algn="bl" rotWithShape="0" blurRad="101600" dist="25400" dir="5400000">
              <a:srgbClr val="9AA0C0">
                <a:alpha val="18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4368698" y="3611880"/>
            <a:ext cx="3454298" cy="82296"/>
          </a:xfrm>
          <a:prstGeom prst="rect">
            <a:avLst/>
          </a:prstGeom>
          <a:solidFill>
            <a:srgbClr val="6366F1"/>
          </a:solidFill>
          <a:ln/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88738" y="3931920"/>
            <a:ext cx="457200" cy="457200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4688738" y="4526280"/>
            <a:ext cx="281421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223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Cowork agent</a:t>
            </a:r>
            <a:endParaRPr lang="en-US" sz="1700" dirty="0"/>
          </a:p>
        </p:txBody>
      </p:sp>
      <p:sp>
        <p:nvSpPr>
          <p:cNvPr id="16" name="Text 12"/>
          <p:cNvSpPr/>
          <p:nvPr/>
        </p:nvSpPr>
        <p:spPr>
          <a:xfrm>
            <a:off x="4688738" y="4937760"/>
            <a:ext cx="2814218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5B607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You give a goal; it executes autonomously across apps, for minutes to hours.</a:t>
            </a:r>
            <a:endParaRPr lang="en-US" sz="1400" dirty="0"/>
          </a:p>
        </p:txBody>
      </p:sp>
      <p:sp>
        <p:nvSpPr>
          <p:cNvPr id="17" name="Shape 13"/>
          <p:cNvSpPr/>
          <p:nvPr/>
        </p:nvSpPr>
        <p:spPr>
          <a:xfrm>
            <a:off x="8097317" y="3611880"/>
            <a:ext cx="3454298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7F2"/>
            </a:solidFill>
            <a:prstDash val="solid"/>
          </a:ln>
          <a:effectLst>
            <a:outerShdw sx="100000" sy="100000" kx="0" ky="0" algn="bl" rotWithShape="0" blurRad="101600" dist="25400" dir="5400000">
              <a:srgbClr val="9AA0C0">
                <a:alpha val="18000"/>
              </a:srgbClr>
            </a:outerShdw>
          </a:effectLst>
        </p:spPr>
      </p:sp>
      <p:sp>
        <p:nvSpPr>
          <p:cNvPr id="18" name="Shape 14"/>
          <p:cNvSpPr/>
          <p:nvPr/>
        </p:nvSpPr>
        <p:spPr>
          <a:xfrm>
            <a:off x="8097317" y="3611880"/>
            <a:ext cx="3454298" cy="82296"/>
          </a:xfrm>
          <a:prstGeom prst="rect">
            <a:avLst/>
          </a:prstGeom>
          <a:solidFill>
            <a:srgbClr val="8B5CF6"/>
          </a:solidFill>
          <a:ln/>
        </p:spPr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17357" y="3931920"/>
            <a:ext cx="457200" cy="457200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8417357" y="4526280"/>
            <a:ext cx="281421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223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You stay in charge</a:t>
            </a:r>
            <a:endParaRPr lang="en-US" sz="1700" dirty="0"/>
          </a:p>
        </p:txBody>
      </p:sp>
      <p:sp>
        <p:nvSpPr>
          <p:cNvPr id="21" name="Text 16"/>
          <p:cNvSpPr/>
          <p:nvPr/>
        </p:nvSpPr>
        <p:spPr>
          <a:xfrm>
            <a:off x="8417357" y="4937760"/>
            <a:ext cx="2814218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5B607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Anything outbound or affecting others pauses for your approval.</a:t>
            </a:r>
            <a:endParaRPr lang="en-US" sz="1400" dirty="0"/>
          </a:p>
        </p:txBody>
      </p:sp>
      <p:sp>
        <p:nvSpPr>
          <p:cNvPr id="22" name="Text 17"/>
          <p:cNvSpPr/>
          <p:nvPr/>
        </p:nvSpPr>
        <p:spPr>
          <a:xfrm>
            <a:off x="64008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07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Microsoft 365 Copilot Cowork</a:t>
            </a:r>
            <a:endParaRPr lang="en-US" sz="900" dirty="0"/>
          </a:p>
        </p:txBody>
      </p:sp>
      <p:sp>
        <p:nvSpPr>
          <p:cNvPr id="23" name="Text 18"/>
          <p:cNvSpPr/>
          <p:nvPr/>
        </p:nvSpPr>
        <p:spPr>
          <a:xfrm>
            <a:off x="11002975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07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66928"/>
            <a:ext cx="384048" cy="128016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3" name="Text 1"/>
          <p:cNvSpPr/>
          <p:nvPr/>
        </p:nvSpPr>
        <p:spPr>
          <a:xfrm>
            <a:off x="1143000" y="457200"/>
            <a:ext cx="82296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6366F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COMPARISON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786384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23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Cowork vs. Copilot Chat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640080" y="1737360"/>
            <a:ext cx="2743200" cy="457200"/>
          </a:xfrm>
          <a:prstGeom prst="rect">
            <a:avLst/>
          </a:prstGeom>
          <a:solidFill>
            <a:srgbClr val="EEF0F8"/>
          </a:solidFill>
          <a:ln/>
        </p:spPr>
      </p:sp>
      <p:sp>
        <p:nvSpPr>
          <p:cNvPr id="6" name="Shape 4"/>
          <p:cNvSpPr/>
          <p:nvPr/>
        </p:nvSpPr>
        <p:spPr>
          <a:xfrm>
            <a:off x="3383280" y="1737360"/>
            <a:ext cx="4023360" cy="457200"/>
          </a:xfrm>
          <a:prstGeom prst="rect">
            <a:avLst/>
          </a:prstGeom>
          <a:solidFill>
            <a:srgbClr val="0F1031"/>
          </a:solidFill>
          <a:ln/>
        </p:spPr>
      </p:sp>
      <p:sp>
        <p:nvSpPr>
          <p:cNvPr id="7" name="Shape 5"/>
          <p:cNvSpPr/>
          <p:nvPr/>
        </p:nvSpPr>
        <p:spPr>
          <a:xfrm>
            <a:off x="7406640" y="1737360"/>
            <a:ext cx="4142232" cy="457200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173736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3383280" y="1737360"/>
            <a:ext cx="4023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Copilot Chat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7406640" y="1737360"/>
            <a:ext cx="414223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Copilot Cowork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640080" y="2194560"/>
            <a:ext cx="10908792" cy="457200"/>
          </a:xfrm>
          <a:prstGeom prst="rect">
            <a:avLst/>
          </a:prstGeom>
          <a:solidFill>
            <a:srgbClr val="F2F4FB"/>
          </a:solidFill>
          <a:ln/>
        </p:spPr>
      </p:sp>
      <p:sp>
        <p:nvSpPr>
          <p:cNvPr id="12" name="Text 10"/>
          <p:cNvSpPr/>
          <p:nvPr/>
        </p:nvSpPr>
        <p:spPr>
          <a:xfrm>
            <a:off x="822960" y="2194560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23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Quick single-turn Q&amp;A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3566160" y="219456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607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Quick single-turn Q&amp;A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7589520" y="2194560"/>
            <a:ext cx="377647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E223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Hand over a goal; autonomous multi-step work across apps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640080" y="2651760"/>
            <a:ext cx="10908792" cy="4572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6" name="Text 14"/>
          <p:cNvSpPr/>
          <p:nvPr/>
        </p:nvSpPr>
        <p:spPr>
          <a:xfrm>
            <a:off x="822960" y="2651760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23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Seconds to minutes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3566160" y="265176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607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Seconds to minutes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7589520" y="2651760"/>
            <a:ext cx="377647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E223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Minutes to hours (autonomous)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640080" y="3108960"/>
            <a:ext cx="10908792" cy="457200"/>
          </a:xfrm>
          <a:prstGeom prst="rect">
            <a:avLst/>
          </a:prstGeom>
          <a:solidFill>
            <a:srgbClr val="F2F4FB"/>
          </a:solidFill>
          <a:ln/>
        </p:spPr>
      </p:sp>
      <p:sp>
        <p:nvSpPr>
          <p:cNvPr id="20" name="Text 18"/>
          <p:cNvSpPr/>
          <p:nvPr/>
        </p:nvSpPr>
        <p:spPr>
          <a:xfrm>
            <a:off x="822960" y="3108960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23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Single step, single session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3566160" y="310896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607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Single step, single session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7589520" y="3108960"/>
            <a:ext cx="377647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E223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Multi-step workflows across tasks and sources</a:t>
            </a:r>
            <a:endParaRPr lang="en-US" sz="1250" dirty="0"/>
          </a:p>
        </p:txBody>
      </p:sp>
      <p:sp>
        <p:nvSpPr>
          <p:cNvPr id="23" name="Shape 21"/>
          <p:cNvSpPr/>
          <p:nvPr/>
        </p:nvSpPr>
        <p:spPr>
          <a:xfrm>
            <a:off x="640080" y="3566160"/>
            <a:ext cx="10908792" cy="4572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4" name="Text 22"/>
          <p:cNvSpPr/>
          <p:nvPr/>
        </p:nvSpPr>
        <p:spPr>
          <a:xfrm>
            <a:off x="822960" y="3566160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23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Paste in a snippet</a:t>
            </a:r>
            <a:endParaRPr lang="en-US" sz="1250" dirty="0"/>
          </a:p>
        </p:txBody>
      </p:sp>
      <p:sp>
        <p:nvSpPr>
          <p:cNvPr id="25" name="Text 23"/>
          <p:cNvSpPr/>
          <p:nvPr/>
        </p:nvSpPr>
        <p:spPr>
          <a:xfrm>
            <a:off x="3566160" y="356616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607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Paste in a snippet</a:t>
            </a:r>
            <a:endParaRPr lang="en-US" sz="1250" dirty="0"/>
          </a:p>
        </p:txBody>
      </p:sp>
      <p:sp>
        <p:nvSpPr>
          <p:cNvPr id="26" name="Text 24"/>
          <p:cNvSpPr/>
          <p:nvPr/>
        </p:nvSpPr>
        <p:spPr>
          <a:xfrm>
            <a:off x="7589520" y="3566160"/>
            <a:ext cx="377647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E223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Reads cloud attachments and creates new files; no access to local files</a:t>
            </a:r>
            <a:endParaRPr lang="en-US" sz="1250" dirty="0"/>
          </a:p>
        </p:txBody>
      </p:sp>
      <p:sp>
        <p:nvSpPr>
          <p:cNvPr id="27" name="Shape 25"/>
          <p:cNvSpPr/>
          <p:nvPr/>
        </p:nvSpPr>
        <p:spPr>
          <a:xfrm>
            <a:off x="640080" y="4023360"/>
            <a:ext cx="10908792" cy="457200"/>
          </a:xfrm>
          <a:prstGeom prst="rect">
            <a:avLst/>
          </a:prstGeom>
          <a:solidFill>
            <a:srgbClr val="F2F4FB"/>
          </a:solidFill>
          <a:ln/>
        </p:spPr>
      </p:sp>
      <p:sp>
        <p:nvSpPr>
          <p:cNvPr id="28" name="Text 26"/>
          <p:cNvSpPr/>
          <p:nvPr/>
        </p:nvSpPr>
        <p:spPr>
          <a:xfrm>
            <a:off x="822960" y="4023360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23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One conversational capability</a:t>
            </a:r>
            <a:endParaRPr lang="en-US" sz="1250" dirty="0"/>
          </a:p>
        </p:txBody>
      </p:sp>
      <p:sp>
        <p:nvSpPr>
          <p:cNvPr id="29" name="Text 27"/>
          <p:cNvSpPr/>
          <p:nvPr/>
        </p:nvSpPr>
        <p:spPr>
          <a:xfrm>
            <a:off x="3566160" y="402336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607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One conversational capability</a:t>
            </a:r>
            <a:endParaRPr lang="en-US" sz="1250" dirty="0"/>
          </a:p>
        </p:txBody>
      </p:sp>
      <p:sp>
        <p:nvSpPr>
          <p:cNvPr id="30" name="Text 28"/>
          <p:cNvSpPr/>
          <p:nvPr/>
        </p:nvSpPr>
        <p:spPr>
          <a:xfrm>
            <a:off x="7589520" y="4023360"/>
            <a:ext cx="377647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E223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Loads 14 built-in skills plus your custom ones automatically</a:t>
            </a:r>
            <a:endParaRPr lang="en-US" sz="1250" dirty="0"/>
          </a:p>
        </p:txBody>
      </p:sp>
      <p:sp>
        <p:nvSpPr>
          <p:cNvPr id="31" name="Shape 29"/>
          <p:cNvSpPr/>
          <p:nvPr/>
        </p:nvSpPr>
        <p:spPr>
          <a:xfrm>
            <a:off x="640080" y="4480560"/>
            <a:ext cx="10908792" cy="4572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2" name="Text 30"/>
          <p:cNvSpPr/>
          <p:nvPr/>
        </p:nvSpPr>
        <p:spPr>
          <a:xfrm>
            <a:off x="822960" y="4480560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23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Text in the chat window</a:t>
            </a:r>
            <a:endParaRPr lang="en-US" sz="1250" dirty="0"/>
          </a:p>
        </p:txBody>
      </p:sp>
      <p:sp>
        <p:nvSpPr>
          <p:cNvPr id="33" name="Text 31"/>
          <p:cNvSpPr/>
          <p:nvPr/>
        </p:nvSpPr>
        <p:spPr>
          <a:xfrm>
            <a:off x="3566160" y="448056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607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Text in the chat window</a:t>
            </a:r>
            <a:endParaRPr lang="en-US" sz="1250" dirty="0"/>
          </a:p>
        </p:txBody>
      </p:sp>
      <p:sp>
        <p:nvSpPr>
          <p:cNvPr id="34" name="Text 32"/>
          <p:cNvSpPr/>
          <p:nvPr/>
        </p:nvSpPr>
        <p:spPr>
          <a:xfrm>
            <a:off x="7589520" y="4480560"/>
            <a:ext cx="377647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E223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Real documents, spreadsheets and decks in OneDrive</a:t>
            </a:r>
            <a:endParaRPr lang="en-US" sz="1250" dirty="0"/>
          </a:p>
        </p:txBody>
      </p:sp>
      <p:sp>
        <p:nvSpPr>
          <p:cNvPr id="35" name="Shape 33"/>
          <p:cNvSpPr/>
          <p:nvPr/>
        </p:nvSpPr>
        <p:spPr>
          <a:xfrm>
            <a:off x="640080" y="4937760"/>
            <a:ext cx="10908792" cy="457200"/>
          </a:xfrm>
          <a:prstGeom prst="rect">
            <a:avLst/>
          </a:prstGeom>
          <a:solidFill>
            <a:srgbClr val="F2F4FB"/>
          </a:solidFill>
          <a:ln/>
        </p:spPr>
      </p:sp>
      <p:sp>
        <p:nvSpPr>
          <p:cNvPr id="36" name="Text 34"/>
          <p:cNvSpPr/>
          <p:nvPr/>
        </p:nvSpPr>
        <p:spPr>
          <a:xfrm>
            <a:off x="822960" y="4937760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23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You have to open it and prompt every time</a:t>
            </a:r>
            <a:endParaRPr lang="en-US" sz="1250" dirty="0"/>
          </a:p>
        </p:txBody>
      </p:sp>
      <p:sp>
        <p:nvSpPr>
          <p:cNvPr id="37" name="Text 35"/>
          <p:cNvSpPr/>
          <p:nvPr/>
        </p:nvSpPr>
        <p:spPr>
          <a:xfrm>
            <a:off x="3566160" y="493776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607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You have to open it and prompt every time</a:t>
            </a:r>
            <a:endParaRPr lang="en-US" sz="1250" dirty="0"/>
          </a:p>
        </p:txBody>
      </p:sp>
      <p:sp>
        <p:nvSpPr>
          <p:cNvPr id="38" name="Text 36"/>
          <p:cNvSpPr/>
          <p:nvPr/>
        </p:nvSpPr>
        <p:spPr>
          <a:xfrm>
            <a:off x="7589520" y="4937760"/>
            <a:ext cx="377647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E223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Scheduled prompts / event-driven: runs on incoming mail or an @mention</a:t>
            </a:r>
            <a:endParaRPr lang="en-US" sz="1250" dirty="0"/>
          </a:p>
        </p:txBody>
      </p:sp>
      <p:sp>
        <p:nvSpPr>
          <p:cNvPr id="39" name="Shape 37"/>
          <p:cNvSpPr/>
          <p:nvPr/>
        </p:nvSpPr>
        <p:spPr>
          <a:xfrm>
            <a:off x="640080" y="5394960"/>
            <a:ext cx="10908792" cy="4572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0" name="Text 38"/>
          <p:cNvSpPr/>
          <p:nvPr/>
        </p:nvSpPr>
        <p:spPr>
          <a:xfrm>
            <a:off x="822960" y="5394960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23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Grounded in M365 data</a:t>
            </a:r>
            <a:endParaRPr lang="en-US" sz="1250" dirty="0"/>
          </a:p>
        </p:txBody>
      </p:sp>
      <p:sp>
        <p:nvSpPr>
          <p:cNvPr id="41" name="Text 39"/>
          <p:cNvSpPr/>
          <p:nvPr/>
        </p:nvSpPr>
        <p:spPr>
          <a:xfrm>
            <a:off x="3566160" y="539496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607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Grounded in M365 data</a:t>
            </a:r>
            <a:endParaRPr lang="en-US" sz="1250" dirty="0"/>
          </a:p>
        </p:txBody>
      </p:sp>
      <p:sp>
        <p:nvSpPr>
          <p:cNvPr id="42" name="Text 40"/>
          <p:cNvSpPr/>
          <p:nvPr/>
        </p:nvSpPr>
        <p:spPr>
          <a:xfrm>
            <a:off x="7589520" y="5394960"/>
            <a:ext cx="377647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E223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Connects to external systems via Plugins / MCP — the partner catalogue now lists 92 plugins (D365, SAP, Fabric and more)</a:t>
            </a:r>
            <a:endParaRPr lang="en-US" sz="1250" dirty="0"/>
          </a:p>
        </p:txBody>
      </p:sp>
      <p:sp>
        <p:nvSpPr>
          <p:cNvPr id="43" name="Shape 41"/>
          <p:cNvSpPr/>
          <p:nvPr/>
        </p:nvSpPr>
        <p:spPr>
          <a:xfrm>
            <a:off x="640080" y="5852160"/>
            <a:ext cx="10908792" cy="457200"/>
          </a:xfrm>
          <a:prstGeom prst="rect">
            <a:avLst/>
          </a:prstGeom>
          <a:solidFill>
            <a:srgbClr val="F2F4FB"/>
          </a:solidFill>
          <a:ln/>
        </p:spPr>
      </p:sp>
      <p:sp>
        <p:nvSpPr>
          <p:cNvPr id="44" name="Text 42"/>
          <p:cNvSpPr/>
          <p:nvPr/>
        </p:nvSpPr>
        <p:spPr>
          <a:xfrm>
            <a:off x="822960" y="5852160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23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You judge for yourself</a:t>
            </a:r>
            <a:endParaRPr lang="en-US" sz="1250" dirty="0"/>
          </a:p>
        </p:txBody>
      </p:sp>
      <p:sp>
        <p:nvSpPr>
          <p:cNvPr id="45" name="Text 43"/>
          <p:cNvSpPr/>
          <p:nvPr/>
        </p:nvSpPr>
        <p:spPr>
          <a:xfrm>
            <a:off x="3566160" y="585216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607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You judge for yourself</a:t>
            </a:r>
            <a:endParaRPr lang="en-US" sz="1250" dirty="0"/>
          </a:p>
        </p:txBody>
      </p:sp>
      <p:sp>
        <p:nvSpPr>
          <p:cNvPr id="46" name="Text 44"/>
          <p:cNvSpPr/>
          <p:nvPr/>
        </p:nvSpPr>
        <p:spPr>
          <a:xfrm>
            <a:off x="7589520" y="5852160"/>
            <a:ext cx="377647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E223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Medium/high-risk actions show a risk level and run only after approval</a:t>
            </a:r>
            <a:endParaRPr lang="en-US" sz="1250" dirty="0"/>
          </a:p>
        </p:txBody>
      </p:sp>
      <p:sp>
        <p:nvSpPr>
          <p:cNvPr id="47" name="Text 45"/>
          <p:cNvSpPr/>
          <p:nvPr/>
        </p:nvSpPr>
        <p:spPr>
          <a:xfrm>
            <a:off x="64008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07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Microsoft 365 Copilot Cowork</a:t>
            </a:r>
            <a:endParaRPr lang="en-US" sz="900" dirty="0"/>
          </a:p>
        </p:txBody>
      </p:sp>
      <p:sp>
        <p:nvSpPr>
          <p:cNvPr id="48" name="Text 46"/>
          <p:cNvSpPr/>
          <p:nvPr/>
        </p:nvSpPr>
        <p:spPr>
          <a:xfrm>
            <a:off x="11002975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07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66928"/>
            <a:ext cx="384048" cy="128016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3" name="Text 1"/>
          <p:cNvSpPr/>
          <p:nvPr/>
        </p:nvSpPr>
        <p:spPr>
          <a:xfrm>
            <a:off x="1143000" y="457200"/>
            <a:ext cx="82296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6366F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CORE CAPABILITIES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786384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23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Four things that set Cowork apart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640080" y="1737360"/>
            <a:ext cx="5227168" cy="2331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7F2"/>
            </a:solidFill>
            <a:prstDash val="solid"/>
          </a:ln>
          <a:effectLst>
            <a:outerShdw sx="100000" sy="100000" kx="0" ky="0" algn="bl" rotWithShape="0" blurRad="101600" dist="25400" dir="5400000">
              <a:srgbClr val="9AA0C0">
                <a:alpha val="16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960120" y="2084832"/>
            <a:ext cx="868680" cy="868680"/>
          </a:xfrm>
          <a:prstGeom prst="roundRect">
            <a:avLst>
              <a:gd name="adj" fmla="val 16842"/>
            </a:avLst>
          </a:prstGeom>
          <a:solidFill>
            <a:srgbClr val="7A4DDB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70432" y="2295144"/>
            <a:ext cx="448056" cy="44805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2011680" y="2121408"/>
            <a:ext cx="367268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23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14 built-in skills</a:t>
            </a:r>
            <a:endParaRPr lang="en-US" sz="1800" dirty="0"/>
          </a:p>
        </p:txBody>
      </p:sp>
      <p:sp>
        <p:nvSpPr>
          <p:cNvPr id="9" name="Text 6"/>
          <p:cNvSpPr/>
          <p:nvPr/>
        </p:nvSpPr>
        <p:spPr>
          <a:xfrm>
            <a:off x="2011680" y="2606040"/>
            <a:ext cx="3626968" cy="1325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300" dirty="0">
                <a:solidFill>
                  <a:srgbClr val="5B607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Word, Excel, PowerPoint, PDF, Email, Scheduling, Calendar Management, Meetings, Daily Briefing, Enterprise Search, Deep Research, Communications, Adaptive Cards, App (Frontier).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6324448" y="1737360"/>
            <a:ext cx="5227168" cy="2331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7F2"/>
            </a:solidFill>
            <a:prstDash val="solid"/>
          </a:ln>
          <a:effectLst>
            <a:outerShdw sx="100000" sy="100000" kx="0" ky="0" algn="bl" rotWithShape="0" blurRad="101600" dist="25400" dir="5400000">
              <a:srgbClr val="9AA0C0">
                <a:alpha val="16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6644488" y="2084832"/>
            <a:ext cx="868680" cy="868680"/>
          </a:xfrm>
          <a:prstGeom prst="roundRect">
            <a:avLst>
              <a:gd name="adj" fmla="val 16842"/>
            </a:avLst>
          </a:prstGeom>
          <a:solidFill>
            <a:srgbClr val="0F6CBD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4800" y="2295144"/>
            <a:ext cx="448056" cy="448056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7696048" y="2121408"/>
            <a:ext cx="367268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23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Workspace</a:t>
            </a:r>
            <a:endParaRPr lang="en-US" sz="1800" dirty="0"/>
          </a:p>
        </p:txBody>
      </p:sp>
      <p:sp>
        <p:nvSpPr>
          <p:cNvPr id="14" name="Text 10"/>
          <p:cNvSpPr/>
          <p:nvPr/>
        </p:nvSpPr>
        <p:spPr>
          <a:xfrm>
            <a:off x="7696048" y="2606040"/>
            <a:ext cx="3626968" cy="1325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300" dirty="0">
                <a:solidFill>
                  <a:srgbClr val="5B607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side panel shows progress, input files, output files, loaded skills, schedules and granted permissions all at once — the process stays traceable.</a:t>
            </a:r>
            <a:endParaRPr lang="en-US" sz="1300" dirty="0"/>
          </a:p>
        </p:txBody>
      </p:sp>
      <p:sp>
        <p:nvSpPr>
          <p:cNvPr id="15" name="Shape 11"/>
          <p:cNvSpPr/>
          <p:nvPr/>
        </p:nvSpPr>
        <p:spPr>
          <a:xfrm>
            <a:off x="640080" y="4251960"/>
            <a:ext cx="5227168" cy="2331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7F2"/>
            </a:solidFill>
            <a:prstDash val="solid"/>
          </a:ln>
          <a:effectLst>
            <a:outerShdw sx="100000" sy="100000" kx="0" ky="0" algn="bl" rotWithShape="0" blurRad="101600" dist="25400" dir="5400000">
              <a:srgbClr val="9AA0C0">
                <a:alpha val="16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960120" y="4599432"/>
            <a:ext cx="868680" cy="868680"/>
          </a:xfrm>
          <a:prstGeom prst="roundRect">
            <a:avLst>
              <a:gd name="adj" fmla="val 16842"/>
            </a:avLst>
          </a:prstGeom>
          <a:solidFill>
            <a:srgbClr val="0A8F5B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70432" y="4809744"/>
            <a:ext cx="448056" cy="448056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2011680" y="4636008"/>
            <a:ext cx="367268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23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Approval before action</a:t>
            </a:r>
            <a:endParaRPr lang="en-US" sz="1800" dirty="0"/>
          </a:p>
        </p:txBody>
      </p:sp>
      <p:sp>
        <p:nvSpPr>
          <p:cNvPr id="19" name="Text 14"/>
          <p:cNvSpPr/>
          <p:nvPr/>
        </p:nvSpPr>
        <p:spPr>
          <a:xfrm>
            <a:off x="2011680" y="5120640"/>
            <a:ext cx="3626968" cy="1325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300" dirty="0">
                <a:solidFill>
                  <a:srgbClr val="5B607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Medium/high-risk actions show a RISK-LEVEL; approve, cancel, or set don't-ask-again per recipient, per domain or always; multiple pending actions can be approved together.</a:t>
            </a:r>
            <a:endParaRPr lang="en-US" sz="1300" dirty="0"/>
          </a:p>
        </p:txBody>
      </p:sp>
      <p:sp>
        <p:nvSpPr>
          <p:cNvPr id="20" name="Shape 15"/>
          <p:cNvSpPr/>
          <p:nvPr/>
        </p:nvSpPr>
        <p:spPr>
          <a:xfrm>
            <a:off x="6324448" y="4251960"/>
            <a:ext cx="5227168" cy="2331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7F2"/>
            </a:solidFill>
            <a:prstDash val="solid"/>
          </a:ln>
          <a:effectLst>
            <a:outerShdw sx="100000" sy="100000" kx="0" ky="0" algn="bl" rotWithShape="0" blurRad="101600" dist="25400" dir="5400000">
              <a:srgbClr val="9AA0C0">
                <a:alpha val="16000"/>
              </a:srgbClr>
            </a:outerShdw>
          </a:effectLst>
        </p:spPr>
      </p:sp>
      <p:sp>
        <p:nvSpPr>
          <p:cNvPr id="21" name="Shape 16"/>
          <p:cNvSpPr/>
          <p:nvPr/>
        </p:nvSpPr>
        <p:spPr>
          <a:xfrm>
            <a:off x="6644488" y="4599432"/>
            <a:ext cx="868680" cy="868680"/>
          </a:xfrm>
          <a:prstGeom prst="roundRect">
            <a:avLst>
              <a:gd name="adj" fmla="val 16842"/>
            </a:avLst>
          </a:prstGeom>
          <a:solidFill>
            <a:srgbClr val="CA5010"/>
          </a:solidFill>
          <a:ln/>
        </p:spPr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54800" y="4809744"/>
            <a:ext cx="448056" cy="448056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7696048" y="4636008"/>
            <a:ext cx="367268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23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What's new</a:t>
            </a:r>
            <a:endParaRPr lang="en-US" sz="1800" dirty="0"/>
          </a:p>
        </p:txBody>
      </p:sp>
      <p:sp>
        <p:nvSpPr>
          <p:cNvPr id="24" name="Text 18"/>
          <p:cNvSpPr/>
          <p:nvPr/>
        </p:nvSpPr>
        <p:spPr>
          <a:xfrm>
            <a:off x="7696048" y="5120640"/>
            <a:ext cx="3626968" cy="1325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050" dirty="0">
                <a:solidFill>
                  <a:srgbClr val="5B607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Scheduled prompts (up to 25) and event-driven tasks; five Effort levels to balance quality against cost; every custom skill gets an automatic Skill Report (0–100 across four dimensions, plus five separate gates including a Safety and RAI scan); local Edge browser (GA since Aug 2026); image generation; Plugins / MCP for external systems.</a:t>
            </a:r>
            <a:endParaRPr lang="en-US" sz="1050" dirty="0"/>
          </a:p>
        </p:txBody>
      </p:sp>
      <p:sp>
        <p:nvSpPr>
          <p:cNvPr id="25" name="Text 19"/>
          <p:cNvSpPr/>
          <p:nvPr/>
        </p:nvSpPr>
        <p:spPr>
          <a:xfrm>
            <a:off x="64008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07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Microsoft 365 Copilot Cowork</a:t>
            </a:r>
            <a:endParaRPr lang="en-US" sz="900" dirty="0"/>
          </a:p>
        </p:txBody>
      </p:sp>
      <p:sp>
        <p:nvSpPr>
          <p:cNvPr id="26" name="Text 20"/>
          <p:cNvSpPr/>
          <p:nvPr/>
        </p:nvSpPr>
        <p:spPr>
          <a:xfrm>
            <a:off x="11002975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07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66928"/>
            <a:ext cx="384048" cy="128016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3" name="Text 1"/>
          <p:cNvSpPr/>
          <p:nvPr/>
        </p:nvSpPr>
        <p:spPr>
          <a:xfrm>
            <a:off x="1143000" y="457200"/>
            <a:ext cx="82296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6366F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HOW IT WORKS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786384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23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What happens inside one agentic workflow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640080" y="2468880"/>
            <a:ext cx="1572768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7F2"/>
            </a:solidFill>
            <a:prstDash val="solid"/>
          </a:ln>
          <a:effectLst>
            <a:outerShdw sx="100000" sy="100000" kx="0" ky="0" algn="bl" rotWithShape="0" blurRad="76200" dist="25400" dir="5400000">
              <a:srgbClr val="9AA0C0">
                <a:alpha val="1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1042416" y="2697480"/>
            <a:ext cx="768096" cy="768096"/>
          </a:xfrm>
          <a:prstGeom prst="ellipse">
            <a:avLst/>
          </a:prstGeom>
          <a:solidFill>
            <a:srgbClr val="6366F1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07008" y="2862072"/>
            <a:ext cx="438912" cy="438912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40080" y="3547872"/>
            <a:ext cx="157276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23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Take the goal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640080" y="3840480"/>
            <a:ext cx="157276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5B607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Upload files</a:t>
            </a:r>
            <a:endParaRPr lang="en-US" sz="12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5B607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Give the instruction</a:t>
            </a:r>
            <a:endParaRPr lang="en-US" sz="1200" dirty="0"/>
          </a:p>
        </p:txBody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59757" y="2971800"/>
            <a:ext cx="201168" cy="201168"/>
          </a:xfrm>
          <a:prstGeom prst="rect">
            <a:avLst/>
          </a:prstGeom>
        </p:spPr>
      </p:pic>
      <p:sp>
        <p:nvSpPr>
          <p:cNvPr id="11" name="Shape 7"/>
          <p:cNvSpPr/>
          <p:nvPr/>
        </p:nvSpPr>
        <p:spPr>
          <a:xfrm>
            <a:off x="2507833" y="2468880"/>
            <a:ext cx="1572768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7F2"/>
            </a:solidFill>
            <a:prstDash val="solid"/>
          </a:ln>
          <a:effectLst>
            <a:outerShdw sx="100000" sy="100000" kx="0" ky="0" algn="bl" rotWithShape="0" blurRad="76200" dist="25400" dir="5400000">
              <a:srgbClr val="9AA0C0">
                <a:alpha val="15000"/>
              </a:srgbClr>
            </a:outerShdw>
          </a:effectLst>
        </p:spPr>
      </p:sp>
      <p:sp>
        <p:nvSpPr>
          <p:cNvPr id="12" name="Shape 8"/>
          <p:cNvSpPr/>
          <p:nvPr/>
        </p:nvSpPr>
        <p:spPr>
          <a:xfrm>
            <a:off x="2910169" y="2697480"/>
            <a:ext cx="768096" cy="768096"/>
          </a:xfrm>
          <a:prstGeom prst="ellipse">
            <a:avLst/>
          </a:prstGeom>
          <a:solidFill>
            <a:srgbClr val="6366F1"/>
          </a:solidFill>
          <a:ln/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74761" y="2862072"/>
            <a:ext cx="438912" cy="438912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2507833" y="3547872"/>
            <a:ext cx="157276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23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Plan</a:t>
            </a:r>
            <a:endParaRPr lang="en-US" sz="1400" dirty="0"/>
          </a:p>
        </p:txBody>
      </p:sp>
      <p:sp>
        <p:nvSpPr>
          <p:cNvPr id="15" name="Text 10"/>
          <p:cNvSpPr/>
          <p:nvPr/>
        </p:nvSpPr>
        <p:spPr>
          <a:xfrm>
            <a:off x="2507833" y="3840480"/>
            <a:ext cx="157276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5B607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Understand the task</a:t>
            </a:r>
            <a:endParaRPr lang="en-US" sz="12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5B607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Break it into steps</a:t>
            </a:r>
            <a:endParaRPr lang="en-US" sz="1200" dirty="0"/>
          </a:p>
        </p:txBody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27510" y="2971800"/>
            <a:ext cx="201168" cy="201168"/>
          </a:xfrm>
          <a:prstGeom prst="rect">
            <a:avLst/>
          </a:prstGeom>
        </p:spPr>
      </p:pic>
      <p:sp>
        <p:nvSpPr>
          <p:cNvPr id="17" name="Shape 11"/>
          <p:cNvSpPr/>
          <p:nvPr/>
        </p:nvSpPr>
        <p:spPr>
          <a:xfrm>
            <a:off x="4375587" y="2468880"/>
            <a:ext cx="1572768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7F2"/>
            </a:solidFill>
            <a:prstDash val="solid"/>
          </a:ln>
          <a:effectLst>
            <a:outerShdw sx="100000" sy="100000" kx="0" ky="0" algn="bl" rotWithShape="0" blurRad="76200" dist="25400" dir="5400000">
              <a:srgbClr val="9AA0C0">
                <a:alpha val="15000"/>
              </a:srgbClr>
            </a:outerShdw>
          </a:effectLst>
        </p:spPr>
      </p:sp>
      <p:sp>
        <p:nvSpPr>
          <p:cNvPr id="18" name="Shape 12"/>
          <p:cNvSpPr/>
          <p:nvPr/>
        </p:nvSpPr>
        <p:spPr>
          <a:xfrm>
            <a:off x="4777923" y="2697480"/>
            <a:ext cx="768096" cy="768096"/>
          </a:xfrm>
          <a:prstGeom prst="ellipse">
            <a:avLst/>
          </a:prstGeom>
          <a:solidFill>
            <a:srgbClr val="6366F1"/>
          </a:solidFill>
          <a:ln/>
        </p:spPr>
      </p:sp>
      <p:pic>
        <p:nvPicPr>
          <p:cNvPr id="19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42515" y="2862072"/>
            <a:ext cx="438912" cy="438912"/>
          </a:xfrm>
          <a:prstGeom prst="rect">
            <a:avLst/>
          </a:prstGeom>
        </p:spPr>
      </p:pic>
      <p:sp>
        <p:nvSpPr>
          <p:cNvPr id="20" name="Text 13"/>
          <p:cNvSpPr/>
          <p:nvPr/>
        </p:nvSpPr>
        <p:spPr>
          <a:xfrm>
            <a:off x="4375587" y="3547872"/>
            <a:ext cx="157276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23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Load skills</a:t>
            </a:r>
            <a:endParaRPr lang="en-US" sz="1400" dirty="0"/>
          </a:p>
        </p:txBody>
      </p:sp>
      <p:sp>
        <p:nvSpPr>
          <p:cNvPr id="21" name="Text 14"/>
          <p:cNvSpPr/>
          <p:nvPr/>
        </p:nvSpPr>
        <p:spPr>
          <a:xfrm>
            <a:off x="4375587" y="3840480"/>
            <a:ext cx="157276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5B607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14 built-in</a:t>
            </a:r>
            <a:endParaRPr lang="en-US" sz="12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5B607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+ custom</a:t>
            </a:r>
            <a:endParaRPr lang="en-US" sz="1200" dirty="0"/>
          </a:p>
        </p:txBody>
      </p:sp>
      <p:pic>
        <p:nvPicPr>
          <p:cNvPr id="22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995264" y="2971800"/>
            <a:ext cx="201168" cy="201168"/>
          </a:xfrm>
          <a:prstGeom prst="rect">
            <a:avLst/>
          </a:prstGeom>
        </p:spPr>
      </p:pic>
      <p:sp>
        <p:nvSpPr>
          <p:cNvPr id="23" name="Shape 15"/>
          <p:cNvSpPr/>
          <p:nvPr/>
        </p:nvSpPr>
        <p:spPr>
          <a:xfrm>
            <a:off x="6243340" y="2468880"/>
            <a:ext cx="1572768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7F2"/>
            </a:solidFill>
            <a:prstDash val="solid"/>
          </a:ln>
          <a:effectLst>
            <a:outerShdw sx="100000" sy="100000" kx="0" ky="0" algn="bl" rotWithShape="0" blurRad="76200" dist="25400" dir="5400000">
              <a:srgbClr val="9AA0C0">
                <a:alpha val="15000"/>
              </a:srgbClr>
            </a:outerShdw>
          </a:effectLst>
        </p:spPr>
      </p:sp>
      <p:sp>
        <p:nvSpPr>
          <p:cNvPr id="24" name="Shape 16"/>
          <p:cNvSpPr/>
          <p:nvPr/>
        </p:nvSpPr>
        <p:spPr>
          <a:xfrm>
            <a:off x="6645676" y="2697480"/>
            <a:ext cx="768096" cy="768096"/>
          </a:xfrm>
          <a:prstGeom prst="ellipse">
            <a:avLst/>
          </a:prstGeom>
          <a:solidFill>
            <a:srgbClr val="6366F1"/>
          </a:solidFill>
          <a:ln/>
        </p:spPr>
      </p:sp>
      <p:pic>
        <p:nvPicPr>
          <p:cNvPr id="25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810268" y="2862072"/>
            <a:ext cx="438912" cy="438912"/>
          </a:xfrm>
          <a:prstGeom prst="rect">
            <a:avLst/>
          </a:prstGeom>
        </p:spPr>
      </p:pic>
      <p:sp>
        <p:nvSpPr>
          <p:cNvPr id="26" name="Text 17"/>
          <p:cNvSpPr/>
          <p:nvPr/>
        </p:nvSpPr>
        <p:spPr>
          <a:xfrm>
            <a:off x="6243340" y="3547872"/>
            <a:ext cx="157276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23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Execute</a:t>
            </a:r>
            <a:endParaRPr lang="en-US" sz="1400" dirty="0"/>
          </a:p>
        </p:txBody>
      </p:sp>
      <p:sp>
        <p:nvSpPr>
          <p:cNvPr id="27" name="Text 18"/>
          <p:cNvSpPr/>
          <p:nvPr/>
        </p:nvSpPr>
        <p:spPr>
          <a:xfrm>
            <a:off x="6243340" y="3840480"/>
            <a:ext cx="157276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5B607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Create documents</a:t>
            </a:r>
            <a:endParaRPr lang="en-US" sz="12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5B607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spreadsheets / mail</a:t>
            </a:r>
            <a:endParaRPr lang="en-US" sz="1200" dirty="0"/>
          </a:p>
        </p:txBody>
      </p:sp>
      <p:pic>
        <p:nvPicPr>
          <p:cNvPr id="28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863017" y="2971800"/>
            <a:ext cx="201168" cy="201168"/>
          </a:xfrm>
          <a:prstGeom prst="rect">
            <a:avLst/>
          </a:prstGeom>
        </p:spPr>
      </p:pic>
      <p:sp>
        <p:nvSpPr>
          <p:cNvPr id="29" name="Shape 19"/>
          <p:cNvSpPr/>
          <p:nvPr/>
        </p:nvSpPr>
        <p:spPr>
          <a:xfrm>
            <a:off x="8111094" y="2468880"/>
            <a:ext cx="1572768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7F2"/>
            </a:solidFill>
            <a:prstDash val="solid"/>
          </a:ln>
          <a:effectLst>
            <a:outerShdw sx="100000" sy="100000" kx="0" ky="0" algn="bl" rotWithShape="0" blurRad="76200" dist="25400" dir="5400000">
              <a:srgbClr val="9AA0C0">
                <a:alpha val="15000"/>
              </a:srgbClr>
            </a:outerShdw>
          </a:effectLst>
        </p:spPr>
      </p:sp>
      <p:sp>
        <p:nvSpPr>
          <p:cNvPr id="30" name="Shape 20"/>
          <p:cNvSpPr/>
          <p:nvPr/>
        </p:nvSpPr>
        <p:spPr>
          <a:xfrm>
            <a:off x="8513430" y="2697480"/>
            <a:ext cx="768096" cy="768096"/>
          </a:xfrm>
          <a:prstGeom prst="ellipse">
            <a:avLst/>
          </a:prstGeom>
          <a:solidFill>
            <a:srgbClr val="6366F1"/>
          </a:solidFill>
          <a:ln/>
        </p:spPr>
      </p:sp>
      <p:pic>
        <p:nvPicPr>
          <p:cNvPr id="31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678022" y="2862072"/>
            <a:ext cx="438912" cy="438912"/>
          </a:xfrm>
          <a:prstGeom prst="rect">
            <a:avLst/>
          </a:prstGeom>
        </p:spPr>
      </p:pic>
      <p:sp>
        <p:nvSpPr>
          <p:cNvPr id="32" name="Text 21"/>
          <p:cNvSpPr/>
          <p:nvPr/>
        </p:nvSpPr>
        <p:spPr>
          <a:xfrm>
            <a:off x="8111094" y="3547872"/>
            <a:ext cx="157276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23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Self-verify</a:t>
            </a:r>
            <a:endParaRPr lang="en-US" sz="1400" dirty="0"/>
          </a:p>
        </p:txBody>
      </p:sp>
      <p:sp>
        <p:nvSpPr>
          <p:cNvPr id="33" name="Text 22"/>
          <p:cNvSpPr/>
          <p:nvPr/>
        </p:nvSpPr>
        <p:spPr>
          <a:xfrm>
            <a:off x="8111094" y="3840480"/>
            <a:ext cx="157276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5B607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Check the numbers</a:t>
            </a:r>
            <a:endParaRPr lang="en-US" sz="12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5B607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and consistency</a:t>
            </a:r>
            <a:endParaRPr lang="en-US" sz="1200" dirty="0"/>
          </a:p>
        </p:txBody>
      </p:sp>
      <p:pic>
        <p:nvPicPr>
          <p:cNvPr id="34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730770" y="2971800"/>
            <a:ext cx="201168" cy="201168"/>
          </a:xfrm>
          <a:prstGeom prst="rect">
            <a:avLst/>
          </a:prstGeom>
        </p:spPr>
      </p:pic>
      <p:sp>
        <p:nvSpPr>
          <p:cNvPr id="35" name="Shape 23"/>
          <p:cNvSpPr/>
          <p:nvPr/>
        </p:nvSpPr>
        <p:spPr>
          <a:xfrm>
            <a:off x="9978847" y="2468880"/>
            <a:ext cx="1572768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7F2"/>
            </a:solidFill>
            <a:prstDash val="solid"/>
          </a:ln>
          <a:effectLst>
            <a:outerShdw sx="100000" sy="100000" kx="0" ky="0" algn="bl" rotWithShape="0" blurRad="76200" dist="25400" dir="5400000">
              <a:srgbClr val="9AA0C0">
                <a:alpha val="15000"/>
              </a:srgbClr>
            </a:outerShdw>
          </a:effectLst>
        </p:spPr>
      </p:sp>
      <p:sp>
        <p:nvSpPr>
          <p:cNvPr id="36" name="Shape 24"/>
          <p:cNvSpPr/>
          <p:nvPr/>
        </p:nvSpPr>
        <p:spPr>
          <a:xfrm>
            <a:off x="10381183" y="2697480"/>
            <a:ext cx="768096" cy="768096"/>
          </a:xfrm>
          <a:prstGeom prst="ellipse">
            <a:avLst/>
          </a:prstGeom>
          <a:solidFill>
            <a:srgbClr val="8B5CF6"/>
          </a:solidFill>
          <a:ln/>
        </p:spPr>
      </p:sp>
      <p:pic>
        <p:nvPicPr>
          <p:cNvPr id="37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0545775" y="2862072"/>
            <a:ext cx="438912" cy="438912"/>
          </a:xfrm>
          <a:prstGeom prst="rect">
            <a:avLst/>
          </a:prstGeom>
        </p:spPr>
      </p:pic>
      <p:sp>
        <p:nvSpPr>
          <p:cNvPr id="38" name="Text 25"/>
          <p:cNvSpPr/>
          <p:nvPr/>
        </p:nvSpPr>
        <p:spPr>
          <a:xfrm>
            <a:off x="9978847" y="3547872"/>
            <a:ext cx="157276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23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Approval before action</a:t>
            </a:r>
            <a:endParaRPr lang="en-US" sz="1400" dirty="0"/>
          </a:p>
        </p:txBody>
      </p:sp>
      <p:sp>
        <p:nvSpPr>
          <p:cNvPr id="39" name="Text 26"/>
          <p:cNvSpPr/>
          <p:nvPr/>
        </p:nvSpPr>
        <p:spPr>
          <a:xfrm>
            <a:off x="9978847" y="3840480"/>
            <a:ext cx="157276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5B607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Outbound actions</a:t>
            </a:r>
            <a:endParaRPr lang="en-US" sz="12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5B607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wait for you</a:t>
            </a:r>
            <a:endParaRPr lang="en-US" sz="1200" dirty="0"/>
          </a:p>
        </p:txBody>
      </p:sp>
      <p:sp>
        <p:nvSpPr>
          <p:cNvPr id="40" name="Text 27"/>
          <p:cNvSpPr/>
          <p:nvPr/>
        </p:nvSpPr>
        <p:spPr>
          <a:xfrm>
            <a:off x="640080" y="493776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5B607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whole process is visible in the "Workspace" panel; you can soft/hard pause, resume or cancel a task.</a:t>
            </a:r>
            <a:endParaRPr lang="en-US" sz="1400" dirty="0"/>
          </a:p>
        </p:txBody>
      </p:sp>
      <p:sp>
        <p:nvSpPr>
          <p:cNvPr id="41" name="Text 28"/>
          <p:cNvSpPr/>
          <p:nvPr/>
        </p:nvSpPr>
        <p:spPr>
          <a:xfrm>
            <a:off x="640080" y="5285232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5B607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It doesn't only start from chat: you can also have it fire automatically when a matching email arrives or you're @mentioned (event-driven tasks) — with the same self-verification and approval flow.</a:t>
            </a:r>
            <a:endParaRPr lang="en-US" sz="1300" dirty="0"/>
          </a:p>
        </p:txBody>
      </p:sp>
      <p:sp>
        <p:nvSpPr>
          <p:cNvPr id="42" name="Text 29"/>
          <p:cNvSpPr/>
          <p:nvPr/>
        </p:nvSpPr>
        <p:spPr>
          <a:xfrm>
            <a:off x="64008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07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Microsoft 365 Copilot Cowork</a:t>
            </a:r>
            <a:endParaRPr lang="en-US" sz="900" dirty="0"/>
          </a:p>
        </p:txBody>
      </p:sp>
      <p:sp>
        <p:nvSpPr>
          <p:cNvPr id="43" name="Text 30"/>
          <p:cNvSpPr/>
          <p:nvPr/>
        </p:nvSpPr>
        <p:spPr>
          <a:xfrm>
            <a:off x="11002975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07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66928"/>
            <a:ext cx="384048" cy="128016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3" name="Text 1"/>
          <p:cNvSpPr/>
          <p:nvPr/>
        </p:nvSpPr>
        <p:spPr>
          <a:xfrm>
            <a:off x="1143000" y="457200"/>
            <a:ext cx="82296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6366F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BEFORE YOU START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786384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23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Set up your practice environment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640080" y="1481328"/>
            <a:ext cx="109728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07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Download the samples and drop them into the chat — no need to put them in OneDrive first · Setup time ~10 min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0080" y="1874520"/>
            <a:ext cx="5272888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7F2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40080" y="1874520"/>
            <a:ext cx="68580" cy="914400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8" name="Text 6"/>
          <p:cNvSpPr/>
          <p:nvPr/>
        </p:nvSpPr>
        <p:spPr>
          <a:xfrm>
            <a:off x="804672" y="1929384"/>
            <a:ext cx="4114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📁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1243584" y="1920240"/>
            <a:ext cx="449564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23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Create the retail channels folder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1243584" y="2194560"/>
            <a:ext cx="449564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5B607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Create Documents/Cowork_Lab/RetailChannels in OneDrive a…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6278728" y="1874520"/>
            <a:ext cx="5272888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7F2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278728" y="1874520"/>
            <a:ext cx="68580" cy="914400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13" name="Text 11"/>
          <p:cNvSpPr/>
          <p:nvPr/>
        </p:nvSpPr>
        <p:spPr>
          <a:xfrm>
            <a:off x="6443320" y="1929384"/>
            <a:ext cx="4114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👤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6882232" y="1920240"/>
            <a:ext cx="449564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23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Validate with CIO only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6882232" y="2194560"/>
            <a:ext cx="449564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5B607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This edition does not require a second account; validate…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640080" y="5532120"/>
            <a:ext cx="10911535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4E7F2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40080" y="5532120"/>
            <a:ext cx="91440" cy="749808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18" name="Text 16"/>
          <p:cNvSpPr/>
          <p:nvPr/>
        </p:nvSpPr>
        <p:spPr>
          <a:xfrm>
            <a:off x="914400" y="5614416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23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Final check before the session</a:t>
            </a:r>
            <a:endParaRPr lang="en-US" sz="1200" dirty="0"/>
          </a:p>
        </p:txBody>
      </p:sp>
      <p:pic>
        <p:nvPicPr>
          <p:cNvPr id="1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0" y="5641848"/>
            <a:ext cx="155448" cy="155448"/>
          </a:xfrm>
          <a:prstGeom prst="rect">
            <a:avLst/>
          </a:prstGeom>
        </p:spPr>
      </p:pic>
      <p:sp>
        <p:nvSpPr>
          <p:cNvPr id="20" name="Text 17"/>
          <p:cNvSpPr/>
          <p:nvPr/>
        </p:nvSpPr>
        <p:spPr>
          <a:xfrm>
            <a:off x="2999232" y="5586984"/>
            <a:ext cx="8259775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23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All seven RET folders are searchable by Cowork</a:t>
            </a:r>
            <a:endParaRPr lang="en-US" sz="1050" dirty="0"/>
          </a:p>
        </p:txBody>
      </p:sp>
      <p:pic>
        <p:nvPicPr>
          <p:cNvPr id="2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0" y="5852160"/>
            <a:ext cx="155448" cy="155448"/>
          </a:xfrm>
          <a:prstGeom prst="rect">
            <a:avLst/>
          </a:prstGeom>
        </p:spPr>
      </p:pic>
      <p:sp>
        <p:nvSpPr>
          <p:cNvPr id="22" name="Text 18"/>
          <p:cNvSpPr/>
          <p:nvPr/>
        </p:nvSpPr>
        <p:spPr>
          <a:xfrm>
            <a:off x="2999232" y="5797296"/>
            <a:ext cx="8259775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23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Any tested trigger or schedule is disabled</a:t>
            </a:r>
            <a:endParaRPr lang="en-US" sz="1050" dirty="0"/>
          </a:p>
        </p:txBody>
      </p:sp>
      <p:sp>
        <p:nvSpPr>
          <p:cNvPr id="23" name="Text 19"/>
          <p:cNvSpPr/>
          <p:nvPr/>
        </p:nvSpPr>
        <p:spPr>
          <a:xfrm>
            <a:off x="64008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07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Microsoft 365 Copilot Cowork</a:t>
            </a:r>
            <a:endParaRPr lang="en-US" sz="900" dirty="0"/>
          </a:p>
        </p:txBody>
      </p:sp>
      <p:sp>
        <p:nvSpPr>
          <p:cNvPr id="24" name="Text 20"/>
          <p:cNvSpPr/>
          <p:nvPr/>
        </p:nvSpPr>
        <p:spPr>
          <a:xfrm>
            <a:off x="11002975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07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66928"/>
            <a:ext cx="384048" cy="128016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3" name="Text 1"/>
          <p:cNvSpPr/>
          <p:nvPr/>
        </p:nvSpPr>
        <p:spPr>
          <a:xfrm>
            <a:off x="1143000" y="457200"/>
            <a:ext cx="82296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6366F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7 SCENARIOS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786384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23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Seven retail-channel scenarios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640080" y="1828800"/>
            <a:ext cx="1355010" cy="3794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7F2"/>
            </a:solidFill>
            <a:prstDash val="solid"/>
          </a:ln>
          <a:effectLst>
            <a:outerShdw sx="100000" sy="100000" kx="0" ky="0" algn="bl" rotWithShape="0" blurRad="88900" dist="25400" dir="5400000">
              <a:srgbClr val="9AA0C0">
                <a:alpha val="16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640080" y="1828800"/>
            <a:ext cx="1355010" cy="109728"/>
          </a:xfrm>
          <a:prstGeom prst="rect">
            <a:avLst/>
          </a:prstGeom>
          <a:solidFill>
            <a:srgbClr val="0B5A5E"/>
          </a:solidFill>
          <a:ln/>
        </p:spPr>
      </p:sp>
      <p:sp>
        <p:nvSpPr>
          <p:cNvPr id="7" name="Shape 5"/>
          <p:cNvSpPr/>
          <p:nvPr/>
        </p:nvSpPr>
        <p:spPr>
          <a:xfrm>
            <a:off x="860385" y="2194560"/>
            <a:ext cx="914400" cy="914400"/>
          </a:xfrm>
          <a:prstGeom prst="ellipse">
            <a:avLst/>
          </a:prstGeom>
          <a:solidFill>
            <a:srgbClr val="0B5A5E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61553" y="2395728"/>
            <a:ext cx="512064" cy="512064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731520" y="3163824"/>
            <a:ext cx="1172130" cy="4101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828" b="1" dirty="0">
                <a:solidFill>
                  <a:srgbClr val="0B5A5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Retail Channels · Operations Decisions</a:t>
            </a:r>
            <a:endParaRPr lang="en-US" sz="828" dirty="0"/>
          </a:p>
        </p:txBody>
      </p:sp>
      <p:sp>
        <p:nvSpPr>
          <p:cNvPr id="10" name="Text 7"/>
          <p:cNvSpPr/>
          <p:nvPr/>
        </p:nvSpPr>
        <p:spPr>
          <a:xfrm>
            <a:off x="731520" y="3628796"/>
            <a:ext cx="1172130" cy="10698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80" b="1" dirty="0">
                <a:solidFill>
                  <a:srgbClr val="1E223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Cold-chain excursion: not every over-temperature reading means disposal</a:t>
            </a:r>
            <a:endParaRPr lang="en-US" sz="1080" dirty="0"/>
          </a:p>
        </p:txBody>
      </p:sp>
      <p:sp>
        <p:nvSpPr>
          <p:cNvPr id="11" name="Text 8"/>
          <p:cNvSpPr/>
          <p:nvPr/>
        </p:nvSpPr>
        <p:spPr>
          <a:xfrm>
            <a:off x="731520" y="4780940"/>
            <a:ext cx="1172130" cy="427939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864" dirty="0">
                <a:solidFill>
                  <a:srgbClr val="5B607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OneDrive / Enterprise Search · Excel …</a:t>
            </a:r>
            <a:endParaRPr lang="en-US" sz="864" dirty="0"/>
          </a:p>
        </p:txBody>
      </p:sp>
      <p:sp>
        <p:nvSpPr>
          <p:cNvPr id="12" name="Text 9"/>
          <p:cNvSpPr/>
          <p:nvPr/>
        </p:nvSpPr>
        <p:spPr>
          <a:xfrm>
            <a:off x="731520" y="5291176"/>
            <a:ext cx="1172130" cy="26151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792" dirty="0">
                <a:solidFill>
                  <a:srgbClr val="9AA0C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~15 min</a:t>
            </a:r>
            <a:endParaRPr lang="en-US" sz="792" dirty="0"/>
          </a:p>
          <a:p>
            <a:pPr algn="ctr" indent="0" marL="0">
              <a:buNone/>
            </a:pPr>
            <a:r>
              <a:rPr lang="en-US" sz="792" dirty="0">
                <a:solidFill>
                  <a:srgbClr val="9AA0C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★★★</a:t>
            </a:r>
            <a:endParaRPr lang="en-US" sz="792" dirty="0"/>
          </a:p>
        </p:txBody>
      </p:sp>
      <p:sp>
        <p:nvSpPr>
          <p:cNvPr id="13" name="Shape 10"/>
          <p:cNvSpPr/>
          <p:nvPr/>
        </p:nvSpPr>
        <p:spPr>
          <a:xfrm>
            <a:off x="2232834" y="1828800"/>
            <a:ext cx="1355010" cy="3794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7F2"/>
            </a:solidFill>
            <a:prstDash val="solid"/>
          </a:ln>
          <a:effectLst>
            <a:outerShdw sx="100000" sy="100000" kx="0" ky="0" algn="bl" rotWithShape="0" blurRad="88900" dist="25400" dir="5400000">
              <a:srgbClr val="9AA0C0">
                <a:alpha val="16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2232834" y="1828800"/>
            <a:ext cx="1355010" cy="109728"/>
          </a:xfrm>
          <a:prstGeom prst="rect">
            <a:avLst/>
          </a:prstGeom>
          <a:solidFill>
            <a:srgbClr val="8A4B08"/>
          </a:solidFill>
          <a:ln/>
        </p:spPr>
      </p:sp>
      <p:sp>
        <p:nvSpPr>
          <p:cNvPr id="15" name="Shape 12"/>
          <p:cNvSpPr/>
          <p:nvPr/>
        </p:nvSpPr>
        <p:spPr>
          <a:xfrm>
            <a:off x="2453139" y="2194560"/>
            <a:ext cx="914400" cy="914400"/>
          </a:xfrm>
          <a:prstGeom prst="ellipse">
            <a:avLst/>
          </a:prstGeom>
          <a:solidFill>
            <a:srgbClr val="8A4B08"/>
          </a:solidFill>
          <a:ln/>
        </p:spPr>
      </p:sp>
      <p:pic>
        <p:nvPicPr>
          <p:cNvPr id="1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54307" y="2395728"/>
            <a:ext cx="512064" cy="512064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2324274" y="3163824"/>
            <a:ext cx="1172130" cy="4101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828" b="1" dirty="0">
                <a:solidFill>
                  <a:srgbClr val="8A4B0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Retail Channels · Operations Decisions</a:t>
            </a:r>
            <a:endParaRPr lang="en-US" sz="828" dirty="0"/>
          </a:p>
        </p:txBody>
      </p:sp>
      <p:sp>
        <p:nvSpPr>
          <p:cNvPr id="18" name="Text 14"/>
          <p:cNvSpPr/>
          <p:nvPr/>
        </p:nvSpPr>
        <p:spPr>
          <a:xfrm>
            <a:off x="2324274" y="3628796"/>
            <a:ext cx="1172130" cy="10698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80" b="1" dirty="0">
                <a:solidFill>
                  <a:srgbClr val="1E223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Promotion allocation: enough total stock does not mean stores can take it</a:t>
            </a:r>
            <a:endParaRPr lang="en-US" sz="1080" dirty="0"/>
          </a:p>
        </p:txBody>
      </p:sp>
      <p:sp>
        <p:nvSpPr>
          <p:cNvPr id="19" name="Text 15"/>
          <p:cNvSpPr/>
          <p:nvPr/>
        </p:nvSpPr>
        <p:spPr>
          <a:xfrm>
            <a:off x="2324274" y="4780940"/>
            <a:ext cx="1172130" cy="427939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864" dirty="0">
                <a:solidFill>
                  <a:srgbClr val="5B607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OneDrive / Enterprise Search · Excel</a:t>
            </a:r>
            <a:endParaRPr lang="en-US" sz="864" dirty="0"/>
          </a:p>
        </p:txBody>
      </p:sp>
      <p:sp>
        <p:nvSpPr>
          <p:cNvPr id="20" name="Text 16"/>
          <p:cNvSpPr/>
          <p:nvPr/>
        </p:nvSpPr>
        <p:spPr>
          <a:xfrm>
            <a:off x="2324274" y="5291176"/>
            <a:ext cx="1172130" cy="26151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792" dirty="0">
                <a:solidFill>
                  <a:srgbClr val="9AA0C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~15 min</a:t>
            </a:r>
            <a:endParaRPr lang="en-US" sz="792" dirty="0"/>
          </a:p>
          <a:p>
            <a:pPr algn="ctr" indent="0" marL="0">
              <a:buNone/>
            </a:pPr>
            <a:r>
              <a:rPr lang="en-US" sz="792" dirty="0">
                <a:solidFill>
                  <a:srgbClr val="9AA0C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★★★</a:t>
            </a:r>
            <a:endParaRPr lang="en-US" sz="792" dirty="0"/>
          </a:p>
        </p:txBody>
      </p:sp>
      <p:sp>
        <p:nvSpPr>
          <p:cNvPr id="21" name="Shape 17"/>
          <p:cNvSpPr/>
          <p:nvPr/>
        </p:nvSpPr>
        <p:spPr>
          <a:xfrm>
            <a:off x="3825588" y="1828800"/>
            <a:ext cx="1355010" cy="3794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7F2"/>
            </a:solidFill>
            <a:prstDash val="solid"/>
          </a:ln>
          <a:effectLst>
            <a:outerShdw sx="100000" sy="100000" kx="0" ky="0" algn="bl" rotWithShape="0" blurRad="88900" dist="25400" dir="5400000">
              <a:srgbClr val="9AA0C0">
                <a:alpha val="16000"/>
              </a:srgbClr>
            </a:outerShdw>
          </a:effectLst>
        </p:spPr>
      </p:sp>
      <p:sp>
        <p:nvSpPr>
          <p:cNvPr id="22" name="Shape 18"/>
          <p:cNvSpPr/>
          <p:nvPr/>
        </p:nvSpPr>
        <p:spPr>
          <a:xfrm>
            <a:off x="3825588" y="1828800"/>
            <a:ext cx="1355010" cy="109728"/>
          </a:xfrm>
          <a:prstGeom prst="rect">
            <a:avLst/>
          </a:prstGeom>
          <a:solidFill>
            <a:srgbClr val="5B3A8A"/>
          </a:solidFill>
          <a:ln/>
        </p:spPr>
      </p:sp>
      <p:sp>
        <p:nvSpPr>
          <p:cNvPr id="23" name="Shape 19"/>
          <p:cNvSpPr/>
          <p:nvPr/>
        </p:nvSpPr>
        <p:spPr>
          <a:xfrm>
            <a:off x="4045893" y="2194560"/>
            <a:ext cx="914400" cy="914400"/>
          </a:xfrm>
          <a:prstGeom prst="ellipse">
            <a:avLst/>
          </a:prstGeom>
          <a:solidFill>
            <a:srgbClr val="5B3A8A"/>
          </a:solidFill>
          <a:ln/>
        </p:spPr>
      </p:sp>
      <p:pic>
        <p:nvPicPr>
          <p:cNvPr id="2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47061" y="2395728"/>
            <a:ext cx="512064" cy="512064"/>
          </a:xfrm>
          <a:prstGeom prst="rect">
            <a:avLst/>
          </a:prstGeom>
        </p:spPr>
      </p:pic>
      <p:sp>
        <p:nvSpPr>
          <p:cNvPr id="25" name="Text 20"/>
          <p:cNvSpPr/>
          <p:nvPr/>
        </p:nvSpPr>
        <p:spPr>
          <a:xfrm>
            <a:off x="3917028" y="3163824"/>
            <a:ext cx="1172130" cy="4101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828" b="1" dirty="0">
                <a:solidFill>
                  <a:srgbClr val="5B3A8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Retail Channels · Operations Decisions</a:t>
            </a:r>
            <a:endParaRPr lang="en-US" sz="828" dirty="0"/>
          </a:p>
        </p:txBody>
      </p:sp>
      <p:sp>
        <p:nvSpPr>
          <p:cNvPr id="26" name="Text 21"/>
          <p:cNvSpPr/>
          <p:nvPr/>
        </p:nvSpPr>
        <p:spPr>
          <a:xfrm>
            <a:off x="3917028" y="3628796"/>
            <a:ext cx="1172130" cy="12481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80" b="1" dirty="0">
                <a:solidFill>
                  <a:srgbClr val="1E223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Product launch: hitting revenue target can still miss the margin floor</a:t>
            </a:r>
            <a:endParaRPr lang="en-US" sz="1080" dirty="0"/>
          </a:p>
        </p:txBody>
      </p:sp>
      <p:sp>
        <p:nvSpPr>
          <p:cNvPr id="27" name="Text 22"/>
          <p:cNvSpPr/>
          <p:nvPr/>
        </p:nvSpPr>
        <p:spPr>
          <a:xfrm>
            <a:off x="3917028" y="4959248"/>
            <a:ext cx="1172130" cy="427939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864" dirty="0">
                <a:solidFill>
                  <a:srgbClr val="5B607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OneDrive / Enterprise Search · Excel …</a:t>
            </a:r>
            <a:endParaRPr lang="en-US" sz="864" dirty="0"/>
          </a:p>
        </p:txBody>
      </p:sp>
      <p:sp>
        <p:nvSpPr>
          <p:cNvPr id="28" name="Text 23"/>
          <p:cNvSpPr/>
          <p:nvPr/>
        </p:nvSpPr>
        <p:spPr>
          <a:xfrm>
            <a:off x="3917028" y="5469484"/>
            <a:ext cx="1172130" cy="26151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792" dirty="0">
                <a:solidFill>
                  <a:srgbClr val="9AA0C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~15 min</a:t>
            </a:r>
            <a:endParaRPr lang="en-US" sz="792" dirty="0"/>
          </a:p>
          <a:p>
            <a:pPr algn="ctr" indent="0" marL="0">
              <a:buNone/>
            </a:pPr>
            <a:r>
              <a:rPr lang="en-US" sz="792" dirty="0">
                <a:solidFill>
                  <a:srgbClr val="9AA0C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★★★</a:t>
            </a:r>
            <a:endParaRPr lang="en-US" sz="792" dirty="0"/>
          </a:p>
        </p:txBody>
      </p:sp>
      <p:sp>
        <p:nvSpPr>
          <p:cNvPr id="29" name="Shape 24"/>
          <p:cNvSpPr/>
          <p:nvPr/>
        </p:nvSpPr>
        <p:spPr>
          <a:xfrm>
            <a:off x="5418343" y="1828800"/>
            <a:ext cx="1355010" cy="3794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7F2"/>
            </a:solidFill>
            <a:prstDash val="solid"/>
          </a:ln>
          <a:effectLst>
            <a:outerShdw sx="100000" sy="100000" kx="0" ky="0" algn="bl" rotWithShape="0" blurRad="88900" dist="25400" dir="5400000">
              <a:srgbClr val="9AA0C0">
                <a:alpha val="16000"/>
              </a:srgbClr>
            </a:outerShdw>
          </a:effectLst>
        </p:spPr>
      </p:sp>
      <p:sp>
        <p:nvSpPr>
          <p:cNvPr id="30" name="Shape 25"/>
          <p:cNvSpPr/>
          <p:nvPr/>
        </p:nvSpPr>
        <p:spPr>
          <a:xfrm>
            <a:off x="5418343" y="1828800"/>
            <a:ext cx="1355010" cy="109728"/>
          </a:xfrm>
          <a:prstGeom prst="rect">
            <a:avLst/>
          </a:prstGeom>
          <a:solidFill>
            <a:srgbClr val="7B2838"/>
          </a:solidFill>
          <a:ln/>
        </p:spPr>
      </p:sp>
      <p:sp>
        <p:nvSpPr>
          <p:cNvPr id="31" name="Shape 26"/>
          <p:cNvSpPr/>
          <p:nvPr/>
        </p:nvSpPr>
        <p:spPr>
          <a:xfrm>
            <a:off x="5638648" y="2194560"/>
            <a:ext cx="914400" cy="914400"/>
          </a:xfrm>
          <a:prstGeom prst="ellipse">
            <a:avLst/>
          </a:prstGeom>
          <a:solidFill>
            <a:srgbClr val="7B2838"/>
          </a:solidFill>
          <a:ln/>
        </p:spPr>
      </p:sp>
      <p:pic>
        <p:nvPicPr>
          <p:cNvPr id="3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39816" y="2395728"/>
            <a:ext cx="512064" cy="512064"/>
          </a:xfrm>
          <a:prstGeom prst="rect">
            <a:avLst/>
          </a:prstGeom>
        </p:spPr>
      </p:pic>
      <p:sp>
        <p:nvSpPr>
          <p:cNvPr id="33" name="Text 27"/>
          <p:cNvSpPr/>
          <p:nvPr/>
        </p:nvSpPr>
        <p:spPr>
          <a:xfrm>
            <a:off x="5509783" y="3163824"/>
            <a:ext cx="1172130" cy="4101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828" b="1" dirty="0">
                <a:solidFill>
                  <a:srgbClr val="7B283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Retail Channels · Operations Decisions</a:t>
            </a:r>
            <a:endParaRPr lang="en-US" sz="828" dirty="0"/>
          </a:p>
        </p:txBody>
      </p:sp>
      <p:sp>
        <p:nvSpPr>
          <p:cNvPr id="34" name="Text 28"/>
          <p:cNvSpPr/>
          <p:nvPr/>
        </p:nvSpPr>
        <p:spPr>
          <a:xfrm>
            <a:off x="5509783" y="3628796"/>
            <a:ext cx="1172130" cy="12481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80" b="1" dirty="0">
                <a:solidFill>
                  <a:srgbClr val="1E223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Returns policy: an opened personal-care item is not an unconditional refund</a:t>
            </a:r>
            <a:endParaRPr lang="en-US" sz="1080" dirty="0"/>
          </a:p>
        </p:txBody>
      </p:sp>
      <p:sp>
        <p:nvSpPr>
          <p:cNvPr id="35" name="Text 29"/>
          <p:cNvSpPr/>
          <p:nvPr/>
        </p:nvSpPr>
        <p:spPr>
          <a:xfrm>
            <a:off x="5509783" y="4959248"/>
            <a:ext cx="1172130" cy="427939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864" dirty="0">
                <a:solidFill>
                  <a:srgbClr val="5B607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OneDrive / Enterprise Search · Word …</a:t>
            </a:r>
            <a:endParaRPr lang="en-US" sz="864" dirty="0"/>
          </a:p>
        </p:txBody>
      </p:sp>
      <p:sp>
        <p:nvSpPr>
          <p:cNvPr id="36" name="Text 30"/>
          <p:cNvSpPr/>
          <p:nvPr/>
        </p:nvSpPr>
        <p:spPr>
          <a:xfrm>
            <a:off x="5509783" y="5469484"/>
            <a:ext cx="1172130" cy="26151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792" dirty="0">
                <a:solidFill>
                  <a:srgbClr val="9AA0C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~15 min</a:t>
            </a:r>
            <a:endParaRPr lang="en-US" sz="792" dirty="0"/>
          </a:p>
          <a:p>
            <a:pPr algn="ctr" indent="0" marL="0">
              <a:buNone/>
            </a:pPr>
            <a:r>
              <a:rPr lang="en-US" sz="792" dirty="0">
                <a:solidFill>
                  <a:srgbClr val="9AA0C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★★★</a:t>
            </a:r>
            <a:endParaRPr lang="en-US" sz="792" dirty="0"/>
          </a:p>
        </p:txBody>
      </p:sp>
      <p:sp>
        <p:nvSpPr>
          <p:cNvPr id="37" name="Shape 31"/>
          <p:cNvSpPr/>
          <p:nvPr/>
        </p:nvSpPr>
        <p:spPr>
          <a:xfrm>
            <a:off x="7011097" y="1828800"/>
            <a:ext cx="1355010" cy="3794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7F2"/>
            </a:solidFill>
            <a:prstDash val="solid"/>
          </a:ln>
          <a:effectLst>
            <a:outerShdw sx="100000" sy="100000" kx="0" ky="0" algn="bl" rotWithShape="0" blurRad="88900" dist="25400" dir="5400000">
              <a:srgbClr val="9AA0C0">
                <a:alpha val="16000"/>
              </a:srgbClr>
            </a:outerShdw>
          </a:effectLst>
        </p:spPr>
      </p:sp>
      <p:sp>
        <p:nvSpPr>
          <p:cNvPr id="38" name="Shape 32"/>
          <p:cNvSpPr/>
          <p:nvPr/>
        </p:nvSpPr>
        <p:spPr>
          <a:xfrm>
            <a:off x="7011097" y="1828800"/>
            <a:ext cx="1355010" cy="109728"/>
          </a:xfrm>
          <a:prstGeom prst="rect">
            <a:avLst/>
          </a:prstGeom>
          <a:solidFill>
            <a:srgbClr val="1D5B8F"/>
          </a:solidFill>
          <a:ln/>
        </p:spPr>
      </p:sp>
      <p:sp>
        <p:nvSpPr>
          <p:cNvPr id="39" name="Shape 33"/>
          <p:cNvSpPr/>
          <p:nvPr/>
        </p:nvSpPr>
        <p:spPr>
          <a:xfrm>
            <a:off x="7231402" y="2194560"/>
            <a:ext cx="914400" cy="914400"/>
          </a:xfrm>
          <a:prstGeom prst="ellipse">
            <a:avLst/>
          </a:prstGeom>
          <a:solidFill>
            <a:srgbClr val="1D5B8F"/>
          </a:solidFill>
          <a:ln/>
        </p:spPr>
      </p:sp>
      <p:pic>
        <p:nvPicPr>
          <p:cNvPr id="40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32570" y="2395728"/>
            <a:ext cx="512064" cy="512064"/>
          </a:xfrm>
          <a:prstGeom prst="rect">
            <a:avLst/>
          </a:prstGeom>
        </p:spPr>
      </p:pic>
      <p:sp>
        <p:nvSpPr>
          <p:cNvPr id="41" name="Text 34"/>
          <p:cNvSpPr/>
          <p:nvPr/>
        </p:nvSpPr>
        <p:spPr>
          <a:xfrm>
            <a:off x="7102537" y="3163824"/>
            <a:ext cx="1172130" cy="4101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828" b="1" dirty="0">
                <a:solidFill>
                  <a:srgbClr val="1D5B8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Retail Channels · Operations Decisions</a:t>
            </a:r>
            <a:endParaRPr lang="en-US" sz="828" dirty="0"/>
          </a:p>
        </p:txBody>
      </p:sp>
      <p:sp>
        <p:nvSpPr>
          <p:cNvPr id="42" name="Text 35"/>
          <p:cNvSpPr/>
          <p:nvPr/>
        </p:nvSpPr>
        <p:spPr>
          <a:xfrm>
            <a:off x="7102537" y="3628796"/>
            <a:ext cx="1172130" cy="7132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80" b="1" dirty="0">
                <a:solidFill>
                  <a:srgbClr val="1E223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Store opening: only one date survives every blackout</a:t>
            </a:r>
            <a:endParaRPr lang="en-US" sz="1080" dirty="0"/>
          </a:p>
        </p:txBody>
      </p:sp>
      <p:sp>
        <p:nvSpPr>
          <p:cNvPr id="43" name="Text 36"/>
          <p:cNvSpPr/>
          <p:nvPr/>
        </p:nvSpPr>
        <p:spPr>
          <a:xfrm>
            <a:off x="7102537" y="4424324"/>
            <a:ext cx="1172130" cy="57058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864" dirty="0">
                <a:solidFill>
                  <a:srgbClr val="5B607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OneDrive / Enterprise Search · Excel · Scheduled prompt</a:t>
            </a:r>
            <a:endParaRPr lang="en-US" sz="864" dirty="0"/>
          </a:p>
        </p:txBody>
      </p:sp>
      <p:sp>
        <p:nvSpPr>
          <p:cNvPr id="44" name="Text 37"/>
          <p:cNvSpPr/>
          <p:nvPr/>
        </p:nvSpPr>
        <p:spPr>
          <a:xfrm>
            <a:off x="7102537" y="5077206"/>
            <a:ext cx="1172130" cy="26151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792" dirty="0">
                <a:solidFill>
                  <a:srgbClr val="9AA0C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~15 min</a:t>
            </a:r>
            <a:endParaRPr lang="en-US" sz="792" dirty="0"/>
          </a:p>
          <a:p>
            <a:pPr algn="ctr" indent="0" marL="0">
              <a:buNone/>
            </a:pPr>
            <a:r>
              <a:rPr lang="en-US" sz="792" dirty="0">
                <a:solidFill>
                  <a:srgbClr val="9AA0C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★★★</a:t>
            </a:r>
            <a:endParaRPr lang="en-US" sz="792" dirty="0"/>
          </a:p>
        </p:txBody>
      </p:sp>
      <p:sp>
        <p:nvSpPr>
          <p:cNvPr id="45" name="Shape 38"/>
          <p:cNvSpPr/>
          <p:nvPr/>
        </p:nvSpPr>
        <p:spPr>
          <a:xfrm>
            <a:off x="8603851" y="1828800"/>
            <a:ext cx="1355010" cy="3794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7F2"/>
            </a:solidFill>
            <a:prstDash val="solid"/>
          </a:ln>
          <a:effectLst>
            <a:outerShdw sx="100000" sy="100000" kx="0" ky="0" algn="bl" rotWithShape="0" blurRad="88900" dist="25400" dir="5400000">
              <a:srgbClr val="9AA0C0">
                <a:alpha val="16000"/>
              </a:srgbClr>
            </a:outerShdw>
          </a:effectLst>
        </p:spPr>
      </p:sp>
      <p:sp>
        <p:nvSpPr>
          <p:cNvPr id="46" name="Shape 39"/>
          <p:cNvSpPr/>
          <p:nvPr/>
        </p:nvSpPr>
        <p:spPr>
          <a:xfrm>
            <a:off x="8603851" y="1828800"/>
            <a:ext cx="1355010" cy="109728"/>
          </a:xfrm>
          <a:prstGeom prst="rect">
            <a:avLst/>
          </a:prstGeom>
          <a:solidFill>
            <a:srgbClr val="375A3D"/>
          </a:solidFill>
          <a:ln/>
        </p:spPr>
      </p:sp>
      <p:sp>
        <p:nvSpPr>
          <p:cNvPr id="47" name="Shape 40"/>
          <p:cNvSpPr/>
          <p:nvPr/>
        </p:nvSpPr>
        <p:spPr>
          <a:xfrm>
            <a:off x="8824156" y="2194560"/>
            <a:ext cx="914400" cy="914400"/>
          </a:xfrm>
          <a:prstGeom prst="ellipse">
            <a:avLst/>
          </a:prstGeom>
          <a:solidFill>
            <a:srgbClr val="375A3D"/>
          </a:solidFill>
          <a:ln/>
        </p:spPr>
      </p:sp>
      <p:pic>
        <p:nvPicPr>
          <p:cNvPr id="48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025324" y="2395728"/>
            <a:ext cx="512064" cy="512064"/>
          </a:xfrm>
          <a:prstGeom prst="rect">
            <a:avLst/>
          </a:prstGeom>
        </p:spPr>
      </p:pic>
      <p:sp>
        <p:nvSpPr>
          <p:cNvPr id="49" name="Text 41"/>
          <p:cNvSpPr/>
          <p:nvPr/>
        </p:nvSpPr>
        <p:spPr>
          <a:xfrm>
            <a:off x="8695291" y="3163824"/>
            <a:ext cx="1172130" cy="4101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828" b="1" dirty="0">
                <a:solidFill>
                  <a:srgbClr val="375A3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Retail Channels · Operations Decisions</a:t>
            </a:r>
            <a:endParaRPr lang="en-US" sz="828" dirty="0"/>
          </a:p>
        </p:txBody>
      </p:sp>
      <p:sp>
        <p:nvSpPr>
          <p:cNvPr id="50" name="Text 42"/>
          <p:cNvSpPr/>
          <p:nvPr/>
        </p:nvSpPr>
        <p:spPr>
          <a:xfrm>
            <a:off x="8695291" y="3628796"/>
            <a:ext cx="1172130" cy="12481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80" b="1" dirty="0">
                <a:solidFill>
                  <a:srgbClr val="1E223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Supplier renewal: the lowest quoted price is not always the lowest net cost</a:t>
            </a:r>
            <a:endParaRPr lang="en-US" sz="1080" dirty="0"/>
          </a:p>
        </p:txBody>
      </p:sp>
      <p:sp>
        <p:nvSpPr>
          <p:cNvPr id="51" name="Text 43"/>
          <p:cNvSpPr/>
          <p:nvPr/>
        </p:nvSpPr>
        <p:spPr>
          <a:xfrm>
            <a:off x="8695291" y="4959248"/>
            <a:ext cx="1172130" cy="427939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864" dirty="0">
                <a:solidFill>
                  <a:srgbClr val="5B607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OneDrive / Enterprise Search · Excel …</a:t>
            </a:r>
            <a:endParaRPr lang="en-US" sz="864" dirty="0"/>
          </a:p>
        </p:txBody>
      </p:sp>
      <p:sp>
        <p:nvSpPr>
          <p:cNvPr id="52" name="Text 44"/>
          <p:cNvSpPr/>
          <p:nvPr/>
        </p:nvSpPr>
        <p:spPr>
          <a:xfrm>
            <a:off x="8695291" y="5469484"/>
            <a:ext cx="1172130" cy="26151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792" dirty="0">
                <a:solidFill>
                  <a:srgbClr val="9AA0C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~15 min</a:t>
            </a:r>
            <a:endParaRPr lang="en-US" sz="792" dirty="0"/>
          </a:p>
          <a:p>
            <a:pPr algn="ctr" indent="0" marL="0">
              <a:buNone/>
            </a:pPr>
            <a:r>
              <a:rPr lang="en-US" sz="792" dirty="0">
                <a:solidFill>
                  <a:srgbClr val="9AA0C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★★★</a:t>
            </a:r>
            <a:endParaRPr lang="en-US" sz="792" dirty="0"/>
          </a:p>
        </p:txBody>
      </p:sp>
      <p:sp>
        <p:nvSpPr>
          <p:cNvPr id="53" name="Shape 45"/>
          <p:cNvSpPr/>
          <p:nvPr/>
        </p:nvSpPr>
        <p:spPr>
          <a:xfrm>
            <a:off x="10196605" y="1828800"/>
            <a:ext cx="1355010" cy="3794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7F2"/>
            </a:solidFill>
            <a:prstDash val="solid"/>
          </a:ln>
          <a:effectLst>
            <a:outerShdw sx="100000" sy="100000" kx="0" ky="0" algn="bl" rotWithShape="0" blurRad="88900" dist="25400" dir="5400000">
              <a:srgbClr val="9AA0C0">
                <a:alpha val="16000"/>
              </a:srgbClr>
            </a:outerShdw>
          </a:effectLst>
        </p:spPr>
      </p:sp>
      <p:sp>
        <p:nvSpPr>
          <p:cNvPr id="54" name="Shape 46"/>
          <p:cNvSpPr/>
          <p:nvPr/>
        </p:nvSpPr>
        <p:spPr>
          <a:xfrm>
            <a:off x="10196605" y="1828800"/>
            <a:ext cx="1355010" cy="109728"/>
          </a:xfrm>
          <a:prstGeom prst="rect">
            <a:avLst/>
          </a:prstGeom>
          <a:solidFill>
            <a:srgbClr val="6B4B2A"/>
          </a:solidFill>
          <a:ln/>
        </p:spPr>
      </p:sp>
      <p:sp>
        <p:nvSpPr>
          <p:cNvPr id="55" name="Shape 47"/>
          <p:cNvSpPr/>
          <p:nvPr/>
        </p:nvSpPr>
        <p:spPr>
          <a:xfrm>
            <a:off x="10416910" y="2194560"/>
            <a:ext cx="914400" cy="914400"/>
          </a:xfrm>
          <a:prstGeom prst="ellipse">
            <a:avLst/>
          </a:prstGeom>
          <a:solidFill>
            <a:srgbClr val="6B4B2A"/>
          </a:solidFill>
          <a:ln/>
        </p:spPr>
      </p:sp>
      <p:pic>
        <p:nvPicPr>
          <p:cNvPr id="56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618078" y="2395728"/>
            <a:ext cx="512064" cy="512064"/>
          </a:xfrm>
          <a:prstGeom prst="rect">
            <a:avLst/>
          </a:prstGeom>
        </p:spPr>
      </p:pic>
      <p:sp>
        <p:nvSpPr>
          <p:cNvPr id="57" name="Text 48"/>
          <p:cNvSpPr/>
          <p:nvPr/>
        </p:nvSpPr>
        <p:spPr>
          <a:xfrm>
            <a:off x="10288045" y="3163824"/>
            <a:ext cx="1172130" cy="4101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828" b="1" dirty="0">
                <a:solidFill>
                  <a:srgbClr val="6B4B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Retail Channels · Operations Decisions</a:t>
            </a:r>
            <a:endParaRPr lang="en-US" sz="828" dirty="0"/>
          </a:p>
        </p:txBody>
      </p:sp>
      <p:sp>
        <p:nvSpPr>
          <p:cNvPr id="58" name="Text 49"/>
          <p:cNvSpPr/>
          <p:nvPr/>
        </p:nvSpPr>
        <p:spPr>
          <a:xfrm>
            <a:off x="10288045" y="3628796"/>
            <a:ext cx="1172130" cy="12481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80" b="1" dirty="0">
                <a:solidFill>
                  <a:srgbClr val="1E223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Weekly operations: higher same-store sales do not mean healthy margin</a:t>
            </a:r>
            <a:endParaRPr lang="en-US" sz="1080" dirty="0"/>
          </a:p>
        </p:txBody>
      </p:sp>
      <p:sp>
        <p:nvSpPr>
          <p:cNvPr id="59" name="Text 50"/>
          <p:cNvSpPr/>
          <p:nvPr/>
        </p:nvSpPr>
        <p:spPr>
          <a:xfrm>
            <a:off x="10288045" y="4959248"/>
            <a:ext cx="1172130" cy="427939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864" dirty="0">
                <a:solidFill>
                  <a:srgbClr val="5B607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OneDrive / Enterprise Search · Excel …</a:t>
            </a:r>
            <a:endParaRPr lang="en-US" sz="864" dirty="0"/>
          </a:p>
        </p:txBody>
      </p:sp>
      <p:sp>
        <p:nvSpPr>
          <p:cNvPr id="60" name="Text 51"/>
          <p:cNvSpPr/>
          <p:nvPr/>
        </p:nvSpPr>
        <p:spPr>
          <a:xfrm>
            <a:off x="10288045" y="5469484"/>
            <a:ext cx="1172130" cy="26151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792" dirty="0">
                <a:solidFill>
                  <a:srgbClr val="9AA0C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~15 min</a:t>
            </a:r>
            <a:endParaRPr lang="en-US" sz="792" dirty="0"/>
          </a:p>
          <a:p>
            <a:pPr algn="ctr" indent="0" marL="0">
              <a:buNone/>
            </a:pPr>
            <a:r>
              <a:rPr lang="en-US" sz="792" dirty="0">
                <a:solidFill>
                  <a:srgbClr val="9AA0C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★★★</a:t>
            </a:r>
            <a:endParaRPr lang="en-US" sz="792" dirty="0"/>
          </a:p>
        </p:txBody>
      </p:sp>
      <p:sp>
        <p:nvSpPr>
          <p:cNvPr id="61" name="Text 52"/>
          <p:cNvSpPr/>
          <p:nvPr/>
        </p:nvSpPr>
        <p:spPr>
          <a:xfrm>
            <a:off x="64008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07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Microsoft 365 Copilot Cowork</a:t>
            </a:r>
            <a:endParaRPr lang="en-US" sz="900" dirty="0"/>
          </a:p>
        </p:txBody>
      </p:sp>
      <p:sp>
        <p:nvSpPr>
          <p:cNvPr id="62" name="Text 53"/>
          <p:cNvSpPr/>
          <p:nvPr/>
        </p:nvSpPr>
        <p:spPr>
          <a:xfrm>
            <a:off x="11002975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07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F103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023360" cy="6858000"/>
          </a:xfrm>
          <a:prstGeom prst="rect">
            <a:avLst/>
          </a:prstGeom>
          <a:solidFill>
            <a:srgbClr val="1C1E4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B5A5E"/>
          </a:solidFill>
          <a:ln/>
        </p:spPr>
      </p:sp>
      <p:sp>
        <p:nvSpPr>
          <p:cNvPr id="4" name="Text 2"/>
          <p:cNvSpPr/>
          <p:nvPr/>
        </p:nvSpPr>
        <p:spPr>
          <a:xfrm>
            <a:off x="502920" y="64008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0B5A5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Scenario 01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02920" y="1143000"/>
            <a:ext cx="1097280" cy="1097280"/>
          </a:xfrm>
          <a:prstGeom prst="ellipse">
            <a:avLst/>
          </a:prstGeom>
          <a:solidFill>
            <a:srgbClr val="0B5A5E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4672" y="1444752"/>
            <a:ext cx="493776" cy="49377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02920" y="237744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B9BCE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Retail Channels · Operations Decisions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502920" y="2697480"/>
            <a:ext cx="3291840" cy="1325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Cold-chain excursion: not every over-temperature reading means disposal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502920" y="4114800"/>
            <a:ext cx="3291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FA3C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⏱ ~15 min · Level ★★★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502920" y="4572000"/>
            <a:ext cx="3127248" cy="402336"/>
          </a:xfrm>
          <a:prstGeom prst="roundRect">
            <a:avLst>
              <a:gd name="adj" fmla="val 50000"/>
            </a:avLst>
          </a:prstGeom>
          <a:solidFill>
            <a:srgbClr val="6366F1"/>
          </a:solidFill>
          <a:ln/>
        </p:spPr>
      </p:sp>
      <p:sp>
        <p:nvSpPr>
          <p:cNvPr id="11" name="Text 8"/>
          <p:cNvSpPr/>
          <p:nvPr/>
        </p:nvSpPr>
        <p:spPr>
          <a:xfrm>
            <a:off x="502920" y="4572000"/>
            <a:ext cx="3127248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OneDrive / Enterprise Search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502920" y="5074920"/>
            <a:ext cx="813816" cy="402336"/>
          </a:xfrm>
          <a:prstGeom prst="roundRect">
            <a:avLst>
              <a:gd name="adj" fmla="val 50000"/>
            </a:avLst>
          </a:prstGeom>
          <a:solidFill>
            <a:srgbClr val="217346"/>
          </a:solidFill>
          <a:ln/>
        </p:spPr>
      </p:sp>
      <p:sp>
        <p:nvSpPr>
          <p:cNvPr id="13" name="Text 10"/>
          <p:cNvSpPr/>
          <p:nvPr/>
        </p:nvSpPr>
        <p:spPr>
          <a:xfrm>
            <a:off x="502920" y="5074920"/>
            <a:ext cx="81381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Excel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502920" y="5577840"/>
            <a:ext cx="2523744" cy="402336"/>
          </a:xfrm>
          <a:prstGeom prst="roundRect">
            <a:avLst>
              <a:gd name="adj" fmla="val 50000"/>
            </a:avLst>
          </a:prstGeom>
          <a:solidFill>
            <a:srgbClr val="6366F1"/>
          </a:solidFill>
          <a:ln/>
        </p:spPr>
      </p:sp>
      <p:sp>
        <p:nvSpPr>
          <p:cNvPr id="15" name="Text 12"/>
          <p:cNvSpPr/>
          <p:nvPr/>
        </p:nvSpPr>
        <p:spPr>
          <a:xfrm>
            <a:off x="502920" y="5577840"/>
            <a:ext cx="2523744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Approvals &amp; governance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4526280" y="566928"/>
            <a:ext cx="713232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D7D9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 chilled display case has one excursion. Join store, lot and distribution-centre data to separate the quarantine scope from releasable stock.</a:t>
            </a:r>
            <a:endParaRPr lang="en-US" sz="1500" dirty="0"/>
          </a:p>
        </p:txBody>
      </p:sp>
      <p:sp>
        <p:nvSpPr>
          <p:cNvPr id="17" name="Text 14"/>
          <p:cNvSpPr/>
          <p:nvPr/>
        </p:nvSpPr>
        <p:spPr>
          <a:xfrm>
            <a:off x="4526280" y="1517904"/>
            <a:ext cx="7132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5A5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Agentic workflow</a:t>
            </a:r>
            <a:endParaRPr lang="en-US" sz="1500" dirty="0"/>
          </a:p>
        </p:txBody>
      </p:sp>
      <p:sp>
        <p:nvSpPr>
          <p:cNvPr id="18" name="Shape 15"/>
          <p:cNvSpPr/>
          <p:nvPr/>
        </p:nvSpPr>
        <p:spPr>
          <a:xfrm>
            <a:off x="4526280" y="1975104"/>
            <a:ext cx="457200" cy="457200"/>
          </a:xfrm>
          <a:prstGeom prst="ellipse">
            <a:avLst/>
          </a:prstGeom>
          <a:solidFill>
            <a:srgbClr val="FFFFFF">
              <a:alpha val="12000"/>
            </a:srgbClr>
          </a:solidFill>
          <a:ln w="19050">
            <a:solidFill>
              <a:srgbClr val="0B5A5E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4526280" y="1975104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B5A5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</a:t>
            </a:r>
            <a:endParaRPr lang="en-US" sz="1600" dirty="0"/>
          </a:p>
        </p:txBody>
      </p:sp>
      <p:sp>
        <p:nvSpPr>
          <p:cNvPr id="20" name="Text 17"/>
          <p:cNvSpPr/>
          <p:nvPr/>
        </p:nvSpPr>
        <p:spPr>
          <a:xfrm>
            <a:off x="5166360" y="1956816"/>
            <a:ext cx="6492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Group readings by store and lot</a:t>
            </a:r>
            <a:endParaRPr lang="en-US" sz="1600" dirty="0"/>
          </a:p>
        </p:txBody>
      </p:sp>
      <p:sp>
        <p:nvSpPr>
          <p:cNvPr id="21" name="Text 18"/>
          <p:cNvSpPr/>
          <p:nvPr/>
        </p:nvSpPr>
        <p:spPr>
          <a:xfrm>
            <a:off x="5166360" y="2322576"/>
            <a:ext cx="6492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AEB2D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Read the RET1 data in OneDrive.。</a:t>
            </a:r>
            <a:endParaRPr lang="en-US" sz="1300" dirty="0"/>
          </a:p>
        </p:txBody>
      </p:sp>
      <p:sp>
        <p:nvSpPr>
          <p:cNvPr id="22" name="Shape 19"/>
          <p:cNvSpPr/>
          <p:nvPr/>
        </p:nvSpPr>
        <p:spPr>
          <a:xfrm>
            <a:off x="4526280" y="2999232"/>
            <a:ext cx="457200" cy="457200"/>
          </a:xfrm>
          <a:prstGeom prst="ellipse">
            <a:avLst/>
          </a:prstGeom>
          <a:solidFill>
            <a:srgbClr val="FFFFFF">
              <a:alpha val="12000"/>
            </a:srgbClr>
          </a:solidFill>
          <a:ln w="19050">
            <a:solidFill>
              <a:srgbClr val="0B5A5E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4526280" y="299923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B5A5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</a:t>
            </a:r>
            <a:endParaRPr lang="en-US" sz="1600" dirty="0"/>
          </a:p>
        </p:txBody>
      </p:sp>
      <p:sp>
        <p:nvSpPr>
          <p:cNvPr id="24" name="Text 21"/>
          <p:cNvSpPr/>
          <p:nvPr/>
        </p:nvSpPr>
        <p:spPr>
          <a:xfrm>
            <a:off x="5166360" y="2980944"/>
            <a:ext cx="6492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Produce quarantine and release recommendations</a:t>
            </a:r>
            <a:endParaRPr lang="en-US" sz="1600" dirty="0"/>
          </a:p>
        </p:txBody>
      </p:sp>
      <p:sp>
        <p:nvSpPr>
          <p:cNvPr id="25" name="Text 22"/>
          <p:cNvSpPr/>
          <p:nvPr/>
        </p:nvSpPr>
        <p:spPr>
          <a:xfrm>
            <a:off x="5166360" y="3346704"/>
            <a:ext cx="6492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AEB2D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Do not dispose of the entire lot.。</a:t>
            </a:r>
            <a:endParaRPr lang="en-US" sz="1300" dirty="0"/>
          </a:p>
        </p:txBody>
      </p:sp>
      <p:sp>
        <p:nvSpPr>
          <p:cNvPr id="26" name="Shape 23"/>
          <p:cNvSpPr/>
          <p:nvPr/>
        </p:nvSpPr>
        <p:spPr>
          <a:xfrm>
            <a:off x="4526280" y="4023360"/>
            <a:ext cx="457200" cy="457200"/>
          </a:xfrm>
          <a:prstGeom prst="ellipse">
            <a:avLst/>
          </a:prstGeom>
          <a:solidFill>
            <a:srgbClr val="FFFFFF">
              <a:alpha val="12000"/>
            </a:srgbClr>
          </a:solidFill>
          <a:ln w="19050">
            <a:solidFill>
              <a:srgbClr val="0B5A5E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4526280" y="40233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B5A5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</a:t>
            </a:r>
            <a:endParaRPr lang="en-US" sz="1600" dirty="0"/>
          </a:p>
        </p:txBody>
      </p:sp>
      <p:sp>
        <p:nvSpPr>
          <p:cNvPr id="28" name="Text 25"/>
          <p:cNvSpPr/>
          <p:nvPr/>
        </p:nvSpPr>
        <p:spPr>
          <a:xfrm>
            <a:off x="5166360" y="4005072"/>
            <a:ext cx="6492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Confirm decision boundaries and next steps</a:t>
            </a:r>
            <a:endParaRPr lang="en-US" sz="1600" dirty="0"/>
          </a:p>
        </p:txBody>
      </p:sp>
      <p:sp>
        <p:nvSpPr>
          <p:cNvPr id="29" name="Text 26"/>
          <p:cNvSpPr/>
          <p:nvPr/>
        </p:nvSpPr>
        <p:spPr>
          <a:xfrm>
            <a:off x="5166360" y="4370832"/>
            <a:ext cx="6492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AEB2D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List the items requiring human confirmation, owners and …</a:t>
            </a:r>
            <a:endParaRPr lang="en-US" sz="1300" dirty="0"/>
          </a:p>
        </p:txBody>
      </p:sp>
      <p:sp>
        <p:nvSpPr>
          <p:cNvPr id="30" name="Shape 27"/>
          <p:cNvSpPr/>
          <p:nvPr/>
        </p:nvSpPr>
        <p:spPr>
          <a:xfrm>
            <a:off x="4526280" y="5440680"/>
            <a:ext cx="7132320" cy="777240"/>
          </a:xfrm>
          <a:prstGeom prst="rect">
            <a:avLst/>
          </a:prstGeom>
          <a:solidFill>
            <a:srgbClr val="FFFFFF">
              <a:alpha val="10000"/>
            </a:srgbClr>
          </a:solidFill>
          <a:ln w="12700">
            <a:solidFill>
              <a:srgbClr val="0B5A5E">
                <a:alpha val="65000"/>
              </a:srgbClr>
            </a:solidFill>
            <a:prstDash val="solid"/>
          </a:ln>
        </p:spPr>
      </p:sp>
      <p:sp>
        <p:nvSpPr>
          <p:cNvPr id="31" name="Shape 28"/>
          <p:cNvSpPr/>
          <p:nvPr/>
        </p:nvSpPr>
        <p:spPr>
          <a:xfrm>
            <a:off x="4526280" y="5440680"/>
            <a:ext cx="73152" cy="777240"/>
          </a:xfrm>
          <a:prstGeom prst="rect">
            <a:avLst/>
          </a:prstGeom>
          <a:solidFill>
            <a:srgbClr val="0B5A5E"/>
          </a:solidFill>
          <a:ln/>
        </p:spPr>
      </p:sp>
      <p:pic>
        <p:nvPicPr>
          <p:cNvPr id="3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82312" y="5687568"/>
            <a:ext cx="292608" cy="292608"/>
          </a:xfrm>
          <a:prstGeom prst="rect">
            <a:avLst/>
          </a:prstGeom>
        </p:spPr>
      </p:pic>
      <p:sp>
        <p:nvSpPr>
          <p:cNvPr id="33" name="Text 29"/>
          <p:cNvSpPr/>
          <p:nvPr/>
        </p:nvSpPr>
        <p:spPr>
          <a:xfrm>
            <a:off x="5239512" y="5440680"/>
            <a:ext cx="63093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What to watch　</a:t>
            </a:r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C7CAE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For external sending, refunds, schedules or triggers, ch…</a:t>
            </a:r>
            <a:endParaRPr lang="en-US" sz="1250" dirty="0"/>
          </a:p>
        </p:txBody>
      </p:sp>
      <p:sp>
        <p:nvSpPr>
          <p:cNvPr id="34" name="Text 30"/>
          <p:cNvSpPr/>
          <p:nvPr/>
        </p:nvSpPr>
        <p:spPr>
          <a:xfrm>
            <a:off x="64008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A8FB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Microsoft 365 Copilot Cowork</a:t>
            </a:r>
            <a:endParaRPr lang="en-US" sz="900" dirty="0"/>
          </a:p>
        </p:txBody>
      </p:sp>
      <p:sp>
        <p:nvSpPr>
          <p:cNvPr id="35" name="Text 31"/>
          <p:cNvSpPr/>
          <p:nvPr/>
        </p:nvSpPr>
        <p:spPr>
          <a:xfrm>
            <a:off x="11002975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8FB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7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66928"/>
            <a:ext cx="384048" cy="128016"/>
          </a:xfrm>
          <a:prstGeom prst="rect">
            <a:avLst/>
          </a:prstGeom>
          <a:solidFill>
            <a:srgbClr val="0B5A5E"/>
          </a:solidFill>
          <a:ln/>
        </p:spPr>
      </p:sp>
      <p:sp>
        <p:nvSpPr>
          <p:cNvPr id="3" name="Text 1"/>
          <p:cNvSpPr/>
          <p:nvPr/>
        </p:nvSpPr>
        <p:spPr>
          <a:xfrm>
            <a:off x="1143000" y="457200"/>
            <a:ext cx="82296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B5A5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Scenario 01 · Live demo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786384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23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What Cowork does, and what it produces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1377544" y="1773936"/>
            <a:ext cx="4544568" cy="3014011"/>
          </a:xfrm>
          <a:prstGeom prst="rect">
            <a:avLst/>
          </a:prstGeom>
          <a:solidFill>
            <a:srgbClr val="FFFFFF"/>
          </a:solidFill>
          <a:ln w="12700">
            <a:solidFill>
              <a:srgbClr val="E4E7F2"/>
            </a:solidFill>
            <a:prstDash val="solid"/>
          </a:ln>
          <a:effectLst>
            <a:outerShdw sx="100000" sy="100000" kx="0" ky="0" algn="bl" rotWithShape="0" blurRad="114300" dist="38100" dir="5400000">
              <a:srgbClr val="8A90B5">
                <a:alpha val="22000"/>
              </a:srgbClr>
            </a:outerShdw>
          </a:effectLst>
        </p:spPr>
      </p:sp>
      <p:pic>
        <p:nvPicPr>
          <p:cNvPr id="6" name="Image 0" descr="C:\temp\CoworkLab\v3\_working\screenshots\ret1_01_readings_e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32408" y="1828800"/>
            <a:ext cx="4434840" cy="2904283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432408" y="4824523"/>
            <a:ext cx="44348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0B5A5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① Your input and prompt</a:t>
            </a:r>
            <a:endParaRPr lang="en-US" sz="1350" dirty="0"/>
          </a:p>
        </p:txBody>
      </p:sp>
      <p:sp>
        <p:nvSpPr>
          <p:cNvPr id="8" name="Shape 5"/>
          <p:cNvSpPr/>
          <p:nvPr/>
        </p:nvSpPr>
        <p:spPr>
          <a:xfrm>
            <a:off x="6269584" y="1773936"/>
            <a:ext cx="4544568" cy="3014011"/>
          </a:xfrm>
          <a:prstGeom prst="rect">
            <a:avLst/>
          </a:prstGeom>
          <a:solidFill>
            <a:srgbClr val="FFFFFF"/>
          </a:solidFill>
          <a:ln w="12700">
            <a:solidFill>
              <a:srgbClr val="E4E7F2"/>
            </a:solidFill>
            <a:prstDash val="solid"/>
          </a:ln>
          <a:effectLst>
            <a:outerShdw sx="100000" sy="100000" kx="0" ky="0" algn="bl" rotWithShape="0" blurRad="114300" dist="38100" dir="5400000">
              <a:srgbClr val="8A90B5">
                <a:alpha val="22000"/>
              </a:srgbClr>
            </a:outerShdw>
          </a:effectLst>
        </p:spPr>
      </p:sp>
      <p:pic>
        <p:nvPicPr>
          <p:cNvPr id="9" name="Image 1" descr="C:\temp\CoworkLab\v3\_working\screenshots\ret1_02_recommendation_en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24448" y="1828800"/>
            <a:ext cx="4434840" cy="2904283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6324448" y="4824523"/>
            <a:ext cx="44348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0B5A5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② The result</a:t>
            </a:r>
            <a:endParaRPr lang="en-US" sz="1350" dirty="0"/>
          </a:p>
        </p:txBody>
      </p:sp>
      <p:sp>
        <p:nvSpPr>
          <p:cNvPr id="11" name="Shape 7"/>
          <p:cNvSpPr/>
          <p:nvPr/>
        </p:nvSpPr>
        <p:spPr>
          <a:xfrm>
            <a:off x="640080" y="5226859"/>
            <a:ext cx="10911535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7F2"/>
            </a:solidFill>
            <a:prstDash val="solid"/>
          </a:ln>
        </p:spPr>
      </p:sp>
      <p:sp>
        <p:nvSpPr>
          <p:cNvPr id="12" name="Shape 8"/>
          <p:cNvSpPr/>
          <p:nvPr/>
        </p:nvSpPr>
        <p:spPr>
          <a:xfrm>
            <a:off x="640080" y="5226859"/>
            <a:ext cx="91440" cy="1143000"/>
          </a:xfrm>
          <a:prstGeom prst="rect">
            <a:avLst/>
          </a:prstGeom>
          <a:solidFill>
            <a:srgbClr val="0B5A5E"/>
          </a:solidFill>
          <a:ln/>
        </p:spPr>
      </p:sp>
      <p:sp>
        <p:nvSpPr>
          <p:cNvPr id="13" name="Text 9"/>
          <p:cNvSpPr/>
          <p:nvPr/>
        </p:nvSpPr>
        <p:spPr>
          <a:xfrm>
            <a:off x="914400" y="5336587"/>
            <a:ext cx="1783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23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Check the output</a:t>
            </a:r>
            <a:endParaRPr lang="en-US" sz="1400" dirty="0"/>
          </a:p>
        </p:txBody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80360" y="5373163"/>
            <a:ext cx="182880" cy="182880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3154680" y="5318299"/>
            <a:ext cx="8122615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23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Quarantine only nodes supported by excursion evidence</a:t>
            </a:r>
            <a:endParaRPr lang="en-US" sz="1300" dirty="0"/>
          </a:p>
        </p:txBody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80360" y="5711491"/>
            <a:ext cx="182880" cy="182880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3154680" y="5656627"/>
            <a:ext cx="8122615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23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Keep the human approval boundary</a:t>
            </a:r>
            <a:endParaRPr lang="en-US" sz="1300" dirty="0"/>
          </a:p>
        </p:txBody>
      </p:sp>
      <p:pic>
        <p:nvPicPr>
          <p:cNvPr id="1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880360" y="6049819"/>
            <a:ext cx="182880" cy="182880"/>
          </a:xfrm>
          <a:prstGeom prst="rect">
            <a:avLst/>
          </a:prstGeom>
        </p:spPr>
      </p:pic>
      <p:sp>
        <p:nvSpPr>
          <p:cNvPr id="19" name="Text 12"/>
          <p:cNvSpPr/>
          <p:nvPr/>
        </p:nvSpPr>
        <p:spPr>
          <a:xfrm>
            <a:off x="3154680" y="5994955"/>
            <a:ext cx="8122615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23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State data limitations and assumptions clearly</a:t>
            </a:r>
            <a:endParaRPr lang="en-US" sz="1300" dirty="0"/>
          </a:p>
        </p:txBody>
      </p:sp>
      <p:sp>
        <p:nvSpPr>
          <p:cNvPr id="20" name="Text 13"/>
          <p:cNvSpPr/>
          <p:nvPr/>
        </p:nvSpPr>
        <p:spPr>
          <a:xfrm>
            <a:off x="64008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07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Microsoft 365 Copilot Cowork</a:t>
            </a:r>
            <a:endParaRPr lang="en-US" sz="900" dirty="0"/>
          </a:p>
        </p:txBody>
      </p:sp>
      <p:sp>
        <p:nvSpPr>
          <p:cNvPr id="21" name="Text 14"/>
          <p:cNvSpPr/>
          <p:nvPr/>
        </p:nvSpPr>
        <p:spPr>
          <a:xfrm>
            <a:off x="11002975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07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F103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023360" cy="6858000"/>
          </a:xfrm>
          <a:prstGeom prst="rect">
            <a:avLst/>
          </a:prstGeom>
          <a:solidFill>
            <a:srgbClr val="1C1E4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8A4B08"/>
          </a:solidFill>
          <a:ln/>
        </p:spPr>
      </p:sp>
      <p:sp>
        <p:nvSpPr>
          <p:cNvPr id="4" name="Text 2"/>
          <p:cNvSpPr/>
          <p:nvPr/>
        </p:nvSpPr>
        <p:spPr>
          <a:xfrm>
            <a:off x="502920" y="64008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8A4B0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Scenario 02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02920" y="1143000"/>
            <a:ext cx="1097280" cy="1097280"/>
          </a:xfrm>
          <a:prstGeom prst="ellipse">
            <a:avLst/>
          </a:prstGeom>
          <a:solidFill>
            <a:srgbClr val="8A4B08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4672" y="1444752"/>
            <a:ext cx="493776" cy="49377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02920" y="237744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B9BCE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Retail Channels · Operations Decisions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502920" y="2697480"/>
            <a:ext cx="3291840" cy="1325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Promotion allocation: enough total stock does not mean stores can take it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502920" y="4114800"/>
            <a:ext cx="3291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FA3C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⏱ ~15 min · Level ★★★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502920" y="4572000"/>
            <a:ext cx="3127248" cy="402336"/>
          </a:xfrm>
          <a:prstGeom prst="roundRect">
            <a:avLst>
              <a:gd name="adj" fmla="val 50000"/>
            </a:avLst>
          </a:prstGeom>
          <a:solidFill>
            <a:srgbClr val="6366F1"/>
          </a:solidFill>
          <a:ln/>
        </p:spPr>
      </p:sp>
      <p:sp>
        <p:nvSpPr>
          <p:cNvPr id="11" name="Text 8"/>
          <p:cNvSpPr/>
          <p:nvPr/>
        </p:nvSpPr>
        <p:spPr>
          <a:xfrm>
            <a:off x="502920" y="4572000"/>
            <a:ext cx="3127248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OneDrive / Enterprise Search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502920" y="5074920"/>
            <a:ext cx="813816" cy="402336"/>
          </a:xfrm>
          <a:prstGeom prst="roundRect">
            <a:avLst>
              <a:gd name="adj" fmla="val 50000"/>
            </a:avLst>
          </a:prstGeom>
          <a:solidFill>
            <a:srgbClr val="217346"/>
          </a:solidFill>
          <a:ln/>
        </p:spPr>
      </p:sp>
      <p:sp>
        <p:nvSpPr>
          <p:cNvPr id="13" name="Text 10"/>
          <p:cNvSpPr/>
          <p:nvPr/>
        </p:nvSpPr>
        <p:spPr>
          <a:xfrm>
            <a:off x="502920" y="5074920"/>
            <a:ext cx="81381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Excel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4526280" y="566928"/>
            <a:ext cx="713232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D7D9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promotion requests 1,920 units and total stock looks sufficient; the real constraint is store capacity, carton size and last-mile allocation.</a:t>
            </a:r>
            <a:endParaRPr lang="en-US" sz="1500" dirty="0"/>
          </a:p>
        </p:txBody>
      </p:sp>
      <p:sp>
        <p:nvSpPr>
          <p:cNvPr id="15" name="Text 12"/>
          <p:cNvSpPr/>
          <p:nvPr/>
        </p:nvSpPr>
        <p:spPr>
          <a:xfrm>
            <a:off x="4526280" y="1517904"/>
            <a:ext cx="7132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8A4B0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Agentic workflow</a:t>
            </a:r>
            <a:endParaRPr lang="en-US" sz="1500" dirty="0"/>
          </a:p>
        </p:txBody>
      </p:sp>
      <p:sp>
        <p:nvSpPr>
          <p:cNvPr id="16" name="Shape 13"/>
          <p:cNvSpPr/>
          <p:nvPr/>
        </p:nvSpPr>
        <p:spPr>
          <a:xfrm>
            <a:off x="4526280" y="1975104"/>
            <a:ext cx="457200" cy="457200"/>
          </a:xfrm>
          <a:prstGeom prst="ellipse">
            <a:avLst/>
          </a:prstGeom>
          <a:solidFill>
            <a:srgbClr val="FFFFFF">
              <a:alpha val="12000"/>
            </a:srgbClr>
          </a:solidFill>
          <a:ln w="19050">
            <a:solidFill>
              <a:srgbClr val="8A4B08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4526280" y="1975104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8A4B0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</a:t>
            </a:r>
            <a:endParaRPr lang="en-US" sz="1600" dirty="0"/>
          </a:p>
        </p:txBody>
      </p:sp>
      <p:sp>
        <p:nvSpPr>
          <p:cNvPr id="18" name="Text 15"/>
          <p:cNvSpPr/>
          <p:nvPr/>
        </p:nvSpPr>
        <p:spPr>
          <a:xfrm>
            <a:off x="5166360" y="1956816"/>
            <a:ext cx="6492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Find infeasible allocations</a:t>
            </a:r>
            <a:endParaRPr lang="en-US" sz="1600" dirty="0"/>
          </a:p>
        </p:txBody>
      </p:sp>
      <p:sp>
        <p:nvSpPr>
          <p:cNvPr id="19" name="Text 16"/>
          <p:cNvSpPr/>
          <p:nvPr/>
        </p:nvSpPr>
        <p:spPr>
          <a:xfrm>
            <a:off x="5166360" y="2322576"/>
            <a:ext cx="6492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AEB2D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Read RET2 and do not allocate evenly yet.。</a:t>
            </a:r>
            <a:endParaRPr lang="en-US" sz="1300" dirty="0"/>
          </a:p>
        </p:txBody>
      </p:sp>
      <p:sp>
        <p:nvSpPr>
          <p:cNvPr id="20" name="Shape 17"/>
          <p:cNvSpPr/>
          <p:nvPr/>
        </p:nvSpPr>
        <p:spPr>
          <a:xfrm>
            <a:off x="4526280" y="2999232"/>
            <a:ext cx="457200" cy="457200"/>
          </a:xfrm>
          <a:prstGeom prst="ellipse">
            <a:avLst/>
          </a:prstGeom>
          <a:solidFill>
            <a:srgbClr val="FFFFFF">
              <a:alpha val="12000"/>
            </a:srgbClr>
          </a:solidFill>
          <a:ln w="19050">
            <a:solidFill>
              <a:srgbClr val="8A4B08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4526280" y="299923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8A4B0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</a:t>
            </a:r>
            <a:endParaRPr lang="en-US" sz="1600" dirty="0"/>
          </a:p>
        </p:txBody>
      </p:sp>
      <p:sp>
        <p:nvSpPr>
          <p:cNvPr id="22" name="Text 19"/>
          <p:cNvSpPr/>
          <p:nvPr/>
        </p:nvSpPr>
        <p:spPr>
          <a:xfrm>
            <a:off x="5166360" y="2980944"/>
            <a:ext cx="6492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Propose an executable allocation</a:t>
            </a:r>
            <a:endParaRPr lang="en-US" sz="1600" dirty="0"/>
          </a:p>
        </p:txBody>
      </p:sp>
      <p:sp>
        <p:nvSpPr>
          <p:cNvPr id="23" name="Text 20"/>
          <p:cNvSpPr/>
          <p:nvPr/>
        </p:nvSpPr>
        <p:spPr>
          <a:xfrm>
            <a:off x="5166360" y="3346704"/>
            <a:ext cx="6492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AEB2D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Give a full-carton allocation that stays within capacity…</a:t>
            </a:r>
            <a:endParaRPr lang="en-US" sz="1300" dirty="0"/>
          </a:p>
        </p:txBody>
      </p:sp>
      <p:sp>
        <p:nvSpPr>
          <p:cNvPr id="24" name="Shape 21"/>
          <p:cNvSpPr/>
          <p:nvPr/>
        </p:nvSpPr>
        <p:spPr>
          <a:xfrm>
            <a:off x="4526280" y="4023360"/>
            <a:ext cx="457200" cy="457200"/>
          </a:xfrm>
          <a:prstGeom prst="ellipse">
            <a:avLst/>
          </a:prstGeom>
          <a:solidFill>
            <a:srgbClr val="FFFFFF">
              <a:alpha val="12000"/>
            </a:srgbClr>
          </a:solidFill>
          <a:ln w="19050">
            <a:solidFill>
              <a:srgbClr val="8A4B08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4526280" y="40233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8A4B0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</a:t>
            </a:r>
            <a:endParaRPr lang="en-US" sz="1600" dirty="0"/>
          </a:p>
        </p:txBody>
      </p:sp>
      <p:sp>
        <p:nvSpPr>
          <p:cNvPr id="26" name="Text 23"/>
          <p:cNvSpPr/>
          <p:nvPr/>
        </p:nvSpPr>
        <p:spPr>
          <a:xfrm>
            <a:off x="5166360" y="4005072"/>
            <a:ext cx="6492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Confirm decision boundaries and next steps</a:t>
            </a:r>
            <a:endParaRPr lang="en-US" sz="1600" dirty="0"/>
          </a:p>
        </p:txBody>
      </p:sp>
      <p:sp>
        <p:nvSpPr>
          <p:cNvPr id="27" name="Text 24"/>
          <p:cNvSpPr/>
          <p:nvPr/>
        </p:nvSpPr>
        <p:spPr>
          <a:xfrm>
            <a:off x="5166360" y="4370832"/>
            <a:ext cx="6492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AEB2D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List the items requiring human confirmation, owners and …</a:t>
            </a:r>
            <a:endParaRPr lang="en-US" sz="1300" dirty="0"/>
          </a:p>
        </p:txBody>
      </p:sp>
      <p:sp>
        <p:nvSpPr>
          <p:cNvPr id="28" name="Shape 25"/>
          <p:cNvSpPr/>
          <p:nvPr/>
        </p:nvSpPr>
        <p:spPr>
          <a:xfrm>
            <a:off x="4526280" y="5440680"/>
            <a:ext cx="7132320" cy="777240"/>
          </a:xfrm>
          <a:prstGeom prst="rect">
            <a:avLst/>
          </a:prstGeom>
          <a:solidFill>
            <a:srgbClr val="FFFFFF">
              <a:alpha val="10000"/>
            </a:srgbClr>
          </a:solidFill>
          <a:ln w="12700">
            <a:solidFill>
              <a:srgbClr val="8A4B08">
                <a:alpha val="65000"/>
              </a:srgbClr>
            </a:solidFill>
            <a:prstDash val="solid"/>
          </a:ln>
        </p:spPr>
      </p:sp>
      <p:sp>
        <p:nvSpPr>
          <p:cNvPr id="29" name="Shape 26"/>
          <p:cNvSpPr/>
          <p:nvPr/>
        </p:nvSpPr>
        <p:spPr>
          <a:xfrm>
            <a:off x="4526280" y="5440680"/>
            <a:ext cx="73152" cy="777240"/>
          </a:xfrm>
          <a:prstGeom prst="rect">
            <a:avLst/>
          </a:prstGeom>
          <a:solidFill>
            <a:srgbClr val="8A4B08"/>
          </a:solidFill>
          <a:ln/>
        </p:spPr>
      </p:sp>
      <p:pic>
        <p:nvPicPr>
          <p:cNvPr id="3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82312" y="5687568"/>
            <a:ext cx="292608" cy="292608"/>
          </a:xfrm>
          <a:prstGeom prst="rect">
            <a:avLst/>
          </a:prstGeom>
        </p:spPr>
      </p:pic>
      <p:sp>
        <p:nvSpPr>
          <p:cNvPr id="31" name="Text 27"/>
          <p:cNvSpPr/>
          <p:nvPr/>
        </p:nvSpPr>
        <p:spPr>
          <a:xfrm>
            <a:off x="5239512" y="5440680"/>
            <a:ext cx="63093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What to watch　</a:t>
            </a:r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C7CAE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For external sending, refunds, schedules or triggers, ch…</a:t>
            </a:r>
            <a:endParaRPr lang="en-US" sz="1250" dirty="0"/>
          </a:p>
        </p:txBody>
      </p:sp>
      <p:sp>
        <p:nvSpPr>
          <p:cNvPr id="32" name="Text 28"/>
          <p:cNvSpPr/>
          <p:nvPr/>
        </p:nvSpPr>
        <p:spPr>
          <a:xfrm>
            <a:off x="64008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A8FB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Microsoft 365 Copilot Cowork</a:t>
            </a:r>
            <a:endParaRPr lang="en-US" sz="900" dirty="0"/>
          </a:p>
        </p:txBody>
      </p:sp>
      <p:sp>
        <p:nvSpPr>
          <p:cNvPr id="33" name="Text 29"/>
          <p:cNvSpPr/>
          <p:nvPr/>
        </p:nvSpPr>
        <p:spPr>
          <a:xfrm>
            <a:off x="11002975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8FB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7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66928"/>
            <a:ext cx="384048" cy="128016"/>
          </a:xfrm>
          <a:prstGeom prst="rect">
            <a:avLst/>
          </a:prstGeom>
          <a:solidFill>
            <a:srgbClr val="8A4B08"/>
          </a:solidFill>
          <a:ln/>
        </p:spPr>
      </p:sp>
      <p:sp>
        <p:nvSpPr>
          <p:cNvPr id="3" name="Text 1"/>
          <p:cNvSpPr/>
          <p:nvPr/>
        </p:nvSpPr>
        <p:spPr>
          <a:xfrm>
            <a:off x="1143000" y="457200"/>
            <a:ext cx="82296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8A4B0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Scenario 02 · Live demo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786384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23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What Cowork does, and what it produces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1377544" y="1773936"/>
            <a:ext cx="4544568" cy="3014011"/>
          </a:xfrm>
          <a:prstGeom prst="rect">
            <a:avLst/>
          </a:prstGeom>
          <a:solidFill>
            <a:srgbClr val="FFFFFF"/>
          </a:solidFill>
          <a:ln w="12700">
            <a:solidFill>
              <a:srgbClr val="E4E7F2"/>
            </a:solidFill>
            <a:prstDash val="solid"/>
          </a:ln>
          <a:effectLst>
            <a:outerShdw sx="100000" sy="100000" kx="0" ky="0" algn="bl" rotWithShape="0" blurRad="114300" dist="38100" dir="5400000">
              <a:srgbClr val="8A90B5">
                <a:alpha val="22000"/>
              </a:srgbClr>
            </a:outerShdw>
          </a:effectLst>
        </p:spPr>
      </p:sp>
      <p:pic>
        <p:nvPicPr>
          <p:cNvPr id="6" name="Image 0" descr="C:\temp\CoworkLab\v3\_working\screenshots\ret2_01_constraints_e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32408" y="1828800"/>
            <a:ext cx="4434840" cy="2904283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432408" y="4824523"/>
            <a:ext cx="44348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8A4B0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① Your input and prompt</a:t>
            </a:r>
            <a:endParaRPr lang="en-US" sz="1350" dirty="0"/>
          </a:p>
        </p:txBody>
      </p:sp>
      <p:sp>
        <p:nvSpPr>
          <p:cNvPr id="8" name="Shape 5"/>
          <p:cNvSpPr/>
          <p:nvPr/>
        </p:nvSpPr>
        <p:spPr>
          <a:xfrm>
            <a:off x="6269584" y="1773936"/>
            <a:ext cx="4544568" cy="3014011"/>
          </a:xfrm>
          <a:prstGeom prst="rect">
            <a:avLst/>
          </a:prstGeom>
          <a:solidFill>
            <a:srgbClr val="FFFFFF"/>
          </a:solidFill>
          <a:ln w="12700">
            <a:solidFill>
              <a:srgbClr val="E4E7F2"/>
            </a:solidFill>
            <a:prstDash val="solid"/>
          </a:ln>
          <a:effectLst>
            <a:outerShdw sx="100000" sy="100000" kx="0" ky="0" algn="bl" rotWithShape="0" blurRad="114300" dist="38100" dir="5400000">
              <a:srgbClr val="8A90B5">
                <a:alpha val="22000"/>
              </a:srgbClr>
            </a:outerShdw>
          </a:effectLst>
        </p:spPr>
      </p:sp>
      <p:pic>
        <p:nvPicPr>
          <p:cNvPr id="9" name="Image 1" descr="C:\temp\CoworkLab\v3\_working\screenshots\ret2_02_plan_en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24448" y="1828800"/>
            <a:ext cx="4434840" cy="2904283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6324448" y="4824523"/>
            <a:ext cx="44348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8A4B0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② The result</a:t>
            </a:r>
            <a:endParaRPr lang="en-US" sz="1350" dirty="0"/>
          </a:p>
        </p:txBody>
      </p:sp>
      <p:sp>
        <p:nvSpPr>
          <p:cNvPr id="11" name="Shape 7"/>
          <p:cNvSpPr/>
          <p:nvPr/>
        </p:nvSpPr>
        <p:spPr>
          <a:xfrm>
            <a:off x="640080" y="5226859"/>
            <a:ext cx="10911535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7F2"/>
            </a:solidFill>
            <a:prstDash val="solid"/>
          </a:ln>
        </p:spPr>
      </p:sp>
      <p:sp>
        <p:nvSpPr>
          <p:cNvPr id="12" name="Shape 8"/>
          <p:cNvSpPr/>
          <p:nvPr/>
        </p:nvSpPr>
        <p:spPr>
          <a:xfrm>
            <a:off x="640080" y="5226859"/>
            <a:ext cx="91440" cy="1143000"/>
          </a:xfrm>
          <a:prstGeom prst="rect">
            <a:avLst/>
          </a:prstGeom>
          <a:solidFill>
            <a:srgbClr val="8A4B08"/>
          </a:solidFill>
          <a:ln/>
        </p:spPr>
      </p:sp>
      <p:sp>
        <p:nvSpPr>
          <p:cNvPr id="13" name="Text 9"/>
          <p:cNvSpPr/>
          <p:nvPr/>
        </p:nvSpPr>
        <p:spPr>
          <a:xfrm>
            <a:off x="914400" y="5336587"/>
            <a:ext cx="1783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23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Check the output</a:t>
            </a:r>
            <a:endParaRPr lang="en-US" sz="1400" dirty="0"/>
          </a:p>
        </p:txBody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80360" y="5373163"/>
            <a:ext cx="182880" cy="182880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3154680" y="5318299"/>
            <a:ext cx="8122615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23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Do not violate capacity or carton constraints</a:t>
            </a:r>
            <a:endParaRPr lang="en-US" sz="1300" dirty="0"/>
          </a:p>
        </p:txBody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80360" y="5711491"/>
            <a:ext cx="182880" cy="182880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3154680" y="5656627"/>
            <a:ext cx="8122615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23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Show the shortfall transparently</a:t>
            </a:r>
            <a:endParaRPr lang="en-US" sz="1300" dirty="0"/>
          </a:p>
        </p:txBody>
      </p:sp>
      <p:pic>
        <p:nvPicPr>
          <p:cNvPr id="1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880360" y="6049819"/>
            <a:ext cx="182880" cy="182880"/>
          </a:xfrm>
          <a:prstGeom prst="rect">
            <a:avLst/>
          </a:prstGeom>
        </p:spPr>
      </p:pic>
      <p:sp>
        <p:nvSpPr>
          <p:cNvPr id="19" name="Text 12"/>
          <p:cNvSpPr/>
          <p:nvPr/>
        </p:nvSpPr>
        <p:spPr>
          <a:xfrm>
            <a:off x="3154680" y="5994955"/>
            <a:ext cx="8122615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23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State data limitations and assumptions clearly</a:t>
            </a:r>
            <a:endParaRPr lang="en-US" sz="1300" dirty="0"/>
          </a:p>
        </p:txBody>
      </p:sp>
      <p:sp>
        <p:nvSpPr>
          <p:cNvPr id="20" name="Text 13"/>
          <p:cNvSpPr/>
          <p:nvPr/>
        </p:nvSpPr>
        <p:spPr>
          <a:xfrm>
            <a:off x="64008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07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Microsoft 365 Copilot Cowork</a:t>
            </a:r>
            <a:endParaRPr lang="en-US" sz="900" dirty="0"/>
          </a:p>
        </p:txBody>
      </p:sp>
      <p:sp>
        <p:nvSpPr>
          <p:cNvPr id="21" name="Text 14"/>
          <p:cNvSpPr/>
          <p:nvPr/>
        </p:nvSpPr>
        <p:spPr>
          <a:xfrm>
            <a:off x="11002975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07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F103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023360" cy="6858000"/>
          </a:xfrm>
          <a:prstGeom prst="rect">
            <a:avLst/>
          </a:prstGeom>
          <a:solidFill>
            <a:srgbClr val="1C1E4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5B3A8A"/>
          </a:solidFill>
          <a:ln/>
        </p:spPr>
      </p:sp>
      <p:sp>
        <p:nvSpPr>
          <p:cNvPr id="4" name="Text 2"/>
          <p:cNvSpPr/>
          <p:nvPr/>
        </p:nvSpPr>
        <p:spPr>
          <a:xfrm>
            <a:off x="502920" y="64008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5B3A8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Scenario 03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02920" y="1143000"/>
            <a:ext cx="1097280" cy="1097280"/>
          </a:xfrm>
          <a:prstGeom prst="ellipse">
            <a:avLst/>
          </a:prstGeom>
          <a:solidFill>
            <a:srgbClr val="5B3A8A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4672" y="1444752"/>
            <a:ext cx="493776" cy="49377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02920" y="237744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B9BCE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Retail Channels · Operations Decisions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502920" y="2697480"/>
            <a:ext cx="3291840" cy="1325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Product launch: hitting revenue target can still miss the margin floor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502920" y="4114800"/>
            <a:ext cx="3291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FA3C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⏱ ~15 min · Level ★★★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502920" y="4572000"/>
            <a:ext cx="3127248" cy="402336"/>
          </a:xfrm>
          <a:prstGeom prst="roundRect">
            <a:avLst>
              <a:gd name="adj" fmla="val 50000"/>
            </a:avLst>
          </a:prstGeom>
          <a:solidFill>
            <a:srgbClr val="6366F1"/>
          </a:solidFill>
          <a:ln/>
        </p:spPr>
      </p:sp>
      <p:sp>
        <p:nvSpPr>
          <p:cNvPr id="11" name="Text 8"/>
          <p:cNvSpPr/>
          <p:nvPr/>
        </p:nvSpPr>
        <p:spPr>
          <a:xfrm>
            <a:off x="502920" y="4572000"/>
            <a:ext cx="3127248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OneDrive / Enterprise Search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502920" y="5074920"/>
            <a:ext cx="813816" cy="402336"/>
          </a:xfrm>
          <a:prstGeom prst="roundRect">
            <a:avLst>
              <a:gd name="adj" fmla="val 50000"/>
            </a:avLst>
          </a:prstGeom>
          <a:solidFill>
            <a:srgbClr val="217346"/>
          </a:solidFill>
          <a:ln/>
        </p:spPr>
      </p:sp>
      <p:sp>
        <p:nvSpPr>
          <p:cNvPr id="13" name="Text 10"/>
          <p:cNvSpPr/>
          <p:nvPr/>
        </p:nvSpPr>
        <p:spPr>
          <a:xfrm>
            <a:off x="502920" y="5074920"/>
            <a:ext cx="81381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Excel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1499616" y="5074920"/>
            <a:ext cx="1316736" cy="402336"/>
          </a:xfrm>
          <a:prstGeom prst="roundRect">
            <a:avLst>
              <a:gd name="adj" fmla="val 50000"/>
            </a:avLst>
          </a:prstGeom>
          <a:solidFill>
            <a:srgbClr val="C43E1C"/>
          </a:solidFill>
          <a:ln/>
        </p:spPr>
      </p:sp>
      <p:sp>
        <p:nvSpPr>
          <p:cNvPr id="15" name="Text 12"/>
          <p:cNvSpPr/>
          <p:nvPr/>
        </p:nvSpPr>
        <p:spPr>
          <a:xfrm>
            <a:off x="1499616" y="5074920"/>
            <a:ext cx="13167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PowerPoint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4526280" y="566928"/>
            <a:ext cx="713232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D7D9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Direct revenue beats target, but after cannibalization and promotion cost, the decision is whether phase two still clears the margin floor.</a:t>
            </a:r>
            <a:endParaRPr lang="en-US" sz="1500" dirty="0"/>
          </a:p>
        </p:txBody>
      </p:sp>
      <p:sp>
        <p:nvSpPr>
          <p:cNvPr id="17" name="Text 14"/>
          <p:cNvSpPr/>
          <p:nvPr/>
        </p:nvSpPr>
        <p:spPr>
          <a:xfrm>
            <a:off x="4526280" y="1517904"/>
            <a:ext cx="7132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5B3A8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Agentic workflow</a:t>
            </a:r>
            <a:endParaRPr lang="en-US" sz="1500" dirty="0"/>
          </a:p>
        </p:txBody>
      </p:sp>
      <p:sp>
        <p:nvSpPr>
          <p:cNvPr id="18" name="Shape 15"/>
          <p:cNvSpPr/>
          <p:nvPr/>
        </p:nvSpPr>
        <p:spPr>
          <a:xfrm>
            <a:off x="4526280" y="1975104"/>
            <a:ext cx="457200" cy="457200"/>
          </a:xfrm>
          <a:prstGeom prst="ellipse">
            <a:avLst/>
          </a:prstGeom>
          <a:solidFill>
            <a:srgbClr val="FFFFFF">
              <a:alpha val="12000"/>
            </a:srgbClr>
          </a:solidFill>
          <a:ln w="19050">
            <a:solidFill>
              <a:srgbClr val="5B3A8A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4526280" y="1975104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5B3A8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</a:t>
            </a:r>
            <a:endParaRPr lang="en-US" sz="1600" dirty="0"/>
          </a:p>
        </p:txBody>
      </p:sp>
      <p:sp>
        <p:nvSpPr>
          <p:cNvPr id="20" name="Text 17"/>
          <p:cNvSpPr/>
          <p:nvPr/>
        </p:nvSpPr>
        <p:spPr>
          <a:xfrm>
            <a:off x="5166360" y="1956816"/>
            <a:ext cx="6492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Recalculate net sales and margin decision</a:t>
            </a:r>
            <a:endParaRPr lang="en-US" sz="1600" dirty="0"/>
          </a:p>
        </p:txBody>
      </p:sp>
      <p:sp>
        <p:nvSpPr>
          <p:cNvPr id="21" name="Text 18"/>
          <p:cNvSpPr/>
          <p:nvPr/>
        </p:nvSpPr>
        <p:spPr>
          <a:xfrm>
            <a:off x="5166360" y="2322576"/>
            <a:ext cx="6492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AEB2D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Read RET3, subtract cannibalization and promotion cost f…</a:t>
            </a:r>
            <a:endParaRPr lang="en-US" sz="1300" dirty="0"/>
          </a:p>
        </p:txBody>
      </p:sp>
      <p:sp>
        <p:nvSpPr>
          <p:cNvPr id="22" name="Shape 19"/>
          <p:cNvSpPr/>
          <p:nvPr/>
        </p:nvSpPr>
        <p:spPr>
          <a:xfrm>
            <a:off x="4526280" y="2999232"/>
            <a:ext cx="457200" cy="457200"/>
          </a:xfrm>
          <a:prstGeom prst="ellipse">
            <a:avLst/>
          </a:prstGeom>
          <a:solidFill>
            <a:srgbClr val="FFFFFF">
              <a:alpha val="12000"/>
            </a:srgbClr>
          </a:solidFill>
          <a:ln w="19050">
            <a:solidFill>
              <a:srgbClr val="5B3A8A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4526280" y="299923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5B3A8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</a:t>
            </a:r>
            <a:endParaRPr lang="en-US" sz="1600" dirty="0"/>
          </a:p>
        </p:txBody>
      </p:sp>
      <p:sp>
        <p:nvSpPr>
          <p:cNvPr id="24" name="Text 21"/>
          <p:cNvSpPr/>
          <p:nvPr/>
        </p:nvSpPr>
        <p:spPr>
          <a:xfrm>
            <a:off x="5166360" y="2980944"/>
            <a:ext cx="6492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Write an executive decision brief</a:t>
            </a:r>
            <a:endParaRPr lang="en-US" sz="1600" dirty="0"/>
          </a:p>
        </p:txBody>
      </p:sp>
      <p:sp>
        <p:nvSpPr>
          <p:cNvPr id="25" name="Text 22"/>
          <p:cNvSpPr/>
          <p:nvPr/>
        </p:nvSpPr>
        <p:spPr>
          <a:xfrm>
            <a:off x="5166360" y="3346704"/>
            <a:ext cx="6492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AEB2D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Write a three-part brief: what is achieved, what risk re…</a:t>
            </a:r>
            <a:endParaRPr lang="en-US" sz="1300" dirty="0"/>
          </a:p>
        </p:txBody>
      </p:sp>
      <p:sp>
        <p:nvSpPr>
          <p:cNvPr id="26" name="Shape 23"/>
          <p:cNvSpPr/>
          <p:nvPr/>
        </p:nvSpPr>
        <p:spPr>
          <a:xfrm>
            <a:off x="4526280" y="4023360"/>
            <a:ext cx="457200" cy="457200"/>
          </a:xfrm>
          <a:prstGeom prst="ellipse">
            <a:avLst/>
          </a:prstGeom>
          <a:solidFill>
            <a:srgbClr val="FFFFFF">
              <a:alpha val="12000"/>
            </a:srgbClr>
          </a:solidFill>
          <a:ln w="19050">
            <a:solidFill>
              <a:srgbClr val="5B3A8A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4526280" y="40233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5B3A8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</a:t>
            </a:r>
            <a:endParaRPr lang="en-US" sz="1600" dirty="0"/>
          </a:p>
        </p:txBody>
      </p:sp>
      <p:sp>
        <p:nvSpPr>
          <p:cNvPr id="28" name="Text 25"/>
          <p:cNvSpPr/>
          <p:nvPr/>
        </p:nvSpPr>
        <p:spPr>
          <a:xfrm>
            <a:off x="5166360" y="4005072"/>
            <a:ext cx="6492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Confirm decision boundaries and next steps</a:t>
            </a:r>
            <a:endParaRPr lang="en-US" sz="1600" dirty="0"/>
          </a:p>
        </p:txBody>
      </p:sp>
      <p:sp>
        <p:nvSpPr>
          <p:cNvPr id="29" name="Text 26"/>
          <p:cNvSpPr/>
          <p:nvPr/>
        </p:nvSpPr>
        <p:spPr>
          <a:xfrm>
            <a:off x="5166360" y="4370832"/>
            <a:ext cx="6492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AEB2D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List the items requiring human confirmation, owners and …</a:t>
            </a:r>
            <a:endParaRPr lang="en-US" sz="1300" dirty="0"/>
          </a:p>
        </p:txBody>
      </p:sp>
      <p:sp>
        <p:nvSpPr>
          <p:cNvPr id="30" name="Shape 27"/>
          <p:cNvSpPr/>
          <p:nvPr/>
        </p:nvSpPr>
        <p:spPr>
          <a:xfrm>
            <a:off x="4526280" y="5440680"/>
            <a:ext cx="7132320" cy="777240"/>
          </a:xfrm>
          <a:prstGeom prst="rect">
            <a:avLst/>
          </a:prstGeom>
          <a:solidFill>
            <a:srgbClr val="FFFFFF">
              <a:alpha val="10000"/>
            </a:srgbClr>
          </a:solidFill>
          <a:ln w="12700">
            <a:solidFill>
              <a:srgbClr val="5B3A8A">
                <a:alpha val="65000"/>
              </a:srgbClr>
            </a:solidFill>
            <a:prstDash val="solid"/>
          </a:ln>
        </p:spPr>
      </p:sp>
      <p:sp>
        <p:nvSpPr>
          <p:cNvPr id="31" name="Shape 28"/>
          <p:cNvSpPr/>
          <p:nvPr/>
        </p:nvSpPr>
        <p:spPr>
          <a:xfrm>
            <a:off x="4526280" y="5440680"/>
            <a:ext cx="73152" cy="777240"/>
          </a:xfrm>
          <a:prstGeom prst="rect">
            <a:avLst/>
          </a:prstGeom>
          <a:solidFill>
            <a:srgbClr val="5B3A8A"/>
          </a:solidFill>
          <a:ln/>
        </p:spPr>
      </p:sp>
      <p:pic>
        <p:nvPicPr>
          <p:cNvPr id="3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82312" y="5687568"/>
            <a:ext cx="292608" cy="292608"/>
          </a:xfrm>
          <a:prstGeom prst="rect">
            <a:avLst/>
          </a:prstGeom>
        </p:spPr>
      </p:pic>
      <p:sp>
        <p:nvSpPr>
          <p:cNvPr id="33" name="Text 29"/>
          <p:cNvSpPr/>
          <p:nvPr/>
        </p:nvSpPr>
        <p:spPr>
          <a:xfrm>
            <a:off x="5239512" y="5440680"/>
            <a:ext cx="63093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What to watch　</a:t>
            </a:r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C7CAE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For external sending, refunds, schedules or triggers, ch…</a:t>
            </a:r>
            <a:endParaRPr lang="en-US" sz="1250" dirty="0"/>
          </a:p>
        </p:txBody>
      </p:sp>
      <p:sp>
        <p:nvSpPr>
          <p:cNvPr id="34" name="Text 30"/>
          <p:cNvSpPr/>
          <p:nvPr/>
        </p:nvSpPr>
        <p:spPr>
          <a:xfrm>
            <a:off x="64008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A8FB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Microsoft 365 Copilot Cowork</a:t>
            </a:r>
            <a:endParaRPr lang="en-US" sz="900" dirty="0"/>
          </a:p>
        </p:txBody>
      </p:sp>
      <p:sp>
        <p:nvSpPr>
          <p:cNvPr id="35" name="Text 31"/>
          <p:cNvSpPr/>
          <p:nvPr/>
        </p:nvSpPr>
        <p:spPr>
          <a:xfrm>
            <a:off x="11002975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8FB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7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66928"/>
            <a:ext cx="384048" cy="128016"/>
          </a:xfrm>
          <a:prstGeom prst="rect">
            <a:avLst/>
          </a:prstGeom>
          <a:solidFill>
            <a:srgbClr val="5B3A8A"/>
          </a:solidFill>
          <a:ln/>
        </p:spPr>
      </p:sp>
      <p:sp>
        <p:nvSpPr>
          <p:cNvPr id="3" name="Text 1"/>
          <p:cNvSpPr/>
          <p:nvPr/>
        </p:nvSpPr>
        <p:spPr>
          <a:xfrm>
            <a:off x="1143000" y="457200"/>
            <a:ext cx="82296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5B3A8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Scenario 03 · Live demo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786384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23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What Cowork does, and what it produces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1377544" y="1773936"/>
            <a:ext cx="4544568" cy="3014011"/>
          </a:xfrm>
          <a:prstGeom prst="rect">
            <a:avLst/>
          </a:prstGeom>
          <a:solidFill>
            <a:srgbClr val="FFFFFF"/>
          </a:solidFill>
          <a:ln w="12700">
            <a:solidFill>
              <a:srgbClr val="E4E7F2"/>
            </a:solidFill>
            <a:prstDash val="solid"/>
          </a:ln>
          <a:effectLst>
            <a:outerShdw sx="100000" sy="100000" kx="0" ky="0" algn="bl" rotWithShape="0" blurRad="114300" dist="38100" dir="5400000">
              <a:srgbClr val="8A90B5">
                <a:alpha val="22000"/>
              </a:srgbClr>
            </a:outerShdw>
          </a:effectLst>
        </p:spPr>
      </p:sp>
      <p:pic>
        <p:nvPicPr>
          <p:cNvPr id="6" name="Image 0" descr="C:\temp\CoworkLab\v3\_working\screenshots\ret3_01_model_e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32408" y="1828800"/>
            <a:ext cx="4434840" cy="2904283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432408" y="4824523"/>
            <a:ext cx="44348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5B3A8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① Your input and prompt</a:t>
            </a:r>
            <a:endParaRPr lang="en-US" sz="1350" dirty="0"/>
          </a:p>
        </p:txBody>
      </p:sp>
      <p:sp>
        <p:nvSpPr>
          <p:cNvPr id="8" name="Shape 5"/>
          <p:cNvSpPr/>
          <p:nvPr/>
        </p:nvSpPr>
        <p:spPr>
          <a:xfrm>
            <a:off x="6269584" y="1773936"/>
            <a:ext cx="4544568" cy="3014011"/>
          </a:xfrm>
          <a:prstGeom prst="rect">
            <a:avLst/>
          </a:prstGeom>
          <a:solidFill>
            <a:srgbClr val="FFFFFF"/>
          </a:solidFill>
          <a:ln w="12700">
            <a:solidFill>
              <a:srgbClr val="E4E7F2"/>
            </a:solidFill>
            <a:prstDash val="solid"/>
          </a:ln>
          <a:effectLst>
            <a:outerShdw sx="100000" sy="100000" kx="0" ky="0" algn="bl" rotWithShape="0" blurRad="114300" dist="38100" dir="5400000">
              <a:srgbClr val="8A90B5">
                <a:alpha val="22000"/>
              </a:srgbClr>
            </a:outerShdw>
          </a:effectLst>
        </p:spPr>
      </p:sp>
      <p:pic>
        <p:nvPicPr>
          <p:cNvPr id="9" name="Image 1" descr="C:\temp\CoworkLab\v3\_working\screenshots\ret3_02_brief_en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24448" y="1828800"/>
            <a:ext cx="4434840" cy="2904283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6324448" y="4824523"/>
            <a:ext cx="44348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5B3A8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② The result</a:t>
            </a:r>
            <a:endParaRPr lang="en-US" sz="1350" dirty="0"/>
          </a:p>
        </p:txBody>
      </p:sp>
      <p:sp>
        <p:nvSpPr>
          <p:cNvPr id="11" name="Shape 7"/>
          <p:cNvSpPr/>
          <p:nvPr/>
        </p:nvSpPr>
        <p:spPr>
          <a:xfrm>
            <a:off x="640080" y="5226859"/>
            <a:ext cx="10911535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7F2"/>
            </a:solidFill>
            <a:prstDash val="solid"/>
          </a:ln>
        </p:spPr>
      </p:sp>
      <p:sp>
        <p:nvSpPr>
          <p:cNvPr id="12" name="Shape 8"/>
          <p:cNvSpPr/>
          <p:nvPr/>
        </p:nvSpPr>
        <p:spPr>
          <a:xfrm>
            <a:off x="640080" y="5226859"/>
            <a:ext cx="91440" cy="1143000"/>
          </a:xfrm>
          <a:prstGeom prst="rect">
            <a:avLst/>
          </a:prstGeom>
          <a:solidFill>
            <a:srgbClr val="5B3A8A"/>
          </a:solidFill>
          <a:ln/>
        </p:spPr>
      </p:sp>
      <p:sp>
        <p:nvSpPr>
          <p:cNvPr id="13" name="Text 9"/>
          <p:cNvSpPr/>
          <p:nvPr/>
        </p:nvSpPr>
        <p:spPr>
          <a:xfrm>
            <a:off x="914400" y="5336587"/>
            <a:ext cx="1783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23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Check the output</a:t>
            </a:r>
            <a:endParaRPr lang="en-US" sz="1400" dirty="0"/>
          </a:p>
        </p:txBody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80360" y="5373163"/>
            <a:ext cx="182880" cy="182880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3154680" y="5318299"/>
            <a:ext cx="8122615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23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Do not equate revenue attainment with margin attainment</a:t>
            </a:r>
            <a:endParaRPr lang="en-US" sz="1300" dirty="0"/>
          </a:p>
        </p:txBody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80360" y="5711491"/>
            <a:ext cx="182880" cy="182880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3154680" y="5656627"/>
            <a:ext cx="8122615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23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State data limitations and assumptions clearly</a:t>
            </a:r>
            <a:endParaRPr lang="en-US" sz="1300" dirty="0"/>
          </a:p>
        </p:txBody>
      </p:sp>
      <p:pic>
        <p:nvPicPr>
          <p:cNvPr id="1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880360" y="6049819"/>
            <a:ext cx="182880" cy="182880"/>
          </a:xfrm>
          <a:prstGeom prst="rect">
            <a:avLst/>
          </a:prstGeom>
        </p:spPr>
      </p:pic>
      <p:sp>
        <p:nvSpPr>
          <p:cNvPr id="19" name="Text 12"/>
          <p:cNvSpPr/>
          <p:nvPr/>
        </p:nvSpPr>
        <p:spPr>
          <a:xfrm>
            <a:off x="3154680" y="5994955"/>
            <a:ext cx="8122615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23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Do not automate high-risk actions</a:t>
            </a:r>
            <a:endParaRPr lang="en-US" sz="1300" dirty="0"/>
          </a:p>
        </p:txBody>
      </p:sp>
      <p:sp>
        <p:nvSpPr>
          <p:cNvPr id="20" name="Text 13"/>
          <p:cNvSpPr/>
          <p:nvPr/>
        </p:nvSpPr>
        <p:spPr>
          <a:xfrm>
            <a:off x="64008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07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Microsoft 365 Copilot Cowork</a:t>
            </a:r>
            <a:endParaRPr lang="en-US" sz="900" dirty="0"/>
          </a:p>
        </p:txBody>
      </p:sp>
      <p:sp>
        <p:nvSpPr>
          <p:cNvPr id="21" name="Text 14"/>
          <p:cNvSpPr/>
          <p:nvPr/>
        </p:nvSpPr>
        <p:spPr>
          <a:xfrm>
            <a:off x="11002975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07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F103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023360" cy="6858000"/>
          </a:xfrm>
          <a:prstGeom prst="rect">
            <a:avLst/>
          </a:prstGeom>
          <a:solidFill>
            <a:srgbClr val="1C1E4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7B2838"/>
          </a:solidFill>
          <a:ln/>
        </p:spPr>
      </p:sp>
      <p:sp>
        <p:nvSpPr>
          <p:cNvPr id="4" name="Text 2"/>
          <p:cNvSpPr/>
          <p:nvPr/>
        </p:nvSpPr>
        <p:spPr>
          <a:xfrm>
            <a:off x="502920" y="64008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7B283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Scenario 04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02920" y="1143000"/>
            <a:ext cx="1097280" cy="1097280"/>
          </a:xfrm>
          <a:prstGeom prst="ellipse">
            <a:avLst/>
          </a:prstGeom>
          <a:solidFill>
            <a:srgbClr val="7B2838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4672" y="1444752"/>
            <a:ext cx="493776" cy="49377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02920" y="237744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B9BCE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Retail Channels · Operations Decisions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502920" y="2697480"/>
            <a:ext cx="3291840" cy="1325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Returns policy: an opened personal-care item is not an unconditional refund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502920" y="4114800"/>
            <a:ext cx="3291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FA3C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⏱ ~15 min · Level ★★★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502920" y="4572000"/>
            <a:ext cx="3127248" cy="402336"/>
          </a:xfrm>
          <a:prstGeom prst="roundRect">
            <a:avLst>
              <a:gd name="adj" fmla="val 50000"/>
            </a:avLst>
          </a:prstGeom>
          <a:solidFill>
            <a:srgbClr val="6366F1"/>
          </a:solidFill>
          <a:ln/>
        </p:spPr>
      </p:sp>
      <p:sp>
        <p:nvSpPr>
          <p:cNvPr id="11" name="Text 8"/>
          <p:cNvSpPr/>
          <p:nvPr/>
        </p:nvSpPr>
        <p:spPr>
          <a:xfrm>
            <a:off x="502920" y="4572000"/>
            <a:ext cx="3127248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OneDrive / Enterprise Search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502920" y="5074920"/>
            <a:ext cx="713232" cy="402336"/>
          </a:xfrm>
          <a:prstGeom prst="roundRect">
            <a:avLst>
              <a:gd name="adj" fmla="val 50000"/>
            </a:avLst>
          </a:prstGeom>
          <a:solidFill>
            <a:srgbClr val="2B579A"/>
          </a:solidFill>
          <a:ln/>
        </p:spPr>
      </p:sp>
      <p:sp>
        <p:nvSpPr>
          <p:cNvPr id="13" name="Text 10"/>
          <p:cNvSpPr/>
          <p:nvPr/>
        </p:nvSpPr>
        <p:spPr>
          <a:xfrm>
            <a:off x="502920" y="5074920"/>
            <a:ext cx="71323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Word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502920" y="5577840"/>
            <a:ext cx="2523744" cy="402336"/>
          </a:xfrm>
          <a:prstGeom prst="roundRect">
            <a:avLst>
              <a:gd name="adj" fmla="val 50000"/>
            </a:avLst>
          </a:prstGeom>
          <a:solidFill>
            <a:srgbClr val="6366F1"/>
          </a:solidFill>
          <a:ln/>
        </p:spPr>
      </p:sp>
      <p:sp>
        <p:nvSpPr>
          <p:cNvPr id="15" name="Text 12"/>
          <p:cNvSpPr/>
          <p:nvPr/>
        </p:nvSpPr>
        <p:spPr>
          <a:xfrm>
            <a:off x="502920" y="5577840"/>
            <a:ext cx="2523744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Approvals &amp; governance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4526280" y="566928"/>
            <a:ext cx="713232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D7D9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 marketplace order is opened but has a receipt. Use channel policy and product category to decide exchange, refund or review rather than the customer's request alone.</a:t>
            </a:r>
            <a:endParaRPr lang="en-US" sz="1500" dirty="0"/>
          </a:p>
        </p:txBody>
      </p:sp>
      <p:sp>
        <p:nvSpPr>
          <p:cNvPr id="17" name="Text 14"/>
          <p:cNvSpPr/>
          <p:nvPr/>
        </p:nvSpPr>
        <p:spPr>
          <a:xfrm>
            <a:off x="4526280" y="1517904"/>
            <a:ext cx="7132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7B283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Agentic workflow</a:t>
            </a:r>
            <a:endParaRPr lang="en-US" sz="1500" dirty="0"/>
          </a:p>
        </p:txBody>
      </p:sp>
      <p:sp>
        <p:nvSpPr>
          <p:cNvPr id="18" name="Shape 15"/>
          <p:cNvSpPr/>
          <p:nvPr/>
        </p:nvSpPr>
        <p:spPr>
          <a:xfrm>
            <a:off x="4526280" y="1975104"/>
            <a:ext cx="457200" cy="457200"/>
          </a:xfrm>
          <a:prstGeom prst="ellipse">
            <a:avLst/>
          </a:prstGeom>
          <a:solidFill>
            <a:srgbClr val="FFFFFF">
              <a:alpha val="12000"/>
            </a:srgbClr>
          </a:solidFill>
          <a:ln w="19050">
            <a:solidFill>
              <a:srgbClr val="7B2838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4526280" y="1975104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7B283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</a:t>
            </a:r>
            <a:endParaRPr lang="en-US" sz="1600" dirty="0"/>
          </a:p>
        </p:txBody>
      </p:sp>
      <p:sp>
        <p:nvSpPr>
          <p:cNvPr id="20" name="Text 17"/>
          <p:cNvSpPr/>
          <p:nvPr/>
        </p:nvSpPr>
        <p:spPr>
          <a:xfrm>
            <a:off x="5166360" y="1956816"/>
            <a:ext cx="6492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Extract the applicable clauses</a:t>
            </a:r>
            <a:endParaRPr lang="en-US" sz="1600" dirty="0"/>
          </a:p>
        </p:txBody>
      </p:sp>
      <p:sp>
        <p:nvSpPr>
          <p:cNvPr id="21" name="Text 18"/>
          <p:cNvSpPr/>
          <p:nvPr/>
        </p:nvSpPr>
        <p:spPr>
          <a:xfrm>
            <a:off x="5166360" y="2322576"/>
            <a:ext cx="6492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AEB2D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Read RET4 and list how channel, category, opened status …</a:t>
            </a:r>
            <a:endParaRPr lang="en-US" sz="1300" dirty="0"/>
          </a:p>
        </p:txBody>
      </p:sp>
      <p:sp>
        <p:nvSpPr>
          <p:cNvPr id="22" name="Shape 19"/>
          <p:cNvSpPr/>
          <p:nvPr/>
        </p:nvSpPr>
        <p:spPr>
          <a:xfrm>
            <a:off x="4526280" y="2999232"/>
            <a:ext cx="457200" cy="457200"/>
          </a:xfrm>
          <a:prstGeom prst="ellipse">
            <a:avLst/>
          </a:prstGeom>
          <a:solidFill>
            <a:srgbClr val="FFFFFF">
              <a:alpha val="12000"/>
            </a:srgbClr>
          </a:solidFill>
          <a:ln w="19050">
            <a:solidFill>
              <a:srgbClr val="7B2838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4526280" y="299923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7B283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</a:t>
            </a:r>
            <a:endParaRPr lang="en-US" sz="1600" dirty="0"/>
          </a:p>
        </p:txBody>
      </p:sp>
      <p:sp>
        <p:nvSpPr>
          <p:cNvPr id="24" name="Text 21"/>
          <p:cNvSpPr/>
          <p:nvPr/>
        </p:nvSpPr>
        <p:spPr>
          <a:xfrm>
            <a:off x="5166360" y="2980944"/>
            <a:ext cx="6492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Draft the customer-service reply</a:t>
            </a:r>
            <a:endParaRPr lang="en-US" sz="1600" dirty="0"/>
          </a:p>
        </p:txBody>
      </p:sp>
      <p:sp>
        <p:nvSpPr>
          <p:cNvPr id="25" name="Text 22"/>
          <p:cNvSpPr/>
          <p:nvPr/>
        </p:nvSpPr>
        <p:spPr>
          <a:xfrm>
            <a:off x="5166360" y="3346704"/>
            <a:ext cx="6492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AEB2D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Give the exchange, refund and review decision, then draf…</a:t>
            </a:r>
            <a:endParaRPr lang="en-US" sz="1300" dirty="0"/>
          </a:p>
        </p:txBody>
      </p:sp>
      <p:sp>
        <p:nvSpPr>
          <p:cNvPr id="26" name="Shape 23"/>
          <p:cNvSpPr/>
          <p:nvPr/>
        </p:nvSpPr>
        <p:spPr>
          <a:xfrm>
            <a:off x="4526280" y="4023360"/>
            <a:ext cx="457200" cy="457200"/>
          </a:xfrm>
          <a:prstGeom prst="ellipse">
            <a:avLst/>
          </a:prstGeom>
          <a:solidFill>
            <a:srgbClr val="FFFFFF">
              <a:alpha val="12000"/>
            </a:srgbClr>
          </a:solidFill>
          <a:ln w="19050">
            <a:solidFill>
              <a:srgbClr val="7B2838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4526280" y="40233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7B283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</a:t>
            </a:r>
            <a:endParaRPr lang="en-US" sz="1600" dirty="0"/>
          </a:p>
        </p:txBody>
      </p:sp>
      <p:sp>
        <p:nvSpPr>
          <p:cNvPr id="28" name="Text 25"/>
          <p:cNvSpPr/>
          <p:nvPr/>
        </p:nvSpPr>
        <p:spPr>
          <a:xfrm>
            <a:off x="5166360" y="4005072"/>
            <a:ext cx="6492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Confirm decision boundaries and next steps</a:t>
            </a:r>
            <a:endParaRPr lang="en-US" sz="1600" dirty="0"/>
          </a:p>
        </p:txBody>
      </p:sp>
      <p:sp>
        <p:nvSpPr>
          <p:cNvPr id="29" name="Text 26"/>
          <p:cNvSpPr/>
          <p:nvPr/>
        </p:nvSpPr>
        <p:spPr>
          <a:xfrm>
            <a:off x="5166360" y="4370832"/>
            <a:ext cx="6492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AEB2D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List the items requiring human confirmation, owners and …</a:t>
            </a:r>
            <a:endParaRPr lang="en-US" sz="1300" dirty="0"/>
          </a:p>
        </p:txBody>
      </p:sp>
      <p:sp>
        <p:nvSpPr>
          <p:cNvPr id="30" name="Shape 27"/>
          <p:cNvSpPr/>
          <p:nvPr/>
        </p:nvSpPr>
        <p:spPr>
          <a:xfrm>
            <a:off x="4526280" y="5440680"/>
            <a:ext cx="7132320" cy="777240"/>
          </a:xfrm>
          <a:prstGeom prst="rect">
            <a:avLst/>
          </a:prstGeom>
          <a:solidFill>
            <a:srgbClr val="FFFFFF">
              <a:alpha val="10000"/>
            </a:srgbClr>
          </a:solidFill>
          <a:ln w="12700">
            <a:solidFill>
              <a:srgbClr val="7B2838">
                <a:alpha val="65000"/>
              </a:srgbClr>
            </a:solidFill>
            <a:prstDash val="solid"/>
          </a:ln>
        </p:spPr>
      </p:sp>
      <p:sp>
        <p:nvSpPr>
          <p:cNvPr id="31" name="Shape 28"/>
          <p:cNvSpPr/>
          <p:nvPr/>
        </p:nvSpPr>
        <p:spPr>
          <a:xfrm>
            <a:off x="4526280" y="5440680"/>
            <a:ext cx="73152" cy="777240"/>
          </a:xfrm>
          <a:prstGeom prst="rect">
            <a:avLst/>
          </a:prstGeom>
          <a:solidFill>
            <a:srgbClr val="7B2838"/>
          </a:solidFill>
          <a:ln/>
        </p:spPr>
      </p:sp>
      <p:pic>
        <p:nvPicPr>
          <p:cNvPr id="3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82312" y="5687568"/>
            <a:ext cx="292608" cy="292608"/>
          </a:xfrm>
          <a:prstGeom prst="rect">
            <a:avLst/>
          </a:prstGeom>
        </p:spPr>
      </p:pic>
      <p:sp>
        <p:nvSpPr>
          <p:cNvPr id="33" name="Text 29"/>
          <p:cNvSpPr/>
          <p:nvPr/>
        </p:nvSpPr>
        <p:spPr>
          <a:xfrm>
            <a:off x="5239512" y="5440680"/>
            <a:ext cx="63093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What to watch　</a:t>
            </a:r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C7CAE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For external sending, refunds, schedules or triggers, ch…</a:t>
            </a:r>
            <a:endParaRPr lang="en-US" sz="1250" dirty="0"/>
          </a:p>
        </p:txBody>
      </p:sp>
      <p:sp>
        <p:nvSpPr>
          <p:cNvPr id="34" name="Text 30"/>
          <p:cNvSpPr/>
          <p:nvPr/>
        </p:nvSpPr>
        <p:spPr>
          <a:xfrm>
            <a:off x="64008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A8FB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Microsoft 365 Copilot Cowork</a:t>
            </a:r>
            <a:endParaRPr lang="en-US" sz="900" dirty="0"/>
          </a:p>
        </p:txBody>
      </p:sp>
      <p:sp>
        <p:nvSpPr>
          <p:cNvPr id="35" name="Text 31"/>
          <p:cNvSpPr/>
          <p:nvPr/>
        </p:nvSpPr>
        <p:spPr>
          <a:xfrm>
            <a:off x="11002975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8FB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14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7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66928"/>
            <a:ext cx="384048" cy="128016"/>
          </a:xfrm>
          <a:prstGeom prst="rect">
            <a:avLst/>
          </a:prstGeom>
          <a:solidFill>
            <a:srgbClr val="7B2838"/>
          </a:solidFill>
          <a:ln/>
        </p:spPr>
      </p:sp>
      <p:sp>
        <p:nvSpPr>
          <p:cNvPr id="3" name="Text 1"/>
          <p:cNvSpPr/>
          <p:nvPr/>
        </p:nvSpPr>
        <p:spPr>
          <a:xfrm>
            <a:off x="1143000" y="457200"/>
            <a:ext cx="82296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7B283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Scenario 04 · Live demo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786384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23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What Cowork does, and what it produces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1377544" y="1773936"/>
            <a:ext cx="4544568" cy="3014011"/>
          </a:xfrm>
          <a:prstGeom prst="rect">
            <a:avLst/>
          </a:prstGeom>
          <a:solidFill>
            <a:srgbClr val="FFFFFF"/>
          </a:solidFill>
          <a:ln w="12700">
            <a:solidFill>
              <a:srgbClr val="E4E7F2"/>
            </a:solidFill>
            <a:prstDash val="solid"/>
          </a:ln>
          <a:effectLst>
            <a:outerShdw sx="100000" sy="100000" kx="0" ky="0" algn="bl" rotWithShape="0" blurRad="114300" dist="38100" dir="5400000">
              <a:srgbClr val="8A90B5">
                <a:alpha val="22000"/>
              </a:srgbClr>
            </a:outerShdw>
          </a:effectLst>
        </p:spPr>
      </p:sp>
      <p:pic>
        <p:nvPicPr>
          <p:cNvPr id="6" name="Image 0" descr="C:\temp\CoworkLab\v3\_working\screenshots\ret4_01_policy_e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32408" y="1828800"/>
            <a:ext cx="4434840" cy="2904283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432408" y="4824523"/>
            <a:ext cx="44348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7B283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① Your input and prompt</a:t>
            </a:r>
            <a:endParaRPr lang="en-US" sz="1350" dirty="0"/>
          </a:p>
        </p:txBody>
      </p:sp>
      <p:sp>
        <p:nvSpPr>
          <p:cNvPr id="8" name="Shape 5"/>
          <p:cNvSpPr/>
          <p:nvPr/>
        </p:nvSpPr>
        <p:spPr>
          <a:xfrm>
            <a:off x="6269584" y="1773936"/>
            <a:ext cx="4544568" cy="3014011"/>
          </a:xfrm>
          <a:prstGeom prst="rect">
            <a:avLst/>
          </a:prstGeom>
          <a:solidFill>
            <a:srgbClr val="FFFFFF"/>
          </a:solidFill>
          <a:ln w="12700">
            <a:solidFill>
              <a:srgbClr val="E4E7F2"/>
            </a:solidFill>
            <a:prstDash val="solid"/>
          </a:ln>
          <a:effectLst>
            <a:outerShdw sx="100000" sy="100000" kx="0" ky="0" algn="bl" rotWithShape="0" blurRad="114300" dist="38100" dir="5400000">
              <a:srgbClr val="8A90B5">
                <a:alpha val="22000"/>
              </a:srgbClr>
            </a:outerShdw>
          </a:effectLst>
        </p:spPr>
      </p:sp>
      <p:pic>
        <p:nvPicPr>
          <p:cNvPr id="9" name="Image 1" descr="C:\temp\CoworkLab\v3\_working\screenshots\ret4_02_reply_en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24448" y="1828800"/>
            <a:ext cx="4434840" cy="2904283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6324448" y="4824523"/>
            <a:ext cx="44348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7B283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② The result</a:t>
            </a:r>
            <a:endParaRPr lang="en-US" sz="1350" dirty="0"/>
          </a:p>
        </p:txBody>
      </p:sp>
      <p:sp>
        <p:nvSpPr>
          <p:cNvPr id="11" name="Shape 7"/>
          <p:cNvSpPr/>
          <p:nvPr/>
        </p:nvSpPr>
        <p:spPr>
          <a:xfrm>
            <a:off x="640080" y="5226859"/>
            <a:ext cx="10911535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7F2"/>
            </a:solidFill>
            <a:prstDash val="solid"/>
          </a:ln>
        </p:spPr>
      </p:sp>
      <p:sp>
        <p:nvSpPr>
          <p:cNvPr id="12" name="Shape 8"/>
          <p:cNvSpPr/>
          <p:nvPr/>
        </p:nvSpPr>
        <p:spPr>
          <a:xfrm>
            <a:off x="640080" y="5226859"/>
            <a:ext cx="91440" cy="1143000"/>
          </a:xfrm>
          <a:prstGeom prst="rect">
            <a:avLst/>
          </a:prstGeom>
          <a:solidFill>
            <a:srgbClr val="7B2838"/>
          </a:solidFill>
          <a:ln/>
        </p:spPr>
      </p:sp>
      <p:sp>
        <p:nvSpPr>
          <p:cNvPr id="13" name="Text 9"/>
          <p:cNvSpPr/>
          <p:nvPr/>
        </p:nvSpPr>
        <p:spPr>
          <a:xfrm>
            <a:off x="914400" y="5336587"/>
            <a:ext cx="1783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23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Check the output</a:t>
            </a:r>
            <a:endParaRPr lang="en-US" sz="1400" dirty="0"/>
          </a:p>
        </p:txBody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80360" y="5373163"/>
            <a:ext cx="182880" cy="182880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3154680" y="5318299"/>
            <a:ext cx="8122615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23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Map each policy condition explicitly</a:t>
            </a:r>
            <a:endParaRPr lang="en-US" sz="1300" dirty="0"/>
          </a:p>
        </p:txBody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80360" y="5711491"/>
            <a:ext cx="182880" cy="182880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3154680" y="5656627"/>
            <a:ext cx="8122615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23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State data limitations and assumptions clearly</a:t>
            </a:r>
            <a:endParaRPr lang="en-US" sz="1300" dirty="0"/>
          </a:p>
        </p:txBody>
      </p:sp>
      <p:pic>
        <p:nvPicPr>
          <p:cNvPr id="1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880360" y="6049819"/>
            <a:ext cx="182880" cy="182880"/>
          </a:xfrm>
          <a:prstGeom prst="rect">
            <a:avLst/>
          </a:prstGeom>
        </p:spPr>
      </p:pic>
      <p:sp>
        <p:nvSpPr>
          <p:cNvPr id="19" name="Text 12"/>
          <p:cNvSpPr/>
          <p:nvPr/>
        </p:nvSpPr>
        <p:spPr>
          <a:xfrm>
            <a:off x="3154680" y="5994955"/>
            <a:ext cx="8122615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23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Do not automate high-risk actions</a:t>
            </a:r>
            <a:endParaRPr lang="en-US" sz="1300" dirty="0"/>
          </a:p>
        </p:txBody>
      </p:sp>
      <p:sp>
        <p:nvSpPr>
          <p:cNvPr id="20" name="Text 13"/>
          <p:cNvSpPr/>
          <p:nvPr/>
        </p:nvSpPr>
        <p:spPr>
          <a:xfrm>
            <a:off x="64008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07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Microsoft 365 Copilot Cowork</a:t>
            </a:r>
            <a:endParaRPr lang="en-US" sz="900" dirty="0"/>
          </a:p>
        </p:txBody>
      </p:sp>
      <p:sp>
        <p:nvSpPr>
          <p:cNvPr id="21" name="Text 14"/>
          <p:cNvSpPr/>
          <p:nvPr/>
        </p:nvSpPr>
        <p:spPr>
          <a:xfrm>
            <a:off x="11002975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07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15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F103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023360" cy="6858000"/>
          </a:xfrm>
          <a:prstGeom prst="rect">
            <a:avLst/>
          </a:prstGeom>
          <a:solidFill>
            <a:srgbClr val="1C1E4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1D5B8F"/>
          </a:solidFill>
          <a:ln/>
        </p:spPr>
      </p:sp>
      <p:sp>
        <p:nvSpPr>
          <p:cNvPr id="4" name="Text 2"/>
          <p:cNvSpPr/>
          <p:nvPr/>
        </p:nvSpPr>
        <p:spPr>
          <a:xfrm>
            <a:off x="502920" y="64008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1D5B8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Scenario 05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02920" y="1143000"/>
            <a:ext cx="1097280" cy="1097280"/>
          </a:xfrm>
          <a:prstGeom prst="ellipse">
            <a:avLst/>
          </a:prstGeom>
          <a:solidFill>
            <a:srgbClr val="1D5B8F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4672" y="1444752"/>
            <a:ext cx="493776" cy="49377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02920" y="237744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B9BCE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Retail Channels · Operations Decisions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502920" y="2697480"/>
            <a:ext cx="3291840" cy="1325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Store opening: only one date survives every blackout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502920" y="4114800"/>
            <a:ext cx="3291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FA3C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⏱ ~15 min · Level ★★★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502920" y="4572000"/>
            <a:ext cx="3127248" cy="402336"/>
          </a:xfrm>
          <a:prstGeom prst="roundRect">
            <a:avLst>
              <a:gd name="adj" fmla="val 50000"/>
            </a:avLst>
          </a:prstGeom>
          <a:solidFill>
            <a:srgbClr val="6366F1"/>
          </a:solidFill>
          <a:ln/>
        </p:spPr>
      </p:sp>
      <p:sp>
        <p:nvSpPr>
          <p:cNvPr id="11" name="Text 8"/>
          <p:cNvSpPr/>
          <p:nvPr/>
        </p:nvSpPr>
        <p:spPr>
          <a:xfrm>
            <a:off x="502920" y="4572000"/>
            <a:ext cx="3127248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OneDrive / Enterprise Search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502920" y="5074920"/>
            <a:ext cx="813816" cy="402336"/>
          </a:xfrm>
          <a:prstGeom prst="roundRect">
            <a:avLst>
              <a:gd name="adj" fmla="val 50000"/>
            </a:avLst>
          </a:prstGeom>
          <a:solidFill>
            <a:srgbClr val="217346"/>
          </a:solidFill>
          <a:ln/>
        </p:spPr>
      </p:sp>
      <p:sp>
        <p:nvSpPr>
          <p:cNvPr id="13" name="Text 10"/>
          <p:cNvSpPr/>
          <p:nvPr/>
        </p:nvSpPr>
        <p:spPr>
          <a:xfrm>
            <a:off x="502920" y="5074920"/>
            <a:ext cx="81381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Excel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1499616" y="5074920"/>
            <a:ext cx="1920240" cy="402336"/>
          </a:xfrm>
          <a:prstGeom prst="roundRect">
            <a:avLst>
              <a:gd name="adj" fmla="val 50000"/>
            </a:avLst>
          </a:prstGeom>
          <a:solidFill>
            <a:srgbClr val="6366F1"/>
          </a:solidFill>
          <a:ln/>
        </p:spPr>
      </p:sp>
      <p:sp>
        <p:nvSpPr>
          <p:cNvPr id="15" name="Text 12"/>
          <p:cNvSpPr/>
          <p:nvPr/>
        </p:nvSpPr>
        <p:spPr>
          <a:xfrm>
            <a:off x="1499616" y="5074920"/>
            <a:ext cx="19202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Scheduled prompt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4526280" y="566928"/>
            <a:ext cx="713232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D7D9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Three opening dates collide with an inventory-count blackout or a mall fire drill. Combine event constraints and operational readiness in one decision table.</a:t>
            </a:r>
            <a:endParaRPr lang="en-US" sz="1500" dirty="0"/>
          </a:p>
        </p:txBody>
      </p:sp>
      <p:sp>
        <p:nvSpPr>
          <p:cNvPr id="17" name="Text 14"/>
          <p:cNvSpPr/>
          <p:nvPr/>
        </p:nvSpPr>
        <p:spPr>
          <a:xfrm>
            <a:off x="4526280" y="1517904"/>
            <a:ext cx="7132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D5B8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Agentic workflow</a:t>
            </a:r>
            <a:endParaRPr lang="en-US" sz="1500" dirty="0"/>
          </a:p>
        </p:txBody>
      </p:sp>
      <p:sp>
        <p:nvSpPr>
          <p:cNvPr id="18" name="Shape 15"/>
          <p:cNvSpPr/>
          <p:nvPr/>
        </p:nvSpPr>
        <p:spPr>
          <a:xfrm>
            <a:off x="4526280" y="1975104"/>
            <a:ext cx="457200" cy="457200"/>
          </a:xfrm>
          <a:prstGeom prst="ellipse">
            <a:avLst/>
          </a:prstGeom>
          <a:solidFill>
            <a:srgbClr val="FFFFFF">
              <a:alpha val="12000"/>
            </a:srgbClr>
          </a:solidFill>
          <a:ln w="19050">
            <a:solidFill>
              <a:srgbClr val="1D5B8F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4526280" y="1975104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D5B8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</a:t>
            </a:r>
            <a:endParaRPr lang="en-US" sz="1600" dirty="0"/>
          </a:p>
        </p:txBody>
      </p:sp>
      <p:sp>
        <p:nvSpPr>
          <p:cNvPr id="20" name="Text 17"/>
          <p:cNvSpPr/>
          <p:nvPr/>
        </p:nvSpPr>
        <p:spPr>
          <a:xfrm>
            <a:off x="5166360" y="1956816"/>
            <a:ext cx="6492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Build a date-feasibility matrix</a:t>
            </a:r>
            <a:endParaRPr lang="en-US" sz="1600" dirty="0"/>
          </a:p>
        </p:txBody>
      </p:sp>
      <p:sp>
        <p:nvSpPr>
          <p:cNvPr id="21" name="Text 18"/>
          <p:cNvSpPr/>
          <p:nvPr/>
        </p:nvSpPr>
        <p:spPr>
          <a:xfrm>
            <a:off x="5166360" y="2322576"/>
            <a:ext cx="6492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AEB2D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Read RET5 and check each candidate against blackout even…</a:t>
            </a:r>
            <a:endParaRPr lang="en-US" sz="1300" dirty="0"/>
          </a:p>
        </p:txBody>
      </p:sp>
      <p:sp>
        <p:nvSpPr>
          <p:cNvPr id="22" name="Shape 19"/>
          <p:cNvSpPr/>
          <p:nvPr/>
        </p:nvSpPr>
        <p:spPr>
          <a:xfrm>
            <a:off x="4526280" y="2999232"/>
            <a:ext cx="457200" cy="457200"/>
          </a:xfrm>
          <a:prstGeom prst="ellipse">
            <a:avLst/>
          </a:prstGeom>
          <a:solidFill>
            <a:srgbClr val="FFFFFF">
              <a:alpha val="12000"/>
            </a:srgbClr>
          </a:solidFill>
          <a:ln w="19050">
            <a:solidFill>
              <a:srgbClr val="1D5B8F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4526280" y="299923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D5B8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</a:t>
            </a:r>
            <a:endParaRPr lang="en-US" sz="1600" dirty="0"/>
          </a:p>
        </p:txBody>
      </p:sp>
      <p:sp>
        <p:nvSpPr>
          <p:cNvPr id="24" name="Text 21"/>
          <p:cNvSpPr/>
          <p:nvPr/>
        </p:nvSpPr>
        <p:spPr>
          <a:xfrm>
            <a:off x="5166360" y="2980944"/>
            <a:ext cx="6492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Write the decision and rationale</a:t>
            </a:r>
            <a:endParaRPr lang="en-US" sz="1600" dirty="0"/>
          </a:p>
        </p:txBody>
      </p:sp>
      <p:sp>
        <p:nvSpPr>
          <p:cNvPr id="25" name="Text 22"/>
          <p:cNvSpPr/>
          <p:nvPr/>
        </p:nvSpPr>
        <p:spPr>
          <a:xfrm>
            <a:off x="5166360" y="3346704"/>
            <a:ext cx="6492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AEB2D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Select only the date that passes every constraint and ex…</a:t>
            </a:r>
            <a:endParaRPr lang="en-US" sz="1300" dirty="0"/>
          </a:p>
        </p:txBody>
      </p:sp>
      <p:sp>
        <p:nvSpPr>
          <p:cNvPr id="26" name="Shape 23"/>
          <p:cNvSpPr/>
          <p:nvPr/>
        </p:nvSpPr>
        <p:spPr>
          <a:xfrm>
            <a:off x="4526280" y="4023360"/>
            <a:ext cx="457200" cy="457200"/>
          </a:xfrm>
          <a:prstGeom prst="ellipse">
            <a:avLst/>
          </a:prstGeom>
          <a:solidFill>
            <a:srgbClr val="FFFFFF">
              <a:alpha val="12000"/>
            </a:srgbClr>
          </a:solidFill>
          <a:ln w="19050">
            <a:solidFill>
              <a:srgbClr val="1D5B8F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4526280" y="40233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D5B8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</a:t>
            </a:r>
            <a:endParaRPr lang="en-US" sz="1600" dirty="0"/>
          </a:p>
        </p:txBody>
      </p:sp>
      <p:sp>
        <p:nvSpPr>
          <p:cNvPr id="28" name="Text 25"/>
          <p:cNvSpPr/>
          <p:nvPr/>
        </p:nvSpPr>
        <p:spPr>
          <a:xfrm>
            <a:off x="5166360" y="4005072"/>
            <a:ext cx="6492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Confirm decision boundaries and next steps</a:t>
            </a:r>
            <a:endParaRPr lang="en-US" sz="1600" dirty="0"/>
          </a:p>
        </p:txBody>
      </p:sp>
      <p:sp>
        <p:nvSpPr>
          <p:cNvPr id="29" name="Text 26"/>
          <p:cNvSpPr/>
          <p:nvPr/>
        </p:nvSpPr>
        <p:spPr>
          <a:xfrm>
            <a:off x="5166360" y="4370832"/>
            <a:ext cx="6492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AEB2D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List the items requiring human confirmation, owners and …</a:t>
            </a:r>
            <a:endParaRPr lang="en-US" sz="1300" dirty="0"/>
          </a:p>
        </p:txBody>
      </p:sp>
      <p:sp>
        <p:nvSpPr>
          <p:cNvPr id="30" name="Shape 27"/>
          <p:cNvSpPr/>
          <p:nvPr/>
        </p:nvSpPr>
        <p:spPr>
          <a:xfrm>
            <a:off x="4526280" y="5440680"/>
            <a:ext cx="7132320" cy="777240"/>
          </a:xfrm>
          <a:prstGeom prst="rect">
            <a:avLst/>
          </a:prstGeom>
          <a:solidFill>
            <a:srgbClr val="FFFFFF">
              <a:alpha val="10000"/>
            </a:srgbClr>
          </a:solidFill>
          <a:ln w="12700">
            <a:solidFill>
              <a:srgbClr val="1D5B8F">
                <a:alpha val="65000"/>
              </a:srgbClr>
            </a:solidFill>
            <a:prstDash val="solid"/>
          </a:ln>
        </p:spPr>
      </p:sp>
      <p:sp>
        <p:nvSpPr>
          <p:cNvPr id="31" name="Shape 28"/>
          <p:cNvSpPr/>
          <p:nvPr/>
        </p:nvSpPr>
        <p:spPr>
          <a:xfrm>
            <a:off x="4526280" y="5440680"/>
            <a:ext cx="73152" cy="777240"/>
          </a:xfrm>
          <a:prstGeom prst="rect">
            <a:avLst/>
          </a:prstGeom>
          <a:solidFill>
            <a:srgbClr val="1D5B8F"/>
          </a:solidFill>
          <a:ln/>
        </p:spPr>
      </p:sp>
      <p:pic>
        <p:nvPicPr>
          <p:cNvPr id="3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82312" y="5687568"/>
            <a:ext cx="292608" cy="292608"/>
          </a:xfrm>
          <a:prstGeom prst="rect">
            <a:avLst/>
          </a:prstGeom>
        </p:spPr>
      </p:pic>
      <p:sp>
        <p:nvSpPr>
          <p:cNvPr id="33" name="Text 29"/>
          <p:cNvSpPr/>
          <p:nvPr/>
        </p:nvSpPr>
        <p:spPr>
          <a:xfrm>
            <a:off x="5239512" y="5440680"/>
            <a:ext cx="63093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What to watch　</a:t>
            </a:r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C7CAE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For external sending, refunds, schedules or triggers, ch…</a:t>
            </a:r>
            <a:endParaRPr lang="en-US" sz="1250" dirty="0"/>
          </a:p>
        </p:txBody>
      </p:sp>
      <p:sp>
        <p:nvSpPr>
          <p:cNvPr id="34" name="Text 30"/>
          <p:cNvSpPr/>
          <p:nvPr/>
        </p:nvSpPr>
        <p:spPr>
          <a:xfrm>
            <a:off x="64008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A8FB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Microsoft 365 Copilot Cowork</a:t>
            </a:r>
            <a:endParaRPr lang="en-US" sz="900" dirty="0"/>
          </a:p>
        </p:txBody>
      </p:sp>
      <p:sp>
        <p:nvSpPr>
          <p:cNvPr id="35" name="Text 31"/>
          <p:cNvSpPr/>
          <p:nvPr/>
        </p:nvSpPr>
        <p:spPr>
          <a:xfrm>
            <a:off x="11002975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8FB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16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7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66928"/>
            <a:ext cx="384048" cy="128016"/>
          </a:xfrm>
          <a:prstGeom prst="rect">
            <a:avLst/>
          </a:prstGeom>
          <a:solidFill>
            <a:srgbClr val="1D5B8F"/>
          </a:solidFill>
          <a:ln/>
        </p:spPr>
      </p:sp>
      <p:sp>
        <p:nvSpPr>
          <p:cNvPr id="3" name="Text 1"/>
          <p:cNvSpPr/>
          <p:nvPr/>
        </p:nvSpPr>
        <p:spPr>
          <a:xfrm>
            <a:off x="1143000" y="457200"/>
            <a:ext cx="82296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D5B8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Scenario 05 · Live demo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786384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23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What Cowork does, and what it produces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1377544" y="1773936"/>
            <a:ext cx="4544568" cy="3014011"/>
          </a:xfrm>
          <a:prstGeom prst="rect">
            <a:avLst/>
          </a:prstGeom>
          <a:solidFill>
            <a:srgbClr val="FFFFFF"/>
          </a:solidFill>
          <a:ln w="12700">
            <a:solidFill>
              <a:srgbClr val="E4E7F2"/>
            </a:solidFill>
            <a:prstDash val="solid"/>
          </a:ln>
          <a:effectLst>
            <a:outerShdw sx="100000" sy="100000" kx="0" ky="0" algn="bl" rotWithShape="0" blurRad="114300" dist="38100" dir="5400000">
              <a:srgbClr val="8A90B5">
                <a:alpha val="22000"/>
              </a:srgbClr>
            </a:outerShdw>
          </a:effectLst>
        </p:spPr>
      </p:sp>
      <p:pic>
        <p:nvPicPr>
          <p:cNvPr id="6" name="Image 0" descr="C:\temp\CoworkLab\v3\_working\screenshots\ret5_01_matrix_e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32408" y="1828800"/>
            <a:ext cx="4434840" cy="2904283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432408" y="4824523"/>
            <a:ext cx="44348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D5B8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① Your input and prompt</a:t>
            </a:r>
            <a:endParaRPr lang="en-US" sz="1350" dirty="0"/>
          </a:p>
        </p:txBody>
      </p:sp>
      <p:sp>
        <p:nvSpPr>
          <p:cNvPr id="8" name="Shape 5"/>
          <p:cNvSpPr/>
          <p:nvPr/>
        </p:nvSpPr>
        <p:spPr>
          <a:xfrm>
            <a:off x="6269584" y="1773936"/>
            <a:ext cx="4544568" cy="3014011"/>
          </a:xfrm>
          <a:prstGeom prst="rect">
            <a:avLst/>
          </a:prstGeom>
          <a:solidFill>
            <a:srgbClr val="FFFFFF"/>
          </a:solidFill>
          <a:ln w="12700">
            <a:solidFill>
              <a:srgbClr val="E4E7F2"/>
            </a:solidFill>
            <a:prstDash val="solid"/>
          </a:ln>
          <a:effectLst>
            <a:outerShdw sx="100000" sy="100000" kx="0" ky="0" algn="bl" rotWithShape="0" blurRad="114300" dist="38100" dir="5400000">
              <a:srgbClr val="8A90B5">
                <a:alpha val="22000"/>
              </a:srgbClr>
            </a:outerShdw>
          </a:effectLst>
        </p:spPr>
      </p:sp>
      <p:pic>
        <p:nvPicPr>
          <p:cNvPr id="9" name="Image 1" descr="C:\temp\CoworkLab\v3\_working\screenshots\ret5_02_decision_en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24448" y="1828800"/>
            <a:ext cx="4434840" cy="2904283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6324448" y="4824523"/>
            <a:ext cx="44348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D5B8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② The result</a:t>
            </a:r>
            <a:endParaRPr lang="en-US" sz="1350" dirty="0"/>
          </a:p>
        </p:txBody>
      </p:sp>
      <p:sp>
        <p:nvSpPr>
          <p:cNvPr id="11" name="Shape 7"/>
          <p:cNvSpPr/>
          <p:nvPr/>
        </p:nvSpPr>
        <p:spPr>
          <a:xfrm>
            <a:off x="640080" y="5226859"/>
            <a:ext cx="10911535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7F2"/>
            </a:solidFill>
            <a:prstDash val="solid"/>
          </a:ln>
        </p:spPr>
      </p:sp>
      <p:sp>
        <p:nvSpPr>
          <p:cNvPr id="12" name="Shape 8"/>
          <p:cNvSpPr/>
          <p:nvPr/>
        </p:nvSpPr>
        <p:spPr>
          <a:xfrm>
            <a:off x="640080" y="5226859"/>
            <a:ext cx="91440" cy="1143000"/>
          </a:xfrm>
          <a:prstGeom prst="rect">
            <a:avLst/>
          </a:prstGeom>
          <a:solidFill>
            <a:srgbClr val="1D5B8F"/>
          </a:solidFill>
          <a:ln/>
        </p:spPr>
      </p:sp>
      <p:sp>
        <p:nvSpPr>
          <p:cNvPr id="13" name="Text 9"/>
          <p:cNvSpPr/>
          <p:nvPr/>
        </p:nvSpPr>
        <p:spPr>
          <a:xfrm>
            <a:off x="914400" y="5336587"/>
            <a:ext cx="1783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23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Check the output</a:t>
            </a:r>
            <a:endParaRPr lang="en-US" sz="1400" dirty="0"/>
          </a:p>
        </p:txBody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80360" y="5373163"/>
            <a:ext cx="182880" cy="182880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3154680" y="5318299"/>
            <a:ext cx="8122615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23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An unavailable date cannot be rescued by an average score</a:t>
            </a:r>
            <a:endParaRPr lang="en-US" sz="1300" dirty="0"/>
          </a:p>
        </p:txBody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80360" y="5711491"/>
            <a:ext cx="182880" cy="182880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3154680" y="5656627"/>
            <a:ext cx="8122615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23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State data limitations and assumptions clearly</a:t>
            </a:r>
            <a:endParaRPr lang="en-US" sz="1300" dirty="0"/>
          </a:p>
        </p:txBody>
      </p:sp>
      <p:pic>
        <p:nvPicPr>
          <p:cNvPr id="1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880360" y="6049819"/>
            <a:ext cx="182880" cy="182880"/>
          </a:xfrm>
          <a:prstGeom prst="rect">
            <a:avLst/>
          </a:prstGeom>
        </p:spPr>
      </p:pic>
      <p:sp>
        <p:nvSpPr>
          <p:cNvPr id="19" name="Text 12"/>
          <p:cNvSpPr/>
          <p:nvPr/>
        </p:nvSpPr>
        <p:spPr>
          <a:xfrm>
            <a:off x="3154680" y="5994955"/>
            <a:ext cx="8122615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23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Do not automate high-risk actions</a:t>
            </a:r>
            <a:endParaRPr lang="en-US" sz="1300" dirty="0"/>
          </a:p>
        </p:txBody>
      </p:sp>
      <p:sp>
        <p:nvSpPr>
          <p:cNvPr id="20" name="Text 13"/>
          <p:cNvSpPr/>
          <p:nvPr/>
        </p:nvSpPr>
        <p:spPr>
          <a:xfrm>
            <a:off x="64008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07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Microsoft 365 Copilot Cowork</a:t>
            </a:r>
            <a:endParaRPr lang="en-US" sz="900" dirty="0"/>
          </a:p>
        </p:txBody>
      </p:sp>
      <p:sp>
        <p:nvSpPr>
          <p:cNvPr id="21" name="Text 14"/>
          <p:cNvSpPr/>
          <p:nvPr/>
        </p:nvSpPr>
        <p:spPr>
          <a:xfrm>
            <a:off x="11002975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07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17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0F103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023360" cy="6858000"/>
          </a:xfrm>
          <a:prstGeom prst="rect">
            <a:avLst/>
          </a:prstGeom>
          <a:solidFill>
            <a:srgbClr val="1C1E4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375A3D"/>
          </a:solidFill>
          <a:ln/>
        </p:spPr>
      </p:sp>
      <p:sp>
        <p:nvSpPr>
          <p:cNvPr id="4" name="Text 2"/>
          <p:cNvSpPr/>
          <p:nvPr/>
        </p:nvSpPr>
        <p:spPr>
          <a:xfrm>
            <a:off x="502920" y="64008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375A3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Scenario 06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02920" y="1143000"/>
            <a:ext cx="1097280" cy="1097280"/>
          </a:xfrm>
          <a:prstGeom prst="ellipse">
            <a:avLst/>
          </a:prstGeom>
          <a:solidFill>
            <a:srgbClr val="375A3D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4672" y="1444752"/>
            <a:ext cx="493776" cy="49377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02920" y="237744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B9BCE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Retail Channels · Operations Decisions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502920" y="2697480"/>
            <a:ext cx="3291840" cy="1325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Supplier renewal: the lowest quoted price is not always the lowest net cost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502920" y="4114800"/>
            <a:ext cx="3291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FA3C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⏱ ~15 min · Level ★★★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502920" y="4572000"/>
            <a:ext cx="3127248" cy="402336"/>
          </a:xfrm>
          <a:prstGeom prst="roundRect">
            <a:avLst>
              <a:gd name="adj" fmla="val 50000"/>
            </a:avLst>
          </a:prstGeom>
          <a:solidFill>
            <a:srgbClr val="6366F1"/>
          </a:solidFill>
          <a:ln/>
        </p:spPr>
      </p:sp>
      <p:sp>
        <p:nvSpPr>
          <p:cNvPr id="11" name="Text 8"/>
          <p:cNvSpPr/>
          <p:nvPr/>
        </p:nvSpPr>
        <p:spPr>
          <a:xfrm>
            <a:off x="502920" y="4572000"/>
            <a:ext cx="3127248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OneDrive / Enterprise Search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502920" y="5074920"/>
            <a:ext cx="813816" cy="402336"/>
          </a:xfrm>
          <a:prstGeom prst="roundRect">
            <a:avLst>
              <a:gd name="adj" fmla="val 50000"/>
            </a:avLst>
          </a:prstGeom>
          <a:solidFill>
            <a:srgbClr val="217346"/>
          </a:solidFill>
          <a:ln/>
        </p:spPr>
      </p:sp>
      <p:sp>
        <p:nvSpPr>
          <p:cNvPr id="13" name="Text 10"/>
          <p:cNvSpPr/>
          <p:nvPr/>
        </p:nvSpPr>
        <p:spPr>
          <a:xfrm>
            <a:off x="502920" y="5074920"/>
            <a:ext cx="81381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Excel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1499616" y="5074920"/>
            <a:ext cx="713232" cy="402336"/>
          </a:xfrm>
          <a:prstGeom prst="roundRect">
            <a:avLst>
              <a:gd name="adj" fmla="val 50000"/>
            </a:avLst>
          </a:prstGeom>
          <a:solidFill>
            <a:srgbClr val="2B579A"/>
          </a:solidFill>
          <a:ln/>
        </p:spPr>
      </p:sp>
      <p:sp>
        <p:nvSpPr>
          <p:cNvPr id="15" name="Text 12"/>
          <p:cNvSpPr/>
          <p:nvPr/>
        </p:nvSpPr>
        <p:spPr>
          <a:xfrm>
            <a:off x="1499616" y="5074920"/>
            <a:ext cx="71323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Word</a:t>
            </a:r>
            <a:endParaRPr lang="en-US" sz="1200" dirty="0"/>
          </a:p>
        </p:txBody>
      </p:sp>
      <p:sp>
        <p:nvSpPr>
          <p:cNvPr id="16" name="Shape 13"/>
          <p:cNvSpPr/>
          <p:nvPr/>
        </p:nvSpPr>
        <p:spPr>
          <a:xfrm>
            <a:off x="502920" y="5577840"/>
            <a:ext cx="2523744" cy="402336"/>
          </a:xfrm>
          <a:prstGeom prst="roundRect">
            <a:avLst>
              <a:gd name="adj" fmla="val 50000"/>
            </a:avLst>
          </a:prstGeom>
          <a:solidFill>
            <a:srgbClr val="6366F1"/>
          </a:solidFill>
          <a:ln/>
        </p:spPr>
      </p:sp>
      <p:sp>
        <p:nvSpPr>
          <p:cNvPr id="17" name="Text 14"/>
          <p:cNvSpPr/>
          <p:nvPr/>
        </p:nvSpPr>
        <p:spPr>
          <a:xfrm>
            <a:off x="502920" y="5577840"/>
            <a:ext cx="2523744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Approvals &amp; governance</a:t>
            </a:r>
            <a:endParaRPr lang="en-US" sz="1200" dirty="0"/>
          </a:p>
        </p:txBody>
      </p:sp>
      <p:sp>
        <p:nvSpPr>
          <p:cNvPr id="18" name="Text 15"/>
          <p:cNvSpPr/>
          <p:nvPr/>
        </p:nvSpPr>
        <p:spPr>
          <a:xfrm>
            <a:off x="4526280" y="566928"/>
            <a:ext cx="713232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D7D9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Two suppliers differ in list price, rebate threshold, freight and forecast quantity. Calculate net cost, then write the renewal brief with its conditions.</a:t>
            </a:r>
            <a:endParaRPr lang="en-US" sz="1500" dirty="0"/>
          </a:p>
        </p:txBody>
      </p:sp>
      <p:sp>
        <p:nvSpPr>
          <p:cNvPr id="19" name="Text 16"/>
          <p:cNvSpPr/>
          <p:nvPr/>
        </p:nvSpPr>
        <p:spPr>
          <a:xfrm>
            <a:off x="4526280" y="1517904"/>
            <a:ext cx="7132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75A3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Agentic workflow</a:t>
            </a:r>
            <a:endParaRPr lang="en-US" sz="1500" dirty="0"/>
          </a:p>
        </p:txBody>
      </p:sp>
      <p:sp>
        <p:nvSpPr>
          <p:cNvPr id="20" name="Shape 17"/>
          <p:cNvSpPr/>
          <p:nvPr/>
        </p:nvSpPr>
        <p:spPr>
          <a:xfrm>
            <a:off x="4526280" y="1975104"/>
            <a:ext cx="457200" cy="457200"/>
          </a:xfrm>
          <a:prstGeom prst="ellipse">
            <a:avLst/>
          </a:prstGeom>
          <a:solidFill>
            <a:srgbClr val="FFFFFF">
              <a:alpha val="12000"/>
            </a:srgbClr>
          </a:solidFill>
          <a:ln w="19050">
            <a:solidFill>
              <a:srgbClr val="375A3D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4526280" y="1975104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375A3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</a:t>
            </a:r>
            <a:endParaRPr lang="en-US" sz="1600" dirty="0"/>
          </a:p>
        </p:txBody>
      </p:sp>
      <p:sp>
        <p:nvSpPr>
          <p:cNvPr id="22" name="Text 19"/>
          <p:cNvSpPr/>
          <p:nvPr/>
        </p:nvSpPr>
        <p:spPr>
          <a:xfrm>
            <a:off x="5166360" y="1956816"/>
            <a:ext cx="6492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Calculate comparable net cost</a:t>
            </a:r>
            <a:endParaRPr lang="en-US" sz="1600" dirty="0"/>
          </a:p>
        </p:txBody>
      </p:sp>
      <p:sp>
        <p:nvSpPr>
          <p:cNvPr id="23" name="Text 20"/>
          <p:cNvSpPr/>
          <p:nvPr/>
        </p:nvSpPr>
        <p:spPr>
          <a:xfrm>
            <a:off x="5166360" y="2322576"/>
            <a:ext cx="6492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AEB2D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Read RET6, determine whether the rebate applies at the a…</a:t>
            </a:r>
            <a:endParaRPr lang="en-US" sz="1300" dirty="0"/>
          </a:p>
        </p:txBody>
      </p:sp>
      <p:sp>
        <p:nvSpPr>
          <p:cNvPr id="24" name="Shape 21"/>
          <p:cNvSpPr/>
          <p:nvPr/>
        </p:nvSpPr>
        <p:spPr>
          <a:xfrm>
            <a:off x="4526280" y="2999232"/>
            <a:ext cx="457200" cy="457200"/>
          </a:xfrm>
          <a:prstGeom prst="ellipse">
            <a:avLst/>
          </a:prstGeom>
          <a:solidFill>
            <a:srgbClr val="FFFFFF">
              <a:alpha val="12000"/>
            </a:srgbClr>
          </a:solidFill>
          <a:ln w="19050">
            <a:solidFill>
              <a:srgbClr val="375A3D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4526280" y="299923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375A3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</a:t>
            </a:r>
            <a:endParaRPr lang="en-US" sz="1600" dirty="0"/>
          </a:p>
        </p:txBody>
      </p:sp>
      <p:sp>
        <p:nvSpPr>
          <p:cNvPr id="26" name="Text 23"/>
          <p:cNvSpPr/>
          <p:nvPr/>
        </p:nvSpPr>
        <p:spPr>
          <a:xfrm>
            <a:off x="5166360" y="2980944"/>
            <a:ext cx="6492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Write the renewal recommendation</a:t>
            </a:r>
            <a:endParaRPr lang="en-US" sz="1600" dirty="0"/>
          </a:p>
        </p:txBody>
      </p:sp>
      <p:sp>
        <p:nvSpPr>
          <p:cNvPr id="27" name="Text 24"/>
          <p:cNvSpPr/>
          <p:nvPr/>
        </p:nvSpPr>
        <p:spPr>
          <a:xfrm>
            <a:off x="5166360" y="3346704"/>
            <a:ext cx="6492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AEB2D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Show the formula, sensitive assumptions and recommended …</a:t>
            </a:r>
            <a:endParaRPr lang="en-US" sz="1300" dirty="0"/>
          </a:p>
        </p:txBody>
      </p:sp>
      <p:sp>
        <p:nvSpPr>
          <p:cNvPr id="28" name="Shape 25"/>
          <p:cNvSpPr/>
          <p:nvPr/>
        </p:nvSpPr>
        <p:spPr>
          <a:xfrm>
            <a:off x="4526280" y="4023360"/>
            <a:ext cx="457200" cy="457200"/>
          </a:xfrm>
          <a:prstGeom prst="ellipse">
            <a:avLst/>
          </a:prstGeom>
          <a:solidFill>
            <a:srgbClr val="FFFFFF">
              <a:alpha val="12000"/>
            </a:srgbClr>
          </a:solidFill>
          <a:ln w="19050">
            <a:solidFill>
              <a:srgbClr val="375A3D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4526280" y="40233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375A3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</a:t>
            </a:r>
            <a:endParaRPr lang="en-US" sz="1600" dirty="0"/>
          </a:p>
        </p:txBody>
      </p:sp>
      <p:sp>
        <p:nvSpPr>
          <p:cNvPr id="30" name="Text 27"/>
          <p:cNvSpPr/>
          <p:nvPr/>
        </p:nvSpPr>
        <p:spPr>
          <a:xfrm>
            <a:off x="5166360" y="4005072"/>
            <a:ext cx="6492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Confirm decision boundaries and next steps</a:t>
            </a:r>
            <a:endParaRPr lang="en-US" sz="1600" dirty="0"/>
          </a:p>
        </p:txBody>
      </p:sp>
      <p:sp>
        <p:nvSpPr>
          <p:cNvPr id="31" name="Text 28"/>
          <p:cNvSpPr/>
          <p:nvPr/>
        </p:nvSpPr>
        <p:spPr>
          <a:xfrm>
            <a:off x="5166360" y="4370832"/>
            <a:ext cx="6492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AEB2D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List the items requiring human confirmation, owners and …</a:t>
            </a:r>
            <a:endParaRPr lang="en-US" sz="1300" dirty="0"/>
          </a:p>
        </p:txBody>
      </p:sp>
      <p:sp>
        <p:nvSpPr>
          <p:cNvPr id="32" name="Shape 29"/>
          <p:cNvSpPr/>
          <p:nvPr/>
        </p:nvSpPr>
        <p:spPr>
          <a:xfrm>
            <a:off x="4526280" y="5440680"/>
            <a:ext cx="7132320" cy="777240"/>
          </a:xfrm>
          <a:prstGeom prst="rect">
            <a:avLst/>
          </a:prstGeom>
          <a:solidFill>
            <a:srgbClr val="FFFFFF">
              <a:alpha val="10000"/>
            </a:srgbClr>
          </a:solidFill>
          <a:ln w="12700">
            <a:solidFill>
              <a:srgbClr val="375A3D">
                <a:alpha val="65000"/>
              </a:srgbClr>
            </a:solidFill>
            <a:prstDash val="solid"/>
          </a:ln>
        </p:spPr>
      </p:sp>
      <p:sp>
        <p:nvSpPr>
          <p:cNvPr id="33" name="Shape 30"/>
          <p:cNvSpPr/>
          <p:nvPr/>
        </p:nvSpPr>
        <p:spPr>
          <a:xfrm>
            <a:off x="4526280" y="5440680"/>
            <a:ext cx="73152" cy="777240"/>
          </a:xfrm>
          <a:prstGeom prst="rect">
            <a:avLst/>
          </a:prstGeom>
          <a:solidFill>
            <a:srgbClr val="375A3D"/>
          </a:solidFill>
          <a:ln/>
        </p:spPr>
      </p:sp>
      <p:pic>
        <p:nvPicPr>
          <p:cNvPr id="3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82312" y="5687568"/>
            <a:ext cx="292608" cy="292608"/>
          </a:xfrm>
          <a:prstGeom prst="rect">
            <a:avLst/>
          </a:prstGeom>
        </p:spPr>
      </p:pic>
      <p:sp>
        <p:nvSpPr>
          <p:cNvPr id="35" name="Text 31"/>
          <p:cNvSpPr/>
          <p:nvPr/>
        </p:nvSpPr>
        <p:spPr>
          <a:xfrm>
            <a:off x="5239512" y="5440680"/>
            <a:ext cx="63093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What to watch　</a:t>
            </a:r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C7CAE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For external sending, refunds, schedules or triggers, ch…</a:t>
            </a:r>
            <a:endParaRPr lang="en-US" sz="1250" dirty="0"/>
          </a:p>
        </p:txBody>
      </p:sp>
      <p:sp>
        <p:nvSpPr>
          <p:cNvPr id="36" name="Text 32"/>
          <p:cNvSpPr/>
          <p:nvPr/>
        </p:nvSpPr>
        <p:spPr>
          <a:xfrm>
            <a:off x="64008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A8FB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Microsoft 365 Copilot Cowork</a:t>
            </a:r>
            <a:endParaRPr lang="en-US" sz="900" dirty="0"/>
          </a:p>
        </p:txBody>
      </p:sp>
      <p:sp>
        <p:nvSpPr>
          <p:cNvPr id="37" name="Text 33"/>
          <p:cNvSpPr/>
          <p:nvPr/>
        </p:nvSpPr>
        <p:spPr>
          <a:xfrm>
            <a:off x="11002975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8FB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18</a:t>
            </a:r>
            <a:endParaRPr lang="en-US" sz="9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7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66928"/>
            <a:ext cx="384048" cy="128016"/>
          </a:xfrm>
          <a:prstGeom prst="rect">
            <a:avLst/>
          </a:prstGeom>
          <a:solidFill>
            <a:srgbClr val="375A3D"/>
          </a:solidFill>
          <a:ln/>
        </p:spPr>
      </p:sp>
      <p:sp>
        <p:nvSpPr>
          <p:cNvPr id="3" name="Text 1"/>
          <p:cNvSpPr/>
          <p:nvPr/>
        </p:nvSpPr>
        <p:spPr>
          <a:xfrm>
            <a:off x="1143000" y="457200"/>
            <a:ext cx="82296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375A3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Scenario 06 · Live demo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786384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23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What Cowork does, and what it produces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1377544" y="1773936"/>
            <a:ext cx="4544568" cy="3014011"/>
          </a:xfrm>
          <a:prstGeom prst="rect">
            <a:avLst/>
          </a:prstGeom>
          <a:solidFill>
            <a:srgbClr val="FFFFFF"/>
          </a:solidFill>
          <a:ln w="12700">
            <a:solidFill>
              <a:srgbClr val="E4E7F2"/>
            </a:solidFill>
            <a:prstDash val="solid"/>
          </a:ln>
          <a:effectLst>
            <a:outerShdw sx="100000" sy="100000" kx="0" ky="0" algn="bl" rotWithShape="0" blurRad="114300" dist="38100" dir="5400000">
              <a:srgbClr val="8A90B5">
                <a:alpha val="22000"/>
              </a:srgbClr>
            </a:outerShdw>
          </a:effectLst>
        </p:spPr>
      </p:sp>
      <p:pic>
        <p:nvPicPr>
          <p:cNvPr id="6" name="Image 0" descr="C:\temp\CoworkLab\v3\_working\screenshots\ret6_01_cost_e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32408" y="1828800"/>
            <a:ext cx="4434840" cy="2904283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432408" y="4824523"/>
            <a:ext cx="44348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375A3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① Your input and prompt</a:t>
            </a:r>
            <a:endParaRPr lang="en-US" sz="1350" dirty="0"/>
          </a:p>
        </p:txBody>
      </p:sp>
      <p:sp>
        <p:nvSpPr>
          <p:cNvPr id="8" name="Shape 5"/>
          <p:cNvSpPr/>
          <p:nvPr/>
        </p:nvSpPr>
        <p:spPr>
          <a:xfrm>
            <a:off x="6269584" y="1773936"/>
            <a:ext cx="4544568" cy="3014011"/>
          </a:xfrm>
          <a:prstGeom prst="rect">
            <a:avLst/>
          </a:prstGeom>
          <a:solidFill>
            <a:srgbClr val="FFFFFF"/>
          </a:solidFill>
          <a:ln w="12700">
            <a:solidFill>
              <a:srgbClr val="E4E7F2"/>
            </a:solidFill>
            <a:prstDash val="solid"/>
          </a:ln>
          <a:effectLst>
            <a:outerShdw sx="100000" sy="100000" kx="0" ky="0" algn="bl" rotWithShape="0" blurRad="114300" dist="38100" dir="5400000">
              <a:srgbClr val="8A90B5">
                <a:alpha val="22000"/>
              </a:srgbClr>
            </a:outerShdw>
          </a:effectLst>
        </p:spPr>
      </p:sp>
      <p:pic>
        <p:nvPicPr>
          <p:cNvPr id="9" name="Image 1" descr="C:\temp\CoworkLab\v3\_working\screenshots\ret6_02_renewal_en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24448" y="1828800"/>
            <a:ext cx="4434840" cy="2904283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6324448" y="4824523"/>
            <a:ext cx="44348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375A3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② The result</a:t>
            </a:r>
            <a:endParaRPr lang="en-US" sz="1350" dirty="0"/>
          </a:p>
        </p:txBody>
      </p:sp>
      <p:sp>
        <p:nvSpPr>
          <p:cNvPr id="11" name="Shape 7"/>
          <p:cNvSpPr/>
          <p:nvPr/>
        </p:nvSpPr>
        <p:spPr>
          <a:xfrm>
            <a:off x="640080" y="5226859"/>
            <a:ext cx="10911535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7F2"/>
            </a:solidFill>
            <a:prstDash val="solid"/>
          </a:ln>
        </p:spPr>
      </p:sp>
      <p:sp>
        <p:nvSpPr>
          <p:cNvPr id="12" name="Shape 8"/>
          <p:cNvSpPr/>
          <p:nvPr/>
        </p:nvSpPr>
        <p:spPr>
          <a:xfrm>
            <a:off x="640080" y="5226859"/>
            <a:ext cx="91440" cy="1143000"/>
          </a:xfrm>
          <a:prstGeom prst="rect">
            <a:avLst/>
          </a:prstGeom>
          <a:solidFill>
            <a:srgbClr val="375A3D"/>
          </a:solidFill>
          <a:ln/>
        </p:spPr>
      </p:sp>
      <p:sp>
        <p:nvSpPr>
          <p:cNvPr id="13" name="Text 9"/>
          <p:cNvSpPr/>
          <p:nvPr/>
        </p:nvSpPr>
        <p:spPr>
          <a:xfrm>
            <a:off x="914400" y="5336587"/>
            <a:ext cx="1783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23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Check the output</a:t>
            </a:r>
            <a:endParaRPr lang="en-US" sz="1400" dirty="0"/>
          </a:p>
        </p:txBody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80360" y="5373163"/>
            <a:ext cx="182880" cy="182880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3154680" y="5318299"/>
            <a:ext cx="8122615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23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Count a rebate only when the threshold is met</a:t>
            </a:r>
            <a:endParaRPr lang="en-US" sz="1300" dirty="0"/>
          </a:p>
        </p:txBody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80360" y="5711491"/>
            <a:ext cx="182880" cy="182880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3154680" y="5656627"/>
            <a:ext cx="8122615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23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State data limitations and assumptions clearly</a:t>
            </a:r>
            <a:endParaRPr lang="en-US" sz="1300" dirty="0"/>
          </a:p>
        </p:txBody>
      </p:sp>
      <p:pic>
        <p:nvPicPr>
          <p:cNvPr id="1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880360" y="6049819"/>
            <a:ext cx="182880" cy="182880"/>
          </a:xfrm>
          <a:prstGeom prst="rect">
            <a:avLst/>
          </a:prstGeom>
        </p:spPr>
      </p:pic>
      <p:sp>
        <p:nvSpPr>
          <p:cNvPr id="19" name="Text 12"/>
          <p:cNvSpPr/>
          <p:nvPr/>
        </p:nvSpPr>
        <p:spPr>
          <a:xfrm>
            <a:off x="3154680" y="5994955"/>
            <a:ext cx="8122615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23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Do not automate high-risk actions</a:t>
            </a:r>
            <a:endParaRPr lang="en-US" sz="1300" dirty="0"/>
          </a:p>
        </p:txBody>
      </p:sp>
      <p:sp>
        <p:nvSpPr>
          <p:cNvPr id="20" name="Text 13"/>
          <p:cNvSpPr/>
          <p:nvPr/>
        </p:nvSpPr>
        <p:spPr>
          <a:xfrm>
            <a:off x="64008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07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Microsoft 365 Copilot Cowork</a:t>
            </a:r>
            <a:endParaRPr lang="en-US" sz="900" dirty="0"/>
          </a:p>
        </p:txBody>
      </p:sp>
      <p:sp>
        <p:nvSpPr>
          <p:cNvPr id="21" name="Text 14"/>
          <p:cNvSpPr/>
          <p:nvPr/>
        </p:nvSpPr>
        <p:spPr>
          <a:xfrm>
            <a:off x="11002975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07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19</a:t>
            </a:r>
            <a:endParaRPr lang="en-US" sz="9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0F103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023360" cy="6858000"/>
          </a:xfrm>
          <a:prstGeom prst="rect">
            <a:avLst/>
          </a:prstGeom>
          <a:solidFill>
            <a:srgbClr val="1C1E4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6B4B2A"/>
          </a:solidFill>
          <a:ln/>
        </p:spPr>
      </p:sp>
      <p:sp>
        <p:nvSpPr>
          <p:cNvPr id="4" name="Text 2"/>
          <p:cNvSpPr/>
          <p:nvPr/>
        </p:nvSpPr>
        <p:spPr>
          <a:xfrm>
            <a:off x="502920" y="64008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6B4B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Scenario 07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02920" y="1143000"/>
            <a:ext cx="1097280" cy="1097280"/>
          </a:xfrm>
          <a:prstGeom prst="ellipse">
            <a:avLst/>
          </a:prstGeom>
          <a:solidFill>
            <a:srgbClr val="6B4B2A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4672" y="1444752"/>
            <a:ext cx="493776" cy="49377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02920" y="237744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B9BCE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Retail Channels · Operations Decisions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502920" y="2697480"/>
            <a:ext cx="3291840" cy="1325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Weekly operations: higher same-store sales do not mean healthy margin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502920" y="4114800"/>
            <a:ext cx="3291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FA3C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⏱ ~15 min · Level ★★★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502920" y="4572000"/>
            <a:ext cx="3127248" cy="402336"/>
          </a:xfrm>
          <a:prstGeom prst="roundRect">
            <a:avLst>
              <a:gd name="adj" fmla="val 50000"/>
            </a:avLst>
          </a:prstGeom>
          <a:solidFill>
            <a:srgbClr val="6366F1"/>
          </a:solidFill>
          <a:ln/>
        </p:spPr>
      </p:sp>
      <p:sp>
        <p:nvSpPr>
          <p:cNvPr id="11" name="Text 8"/>
          <p:cNvSpPr/>
          <p:nvPr/>
        </p:nvSpPr>
        <p:spPr>
          <a:xfrm>
            <a:off x="502920" y="4572000"/>
            <a:ext cx="3127248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OneDrive / Enterprise Search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502920" y="5074920"/>
            <a:ext cx="813816" cy="402336"/>
          </a:xfrm>
          <a:prstGeom prst="roundRect">
            <a:avLst>
              <a:gd name="adj" fmla="val 50000"/>
            </a:avLst>
          </a:prstGeom>
          <a:solidFill>
            <a:srgbClr val="217346"/>
          </a:solidFill>
          <a:ln/>
        </p:spPr>
      </p:sp>
      <p:sp>
        <p:nvSpPr>
          <p:cNvPr id="13" name="Text 10"/>
          <p:cNvSpPr/>
          <p:nvPr/>
        </p:nvSpPr>
        <p:spPr>
          <a:xfrm>
            <a:off x="502920" y="5074920"/>
            <a:ext cx="81381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Excel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1499616" y="5074920"/>
            <a:ext cx="1316736" cy="402336"/>
          </a:xfrm>
          <a:prstGeom prst="roundRect">
            <a:avLst>
              <a:gd name="adj" fmla="val 50000"/>
            </a:avLst>
          </a:prstGeom>
          <a:solidFill>
            <a:srgbClr val="C43E1C"/>
          </a:solidFill>
          <a:ln/>
        </p:spPr>
      </p:sp>
      <p:sp>
        <p:nvSpPr>
          <p:cNvPr id="15" name="Text 12"/>
          <p:cNvSpPr/>
          <p:nvPr/>
        </p:nvSpPr>
        <p:spPr>
          <a:xfrm>
            <a:off x="1499616" y="5074920"/>
            <a:ext cx="13167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PowerPoint</a:t>
            </a:r>
            <a:endParaRPr lang="en-US" sz="1200" dirty="0"/>
          </a:p>
        </p:txBody>
      </p:sp>
      <p:sp>
        <p:nvSpPr>
          <p:cNvPr id="16" name="Shape 13"/>
          <p:cNvSpPr/>
          <p:nvPr/>
        </p:nvSpPr>
        <p:spPr>
          <a:xfrm>
            <a:off x="502920" y="5577840"/>
            <a:ext cx="1920240" cy="402336"/>
          </a:xfrm>
          <a:prstGeom prst="roundRect">
            <a:avLst>
              <a:gd name="adj" fmla="val 50000"/>
            </a:avLst>
          </a:prstGeom>
          <a:solidFill>
            <a:srgbClr val="6366F1"/>
          </a:solidFill>
          <a:ln/>
        </p:spPr>
      </p:sp>
      <p:sp>
        <p:nvSpPr>
          <p:cNvPr id="17" name="Text 14"/>
          <p:cNvSpPr/>
          <p:nvPr/>
        </p:nvSpPr>
        <p:spPr>
          <a:xfrm>
            <a:off x="502920" y="5577840"/>
            <a:ext cx="19202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Scheduled prompt</a:t>
            </a:r>
            <a:endParaRPr lang="en-US" sz="1200" dirty="0"/>
          </a:p>
        </p:txBody>
      </p:sp>
      <p:sp>
        <p:nvSpPr>
          <p:cNvPr id="18" name="Text 15"/>
          <p:cNvSpPr/>
          <p:nvPr/>
        </p:nvSpPr>
        <p:spPr>
          <a:xfrm>
            <a:off x="4526280" y="566928"/>
            <a:ext cx="713232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D7D9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Same-store sales are up, but margin is down and markdown mix is rising. The weekly brief must put the revenue and margin signals together.</a:t>
            </a:r>
            <a:endParaRPr lang="en-US" sz="1500" dirty="0"/>
          </a:p>
        </p:txBody>
      </p:sp>
      <p:sp>
        <p:nvSpPr>
          <p:cNvPr id="19" name="Text 16"/>
          <p:cNvSpPr/>
          <p:nvPr/>
        </p:nvSpPr>
        <p:spPr>
          <a:xfrm>
            <a:off x="4526280" y="1517904"/>
            <a:ext cx="7132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6B4B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Agentic workflow</a:t>
            </a:r>
            <a:endParaRPr lang="en-US" sz="1500" dirty="0"/>
          </a:p>
        </p:txBody>
      </p:sp>
      <p:sp>
        <p:nvSpPr>
          <p:cNvPr id="20" name="Shape 17"/>
          <p:cNvSpPr/>
          <p:nvPr/>
        </p:nvSpPr>
        <p:spPr>
          <a:xfrm>
            <a:off x="4526280" y="1975104"/>
            <a:ext cx="457200" cy="457200"/>
          </a:xfrm>
          <a:prstGeom prst="ellipse">
            <a:avLst/>
          </a:prstGeom>
          <a:solidFill>
            <a:srgbClr val="FFFFFF">
              <a:alpha val="12000"/>
            </a:srgbClr>
          </a:solidFill>
          <a:ln w="19050">
            <a:solidFill>
              <a:srgbClr val="6B4B2A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4526280" y="1975104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6B4B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</a:t>
            </a:r>
            <a:endParaRPr lang="en-US" sz="1600" dirty="0"/>
          </a:p>
        </p:txBody>
      </p:sp>
      <p:sp>
        <p:nvSpPr>
          <p:cNvPr id="22" name="Text 19"/>
          <p:cNvSpPr/>
          <p:nvPr/>
        </p:nvSpPr>
        <p:spPr>
          <a:xfrm>
            <a:off x="5166360" y="1956816"/>
            <a:ext cx="6492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Find the conflicting signals</a:t>
            </a:r>
            <a:endParaRPr lang="en-US" sz="1600" dirty="0"/>
          </a:p>
        </p:txBody>
      </p:sp>
      <p:sp>
        <p:nvSpPr>
          <p:cNvPr id="23" name="Text 20"/>
          <p:cNvSpPr/>
          <p:nvPr/>
        </p:nvSpPr>
        <p:spPr>
          <a:xfrm>
            <a:off x="5166360" y="2322576"/>
            <a:ext cx="6492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AEB2D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Read RET7, put the three KPIs in one table, and mark the…</a:t>
            </a:r>
            <a:endParaRPr lang="en-US" sz="1300" dirty="0"/>
          </a:p>
        </p:txBody>
      </p:sp>
      <p:sp>
        <p:nvSpPr>
          <p:cNvPr id="24" name="Shape 21"/>
          <p:cNvSpPr/>
          <p:nvPr/>
        </p:nvSpPr>
        <p:spPr>
          <a:xfrm>
            <a:off x="4526280" y="2999232"/>
            <a:ext cx="457200" cy="457200"/>
          </a:xfrm>
          <a:prstGeom prst="ellipse">
            <a:avLst/>
          </a:prstGeom>
          <a:solidFill>
            <a:srgbClr val="FFFFFF">
              <a:alpha val="12000"/>
            </a:srgbClr>
          </a:solidFill>
          <a:ln w="19050">
            <a:solidFill>
              <a:srgbClr val="6B4B2A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4526280" y="299923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6B4B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</a:t>
            </a:r>
            <a:endParaRPr lang="en-US" sz="1600" dirty="0"/>
          </a:p>
        </p:txBody>
      </p:sp>
      <p:sp>
        <p:nvSpPr>
          <p:cNvPr id="26" name="Text 23"/>
          <p:cNvSpPr/>
          <p:nvPr/>
        </p:nvSpPr>
        <p:spPr>
          <a:xfrm>
            <a:off x="5166360" y="2980944"/>
            <a:ext cx="6492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Write the weekly operations brief</a:t>
            </a:r>
            <a:endParaRPr lang="en-US" sz="1600" dirty="0"/>
          </a:p>
        </p:txBody>
      </p:sp>
      <p:sp>
        <p:nvSpPr>
          <p:cNvPr id="27" name="Text 24"/>
          <p:cNvSpPr/>
          <p:nvPr/>
        </p:nvSpPr>
        <p:spPr>
          <a:xfrm>
            <a:off x="5166360" y="3346704"/>
            <a:ext cx="6492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AEB2D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State the apparent good news first, then the margin risk…</a:t>
            </a:r>
            <a:endParaRPr lang="en-US" sz="1300" dirty="0"/>
          </a:p>
        </p:txBody>
      </p:sp>
      <p:sp>
        <p:nvSpPr>
          <p:cNvPr id="28" name="Shape 25"/>
          <p:cNvSpPr/>
          <p:nvPr/>
        </p:nvSpPr>
        <p:spPr>
          <a:xfrm>
            <a:off x="4526280" y="4023360"/>
            <a:ext cx="457200" cy="457200"/>
          </a:xfrm>
          <a:prstGeom prst="ellipse">
            <a:avLst/>
          </a:prstGeom>
          <a:solidFill>
            <a:srgbClr val="FFFFFF">
              <a:alpha val="12000"/>
            </a:srgbClr>
          </a:solidFill>
          <a:ln w="19050">
            <a:solidFill>
              <a:srgbClr val="6B4B2A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4526280" y="40233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6B4B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</a:t>
            </a:r>
            <a:endParaRPr lang="en-US" sz="1600" dirty="0"/>
          </a:p>
        </p:txBody>
      </p:sp>
      <p:sp>
        <p:nvSpPr>
          <p:cNvPr id="30" name="Text 27"/>
          <p:cNvSpPr/>
          <p:nvPr/>
        </p:nvSpPr>
        <p:spPr>
          <a:xfrm>
            <a:off x="5166360" y="4005072"/>
            <a:ext cx="6492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Confirm decision boundaries and next steps</a:t>
            </a:r>
            <a:endParaRPr lang="en-US" sz="1600" dirty="0"/>
          </a:p>
        </p:txBody>
      </p:sp>
      <p:sp>
        <p:nvSpPr>
          <p:cNvPr id="31" name="Text 28"/>
          <p:cNvSpPr/>
          <p:nvPr/>
        </p:nvSpPr>
        <p:spPr>
          <a:xfrm>
            <a:off x="5166360" y="4370832"/>
            <a:ext cx="6492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AEB2D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List the items requiring human confirmation, owners and …</a:t>
            </a:r>
            <a:endParaRPr lang="en-US" sz="1300" dirty="0"/>
          </a:p>
        </p:txBody>
      </p:sp>
      <p:sp>
        <p:nvSpPr>
          <p:cNvPr id="32" name="Shape 29"/>
          <p:cNvSpPr/>
          <p:nvPr/>
        </p:nvSpPr>
        <p:spPr>
          <a:xfrm>
            <a:off x="4526280" y="5440680"/>
            <a:ext cx="7132320" cy="777240"/>
          </a:xfrm>
          <a:prstGeom prst="rect">
            <a:avLst/>
          </a:prstGeom>
          <a:solidFill>
            <a:srgbClr val="FFFFFF">
              <a:alpha val="10000"/>
            </a:srgbClr>
          </a:solidFill>
          <a:ln w="12700">
            <a:solidFill>
              <a:srgbClr val="6B4B2A">
                <a:alpha val="65000"/>
              </a:srgbClr>
            </a:solidFill>
            <a:prstDash val="solid"/>
          </a:ln>
        </p:spPr>
      </p:sp>
      <p:sp>
        <p:nvSpPr>
          <p:cNvPr id="33" name="Shape 30"/>
          <p:cNvSpPr/>
          <p:nvPr/>
        </p:nvSpPr>
        <p:spPr>
          <a:xfrm>
            <a:off x="4526280" y="5440680"/>
            <a:ext cx="73152" cy="777240"/>
          </a:xfrm>
          <a:prstGeom prst="rect">
            <a:avLst/>
          </a:prstGeom>
          <a:solidFill>
            <a:srgbClr val="6B4B2A"/>
          </a:solidFill>
          <a:ln/>
        </p:spPr>
      </p:sp>
      <p:pic>
        <p:nvPicPr>
          <p:cNvPr id="3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82312" y="5687568"/>
            <a:ext cx="292608" cy="292608"/>
          </a:xfrm>
          <a:prstGeom prst="rect">
            <a:avLst/>
          </a:prstGeom>
        </p:spPr>
      </p:pic>
      <p:sp>
        <p:nvSpPr>
          <p:cNvPr id="35" name="Text 31"/>
          <p:cNvSpPr/>
          <p:nvPr/>
        </p:nvSpPr>
        <p:spPr>
          <a:xfrm>
            <a:off x="5239512" y="5440680"/>
            <a:ext cx="63093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What to watch　</a:t>
            </a:r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C7CAE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For external sending, refunds, schedules or triggers, ch…</a:t>
            </a:r>
            <a:endParaRPr lang="en-US" sz="1250" dirty="0"/>
          </a:p>
        </p:txBody>
      </p:sp>
      <p:sp>
        <p:nvSpPr>
          <p:cNvPr id="36" name="Text 32"/>
          <p:cNvSpPr/>
          <p:nvPr/>
        </p:nvSpPr>
        <p:spPr>
          <a:xfrm>
            <a:off x="64008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A8FB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Microsoft 365 Copilot Cowork</a:t>
            </a:r>
            <a:endParaRPr lang="en-US" sz="900" dirty="0"/>
          </a:p>
        </p:txBody>
      </p:sp>
      <p:sp>
        <p:nvSpPr>
          <p:cNvPr id="37" name="Text 33"/>
          <p:cNvSpPr/>
          <p:nvPr/>
        </p:nvSpPr>
        <p:spPr>
          <a:xfrm>
            <a:off x="11002975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8FB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20</a:t>
            </a:r>
            <a:endParaRPr lang="en-US" sz="9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7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66928"/>
            <a:ext cx="384048" cy="128016"/>
          </a:xfrm>
          <a:prstGeom prst="rect">
            <a:avLst/>
          </a:prstGeom>
          <a:solidFill>
            <a:srgbClr val="6B4B2A"/>
          </a:solidFill>
          <a:ln/>
        </p:spPr>
      </p:sp>
      <p:sp>
        <p:nvSpPr>
          <p:cNvPr id="3" name="Text 1"/>
          <p:cNvSpPr/>
          <p:nvPr/>
        </p:nvSpPr>
        <p:spPr>
          <a:xfrm>
            <a:off x="1143000" y="457200"/>
            <a:ext cx="82296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6B4B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Scenario 07 · Live demo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786384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23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What Cowork does, and what it produces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1377544" y="1773936"/>
            <a:ext cx="4544568" cy="3014011"/>
          </a:xfrm>
          <a:prstGeom prst="rect">
            <a:avLst/>
          </a:prstGeom>
          <a:solidFill>
            <a:srgbClr val="FFFFFF"/>
          </a:solidFill>
          <a:ln w="12700">
            <a:solidFill>
              <a:srgbClr val="E4E7F2"/>
            </a:solidFill>
            <a:prstDash val="solid"/>
          </a:ln>
          <a:effectLst>
            <a:outerShdw sx="100000" sy="100000" kx="0" ky="0" algn="bl" rotWithShape="0" blurRad="114300" dist="38100" dir="5400000">
              <a:srgbClr val="8A90B5">
                <a:alpha val="22000"/>
              </a:srgbClr>
            </a:outerShdw>
          </a:effectLst>
        </p:spPr>
      </p:sp>
      <p:pic>
        <p:nvPicPr>
          <p:cNvPr id="6" name="Image 0" descr="C:\temp\CoworkLab\v3\_working\screenshots\ret7_01_kpi_e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32408" y="1828800"/>
            <a:ext cx="4434840" cy="2904283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432408" y="4824523"/>
            <a:ext cx="44348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6B4B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① Your input and prompt</a:t>
            </a:r>
            <a:endParaRPr lang="en-US" sz="1350" dirty="0"/>
          </a:p>
        </p:txBody>
      </p:sp>
      <p:sp>
        <p:nvSpPr>
          <p:cNvPr id="8" name="Shape 5"/>
          <p:cNvSpPr/>
          <p:nvPr/>
        </p:nvSpPr>
        <p:spPr>
          <a:xfrm>
            <a:off x="6269584" y="1773936"/>
            <a:ext cx="4544568" cy="3014011"/>
          </a:xfrm>
          <a:prstGeom prst="rect">
            <a:avLst/>
          </a:prstGeom>
          <a:solidFill>
            <a:srgbClr val="FFFFFF"/>
          </a:solidFill>
          <a:ln w="12700">
            <a:solidFill>
              <a:srgbClr val="E4E7F2"/>
            </a:solidFill>
            <a:prstDash val="solid"/>
          </a:ln>
          <a:effectLst>
            <a:outerShdw sx="100000" sy="100000" kx="0" ky="0" algn="bl" rotWithShape="0" blurRad="114300" dist="38100" dir="5400000">
              <a:srgbClr val="8A90B5">
                <a:alpha val="22000"/>
              </a:srgbClr>
            </a:outerShdw>
          </a:effectLst>
        </p:spPr>
      </p:sp>
      <p:pic>
        <p:nvPicPr>
          <p:cNvPr id="9" name="Image 1" descr="C:\temp\CoworkLab\v3\_working\screenshots\ret7_02_brief_en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24448" y="1828800"/>
            <a:ext cx="4434840" cy="2904283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6324448" y="4824523"/>
            <a:ext cx="44348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6B4B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② The result</a:t>
            </a:r>
            <a:endParaRPr lang="en-US" sz="1350" dirty="0"/>
          </a:p>
        </p:txBody>
      </p:sp>
      <p:sp>
        <p:nvSpPr>
          <p:cNvPr id="11" name="Shape 7"/>
          <p:cNvSpPr/>
          <p:nvPr/>
        </p:nvSpPr>
        <p:spPr>
          <a:xfrm>
            <a:off x="640080" y="5226859"/>
            <a:ext cx="10911535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7F2"/>
            </a:solidFill>
            <a:prstDash val="solid"/>
          </a:ln>
        </p:spPr>
      </p:sp>
      <p:sp>
        <p:nvSpPr>
          <p:cNvPr id="12" name="Shape 8"/>
          <p:cNvSpPr/>
          <p:nvPr/>
        </p:nvSpPr>
        <p:spPr>
          <a:xfrm>
            <a:off x="640080" y="5226859"/>
            <a:ext cx="91440" cy="1143000"/>
          </a:xfrm>
          <a:prstGeom prst="rect">
            <a:avLst/>
          </a:prstGeom>
          <a:solidFill>
            <a:srgbClr val="6B4B2A"/>
          </a:solidFill>
          <a:ln/>
        </p:spPr>
      </p:sp>
      <p:sp>
        <p:nvSpPr>
          <p:cNvPr id="13" name="Text 9"/>
          <p:cNvSpPr/>
          <p:nvPr/>
        </p:nvSpPr>
        <p:spPr>
          <a:xfrm>
            <a:off x="914400" y="5336587"/>
            <a:ext cx="1783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23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Check the output</a:t>
            </a:r>
            <a:endParaRPr lang="en-US" sz="1400" dirty="0"/>
          </a:p>
        </p:txBody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80360" y="5373163"/>
            <a:ext cx="182880" cy="182880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3154680" y="5318299"/>
            <a:ext cx="8122615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23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Do not use a single metric for revenue and margin</a:t>
            </a:r>
            <a:endParaRPr lang="en-US" sz="1300" dirty="0"/>
          </a:p>
        </p:txBody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80360" y="5711491"/>
            <a:ext cx="182880" cy="182880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3154680" y="5656627"/>
            <a:ext cx="8122615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23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State data limitations and assumptions clearly</a:t>
            </a:r>
            <a:endParaRPr lang="en-US" sz="1300" dirty="0"/>
          </a:p>
        </p:txBody>
      </p:sp>
      <p:pic>
        <p:nvPicPr>
          <p:cNvPr id="1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880360" y="6049819"/>
            <a:ext cx="182880" cy="182880"/>
          </a:xfrm>
          <a:prstGeom prst="rect">
            <a:avLst/>
          </a:prstGeom>
        </p:spPr>
      </p:pic>
      <p:sp>
        <p:nvSpPr>
          <p:cNvPr id="19" name="Text 12"/>
          <p:cNvSpPr/>
          <p:nvPr/>
        </p:nvSpPr>
        <p:spPr>
          <a:xfrm>
            <a:off x="3154680" y="5994955"/>
            <a:ext cx="8122615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23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Do not automate high-risk actions</a:t>
            </a:r>
            <a:endParaRPr lang="en-US" sz="1300" dirty="0"/>
          </a:p>
        </p:txBody>
      </p:sp>
      <p:sp>
        <p:nvSpPr>
          <p:cNvPr id="20" name="Text 13"/>
          <p:cNvSpPr/>
          <p:nvPr/>
        </p:nvSpPr>
        <p:spPr>
          <a:xfrm>
            <a:off x="64008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07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Microsoft 365 Copilot Cowork</a:t>
            </a:r>
            <a:endParaRPr lang="en-US" sz="900" dirty="0"/>
          </a:p>
        </p:txBody>
      </p:sp>
      <p:sp>
        <p:nvSpPr>
          <p:cNvPr id="21" name="Text 14"/>
          <p:cNvSpPr/>
          <p:nvPr/>
        </p:nvSpPr>
        <p:spPr>
          <a:xfrm>
            <a:off x="11002975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07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21</a:t>
            </a:r>
            <a:endParaRPr lang="en-US" sz="9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7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66928"/>
            <a:ext cx="384048" cy="128016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3" name="Text 1"/>
          <p:cNvSpPr/>
          <p:nvPr/>
        </p:nvSpPr>
        <p:spPr>
          <a:xfrm>
            <a:off x="1143000" y="457200"/>
            <a:ext cx="82296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6366F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MAKE IT YOURS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786384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23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Extend it to your own work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640080" y="1783080"/>
            <a:ext cx="10911535" cy="549946"/>
          </a:xfrm>
          <a:prstGeom prst="rect">
            <a:avLst/>
          </a:prstGeom>
          <a:solidFill>
            <a:srgbClr val="FFFFFF"/>
          </a:solidFill>
          <a:ln w="12700">
            <a:solidFill>
              <a:srgbClr val="E4E7F2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68680" y="1811165"/>
            <a:ext cx="493776" cy="493776"/>
          </a:xfrm>
          <a:prstGeom prst="ellipse">
            <a:avLst/>
          </a:prstGeom>
          <a:solidFill>
            <a:srgbClr val="0B5A5E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96696" y="1939181"/>
            <a:ext cx="237744" cy="237744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554480" y="1819656"/>
            <a:ext cx="2286000" cy="47679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5A5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Retail Channels · Operations Decisions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3749040" y="1819656"/>
            <a:ext cx="7619695" cy="47679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1E223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💡 As an extension, make it an event trigger that summarizes each cold-chain alert email.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640080" y="2442754"/>
            <a:ext cx="10911535" cy="549946"/>
          </a:xfrm>
          <a:prstGeom prst="rect">
            <a:avLst/>
          </a:prstGeom>
          <a:solidFill>
            <a:srgbClr val="FFFFFF"/>
          </a:solidFill>
          <a:ln w="12700">
            <a:solidFill>
              <a:srgbClr val="E4E7F2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868680" y="2470839"/>
            <a:ext cx="493776" cy="493776"/>
          </a:xfrm>
          <a:prstGeom prst="ellipse">
            <a:avLst/>
          </a:prstGeom>
          <a:solidFill>
            <a:srgbClr val="8A4B08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6696" y="2598855"/>
            <a:ext cx="237744" cy="237744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1554480" y="2479330"/>
            <a:ext cx="2286000" cy="47679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8A4B0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Retail Channels · Operations Decisions</a:t>
            </a:r>
            <a:endParaRPr lang="en-US" sz="1300" dirty="0"/>
          </a:p>
        </p:txBody>
      </p:sp>
      <p:sp>
        <p:nvSpPr>
          <p:cNvPr id="14" name="Text 10"/>
          <p:cNvSpPr/>
          <p:nvPr/>
        </p:nvSpPr>
        <p:spPr>
          <a:xfrm>
            <a:off x="3749040" y="2479330"/>
            <a:ext cx="7619695" cy="47679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1E223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💡 Extend it into a weekly promotion-allocation scheduled prompt.</a:t>
            </a:r>
            <a:endParaRPr lang="en-US" sz="1250" dirty="0"/>
          </a:p>
        </p:txBody>
      </p:sp>
      <p:sp>
        <p:nvSpPr>
          <p:cNvPr id="15" name="Shape 11"/>
          <p:cNvSpPr/>
          <p:nvPr/>
        </p:nvSpPr>
        <p:spPr>
          <a:xfrm>
            <a:off x="640080" y="3102429"/>
            <a:ext cx="10911535" cy="549946"/>
          </a:xfrm>
          <a:prstGeom prst="rect">
            <a:avLst/>
          </a:prstGeom>
          <a:solidFill>
            <a:srgbClr val="FFFFFF"/>
          </a:solidFill>
          <a:ln w="12700">
            <a:solidFill>
              <a:srgbClr val="E4E7F2"/>
            </a:solidFill>
            <a:prstDash val="solid"/>
          </a:ln>
        </p:spPr>
      </p:sp>
      <p:sp>
        <p:nvSpPr>
          <p:cNvPr id="16" name="Shape 12"/>
          <p:cNvSpPr/>
          <p:nvPr/>
        </p:nvSpPr>
        <p:spPr>
          <a:xfrm>
            <a:off x="868680" y="3130514"/>
            <a:ext cx="493776" cy="493776"/>
          </a:xfrm>
          <a:prstGeom prst="ellipse">
            <a:avLst/>
          </a:prstGeom>
          <a:solidFill>
            <a:srgbClr val="5B3A8A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6696" y="3258530"/>
            <a:ext cx="237744" cy="237744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1554480" y="3139005"/>
            <a:ext cx="2286000" cy="47679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5B3A8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Retail Channels · Operations Decisions</a:t>
            </a:r>
            <a:endParaRPr lang="en-US" sz="1300" dirty="0"/>
          </a:p>
        </p:txBody>
      </p:sp>
      <p:sp>
        <p:nvSpPr>
          <p:cNvPr id="19" name="Text 14"/>
          <p:cNvSpPr/>
          <p:nvPr/>
        </p:nvSpPr>
        <p:spPr>
          <a:xfrm>
            <a:off x="3749040" y="3139005"/>
            <a:ext cx="7619695" cy="47679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1E223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💡 Turn the brief into a one-slide PowerPoint decision card.</a:t>
            </a:r>
            <a:endParaRPr lang="en-US" sz="1250" dirty="0"/>
          </a:p>
        </p:txBody>
      </p:sp>
      <p:sp>
        <p:nvSpPr>
          <p:cNvPr id="20" name="Shape 15"/>
          <p:cNvSpPr/>
          <p:nvPr/>
        </p:nvSpPr>
        <p:spPr>
          <a:xfrm>
            <a:off x="640080" y="3762103"/>
            <a:ext cx="10911535" cy="549946"/>
          </a:xfrm>
          <a:prstGeom prst="rect">
            <a:avLst/>
          </a:prstGeom>
          <a:solidFill>
            <a:srgbClr val="FFFFFF"/>
          </a:solidFill>
          <a:ln w="12700">
            <a:solidFill>
              <a:srgbClr val="E4E7F2"/>
            </a:solidFill>
            <a:prstDash val="solid"/>
          </a:ln>
        </p:spPr>
      </p:sp>
      <p:sp>
        <p:nvSpPr>
          <p:cNvPr id="21" name="Shape 16"/>
          <p:cNvSpPr/>
          <p:nvPr/>
        </p:nvSpPr>
        <p:spPr>
          <a:xfrm>
            <a:off x="868680" y="3790188"/>
            <a:ext cx="493776" cy="493776"/>
          </a:xfrm>
          <a:prstGeom prst="ellipse">
            <a:avLst/>
          </a:prstGeom>
          <a:solidFill>
            <a:srgbClr val="7B2838"/>
          </a:solidFill>
          <a:ln/>
        </p:spPr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6696" y="3918204"/>
            <a:ext cx="237744" cy="237744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1554480" y="3798679"/>
            <a:ext cx="2286000" cy="47679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7B283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Retail Channels · Operations Decisions</a:t>
            </a:r>
            <a:endParaRPr lang="en-US" sz="1300" dirty="0"/>
          </a:p>
        </p:txBody>
      </p:sp>
      <p:sp>
        <p:nvSpPr>
          <p:cNvPr id="24" name="Text 18"/>
          <p:cNvSpPr/>
          <p:nvPr/>
        </p:nvSpPr>
        <p:spPr>
          <a:xfrm>
            <a:off x="3749040" y="3798679"/>
            <a:ext cx="7619695" cy="47679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1E223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💡 Extend it into a customer-service custom skill while retaining human approval for refunds.</a:t>
            </a:r>
            <a:endParaRPr lang="en-US" sz="1250" dirty="0"/>
          </a:p>
        </p:txBody>
      </p:sp>
      <p:sp>
        <p:nvSpPr>
          <p:cNvPr id="25" name="Shape 19"/>
          <p:cNvSpPr/>
          <p:nvPr/>
        </p:nvSpPr>
        <p:spPr>
          <a:xfrm>
            <a:off x="640080" y="4421777"/>
            <a:ext cx="10911535" cy="549946"/>
          </a:xfrm>
          <a:prstGeom prst="rect">
            <a:avLst/>
          </a:prstGeom>
          <a:solidFill>
            <a:srgbClr val="FFFFFF"/>
          </a:solidFill>
          <a:ln w="12700">
            <a:solidFill>
              <a:srgbClr val="E4E7F2"/>
            </a:solidFill>
            <a:prstDash val="solid"/>
          </a:ln>
        </p:spPr>
      </p:sp>
      <p:sp>
        <p:nvSpPr>
          <p:cNvPr id="26" name="Shape 20"/>
          <p:cNvSpPr/>
          <p:nvPr/>
        </p:nvSpPr>
        <p:spPr>
          <a:xfrm>
            <a:off x="868680" y="4449862"/>
            <a:ext cx="493776" cy="493776"/>
          </a:xfrm>
          <a:prstGeom prst="ellipse">
            <a:avLst/>
          </a:prstGeom>
          <a:solidFill>
            <a:srgbClr val="1D5B8F"/>
          </a:solidFill>
          <a:ln/>
        </p:spPr>
      </p:sp>
      <p:pic>
        <p:nvPicPr>
          <p:cNvPr id="27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96696" y="4577878"/>
            <a:ext cx="237744" cy="237744"/>
          </a:xfrm>
          <a:prstGeom prst="rect">
            <a:avLst/>
          </a:prstGeom>
        </p:spPr>
      </p:pic>
      <p:sp>
        <p:nvSpPr>
          <p:cNvPr id="28" name="Text 21"/>
          <p:cNvSpPr/>
          <p:nvPr/>
        </p:nvSpPr>
        <p:spPr>
          <a:xfrm>
            <a:off x="1554480" y="4458353"/>
            <a:ext cx="2286000" cy="47679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D5B8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Retail Channels · Operations Decisions</a:t>
            </a:r>
            <a:endParaRPr lang="en-US" sz="1300" dirty="0"/>
          </a:p>
        </p:txBody>
      </p:sp>
      <p:sp>
        <p:nvSpPr>
          <p:cNvPr id="29" name="Text 22"/>
          <p:cNvSpPr/>
          <p:nvPr/>
        </p:nvSpPr>
        <p:spPr>
          <a:xfrm>
            <a:off x="3749040" y="4458353"/>
            <a:ext cx="7619695" cy="47679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1E223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💡 Extend it into a meeting schedule or reminder task.</a:t>
            </a:r>
            <a:endParaRPr lang="en-US" sz="1250" dirty="0"/>
          </a:p>
        </p:txBody>
      </p:sp>
      <p:sp>
        <p:nvSpPr>
          <p:cNvPr id="30" name="Shape 23"/>
          <p:cNvSpPr/>
          <p:nvPr/>
        </p:nvSpPr>
        <p:spPr>
          <a:xfrm>
            <a:off x="640080" y="5081451"/>
            <a:ext cx="10911535" cy="549946"/>
          </a:xfrm>
          <a:prstGeom prst="rect">
            <a:avLst/>
          </a:prstGeom>
          <a:solidFill>
            <a:srgbClr val="FFFFFF"/>
          </a:solidFill>
          <a:ln w="12700">
            <a:solidFill>
              <a:srgbClr val="E4E7F2"/>
            </a:solidFill>
            <a:prstDash val="solid"/>
          </a:ln>
        </p:spPr>
      </p:sp>
      <p:sp>
        <p:nvSpPr>
          <p:cNvPr id="31" name="Shape 24"/>
          <p:cNvSpPr/>
          <p:nvPr/>
        </p:nvSpPr>
        <p:spPr>
          <a:xfrm>
            <a:off x="868680" y="5109537"/>
            <a:ext cx="493776" cy="493776"/>
          </a:xfrm>
          <a:prstGeom prst="ellipse">
            <a:avLst/>
          </a:prstGeom>
          <a:solidFill>
            <a:srgbClr val="375A3D"/>
          </a:solidFill>
          <a:ln/>
        </p:spPr>
      </p:sp>
      <p:pic>
        <p:nvPicPr>
          <p:cNvPr id="32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96696" y="5237553"/>
            <a:ext cx="237744" cy="237744"/>
          </a:xfrm>
          <a:prstGeom prst="rect">
            <a:avLst/>
          </a:prstGeom>
        </p:spPr>
      </p:pic>
      <p:sp>
        <p:nvSpPr>
          <p:cNvPr id="33" name="Text 25"/>
          <p:cNvSpPr/>
          <p:nvPr/>
        </p:nvSpPr>
        <p:spPr>
          <a:xfrm>
            <a:off x="1554480" y="5118027"/>
            <a:ext cx="2286000" cy="47679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75A3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Retail Channels · Operations Decisions</a:t>
            </a:r>
            <a:endParaRPr lang="en-US" sz="1300" dirty="0"/>
          </a:p>
        </p:txBody>
      </p:sp>
      <p:sp>
        <p:nvSpPr>
          <p:cNvPr id="34" name="Text 26"/>
          <p:cNvSpPr/>
          <p:nvPr/>
        </p:nvSpPr>
        <p:spPr>
          <a:xfrm>
            <a:off x="3749040" y="5118027"/>
            <a:ext cx="7619695" cy="47679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1E223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💡 Turn the terms brief into a draft attachment to an existing Word contract.</a:t>
            </a:r>
            <a:endParaRPr lang="en-US" sz="1250" dirty="0"/>
          </a:p>
        </p:txBody>
      </p:sp>
      <p:sp>
        <p:nvSpPr>
          <p:cNvPr id="35" name="Shape 27"/>
          <p:cNvSpPr/>
          <p:nvPr/>
        </p:nvSpPr>
        <p:spPr>
          <a:xfrm>
            <a:off x="640080" y="5741126"/>
            <a:ext cx="10911535" cy="549946"/>
          </a:xfrm>
          <a:prstGeom prst="rect">
            <a:avLst/>
          </a:prstGeom>
          <a:solidFill>
            <a:srgbClr val="FFFFFF"/>
          </a:solidFill>
          <a:ln w="12700">
            <a:solidFill>
              <a:srgbClr val="E4E7F2"/>
            </a:solidFill>
            <a:prstDash val="solid"/>
          </a:ln>
        </p:spPr>
      </p:sp>
      <p:sp>
        <p:nvSpPr>
          <p:cNvPr id="36" name="Shape 28"/>
          <p:cNvSpPr/>
          <p:nvPr/>
        </p:nvSpPr>
        <p:spPr>
          <a:xfrm>
            <a:off x="868680" y="5769211"/>
            <a:ext cx="493776" cy="493776"/>
          </a:xfrm>
          <a:prstGeom prst="ellipse">
            <a:avLst/>
          </a:prstGeom>
          <a:solidFill>
            <a:srgbClr val="6B4B2A"/>
          </a:solidFill>
          <a:ln/>
        </p:spPr>
      </p:sp>
      <p:pic>
        <p:nvPicPr>
          <p:cNvPr id="37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96696" y="5897227"/>
            <a:ext cx="237744" cy="237744"/>
          </a:xfrm>
          <a:prstGeom prst="rect">
            <a:avLst/>
          </a:prstGeom>
        </p:spPr>
      </p:pic>
      <p:sp>
        <p:nvSpPr>
          <p:cNvPr id="38" name="Text 29"/>
          <p:cNvSpPr/>
          <p:nvPr/>
        </p:nvSpPr>
        <p:spPr>
          <a:xfrm>
            <a:off x="1554480" y="5777702"/>
            <a:ext cx="2286000" cy="47679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6B4B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Retail Channels · Operations Decisions</a:t>
            </a:r>
            <a:endParaRPr lang="en-US" sz="1300" dirty="0"/>
          </a:p>
        </p:txBody>
      </p:sp>
      <p:sp>
        <p:nvSpPr>
          <p:cNvPr id="39" name="Text 30"/>
          <p:cNvSpPr/>
          <p:nvPr/>
        </p:nvSpPr>
        <p:spPr>
          <a:xfrm>
            <a:off x="3749040" y="5777702"/>
            <a:ext cx="7619695" cy="47679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1E223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💡 Set a Monday-morning scheduled prompt to produce a first draft.</a:t>
            </a:r>
            <a:endParaRPr lang="en-US" sz="1250" dirty="0"/>
          </a:p>
        </p:txBody>
      </p:sp>
      <p:sp>
        <p:nvSpPr>
          <p:cNvPr id="40" name="Text 31"/>
          <p:cNvSpPr/>
          <p:nvPr/>
        </p:nvSpPr>
        <p:spPr>
          <a:xfrm>
            <a:off x="64008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07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Microsoft 365 Copilot Cowork</a:t>
            </a:r>
            <a:endParaRPr lang="en-US" sz="900" dirty="0"/>
          </a:p>
        </p:txBody>
      </p:sp>
      <p:sp>
        <p:nvSpPr>
          <p:cNvPr id="41" name="Text 32"/>
          <p:cNvSpPr/>
          <p:nvPr/>
        </p:nvSpPr>
        <p:spPr>
          <a:xfrm>
            <a:off x="11002975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07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22</a:t>
            </a:r>
            <a:endParaRPr lang="en-US" sz="9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66928"/>
            <a:ext cx="384048" cy="128016"/>
          </a:xfrm>
          <a:prstGeom prst="rect">
            <a:avLst/>
          </a:prstGeom>
          <a:solidFill>
            <a:srgbClr val="22D3EE"/>
          </a:solidFill>
          <a:ln/>
        </p:spPr>
      </p:sp>
      <p:sp>
        <p:nvSpPr>
          <p:cNvPr id="3" name="Text 1"/>
          <p:cNvSpPr/>
          <p:nvPr/>
        </p:nvSpPr>
        <p:spPr>
          <a:xfrm>
            <a:off x="1143000" y="457200"/>
            <a:ext cx="82296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2D3E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TRUST &amp; CONTROL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786384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Automated — but you're still the decision maker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640080" y="1874520"/>
            <a:ext cx="777240" cy="777240"/>
          </a:xfrm>
          <a:prstGeom prst="roundRect">
            <a:avLst>
              <a:gd name="adj" fmla="val 18824"/>
            </a:avLst>
          </a:prstGeom>
          <a:solidFill>
            <a:srgbClr val="FFFFFF">
              <a:alpha val="14000"/>
            </a:srgbClr>
          </a:solidFill>
          <a:ln w="12700">
            <a:solidFill>
              <a:srgbClr val="22D3EE">
                <a:alpha val="60000"/>
              </a:srgbClr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4672" y="2039112"/>
            <a:ext cx="448056" cy="44805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691640" y="1856232"/>
            <a:ext cx="6858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Approval before action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1691640" y="2203704"/>
            <a:ext cx="99669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300" dirty="0">
                <a:solidFill>
                  <a:srgbClr val="C7CAE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Medium/high-risk actions show a RISK-LEVEL; sending mail, posting to Teams or creating meetings all open as an editable preview and go out only after approval.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640080" y="3044952"/>
            <a:ext cx="777240" cy="777240"/>
          </a:xfrm>
          <a:prstGeom prst="roundRect">
            <a:avLst>
              <a:gd name="adj" fmla="val 18824"/>
            </a:avLst>
          </a:prstGeom>
          <a:solidFill>
            <a:srgbClr val="FFFFFF">
              <a:alpha val="14000"/>
            </a:srgbClr>
          </a:solidFill>
          <a:ln w="12700">
            <a:solidFill>
              <a:srgbClr val="22D3EE">
                <a:alpha val="60000"/>
              </a:srgbClr>
            </a:solidFill>
            <a:prstDash val="solid"/>
          </a:ln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4672" y="3209544"/>
            <a:ext cx="448056" cy="448056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691640" y="3026664"/>
            <a:ext cx="6858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Scope you control</a:t>
            </a:r>
            <a:endParaRPr lang="en-US" sz="1700" dirty="0"/>
          </a:p>
        </p:txBody>
      </p:sp>
      <p:sp>
        <p:nvSpPr>
          <p:cNvPr id="12" name="Text 8"/>
          <p:cNvSpPr/>
          <p:nvPr/>
        </p:nvSpPr>
        <p:spPr>
          <a:xfrm>
            <a:off x="1691640" y="3374136"/>
            <a:ext cx="99669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300" dirty="0">
                <a:solidFill>
                  <a:srgbClr val="C7CAE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Don't-ask-again can be limited to a recipient, a domain, or always; tasks can be soft/hard paused, resumed or cancelled.</a:t>
            </a:r>
            <a:endParaRPr lang="en-US" sz="1300" dirty="0"/>
          </a:p>
        </p:txBody>
      </p:sp>
      <p:sp>
        <p:nvSpPr>
          <p:cNvPr id="13" name="Shape 9"/>
          <p:cNvSpPr/>
          <p:nvPr/>
        </p:nvSpPr>
        <p:spPr>
          <a:xfrm>
            <a:off x="640080" y="4215384"/>
            <a:ext cx="777240" cy="777240"/>
          </a:xfrm>
          <a:prstGeom prst="roundRect">
            <a:avLst>
              <a:gd name="adj" fmla="val 18824"/>
            </a:avLst>
          </a:prstGeom>
          <a:solidFill>
            <a:srgbClr val="FFFFFF">
              <a:alpha val="14000"/>
            </a:srgbClr>
          </a:solidFill>
          <a:ln w="12700">
            <a:solidFill>
              <a:srgbClr val="22D3EE">
                <a:alpha val="60000"/>
              </a:srgbClr>
            </a:solidFill>
            <a:prstDash val="solid"/>
          </a:ln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4672" y="4379976"/>
            <a:ext cx="448056" cy="448056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1691640" y="4197096"/>
            <a:ext cx="6858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Automated tasks have guardrails too</a:t>
            </a:r>
            <a:endParaRPr lang="en-US" sz="1700" dirty="0"/>
          </a:p>
        </p:txBody>
      </p:sp>
      <p:sp>
        <p:nvSpPr>
          <p:cNvPr id="16" name="Text 11"/>
          <p:cNvSpPr/>
          <p:nvPr/>
        </p:nvSpPr>
        <p:spPr>
          <a:xfrm>
            <a:off x="1691640" y="4544568"/>
            <a:ext cx="99669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300" dirty="0">
                <a:solidFill>
                  <a:srgbClr val="C7CAE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Scheduled prompts and event-driven tasks have run-frequency limits and loop protection; they always run with the creator's permissions, and are recorded in the unified audit log alongside all other Cowork activity, under Microsoft Purview policy.</a:t>
            </a:r>
            <a:endParaRPr lang="en-US" sz="1300" dirty="0"/>
          </a:p>
        </p:txBody>
      </p:sp>
      <p:sp>
        <p:nvSpPr>
          <p:cNvPr id="17" name="Shape 12"/>
          <p:cNvSpPr/>
          <p:nvPr/>
        </p:nvSpPr>
        <p:spPr>
          <a:xfrm>
            <a:off x="640080" y="5385816"/>
            <a:ext cx="777240" cy="777240"/>
          </a:xfrm>
          <a:prstGeom prst="roundRect">
            <a:avLst>
              <a:gd name="adj" fmla="val 18824"/>
            </a:avLst>
          </a:prstGeom>
          <a:solidFill>
            <a:srgbClr val="FFFFFF">
              <a:alpha val="14000"/>
            </a:srgbClr>
          </a:solidFill>
          <a:ln w="12700">
            <a:solidFill>
              <a:srgbClr val="22D3EE">
                <a:alpha val="60000"/>
              </a:srgbClr>
            </a:solidFill>
            <a:prstDash val="solid"/>
          </a:ln>
        </p:spPr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4672" y="5550408"/>
            <a:ext cx="448056" cy="448056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1691640" y="5367528"/>
            <a:ext cx="6858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Know the limits</a:t>
            </a:r>
            <a:endParaRPr lang="en-US" sz="1700" dirty="0"/>
          </a:p>
        </p:txBody>
      </p:sp>
      <p:sp>
        <p:nvSpPr>
          <p:cNvPr id="20" name="Text 14"/>
          <p:cNvSpPr/>
          <p:nvPr/>
        </p:nvSpPr>
        <p:spPr>
          <a:xfrm>
            <a:off x="1691640" y="5715000"/>
            <a:ext cx="99669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300" dirty="0">
                <a:solidFill>
                  <a:srgbClr val="C7CAE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 access to local files, no deleting OneDrive/SharePoint files, no reading encrypted files; attachments under 200MB; custom skills and third-party plugins aren't validated by Microsoft, so review the output yourself. Microsoft explicitly lists it as unsuitable where accuracy must be guaranteed without human review.</a:t>
            </a:r>
            <a:endParaRPr lang="en-US" sz="1300" dirty="0"/>
          </a:p>
        </p:txBody>
      </p:sp>
      <p:sp>
        <p:nvSpPr>
          <p:cNvPr id="21" name="Text 15"/>
          <p:cNvSpPr/>
          <p:nvPr/>
        </p:nvSpPr>
        <p:spPr>
          <a:xfrm>
            <a:off x="64008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A8FB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Microsoft 365 Copilot Cowork</a:t>
            </a:r>
            <a:endParaRPr lang="en-US" sz="900" dirty="0"/>
          </a:p>
        </p:txBody>
      </p:sp>
      <p:sp>
        <p:nvSpPr>
          <p:cNvPr id="22" name="Text 16"/>
          <p:cNvSpPr/>
          <p:nvPr/>
        </p:nvSpPr>
        <p:spPr>
          <a:xfrm>
            <a:off x="11002975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8FB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23</a:t>
            </a:r>
            <a:endParaRPr lang="en-US" sz="9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1554480"/>
            <a:ext cx="10058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Start practising now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640080" y="2606040"/>
            <a:ext cx="8686800" cy="868680"/>
          </a:xfrm>
          <a:prstGeom prst="roundRect">
            <a:avLst>
              <a:gd name="adj" fmla="val 12632"/>
            </a:avLst>
          </a:prstGeom>
          <a:solidFill>
            <a:srgbClr val="FFFFFF">
              <a:alpha val="10000"/>
            </a:srgbClr>
          </a:solidFill>
          <a:ln w="12700">
            <a:solidFill>
              <a:srgbClr val="FFFFFF">
                <a:alpha val="35000"/>
              </a:srgbClr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2880360"/>
            <a:ext cx="329184" cy="329184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417320" y="271576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Cowork Playbook</a:t>
            </a:r>
            <a:endParaRPr lang="en-US" sz="1400" dirty="0"/>
          </a:p>
        </p:txBody>
      </p:sp>
      <p:sp>
        <p:nvSpPr>
          <p:cNvPr id="6" name="Text 3">
            <a:hlinkClick r:id="rId3" tooltip=""/>
          </p:cNvPr>
          <p:cNvSpPr/>
          <p:nvPr/>
        </p:nvSpPr>
        <p:spPr>
          <a:xfrm>
            <a:off x="1417320" y="3008376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u="sng" dirty="0">
                <a:solidFill>
                  <a:srgbClr val="9FE9FF"/>
                </a:solidFill>
                <a:latin typeface="Segoe UI" pitchFamily="34" charset="0"/>
                <a:ea typeface="Segoe UI" pitchFamily="34" charset="-122"/>
                <a:cs typeface="Segoe UI" pitchFamily="34" charset="-120"/>
                <a:hlinkClick r:id="rId3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aka.ms/CoworkPlaybook</a:t>
            </a:r>
            <a:endParaRPr lang="en-US" sz="1300" dirty="0"/>
          </a:p>
        </p:txBody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080" y="3950208"/>
            <a:ext cx="237744" cy="237744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005840" y="3895344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3E5F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Start with the scenario closest to your own work</a:t>
            </a:r>
            <a:endParaRPr lang="en-US" sz="1400" dirty="0"/>
          </a:p>
        </p:txBody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0080" y="4425696"/>
            <a:ext cx="237744" cy="237744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1005840" y="4370832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3E5F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Custom skills live in OneDrive at /Documents/Cowork/skills/ as SKILL.md (up to 50, 1MB each)</a:t>
            </a:r>
            <a:endParaRPr lang="en-US" sz="1400" dirty="0"/>
          </a:p>
        </p:txBody>
      </p:sp>
      <p:pic>
        <p:nvPicPr>
          <p:cNvPr id="11" name="Image 3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0080" y="4901184"/>
            <a:ext cx="237744" cy="237744"/>
          </a:xfrm>
          <a:prstGeom prst="rect">
            <a:avLst/>
          </a:prstGeom>
        </p:spPr>
      </p:pic>
      <p:sp>
        <p:nvSpPr>
          <p:cNvPr id="12" name="Text 6"/>
          <p:cNvSpPr/>
          <p:nvPr/>
        </p:nvSpPr>
        <p:spPr>
          <a:xfrm>
            <a:off x="1005840" y="484632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3E5F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Model picker: Auto (default), GPT 5.5 Frontier, GPT 5.6 Sol/Terra, GPT 6 Astra, Opus 5, Claude Sonnet 5, Claude Fable 5.1</a:t>
            </a:r>
            <a:endParaRPr lang="en-US" sz="1400" dirty="0"/>
          </a:p>
        </p:txBody>
      </p:sp>
      <p:pic>
        <p:nvPicPr>
          <p:cNvPr id="13" name="Image 4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40080" y="5376672"/>
            <a:ext cx="237744" cy="237744"/>
          </a:xfrm>
          <a:prstGeom prst="rect">
            <a:avLst/>
          </a:prstGeom>
        </p:spPr>
      </p:pic>
      <p:sp>
        <p:nvSpPr>
          <p:cNvPr id="14" name="Text 7"/>
          <p:cNvSpPr/>
          <p:nvPr/>
        </p:nvSpPr>
        <p:spPr>
          <a:xfrm>
            <a:off x="1005840" y="5321808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3E5F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Effort: Light / Medium (default) / High / Extra High / Max — higher is more thorough, but slower and uses more credits</a:t>
            </a:r>
            <a:endParaRPr lang="en-US" sz="1400" dirty="0"/>
          </a:p>
        </p:txBody>
      </p:sp>
      <p:pic>
        <p:nvPicPr>
          <p:cNvPr id="15" name="Image 5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40080" y="5852160"/>
            <a:ext cx="237744" cy="237744"/>
          </a:xfrm>
          <a:prstGeom prst="rect">
            <a:avLst/>
          </a:prstGeom>
        </p:spPr>
      </p:pic>
      <p:sp>
        <p:nvSpPr>
          <p:cNvPr id="16" name="Text 8"/>
          <p:cNvSpPr/>
          <p:nvPr/>
        </p:nvSpPr>
        <p:spPr>
          <a:xfrm>
            <a:off x="1005840" y="5797296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3E5F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Want it to fire by itself? Set a scheduled prompt (up to 25) or an event-driven task (incoming mail / @mention) on the "Automations" page</a:t>
            </a:r>
            <a:endParaRPr lang="en-US" sz="14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377440"/>
            <a:ext cx="100584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Thank you</a:t>
            </a:r>
            <a:endParaRPr lang="en-US" sz="6000" dirty="0"/>
          </a:p>
        </p:txBody>
      </p:sp>
      <p:sp>
        <p:nvSpPr>
          <p:cNvPr id="3" name="Text 1"/>
          <p:cNvSpPr/>
          <p:nvPr/>
        </p:nvSpPr>
        <p:spPr>
          <a:xfrm>
            <a:off x="640080" y="361188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7CAE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From asking to delegating — you set the standard, Cowork does the work.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640080" y="4389120"/>
            <a:ext cx="3200400" cy="0"/>
          </a:xfrm>
          <a:prstGeom prst="line">
            <a:avLst/>
          </a:prstGeom>
          <a:noFill/>
          <a:ln w="12700">
            <a:solidFill>
              <a:srgbClr val="FFFFFF">
                <a:alpha val="30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45262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FA3C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Microsoft 365 Copilot Cowork · Training deck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26</Slides>
  <Notes>26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26</vt:i4>
      </vt:variant>
    </vt:vector>
  </HeadingPairs>
  <TitlesOfParts>
    <vt:vector size="2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Microsoft 365 Copilot Cowork Training</dc:title>
  <dc:subject>PptxGenJS Presentation</dc:subject>
  <dc:creator>Andy Hung</dc:creator>
  <cp:lastModifiedBy>Andy Hung</cp:lastModifiedBy>
  <cp:revision>1</cp:revision>
  <dcterms:created xsi:type="dcterms:W3CDTF">2026-10-15T04:36:27Z</dcterms:created>
  <dcterms:modified xsi:type="dcterms:W3CDTF">2026-10-15T04:36:27Z</dcterms:modified>
</cp:coreProperties>
</file>