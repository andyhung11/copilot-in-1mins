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aka.ms/CoworkPlaybook" TargetMode="External"/><Relationship Id="rId1" Type="http://schemas.openxmlformats.org/officeDocument/2006/relationships/image" Target="../media/Slide-25-image-1.png"/><Relationship Id="rId2"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image" Target="../media/image-25-7.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1371600"/>
            <a:ext cx="2788920" cy="457200"/>
          </a:xfrm>
          <a:prstGeom prst="roundRect">
            <a:avLst>
              <a:gd name="adj" fmla="val 50000"/>
            </a:avLst>
          </a:prstGeom>
          <a:solidFill>
            <a:srgbClr val="FFFFFF">
              <a:alpha val="12000"/>
            </a:srgbClr>
          </a:solidFill>
          <a:ln w="12700">
            <a:solidFill>
              <a:srgbClr val="FFFFFF">
                <a:alpha val="30000"/>
              </a:srgbClr>
            </a:solidFill>
            <a:prstDash val="solid"/>
          </a:ln>
        </p:spPr>
      </p:sp>
      <p:pic>
        <p:nvPicPr>
          <p:cNvPr id="3" name="Image 0" descr="preencoded.png">    </p:cNvPr>
          <p:cNvPicPr>
            <a:picLocks noChangeAspect="1"/>
          </p:cNvPicPr>
          <p:nvPr/>
        </p:nvPicPr>
        <p:blipFill>
          <a:blip r:embed="rId2"/>
          <a:stretch>
            <a:fillRect/>
          </a:stretch>
        </p:blipFill>
        <p:spPr>
          <a:xfrm>
            <a:off x="841248" y="1481328"/>
            <a:ext cx="237744" cy="237744"/>
          </a:xfrm>
          <a:prstGeom prst="rect">
            <a:avLst/>
          </a:prstGeom>
        </p:spPr>
      </p:pic>
      <p:sp>
        <p:nvSpPr>
          <p:cNvPr id="4" name="Text 1"/>
          <p:cNvSpPr/>
          <p:nvPr/>
        </p:nvSpPr>
        <p:spPr>
          <a:xfrm>
            <a:off x="1143000" y="1371600"/>
            <a:ext cx="2377440" cy="457200"/>
          </a:xfrm>
          <a:prstGeom prst="rect">
            <a:avLst/>
          </a:prstGeom>
          <a:noFill/>
          <a:ln/>
        </p:spPr>
        <p:txBody>
          <a:bodyPr wrap="square"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Microsoft 365 Copilot</a:t>
            </a:r>
            <a:endParaRPr lang="en-US" sz="1300" dirty="0"/>
          </a:p>
        </p:txBody>
      </p:sp>
      <p:sp>
        <p:nvSpPr>
          <p:cNvPr id="5" name="Text 2"/>
          <p:cNvSpPr/>
          <p:nvPr/>
        </p:nvSpPr>
        <p:spPr>
          <a:xfrm>
            <a:off x="603504" y="1874520"/>
            <a:ext cx="10058400" cy="1280160"/>
          </a:xfrm>
          <a:prstGeom prst="rect">
            <a:avLst/>
          </a:prstGeom>
          <a:noFill/>
          <a:ln/>
        </p:spPr>
        <p:txBody>
          <a:bodyPr wrap="square" rtlCol="0" anchor="ctr"/>
          <a:lstStyle/>
          <a:p>
            <a:pPr indent="0" marL="0">
              <a:buNone/>
            </a:pPr>
            <a:r>
              <a:rPr lang="en-US" sz="8400" b="1" dirty="0">
                <a:solidFill>
                  <a:srgbClr val="FFFFFF"/>
                </a:solidFill>
                <a:latin typeface="Segoe UI" pitchFamily="34" charset="0"/>
                <a:ea typeface="Segoe UI" pitchFamily="34" charset="-122"/>
                <a:cs typeface="Segoe UI" pitchFamily="34" charset="-120"/>
              </a:rPr>
              <a:t>Cowork</a:t>
            </a:r>
            <a:endParaRPr lang="en-US" sz="8400" dirty="0"/>
          </a:p>
        </p:txBody>
      </p:sp>
      <p:sp>
        <p:nvSpPr>
          <p:cNvPr id="6" name="Text 3"/>
          <p:cNvSpPr/>
          <p:nvPr/>
        </p:nvSpPr>
        <p:spPr>
          <a:xfrm>
            <a:off x="640080" y="3154680"/>
            <a:ext cx="10058400" cy="731520"/>
          </a:xfrm>
          <a:prstGeom prst="rect">
            <a:avLst/>
          </a:prstGeom>
          <a:noFill/>
          <a:ln/>
        </p:spPr>
        <p:txBody>
          <a:bodyPr wrap="square" rtlCol="0" anchor="ctr"/>
          <a:lstStyle/>
          <a:p>
            <a:pPr indent="0" marL="0">
              <a:buNone/>
            </a:pPr>
            <a:r>
              <a:rPr lang="en-US" sz="3400" b="1" dirty="0">
                <a:solidFill>
                  <a:srgbClr val="CFC9FF"/>
                </a:solidFill>
                <a:latin typeface="Segoe UI" pitchFamily="34" charset="0"/>
                <a:ea typeface="Segoe UI" pitchFamily="34" charset="-122"/>
                <a:cs typeface="Segoe UI" pitchFamily="34" charset="-120"/>
              </a:rPr>
              <a:t>Agentic AI at work</a:t>
            </a:r>
            <a:endParaRPr lang="en-US" sz="3400" dirty="0"/>
          </a:p>
        </p:txBody>
      </p:sp>
      <p:sp>
        <p:nvSpPr>
          <p:cNvPr id="7" name="Text 4"/>
          <p:cNvSpPr/>
          <p:nvPr/>
        </p:nvSpPr>
        <p:spPr>
          <a:xfrm>
            <a:off x="640080" y="3977640"/>
            <a:ext cx="9601200" cy="548640"/>
          </a:xfrm>
          <a:prstGeom prst="rect">
            <a:avLst/>
          </a:prstGeom>
          <a:noFill/>
          <a:ln/>
        </p:spPr>
        <p:txBody>
          <a:bodyPr wrap="square" rtlCol="0" anchor="ctr"/>
          <a:lstStyle/>
          <a:p>
            <a:pPr indent="0" marL="0">
              <a:buNone/>
            </a:pPr>
            <a:r>
              <a:rPr lang="en-US" sz="1600" dirty="0">
                <a:solidFill>
                  <a:srgbClr val="B9BCE0"/>
                </a:solidFill>
                <a:latin typeface="Segoe UI" pitchFamily="34" charset="0"/>
                <a:ea typeface="Segoe UI" pitchFamily="34" charset="-122"/>
                <a:cs typeface="Segoe UI" pitchFamily="34" charset="-120"/>
              </a:rPr>
              <a:t>Seven real retail-channel operations scenarios showing how Copilot executes across apps, shows a risk level before medium/high-risk actions, and waits for your approval</a:t>
            </a:r>
            <a:endParaRPr lang="en-US" sz="1600" dirty="0"/>
          </a:p>
        </p:txBody>
      </p:sp>
      <p:sp>
        <p:nvSpPr>
          <p:cNvPr id="8" name="Shape 5"/>
          <p:cNvSpPr/>
          <p:nvPr/>
        </p:nvSpPr>
        <p:spPr>
          <a:xfrm>
            <a:off x="640080" y="5074920"/>
            <a:ext cx="3840480" cy="0"/>
          </a:xfrm>
          <a:prstGeom prst="line">
            <a:avLst/>
          </a:prstGeom>
          <a:noFill/>
          <a:ln w="12700">
            <a:solidFill>
              <a:srgbClr val="FFFFFF">
                <a:alpha val="25000"/>
              </a:srgbClr>
            </a:solidFill>
            <a:prstDash val="solid"/>
          </a:ln>
        </p:spPr>
      </p:sp>
      <p:sp>
        <p:nvSpPr>
          <p:cNvPr id="9" name="Text 6"/>
          <p:cNvSpPr/>
          <p:nvPr/>
        </p:nvSpPr>
        <p:spPr>
          <a:xfrm>
            <a:off x="640080" y="5212080"/>
            <a:ext cx="7315200" cy="36576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Training deck · client-ready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AGENDA</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we'll cover</a:t>
            </a:r>
            <a:endParaRPr lang="en-US" sz="3000" dirty="0"/>
          </a:p>
        </p:txBody>
      </p:sp>
      <p:sp>
        <p:nvSpPr>
          <p:cNvPr id="5" name="Text 3"/>
          <p:cNvSpPr/>
          <p:nvPr/>
        </p:nvSpPr>
        <p:spPr>
          <a:xfrm>
            <a:off x="640080" y="16642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01</a:t>
            </a:r>
            <a:endParaRPr lang="en-US" sz="3400" dirty="0"/>
          </a:p>
        </p:txBody>
      </p:sp>
      <p:sp>
        <p:nvSpPr>
          <p:cNvPr id="6" name="Text 4"/>
          <p:cNvSpPr/>
          <p:nvPr/>
        </p:nvSpPr>
        <p:spPr>
          <a:xfrm>
            <a:off x="1737360" y="17007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Meet Cowork</a:t>
            </a:r>
            <a:endParaRPr lang="en-US" sz="1900" dirty="0"/>
          </a:p>
        </p:txBody>
      </p:sp>
      <p:sp>
        <p:nvSpPr>
          <p:cNvPr id="7" name="Text 5"/>
          <p:cNvSpPr/>
          <p:nvPr/>
        </p:nvSpPr>
        <p:spPr>
          <a:xfrm>
            <a:off x="1737360" y="21214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What agentic AI is, and how it differs from Copilot Chat</a:t>
            </a:r>
            <a:endParaRPr lang="en-US" sz="1350" dirty="0"/>
          </a:p>
        </p:txBody>
      </p:sp>
      <p:sp>
        <p:nvSpPr>
          <p:cNvPr id="8" name="Text 6"/>
          <p:cNvSpPr/>
          <p:nvPr/>
        </p:nvSpPr>
        <p:spPr>
          <a:xfrm>
            <a:off x="640080" y="25786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02</a:t>
            </a:r>
            <a:endParaRPr lang="en-US" sz="3400" dirty="0"/>
          </a:p>
        </p:txBody>
      </p:sp>
      <p:sp>
        <p:nvSpPr>
          <p:cNvPr id="9" name="Text 7"/>
          <p:cNvSpPr/>
          <p:nvPr/>
        </p:nvSpPr>
        <p:spPr>
          <a:xfrm>
            <a:off x="1737360" y="26151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Core capabilities</a:t>
            </a:r>
            <a:endParaRPr lang="en-US" sz="1900" dirty="0"/>
          </a:p>
        </p:txBody>
      </p:sp>
      <p:sp>
        <p:nvSpPr>
          <p:cNvPr id="10" name="Text 8"/>
          <p:cNvSpPr/>
          <p:nvPr/>
        </p:nvSpPr>
        <p:spPr>
          <a:xfrm>
            <a:off x="1737360" y="30358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Skills, workspace, approval before action, self-verification</a:t>
            </a:r>
            <a:endParaRPr lang="en-US" sz="1350" dirty="0"/>
          </a:p>
        </p:txBody>
      </p:sp>
      <p:sp>
        <p:nvSpPr>
          <p:cNvPr id="11" name="Text 9"/>
          <p:cNvSpPr/>
          <p:nvPr/>
        </p:nvSpPr>
        <p:spPr>
          <a:xfrm>
            <a:off x="640080" y="34930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03</a:t>
            </a:r>
            <a:endParaRPr lang="en-US" sz="3400" dirty="0"/>
          </a:p>
        </p:txBody>
      </p:sp>
      <p:sp>
        <p:nvSpPr>
          <p:cNvPr id="12" name="Text 10"/>
          <p:cNvSpPr/>
          <p:nvPr/>
        </p:nvSpPr>
        <p:spPr>
          <a:xfrm>
            <a:off x="1737360" y="35295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Set up your practice environment</a:t>
            </a:r>
            <a:endParaRPr lang="en-US" sz="1900" dirty="0"/>
          </a:p>
        </p:txBody>
      </p:sp>
      <p:sp>
        <p:nvSpPr>
          <p:cNvPr id="13" name="Text 11"/>
          <p:cNvSpPr/>
          <p:nvPr/>
        </p:nvSpPr>
        <p:spPr>
          <a:xfrm>
            <a:off x="1737360" y="39502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Seed the material into OneDrive and your mailbox first, so Cowork finds it itself</a:t>
            </a:r>
            <a:endParaRPr lang="en-US" sz="1350" dirty="0"/>
          </a:p>
        </p:txBody>
      </p:sp>
      <p:sp>
        <p:nvSpPr>
          <p:cNvPr id="14" name="Text 12"/>
          <p:cNvSpPr/>
          <p:nvPr/>
        </p:nvSpPr>
        <p:spPr>
          <a:xfrm>
            <a:off x="640080" y="44074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04</a:t>
            </a:r>
            <a:endParaRPr lang="en-US" sz="3400" dirty="0"/>
          </a:p>
        </p:txBody>
      </p:sp>
      <p:sp>
        <p:nvSpPr>
          <p:cNvPr id="15" name="Text 13"/>
          <p:cNvSpPr/>
          <p:nvPr/>
        </p:nvSpPr>
        <p:spPr>
          <a:xfrm>
            <a:off x="1737360" y="44439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Seven hands-on scenarios</a:t>
            </a:r>
            <a:endParaRPr lang="en-US" sz="1900" dirty="0"/>
          </a:p>
        </p:txBody>
      </p:sp>
      <p:sp>
        <p:nvSpPr>
          <p:cNvPr id="16" name="Text 14"/>
          <p:cNvSpPr/>
          <p:nvPr/>
        </p:nvSpPr>
        <p:spPr>
          <a:xfrm>
            <a:off x="1737360" y="48646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Anniversary war room, stockout check, receiving-variance claims, pickup-peak staffing, overdue-order escalation, Monday briefing, channel-discount exceptions — one workflow at a time</a:t>
            </a:r>
            <a:endParaRPr lang="en-US" sz="1350" dirty="0"/>
          </a:p>
        </p:txBody>
      </p:sp>
      <p:sp>
        <p:nvSpPr>
          <p:cNvPr id="17" name="Text 15"/>
          <p:cNvSpPr/>
          <p:nvPr/>
        </p:nvSpPr>
        <p:spPr>
          <a:xfrm>
            <a:off x="640080" y="5321808"/>
            <a:ext cx="1005840" cy="822960"/>
          </a:xfrm>
          <a:prstGeom prst="rect">
            <a:avLst/>
          </a:prstGeom>
          <a:noFill/>
          <a:ln/>
        </p:spPr>
        <p:txBody>
          <a:bodyPr wrap="square" rtlCol="0" anchor="ctr"/>
          <a:lstStyle/>
          <a:p>
            <a:pPr algn="l" indent="0" marL="0">
              <a:buNone/>
            </a:pPr>
            <a:r>
              <a:rPr lang="en-US" sz="3400" b="1" dirty="0">
                <a:solidFill>
                  <a:srgbClr val="6366F1"/>
                </a:solidFill>
                <a:latin typeface="Segoe UI" pitchFamily="34" charset="0"/>
                <a:ea typeface="Segoe UI" pitchFamily="34" charset="-122"/>
                <a:cs typeface="Segoe UI" pitchFamily="34" charset="-120"/>
              </a:rPr>
              <a:t>05</a:t>
            </a:r>
            <a:endParaRPr lang="en-US" sz="3400" dirty="0"/>
          </a:p>
        </p:txBody>
      </p:sp>
      <p:sp>
        <p:nvSpPr>
          <p:cNvPr id="18" name="Text 16"/>
          <p:cNvSpPr/>
          <p:nvPr/>
        </p:nvSpPr>
        <p:spPr>
          <a:xfrm>
            <a:off x="1737360" y="5358384"/>
            <a:ext cx="3657600" cy="457200"/>
          </a:xfrm>
          <a:prstGeom prst="rect">
            <a:avLst/>
          </a:prstGeom>
          <a:noFill/>
          <a:ln/>
        </p:spPr>
        <p:txBody>
          <a:bodyPr wrap="square" rtlCol="0" anchor="ctr"/>
          <a:lstStyle/>
          <a:p>
            <a:pPr indent="0" marL="0">
              <a:buNone/>
            </a:pPr>
            <a:r>
              <a:rPr lang="en-US" sz="1900" b="1" dirty="0">
                <a:solidFill>
                  <a:srgbClr val="1E2235"/>
                </a:solidFill>
                <a:latin typeface="Segoe UI" pitchFamily="34" charset="0"/>
                <a:ea typeface="Segoe UI" pitchFamily="34" charset="-122"/>
                <a:cs typeface="Segoe UI" pitchFamily="34" charset="-120"/>
              </a:rPr>
              <a:t>Make it your own</a:t>
            </a:r>
            <a:endParaRPr lang="en-US" sz="1900" dirty="0"/>
          </a:p>
        </p:txBody>
      </p:sp>
      <p:sp>
        <p:nvSpPr>
          <p:cNvPr id="19" name="Text 17"/>
          <p:cNvSpPr/>
          <p:nvPr/>
        </p:nvSpPr>
        <p:spPr>
          <a:xfrm>
            <a:off x="1737360" y="5779008"/>
            <a:ext cx="9601200" cy="365760"/>
          </a:xfrm>
          <a:prstGeom prst="rect">
            <a:avLst/>
          </a:prstGeom>
          <a:noFill/>
          <a:ln/>
        </p:spPr>
        <p:txBody>
          <a:bodyPr wrap="square" rtlCol="0" anchor="ctr"/>
          <a:lstStyle/>
          <a:p>
            <a:pPr indent="0" marL="0">
              <a:buNone/>
            </a:pPr>
            <a:r>
              <a:rPr lang="en-US" sz="1350" dirty="0">
                <a:solidFill>
                  <a:srgbClr val="5B6079"/>
                </a:solidFill>
                <a:latin typeface="Segoe UI" pitchFamily="34" charset="0"/>
                <a:ea typeface="Segoe UI" pitchFamily="34" charset="-122"/>
                <a:cs typeface="Segoe UI" pitchFamily="34" charset="-120"/>
              </a:rPr>
              <a:t>How to extend these scenarios to your own work</a:t>
            </a:r>
            <a:endParaRPr lang="en-US" sz="1350" dirty="0"/>
          </a:p>
        </p:txBody>
      </p:sp>
      <p:sp>
        <p:nvSpPr>
          <p:cNvPr id="20" name="Text 18"/>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9"/>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WHAT IS COWORK</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From "chat" to "agentic execution"</a:t>
            </a:r>
            <a:endParaRPr lang="en-US" sz="3000" dirty="0"/>
          </a:p>
        </p:txBody>
      </p:sp>
      <p:sp>
        <p:nvSpPr>
          <p:cNvPr id="5" name="Text 3"/>
          <p:cNvSpPr/>
          <p:nvPr/>
        </p:nvSpPr>
        <p:spPr>
          <a:xfrm>
            <a:off x="640080" y="1737360"/>
            <a:ext cx="10881360" cy="457200"/>
          </a:xfrm>
          <a:prstGeom prst="rect">
            <a:avLst/>
          </a:prstGeom>
          <a:noFill/>
          <a:ln/>
        </p:spPr>
        <p:txBody>
          <a:bodyPr wrap="square" rtlCol="0" anchor="ctr"/>
          <a:lstStyle/>
          <a:p>
            <a:pPr indent="0" marL="0">
              <a:buNone/>
            </a:pPr>
            <a:r>
              <a:rPr lang="en-US" sz="2200" dirty="0">
                <a:solidFill>
                  <a:srgbClr val="000000"/>
                </a:solidFill>
                <a:latin typeface="Segoe UI" pitchFamily="34" charset="0"/>
                <a:ea typeface="Segoe UI" pitchFamily="34" charset="-122"/>
                <a:cs typeface="Segoe UI" pitchFamily="34" charset="-120"/>
              </a:rPr>
              <a:t>Cowork is Copilot's </a:t>
            </a:r>
            <a:pPr indent="0" marL="0">
              <a:buNone/>
            </a:pPr>
            <a:r>
              <a:rPr lang="en-US" sz="2200" b="1" dirty="0">
                <a:solidFill>
                  <a:srgbClr val="6366F1"/>
                </a:solidFill>
                <a:latin typeface="Segoe UI" pitchFamily="34" charset="0"/>
                <a:ea typeface="Segoe UI" pitchFamily="34" charset="-122"/>
                <a:cs typeface="Segoe UI" pitchFamily="34" charset="-120"/>
              </a:rPr>
              <a:t>agentic</a:t>
            </a:r>
            <a:pPr indent="0" marL="0">
              <a:buNone/>
            </a:pPr>
            <a:r>
              <a:rPr lang="en-US" sz="2200" dirty="0">
                <a:solidFill>
                  <a:srgbClr val="000000"/>
                </a:solidFill>
                <a:latin typeface="Segoe UI" pitchFamily="34" charset="0"/>
                <a:ea typeface="Segoe UI" pitchFamily="34" charset="-122"/>
                <a:cs typeface="Segoe UI" pitchFamily="34" charset="-120"/>
              </a:rPr>
              <a:t> working mode.</a:t>
            </a:r>
            <a:endParaRPr lang="en-US" sz="2200" dirty="0"/>
          </a:p>
        </p:txBody>
      </p:sp>
      <p:sp>
        <p:nvSpPr>
          <p:cNvPr id="6" name="Text 4"/>
          <p:cNvSpPr/>
          <p:nvPr/>
        </p:nvSpPr>
        <p:spPr>
          <a:xfrm>
            <a:off x="640080" y="2286000"/>
            <a:ext cx="10881360" cy="914400"/>
          </a:xfrm>
          <a:prstGeom prst="rect">
            <a:avLst/>
          </a:prstGeom>
          <a:noFill/>
          <a:ln/>
        </p:spPr>
        <p:txBody>
          <a:bodyPr wrap="square" rtlCol="0" anchor="ctr"/>
          <a:lstStyle/>
          <a:p>
            <a:pPr indent="0" marL="0">
              <a:lnSpc>
                <a:spcPct val="130000"/>
              </a:lnSpc>
              <a:buNone/>
            </a:pPr>
            <a:r>
              <a:rPr lang="en-US" sz="1500" dirty="0">
                <a:solidFill>
                  <a:srgbClr val="5B6079"/>
                </a:solidFill>
                <a:latin typeface="Segoe UI" pitchFamily="34" charset="0"/>
                <a:ea typeface="Segoe UI" pitchFamily="34" charset="-122"/>
                <a:cs typeface="Segoe UI" pitchFamily="34" charset="-120"/>
              </a:rPr>
              <a:t>You hand it a goal; it breaks the work into steps, reads your cloud files, loads the skills it needs, produces results across apps and checks its own work — pausing for your approval, with a risk level shown, before any medium or high-risk action. You move from quick single-turn answers to handing over a task that actually gets done.</a:t>
            </a:r>
            <a:endParaRPr lang="en-US" sz="1500" dirty="0"/>
          </a:p>
        </p:txBody>
      </p:sp>
      <p:sp>
        <p:nvSpPr>
          <p:cNvPr id="7" name="Shape 5"/>
          <p:cNvSpPr/>
          <p:nvPr/>
        </p:nvSpPr>
        <p:spPr>
          <a:xfrm>
            <a:off x="640080"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8" name="Shape 6"/>
          <p:cNvSpPr/>
          <p:nvPr/>
        </p:nvSpPr>
        <p:spPr>
          <a:xfrm>
            <a:off x="640080" y="3611880"/>
            <a:ext cx="3454298" cy="82296"/>
          </a:xfrm>
          <a:prstGeom prst="rect">
            <a:avLst/>
          </a:prstGeom>
          <a:solidFill>
            <a:srgbClr val="94A3B8"/>
          </a:solidFill>
          <a:ln/>
        </p:spPr>
      </p:sp>
      <p:pic>
        <p:nvPicPr>
          <p:cNvPr id="9" name="Image 0" descr="preencoded.png">    </p:cNvPr>
          <p:cNvPicPr>
            <a:picLocks noChangeAspect="1"/>
          </p:cNvPicPr>
          <p:nvPr/>
        </p:nvPicPr>
        <p:blipFill>
          <a:blip r:embed="rId1"/>
          <a:stretch>
            <a:fillRect/>
          </a:stretch>
        </p:blipFill>
        <p:spPr>
          <a:xfrm>
            <a:off x="960120" y="3931920"/>
            <a:ext cx="457200" cy="457200"/>
          </a:xfrm>
          <a:prstGeom prst="rect">
            <a:avLst/>
          </a:prstGeom>
        </p:spPr>
      </p:pic>
      <p:sp>
        <p:nvSpPr>
          <p:cNvPr id="10" name="Text 7"/>
          <p:cNvSpPr/>
          <p:nvPr/>
        </p:nvSpPr>
        <p:spPr>
          <a:xfrm>
            <a:off x="960120"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Copilot Chat</a:t>
            </a:r>
            <a:endParaRPr lang="en-US" sz="1700" dirty="0"/>
          </a:p>
        </p:txBody>
      </p:sp>
      <p:sp>
        <p:nvSpPr>
          <p:cNvPr id="11" name="Text 8"/>
          <p:cNvSpPr/>
          <p:nvPr/>
        </p:nvSpPr>
        <p:spPr>
          <a:xfrm>
            <a:off x="960120"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Quick single-turn answers; great for instant replies and brainstorming.</a:t>
            </a:r>
            <a:endParaRPr lang="en-US" sz="1400" dirty="0"/>
          </a:p>
        </p:txBody>
      </p:sp>
      <p:sp>
        <p:nvSpPr>
          <p:cNvPr id="12" name="Shape 9"/>
          <p:cNvSpPr/>
          <p:nvPr/>
        </p:nvSpPr>
        <p:spPr>
          <a:xfrm>
            <a:off x="4368698"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13" name="Shape 10"/>
          <p:cNvSpPr/>
          <p:nvPr/>
        </p:nvSpPr>
        <p:spPr>
          <a:xfrm>
            <a:off x="4368698" y="3611880"/>
            <a:ext cx="3454298" cy="82296"/>
          </a:xfrm>
          <a:prstGeom prst="rect">
            <a:avLst/>
          </a:prstGeom>
          <a:solidFill>
            <a:srgbClr val="6366F1"/>
          </a:solidFill>
          <a:ln/>
        </p:spPr>
      </p:sp>
      <p:pic>
        <p:nvPicPr>
          <p:cNvPr id="14" name="Image 1" descr="preencoded.png">    </p:cNvPr>
          <p:cNvPicPr>
            <a:picLocks noChangeAspect="1"/>
          </p:cNvPicPr>
          <p:nvPr/>
        </p:nvPicPr>
        <p:blipFill>
          <a:blip r:embed="rId2"/>
          <a:stretch>
            <a:fillRect/>
          </a:stretch>
        </p:blipFill>
        <p:spPr>
          <a:xfrm>
            <a:off x="4688738" y="3931920"/>
            <a:ext cx="457200" cy="457200"/>
          </a:xfrm>
          <a:prstGeom prst="rect">
            <a:avLst/>
          </a:prstGeom>
        </p:spPr>
      </p:pic>
      <p:sp>
        <p:nvSpPr>
          <p:cNvPr id="15" name="Text 11"/>
          <p:cNvSpPr/>
          <p:nvPr/>
        </p:nvSpPr>
        <p:spPr>
          <a:xfrm>
            <a:off x="4688738"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Cowork agent</a:t>
            </a:r>
            <a:endParaRPr lang="en-US" sz="1700" dirty="0"/>
          </a:p>
        </p:txBody>
      </p:sp>
      <p:sp>
        <p:nvSpPr>
          <p:cNvPr id="16" name="Text 12"/>
          <p:cNvSpPr/>
          <p:nvPr/>
        </p:nvSpPr>
        <p:spPr>
          <a:xfrm>
            <a:off x="4688738"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You give a goal; it executes autonomously across apps, for minutes to hours.</a:t>
            </a:r>
            <a:endParaRPr lang="en-US" sz="1400" dirty="0"/>
          </a:p>
        </p:txBody>
      </p:sp>
      <p:sp>
        <p:nvSpPr>
          <p:cNvPr id="17" name="Shape 13"/>
          <p:cNvSpPr/>
          <p:nvPr/>
        </p:nvSpPr>
        <p:spPr>
          <a:xfrm>
            <a:off x="8097317" y="3611880"/>
            <a:ext cx="3454298" cy="228600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8000"/>
              </a:srgbClr>
            </a:outerShdw>
          </a:effectLst>
        </p:spPr>
      </p:sp>
      <p:sp>
        <p:nvSpPr>
          <p:cNvPr id="18" name="Shape 14"/>
          <p:cNvSpPr/>
          <p:nvPr/>
        </p:nvSpPr>
        <p:spPr>
          <a:xfrm>
            <a:off x="8097317" y="3611880"/>
            <a:ext cx="3454298" cy="82296"/>
          </a:xfrm>
          <a:prstGeom prst="rect">
            <a:avLst/>
          </a:prstGeom>
          <a:solidFill>
            <a:srgbClr val="8B5CF6"/>
          </a:solidFill>
          <a:ln/>
        </p:spPr>
      </p:sp>
      <p:pic>
        <p:nvPicPr>
          <p:cNvPr id="19" name="Image 2" descr="preencoded.png">    </p:cNvPr>
          <p:cNvPicPr>
            <a:picLocks noChangeAspect="1"/>
          </p:cNvPicPr>
          <p:nvPr/>
        </p:nvPicPr>
        <p:blipFill>
          <a:blip r:embed="rId3"/>
          <a:stretch>
            <a:fillRect/>
          </a:stretch>
        </p:blipFill>
        <p:spPr>
          <a:xfrm>
            <a:off x="8417357" y="3931920"/>
            <a:ext cx="457200" cy="457200"/>
          </a:xfrm>
          <a:prstGeom prst="rect">
            <a:avLst/>
          </a:prstGeom>
        </p:spPr>
      </p:pic>
      <p:sp>
        <p:nvSpPr>
          <p:cNvPr id="20" name="Text 15"/>
          <p:cNvSpPr/>
          <p:nvPr/>
        </p:nvSpPr>
        <p:spPr>
          <a:xfrm>
            <a:off x="8417357" y="4526280"/>
            <a:ext cx="2814218" cy="365760"/>
          </a:xfrm>
          <a:prstGeom prst="rect">
            <a:avLst/>
          </a:prstGeom>
          <a:noFill/>
          <a:ln/>
        </p:spPr>
        <p:txBody>
          <a:bodyPr wrap="square" rtlCol="0" anchor="ctr"/>
          <a:lstStyle/>
          <a:p>
            <a:pPr indent="0" marL="0">
              <a:buNone/>
            </a:pPr>
            <a:r>
              <a:rPr lang="en-US" sz="1700" b="1" dirty="0">
                <a:solidFill>
                  <a:srgbClr val="1E2235"/>
                </a:solidFill>
                <a:latin typeface="Segoe UI" pitchFamily="34" charset="0"/>
                <a:ea typeface="Segoe UI" pitchFamily="34" charset="-122"/>
                <a:cs typeface="Segoe UI" pitchFamily="34" charset="-120"/>
              </a:rPr>
              <a:t>You stay in charge</a:t>
            </a:r>
            <a:endParaRPr lang="en-US" sz="1700" dirty="0"/>
          </a:p>
        </p:txBody>
      </p:sp>
      <p:sp>
        <p:nvSpPr>
          <p:cNvPr id="21" name="Text 16"/>
          <p:cNvSpPr/>
          <p:nvPr/>
        </p:nvSpPr>
        <p:spPr>
          <a:xfrm>
            <a:off x="8417357" y="4937760"/>
            <a:ext cx="2814218" cy="822960"/>
          </a:xfrm>
          <a:prstGeom prst="rect">
            <a:avLst/>
          </a:prstGeom>
          <a:noFill/>
          <a:ln/>
        </p:spPr>
        <p:txBody>
          <a:bodyPr wrap="square" rtlCol="0" anchor="ctr"/>
          <a:lstStyle/>
          <a:p>
            <a:pPr indent="0" marL="0">
              <a:lnSpc>
                <a:spcPct val="125000"/>
              </a:lnSpc>
              <a:buNone/>
            </a:pPr>
            <a:r>
              <a:rPr lang="en-US" sz="1400" dirty="0">
                <a:solidFill>
                  <a:srgbClr val="5B6079"/>
                </a:solidFill>
                <a:latin typeface="Segoe UI" pitchFamily="34" charset="0"/>
                <a:ea typeface="Segoe UI" pitchFamily="34" charset="-122"/>
                <a:cs typeface="Segoe UI" pitchFamily="34" charset="-120"/>
              </a:rPr>
              <a:t>Anything outbound or affecting others pauses for your approval.</a:t>
            </a:r>
            <a:endParaRPr lang="en-US" sz="1400" dirty="0"/>
          </a:p>
        </p:txBody>
      </p:sp>
      <p:sp>
        <p:nvSpPr>
          <p:cNvPr id="22" name="Text 17"/>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3" name="Text 18"/>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COMPARISON</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Cowork vs. Copilot Chat</a:t>
            </a:r>
            <a:endParaRPr lang="en-US" sz="3000" dirty="0"/>
          </a:p>
        </p:txBody>
      </p:sp>
      <p:sp>
        <p:nvSpPr>
          <p:cNvPr id="5" name="Shape 3"/>
          <p:cNvSpPr/>
          <p:nvPr/>
        </p:nvSpPr>
        <p:spPr>
          <a:xfrm>
            <a:off x="640080" y="1737360"/>
            <a:ext cx="2743200" cy="457200"/>
          </a:xfrm>
          <a:prstGeom prst="rect">
            <a:avLst/>
          </a:prstGeom>
          <a:solidFill>
            <a:srgbClr val="EEF0F8"/>
          </a:solidFill>
          <a:ln/>
        </p:spPr>
      </p:sp>
      <p:sp>
        <p:nvSpPr>
          <p:cNvPr id="6" name="Shape 4"/>
          <p:cNvSpPr/>
          <p:nvPr/>
        </p:nvSpPr>
        <p:spPr>
          <a:xfrm>
            <a:off x="3383280" y="1737360"/>
            <a:ext cx="4023360" cy="457200"/>
          </a:xfrm>
          <a:prstGeom prst="rect">
            <a:avLst/>
          </a:prstGeom>
          <a:solidFill>
            <a:srgbClr val="0F1031"/>
          </a:solidFill>
          <a:ln/>
        </p:spPr>
      </p:sp>
      <p:sp>
        <p:nvSpPr>
          <p:cNvPr id="7" name="Shape 5"/>
          <p:cNvSpPr/>
          <p:nvPr/>
        </p:nvSpPr>
        <p:spPr>
          <a:xfrm>
            <a:off x="7406640" y="1737360"/>
            <a:ext cx="4142232" cy="457200"/>
          </a:xfrm>
          <a:prstGeom prst="rect">
            <a:avLst/>
          </a:prstGeom>
          <a:solidFill>
            <a:srgbClr val="6366F1"/>
          </a:solidFill>
          <a:ln/>
        </p:spPr>
      </p:sp>
      <p:sp>
        <p:nvSpPr>
          <p:cNvPr id="8" name="Text 6"/>
          <p:cNvSpPr/>
          <p:nvPr/>
        </p:nvSpPr>
        <p:spPr>
          <a:xfrm>
            <a:off x="640080" y="1737360"/>
            <a:ext cx="2743200" cy="457200"/>
          </a:xfrm>
          <a:prstGeom prst="rect">
            <a:avLst/>
          </a:prstGeom>
          <a:noFill/>
          <a:ln/>
        </p:spPr>
        <p:txBody>
          <a:bodyPr wrap="square" rtlCol="0" anchor="ctr"/>
          <a:lstStyle/>
          <a:p>
            <a:pPr indent="0" marL="0">
              <a:buNone/>
            </a:pPr>
            <a:endParaRPr lang="en-US" dirty="0"/>
          </a:p>
        </p:txBody>
      </p:sp>
      <p:sp>
        <p:nvSpPr>
          <p:cNvPr id="9" name="Text 7"/>
          <p:cNvSpPr/>
          <p:nvPr/>
        </p:nvSpPr>
        <p:spPr>
          <a:xfrm>
            <a:off x="3383280" y="1737360"/>
            <a:ext cx="4023360" cy="45720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Copilot Chat</a:t>
            </a:r>
            <a:endParaRPr lang="en-US" sz="1400" dirty="0"/>
          </a:p>
        </p:txBody>
      </p:sp>
      <p:sp>
        <p:nvSpPr>
          <p:cNvPr id="10" name="Text 8"/>
          <p:cNvSpPr/>
          <p:nvPr/>
        </p:nvSpPr>
        <p:spPr>
          <a:xfrm>
            <a:off x="7406640" y="1737360"/>
            <a:ext cx="4142232" cy="457200"/>
          </a:xfrm>
          <a:prstGeom prst="rect">
            <a:avLst/>
          </a:prstGeom>
          <a:noFill/>
          <a:ln/>
        </p:spPr>
        <p:txBody>
          <a:bodyPr wrap="square"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Copilot Cowork</a:t>
            </a:r>
            <a:endParaRPr lang="en-US" sz="1400" dirty="0"/>
          </a:p>
        </p:txBody>
      </p:sp>
      <p:sp>
        <p:nvSpPr>
          <p:cNvPr id="11" name="Shape 9"/>
          <p:cNvSpPr/>
          <p:nvPr/>
        </p:nvSpPr>
        <p:spPr>
          <a:xfrm>
            <a:off x="640080" y="2194560"/>
            <a:ext cx="10908792" cy="457200"/>
          </a:xfrm>
          <a:prstGeom prst="rect">
            <a:avLst/>
          </a:prstGeom>
          <a:solidFill>
            <a:srgbClr val="F2F4FB"/>
          </a:solidFill>
          <a:ln/>
        </p:spPr>
      </p:sp>
      <p:sp>
        <p:nvSpPr>
          <p:cNvPr id="12" name="Text 10"/>
          <p:cNvSpPr/>
          <p:nvPr/>
        </p:nvSpPr>
        <p:spPr>
          <a:xfrm>
            <a:off x="822960" y="21945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Quick single-turn Q&amp;A</a:t>
            </a:r>
            <a:endParaRPr lang="en-US" sz="1250" dirty="0"/>
          </a:p>
        </p:txBody>
      </p:sp>
      <p:sp>
        <p:nvSpPr>
          <p:cNvPr id="13" name="Text 11"/>
          <p:cNvSpPr/>
          <p:nvPr/>
        </p:nvSpPr>
        <p:spPr>
          <a:xfrm>
            <a:off x="3566160" y="21945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Quick single-turn Q&amp;A</a:t>
            </a:r>
            <a:endParaRPr lang="en-US" sz="1250" dirty="0"/>
          </a:p>
        </p:txBody>
      </p:sp>
      <p:sp>
        <p:nvSpPr>
          <p:cNvPr id="14" name="Text 12"/>
          <p:cNvSpPr/>
          <p:nvPr/>
        </p:nvSpPr>
        <p:spPr>
          <a:xfrm>
            <a:off x="7589520" y="21945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Hand over a goal; autonomous multi-step work across apps</a:t>
            </a:r>
            <a:endParaRPr lang="en-US" sz="1250" dirty="0"/>
          </a:p>
        </p:txBody>
      </p:sp>
      <p:sp>
        <p:nvSpPr>
          <p:cNvPr id="15" name="Shape 13"/>
          <p:cNvSpPr/>
          <p:nvPr/>
        </p:nvSpPr>
        <p:spPr>
          <a:xfrm>
            <a:off x="640080" y="2651760"/>
            <a:ext cx="10908792" cy="457200"/>
          </a:xfrm>
          <a:prstGeom prst="rect">
            <a:avLst/>
          </a:prstGeom>
          <a:solidFill>
            <a:srgbClr val="FFFFFF"/>
          </a:solidFill>
          <a:ln/>
        </p:spPr>
      </p:sp>
      <p:sp>
        <p:nvSpPr>
          <p:cNvPr id="16" name="Text 14"/>
          <p:cNvSpPr/>
          <p:nvPr/>
        </p:nvSpPr>
        <p:spPr>
          <a:xfrm>
            <a:off x="822960" y="26517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Seconds to minutes</a:t>
            </a:r>
            <a:endParaRPr lang="en-US" sz="1250" dirty="0"/>
          </a:p>
        </p:txBody>
      </p:sp>
      <p:sp>
        <p:nvSpPr>
          <p:cNvPr id="17" name="Text 15"/>
          <p:cNvSpPr/>
          <p:nvPr/>
        </p:nvSpPr>
        <p:spPr>
          <a:xfrm>
            <a:off x="3566160" y="26517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Seconds to minutes</a:t>
            </a:r>
            <a:endParaRPr lang="en-US" sz="1250" dirty="0"/>
          </a:p>
        </p:txBody>
      </p:sp>
      <p:sp>
        <p:nvSpPr>
          <p:cNvPr id="18" name="Text 16"/>
          <p:cNvSpPr/>
          <p:nvPr/>
        </p:nvSpPr>
        <p:spPr>
          <a:xfrm>
            <a:off x="7589520" y="26517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Minutes to hours (autonomous)</a:t>
            </a:r>
            <a:endParaRPr lang="en-US" sz="1250" dirty="0"/>
          </a:p>
        </p:txBody>
      </p:sp>
      <p:sp>
        <p:nvSpPr>
          <p:cNvPr id="19" name="Shape 17"/>
          <p:cNvSpPr/>
          <p:nvPr/>
        </p:nvSpPr>
        <p:spPr>
          <a:xfrm>
            <a:off x="640080" y="3108960"/>
            <a:ext cx="10908792" cy="457200"/>
          </a:xfrm>
          <a:prstGeom prst="rect">
            <a:avLst/>
          </a:prstGeom>
          <a:solidFill>
            <a:srgbClr val="F2F4FB"/>
          </a:solidFill>
          <a:ln/>
        </p:spPr>
      </p:sp>
      <p:sp>
        <p:nvSpPr>
          <p:cNvPr id="20" name="Text 18"/>
          <p:cNvSpPr/>
          <p:nvPr/>
        </p:nvSpPr>
        <p:spPr>
          <a:xfrm>
            <a:off x="822960" y="31089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Single step, single session</a:t>
            </a:r>
            <a:endParaRPr lang="en-US" sz="1250" dirty="0"/>
          </a:p>
        </p:txBody>
      </p:sp>
      <p:sp>
        <p:nvSpPr>
          <p:cNvPr id="21" name="Text 19"/>
          <p:cNvSpPr/>
          <p:nvPr/>
        </p:nvSpPr>
        <p:spPr>
          <a:xfrm>
            <a:off x="3566160" y="31089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Single step, single session</a:t>
            </a:r>
            <a:endParaRPr lang="en-US" sz="1250" dirty="0"/>
          </a:p>
        </p:txBody>
      </p:sp>
      <p:sp>
        <p:nvSpPr>
          <p:cNvPr id="22" name="Text 20"/>
          <p:cNvSpPr/>
          <p:nvPr/>
        </p:nvSpPr>
        <p:spPr>
          <a:xfrm>
            <a:off x="7589520" y="31089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Multi-step workflows across tasks and sources</a:t>
            </a:r>
            <a:endParaRPr lang="en-US" sz="1250" dirty="0"/>
          </a:p>
        </p:txBody>
      </p:sp>
      <p:sp>
        <p:nvSpPr>
          <p:cNvPr id="23" name="Shape 21"/>
          <p:cNvSpPr/>
          <p:nvPr/>
        </p:nvSpPr>
        <p:spPr>
          <a:xfrm>
            <a:off x="640080" y="3566160"/>
            <a:ext cx="10908792" cy="457200"/>
          </a:xfrm>
          <a:prstGeom prst="rect">
            <a:avLst/>
          </a:prstGeom>
          <a:solidFill>
            <a:srgbClr val="FFFFFF"/>
          </a:solidFill>
          <a:ln/>
        </p:spPr>
      </p:sp>
      <p:sp>
        <p:nvSpPr>
          <p:cNvPr id="24" name="Text 22"/>
          <p:cNvSpPr/>
          <p:nvPr/>
        </p:nvSpPr>
        <p:spPr>
          <a:xfrm>
            <a:off x="822960" y="35661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Paste in a snippet</a:t>
            </a:r>
            <a:endParaRPr lang="en-US" sz="1250" dirty="0"/>
          </a:p>
        </p:txBody>
      </p:sp>
      <p:sp>
        <p:nvSpPr>
          <p:cNvPr id="25" name="Text 23"/>
          <p:cNvSpPr/>
          <p:nvPr/>
        </p:nvSpPr>
        <p:spPr>
          <a:xfrm>
            <a:off x="3566160" y="35661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Paste in a snippet</a:t>
            </a:r>
            <a:endParaRPr lang="en-US" sz="1250" dirty="0"/>
          </a:p>
        </p:txBody>
      </p:sp>
      <p:sp>
        <p:nvSpPr>
          <p:cNvPr id="26" name="Text 24"/>
          <p:cNvSpPr/>
          <p:nvPr/>
        </p:nvSpPr>
        <p:spPr>
          <a:xfrm>
            <a:off x="7589520" y="35661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Reads cloud attachments and creates new files; no access to local files</a:t>
            </a:r>
            <a:endParaRPr lang="en-US" sz="1250" dirty="0"/>
          </a:p>
        </p:txBody>
      </p:sp>
      <p:sp>
        <p:nvSpPr>
          <p:cNvPr id="27" name="Shape 25"/>
          <p:cNvSpPr/>
          <p:nvPr/>
        </p:nvSpPr>
        <p:spPr>
          <a:xfrm>
            <a:off x="640080" y="4023360"/>
            <a:ext cx="10908792" cy="457200"/>
          </a:xfrm>
          <a:prstGeom prst="rect">
            <a:avLst/>
          </a:prstGeom>
          <a:solidFill>
            <a:srgbClr val="F2F4FB"/>
          </a:solidFill>
          <a:ln/>
        </p:spPr>
      </p:sp>
      <p:sp>
        <p:nvSpPr>
          <p:cNvPr id="28" name="Text 26"/>
          <p:cNvSpPr/>
          <p:nvPr/>
        </p:nvSpPr>
        <p:spPr>
          <a:xfrm>
            <a:off x="822960" y="40233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One conversational capability</a:t>
            </a:r>
            <a:endParaRPr lang="en-US" sz="1250" dirty="0"/>
          </a:p>
        </p:txBody>
      </p:sp>
      <p:sp>
        <p:nvSpPr>
          <p:cNvPr id="29" name="Text 27"/>
          <p:cNvSpPr/>
          <p:nvPr/>
        </p:nvSpPr>
        <p:spPr>
          <a:xfrm>
            <a:off x="3566160" y="40233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One conversational capability</a:t>
            </a:r>
            <a:endParaRPr lang="en-US" sz="1250" dirty="0"/>
          </a:p>
        </p:txBody>
      </p:sp>
      <p:sp>
        <p:nvSpPr>
          <p:cNvPr id="30" name="Text 28"/>
          <p:cNvSpPr/>
          <p:nvPr/>
        </p:nvSpPr>
        <p:spPr>
          <a:xfrm>
            <a:off x="7589520" y="40233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Loads 14 built-in skills plus your custom ones automatically</a:t>
            </a:r>
            <a:endParaRPr lang="en-US" sz="1250" dirty="0"/>
          </a:p>
        </p:txBody>
      </p:sp>
      <p:sp>
        <p:nvSpPr>
          <p:cNvPr id="31" name="Shape 29"/>
          <p:cNvSpPr/>
          <p:nvPr/>
        </p:nvSpPr>
        <p:spPr>
          <a:xfrm>
            <a:off x="640080" y="4480560"/>
            <a:ext cx="10908792" cy="457200"/>
          </a:xfrm>
          <a:prstGeom prst="rect">
            <a:avLst/>
          </a:prstGeom>
          <a:solidFill>
            <a:srgbClr val="FFFFFF"/>
          </a:solidFill>
          <a:ln/>
        </p:spPr>
      </p:sp>
      <p:sp>
        <p:nvSpPr>
          <p:cNvPr id="32" name="Text 30"/>
          <p:cNvSpPr/>
          <p:nvPr/>
        </p:nvSpPr>
        <p:spPr>
          <a:xfrm>
            <a:off x="822960" y="44805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Text in the chat window</a:t>
            </a:r>
            <a:endParaRPr lang="en-US" sz="1250" dirty="0"/>
          </a:p>
        </p:txBody>
      </p:sp>
      <p:sp>
        <p:nvSpPr>
          <p:cNvPr id="33" name="Text 31"/>
          <p:cNvSpPr/>
          <p:nvPr/>
        </p:nvSpPr>
        <p:spPr>
          <a:xfrm>
            <a:off x="3566160" y="44805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Text in the chat window</a:t>
            </a:r>
            <a:endParaRPr lang="en-US" sz="1250" dirty="0"/>
          </a:p>
        </p:txBody>
      </p:sp>
      <p:sp>
        <p:nvSpPr>
          <p:cNvPr id="34" name="Text 32"/>
          <p:cNvSpPr/>
          <p:nvPr/>
        </p:nvSpPr>
        <p:spPr>
          <a:xfrm>
            <a:off x="7589520" y="44805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Real documents, spreadsheets and decks in OneDrive</a:t>
            </a:r>
            <a:endParaRPr lang="en-US" sz="1250" dirty="0"/>
          </a:p>
        </p:txBody>
      </p:sp>
      <p:sp>
        <p:nvSpPr>
          <p:cNvPr id="35" name="Shape 33"/>
          <p:cNvSpPr/>
          <p:nvPr/>
        </p:nvSpPr>
        <p:spPr>
          <a:xfrm>
            <a:off x="640080" y="4937760"/>
            <a:ext cx="10908792" cy="457200"/>
          </a:xfrm>
          <a:prstGeom prst="rect">
            <a:avLst/>
          </a:prstGeom>
          <a:solidFill>
            <a:srgbClr val="F2F4FB"/>
          </a:solidFill>
          <a:ln/>
        </p:spPr>
      </p:sp>
      <p:sp>
        <p:nvSpPr>
          <p:cNvPr id="36" name="Text 34"/>
          <p:cNvSpPr/>
          <p:nvPr/>
        </p:nvSpPr>
        <p:spPr>
          <a:xfrm>
            <a:off x="822960" y="49377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You have to open it and prompt every time</a:t>
            </a:r>
            <a:endParaRPr lang="en-US" sz="1250" dirty="0"/>
          </a:p>
        </p:txBody>
      </p:sp>
      <p:sp>
        <p:nvSpPr>
          <p:cNvPr id="37" name="Text 35"/>
          <p:cNvSpPr/>
          <p:nvPr/>
        </p:nvSpPr>
        <p:spPr>
          <a:xfrm>
            <a:off x="3566160" y="49377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You have to open it and prompt every time</a:t>
            </a:r>
            <a:endParaRPr lang="en-US" sz="1250" dirty="0"/>
          </a:p>
        </p:txBody>
      </p:sp>
      <p:sp>
        <p:nvSpPr>
          <p:cNvPr id="38" name="Text 36"/>
          <p:cNvSpPr/>
          <p:nvPr/>
        </p:nvSpPr>
        <p:spPr>
          <a:xfrm>
            <a:off x="7589520" y="49377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Scheduled prompts / event-driven: runs on incoming mail or an @mention</a:t>
            </a:r>
            <a:endParaRPr lang="en-US" sz="1250" dirty="0"/>
          </a:p>
        </p:txBody>
      </p:sp>
      <p:sp>
        <p:nvSpPr>
          <p:cNvPr id="39" name="Shape 37"/>
          <p:cNvSpPr/>
          <p:nvPr/>
        </p:nvSpPr>
        <p:spPr>
          <a:xfrm>
            <a:off x="640080" y="5394960"/>
            <a:ext cx="10908792" cy="457200"/>
          </a:xfrm>
          <a:prstGeom prst="rect">
            <a:avLst/>
          </a:prstGeom>
          <a:solidFill>
            <a:srgbClr val="FFFFFF"/>
          </a:solidFill>
          <a:ln/>
        </p:spPr>
      </p:sp>
      <p:sp>
        <p:nvSpPr>
          <p:cNvPr id="40" name="Text 38"/>
          <p:cNvSpPr/>
          <p:nvPr/>
        </p:nvSpPr>
        <p:spPr>
          <a:xfrm>
            <a:off x="822960" y="53949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Grounded in M365 data</a:t>
            </a:r>
            <a:endParaRPr lang="en-US" sz="1250" dirty="0"/>
          </a:p>
        </p:txBody>
      </p:sp>
      <p:sp>
        <p:nvSpPr>
          <p:cNvPr id="41" name="Text 39"/>
          <p:cNvSpPr/>
          <p:nvPr/>
        </p:nvSpPr>
        <p:spPr>
          <a:xfrm>
            <a:off x="3566160" y="53949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Grounded in M365 data</a:t>
            </a:r>
            <a:endParaRPr lang="en-US" sz="1250" dirty="0"/>
          </a:p>
        </p:txBody>
      </p:sp>
      <p:sp>
        <p:nvSpPr>
          <p:cNvPr id="42" name="Text 40"/>
          <p:cNvSpPr/>
          <p:nvPr/>
        </p:nvSpPr>
        <p:spPr>
          <a:xfrm>
            <a:off x="7589520" y="53949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Connects to external systems via Plugins / MCP — the partner catalogue now lists 92 plugins (D365, SAP, Fabric and more)</a:t>
            </a:r>
            <a:endParaRPr lang="en-US" sz="1250" dirty="0"/>
          </a:p>
        </p:txBody>
      </p:sp>
      <p:sp>
        <p:nvSpPr>
          <p:cNvPr id="43" name="Shape 41"/>
          <p:cNvSpPr/>
          <p:nvPr/>
        </p:nvSpPr>
        <p:spPr>
          <a:xfrm>
            <a:off x="640080" y="5852160"/>
            <a:ext cx="10908792" cy="457200"/>
          </a:xfrm>
          <a:prstGeom prst="rect">
            <a:avLst/>
          </a:prstGeom>
          <a:solidFill>
            <a:srgbClr val="F2F4FB"/>
          </a:solidFill>
          <a:ln/>
        </p:spPr>
      </p:sp>
      <p:sp>
        <p:nvSpPr>
          <p:cNvPr id="44" name="Text 42"/>
          <p:cNvSpPr/>
          <p:nvPr/>
        </p:nvSpPr>
        <p:spPr>
          <a:xfrm>
            <a:off x="822960" y="5852160"/>
            <a:ext cx="2468880" cy="457200"/>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You judge for yourself</a:t>
            </a:r>
            <a:endParaRPr lang="en-US" sz="1250" dirty="0"/>
          </a:p>
        </p:txBody>
      </p:sp>
      <p:sp>
        <p:nvSpPr>
          <p:cNvPr id="45" name="Text 43"/>
          <p:cNvSpPr/>
          <p:nvPr/>
        </p:nvSpPr>
        <p:spPr>
          <a:xfrm>
            <a:off x="3566160" y="5852160"/>
            <a:ext cx="3657600" cy="457200"/>
          </a:xfrm>
          <a:prstGeom prst="rect">
            <a:avLst/>
          </a:prstGeom>
          <a:noFill/>
          <a:ln/>
        </p:spPr>
        <p:txBody>
          <a:bodyPr wrap="square" rtlCol="0" anchor="ctr"/>
          <a:lstStyle/>
          <a:p>
            <a:pPr indent="0" marL="0">
              <a:buNone/>
            </a:pPr>
            <a:r>
              <a:rPr lang="en-US" sz="1250" dirty="0">
                <a:solidFill>
                  <a:srgbClr val="5B6079"/>
                </a:solidFill>
                <a:latin typeface="Segoe UI" pitchFamily="34" charset="0"/>
                <a:ea typeface="Segoe UI" pitchFamily="34" charset="-122"/>
                <a:cs typeface="Segoe UI" pitchFamily="34" charset="-120"/>
              </a:rPr>
              <a:t>You judge for yourself</a:t>
            </a:r>
            <a:endParaRPr lang="en-US" sz="1250" dirty="0"/>
          </a:p>
        </p:txBody>
      </p:sp>
      <p:sp>
        <p:nvSpPr>
          <p:cNvPr id="46" name="Text 44"/>
          <p:cNvSpPr/>
          <p:nvPr/>
        </p:nvSpPr>
        <p:spPr>
          <a:xfrm>
            <a:off x="7589520" y="5852160"/>
            <a:ext cx="3776472" cy="457200"/>
          </a:xfrm>
          <a:prstGeom prst="rect">
            <a:avLst/>
          </a:prstGeom>
          <a:noFill/>
          <a:ln/>
        </p:spPr>
        <p:txBody>
          <a:bodyPr wrap="square" rtlCol="0" anchor="ctr"/>
          <a:lstStyle/>
          <a:p>
            <a:pPr indent="0" marL="0">
              <a:buNone/>
            </a:pPr>
            <a:r>
              <a:rPr lang="en-US" sz="1250" dirty="0">
                <a:solidFill>
                  <a:srgbClr val="1E2235"/>
                </a:solidFill>
                <a:latin typeface="Segoe UI" pitchFamily="34" charset="0"/>
                <a:ea typeface="Segoe UI" pitchFamily="34" charset="-122"/>
                <a:cs typeface="Segoe UI" pitchFamily="34" charset="-120"/>
              </a:rPr>
              <a:t>Medium/high-risk actions show a risk level and run only after approval</a:t>
            </a:r>
            <a:endParaRPr lang="en-US" sz="1250" dirty="0"/>
          </a:p>
        </p:txBody>
      </p:sp>
      <p:sp>
        <p:nvSpPr>
          <p:cNvPr id="47" name="Text 4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8" name="Text 4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CORE CAPABILITIES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Four things that set Cowork apart</a:t>
            </a:r>
            <a:endParaRPr lang="en-US" sz="3000" dirty="0"/>
          </a:p>
        </p:txBody>
      </p:sp>
      <p:sp>
        <p:nvSpPr>
          <p:cNvPr id="5" name="Shape 3"/>
          <p:cNvSpPr/>
          <p:nvPr/>
        </p:nvSpPr>
        <p:spPr>
          <a:xfrm>
            <a:off x="640080" y="17373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6" name="Shape 4"/>
          <p:cNvSpPr/>
          <p:nvPr/>
        </p:nvSpPr>
        <p:spPr>
          <a:xfrm>
            <a:off x="960120" y="2084832"/>
            <a:ext cx="868680" cy="868680"/>
          </a:xfrm>
          <a:prstGeom prst="roundRect">
            <a:avLst>
              <a:gd name="adj" fmla="val 16842"/>
            </a:avLst>
          </a:prstGeom>
          <a:solidFill>
            <a:srgbClr val="7A4DDB"/>
          </a:solidFill>
          <a:ln/>
        </p:spPr>
      </p:sp>
      <p:pic>
        <p:nvPicPr>
          <p:cNvPr id="7" name="Image 0" descr="preencoded.png">    </p:cNvPr>
          <p:cNvPicPr>
            <a:picLocks noChangeAspect="1"/>
          </p:cNvPicPr>
          <p:nvPr/>
        </p:nvPicPr>
        <p:blipFill>
          <a:blip r:embed="rId1"/>
          <a:stretch>
            <a:fillRect/>
          </a:stretch>
        </p:blipFill>
        <p:spPr>
          <a:xfrm>
            <a:off x="1170432" y="2295144"/>
            <a:ext cx="448056" cy="448056"/>
          </a:xfrm>
          <a:prstGeom prst="rect">
            <a:avLst/>
          </a:prstGeom>
        </p:spPr>
      </p:pic>
      <p:sp>
        <p:nvSpPr>
          <p:cNvPr id="8" name="Text 5"/>
          <p:cNvSpPr/>
          <p:nvPr/>
        </p:nvSpPr>
        <p:spPr>
          <a:xfrm>
            <a:off x="2011680" y="21214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14 built-in skills</a:t>
            </a:r>
            <a:endParaRPr lang="en-US" sz="1800" dirty="0"/>
          </a:p>
        </p:txBody>
      </p:sp>
      <p:sp>
        <p:nvSpPr>
          <p:cNvPr id="9" name="Text 6"/>
          <p:cNvSpPr/>
          <p:nvPr/>
        </p:nvSpPr>
        <p:spPr>
          <a:xfrm>
            <a:off x="2011680" y="26060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Word, Excel, PowerPoint, PDF, Email, Scheduling, Calendar Management, Meetings, Daily Briefing, Enterprise Search, Deep Research, Communications, Adaptive Cards, App (Frontier).</a:t>
            </a:r>
            <a:endParaRPr lang="en-US" sz="1300" dirty="0"/>
          </a:p>
        </p:txBody>
      </p:sp>
      <p:sp>
        <p:nvSpPr>
          <p:cNvPr id="10" name="Shape 7"/>
          <p:cNvSpPr/>
          <p:nvPr/>
        </p:nvSpPr>
        <p:spPr>
          <a:xfrm>
            <a:off x="6324448" y="17373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11" name="Shape 8"/>
          <p:cNvSpPr/>
          <p:nvPr/>
        </p:nvSpPr>
        <p:spPr>
          <a:xfrm>
            <a:off x="6644488" y="2084832"/>
            <a:ext cx="868680" cy="868680"/>
          </a:xfrm>
          <a:prstGeom prst="roundRect">
            <a:avLst>
              <a:gd name="adj" fmla="val 16842"/>
            </a:avLst>
          </a:prstGeom>
          <a:solidFill>
            <a:srgbClr val="0F6CBD"/>
          </a:solidFill>
          <a:ln/>
        </p:spPr>
      </p:sp>
      <p:pic>
        <p:nvPicPr>
          <p:cNvPr id="12" name="Image 1" descr="preencoded.png">    </p:cNvPr>
          <p:cNvPicPr>
            <a:picLocks noChangeAspect="1"/>
          </p:cNvPicPr>
          <p:nvPr/>
        </p:nvPicPr>
        <p:blipFill>
          <a:blip r:embed="rId2"/>
          <a:stretch>
            <a:fillRect/>
          </a:stretch>
        </p:blipFill>
        <p:spPr>
          <a:xfrm>
            <a:off x="6854800" y="2295144"/>
            <a:ext cx="448056" cy="448056"/>
          </a:xfrm>
          <a:prstGeom prst="rect">
            <a:avLst/>
          </a:prstGeom>
        </p:spPr>
      </p:pic>
      <p:sp>
        <p:nvSpPr>
          <p:cNvPr id="13" name="Text 9"/>
          <p:cNvSpPr/>
          <p:nvPr/>
        </p:nvSpPr>
        <p:spPr>
          <a:xfrm>
            <a:off x="7696048" y="21214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Workspace</a:t>
            </a:r>
            <a:endParaRPr lang="en-US" sz="1800" dirty="0"/>
          </a:p>
        </p:txBody>
      </p:sp>
      <p:sp>
        <p:nvSpPr>
          <p:cNvPr id="14" name="Text 10"/>
          <p:cNvSpPr/>
          <p:nvPr/>
        </p:nvSpPr>
        <p:spPr>
          <a:xfrm>
            <a:off x="7696048" y="26060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The side panel shows progress, input files, output files, loaded skills, schedules and granted permissions all at once — the process stays traceable.</a:t>
            </a:r>
            <a:endParaRPr lang="en-US" sz="1300" dirty="0"/>
          </a:p>
        </p:txBody>
      </p:sp>
      <p:sp>
        <p:nvSpPr>
          <p:cNvPr id="15" name="Shape 11"/>
          <p:cNvSpPr/>
          <p:nvPr/>
        </p:nvSpPr>
        <p:spPr>
          <a:xfrm>
            <a:off x="640080" y="42519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16" name="Shape 12"/>
          <p:cNvSpPr/>
          <p:nvPr/>
        </p:nvSpPr>
        <p:spPr>
          <a:xfrm>
            <a:off x="960120" y="4599432"/>
            <a:ext cx="868680" cy="868680"/>
          </a:xfrm>
          <a:prstGeom prst="roundRect">
            <a:avLst>
              <a:gd name="adj" fmla="val 16842"/>
            </a:avLst>
          </a:prstGeom>
          <a:solidFill>
            <a:srgbClr val="0A8F5B"/>
          </a:solidFill>
          <a:ln/>
        </p:spPr>
      </p:sp>
      <p:pic>
        <p:nvPicPr>
          <p:cNvPr id="17" name="Image 2" descr="preencoded.png">    </p:cNvPr>
          <p:cNvPicPr>
            <a:picLocks noChangeAspect="1"/>
          </p:cNvPicPr>
          <p:nvPr/>
        </p:nvPicPr>
        <p:blipFill>
          <a:blip r:embed="rId3"/>
          <a:stretch>
            <a:fillRect/>
          </a:stretch>
        </p:blipFill>
        <p:spPr>
          <a:xfrm>
            <a:off x="1170432" y="4809744"/>
            <a:ext cx="448056" cy="448056"/>
          </a:xfrm>
          <a:prstGeom prst="rect">
            <a:avLst/>
          </a:prstGeom>
        </p:spPr>
      </p:pic>
      <p:sp>
        <p:nvSpPr>
          <p:cNvPr id="18" name="Text 13"/>
          <p:cNvSpPr/>
          <p:nvPr/>
        </p:nvSpPr>
        <p:spPr>
          <a:xfrm>
            <a:off x="2011680" y="46360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Approval before action</a:t>
            </a:r>
            <a:endParaRPr lang="en-US" sz="1800" dirty="0"/>
          </a:p>
        </p:txBody>
      </p:sp>
      <p:sp>
        <p:nvSpPr>
          <p:cNvPr id="19" name="Text 14"/>
          <p:cNvSpPr/>
          <p:nvPr/>
        </p:nvSpPr>
        <p:spPr>
          <a:xfrm>
            <a:off x="2011680" y="5120640"/>
            <a:ext cx="3626968" cy="1325880"/>
          </a:xfrm>
          <a:prstGeom prst="rect">
            <a:avLst/>
          </a:prstGeom>
          <a:noFill/>
          <a:ln/>
        </p:spPr>
        <p:txBody>
          <a:bodyPr wrap="square" rtlCol="0" anchor="t"/>
          <a:lstStyle/>
          <a:p>
            <a:pPr indent="0" marL="0">
              <a:lnSpc>
                <a:spcPct val="118000"/>
              </a:lnSpc>
              <a:buNone/>
            </a:pPr>
            <a:r>
              <a:rPr lang="en-US" sz="1300" dirty="0">
                <a:solidFill>
                  <a:srgbClr val="5B6079"/>
                </a:solidFill>
                <a:latin typeface="Segoe UI" pitchFamily="34" charset="0"/>
                <a:ea typeface="Segoe UI" pitchFamily="34" charset="-122"/>
                <a:cs typeface="Segoe UI" pitchFamily="34" charset="-120"/>
              </a:rPr>
              <a:t>Medium/high-risk actions show a RISK-LEVEL; approve, cancel, or set don't-ask-again per recipient, per domain or always; multiple pending actions can be approved together.</a:t>
            </a:r>
            <a:endParaRPr lang="en-US" sz="1300" dirty="0"/>
          </a:p>
        </p:txBody>
      </p:sp>
      <p:sp>
        <p:nvSpPr>
          <p:cNvPr id="20" name="Shape 15"/>
          <p:cNvSpPr/>
          <p:nvPr/>
        </p:nvSpPr>
        <p:spPr>
          <a:xfrm>
            <a:off x="6324448" y="4251960"/>
            <a:ext cx="5227168" cy="2331720"/>
          </a:xfrm>
          <a:prstGeom prst="rect">
            <a:avLst/>
          </a:prstGeom>
          <a:solidFill>
            <a:srgbClr val="FFFFFF"/>
          </a:solidFill>
          <a:ln w="12700">
            <a:solidFill>
              <a:srgbClr val="E4E7F2"/>
            </a:solidFill>
            <a:prstDash val="solid"/>
          </a:ln>
          <a:effectLst>
            <a:outerShdw sx="100000" sy="100000" kx="0" ky="0" algn="bl" rotWithShape="0" blurRad="101600" dist="25400" dir="5400000">
              <a:srgbClr val="9AA0C0">
                <a:alpha val="16000"/>
              </a:srgbClr>
            </a:outerShdw>
          </a:effectLst>
        </p:spPr>
      </p:sp>
      <p:sp>
        <p:nvSpPr>
          <p:cNvPr id="21" name="Shape 16"/>
          <p:cNvSpPr/>
          <p:nvPr/>
        </p:nvSpPr>
        <p:spPr>
          <a:xfrm>
            <a:off x="6644488" y="4599432"/>
            <a:ext cx="868680" cy="868680"/>
          </a:xfrm>
          <a:prstGeom prst="roundRect">
            <a:avLst>
              <a:gd name="adj" fmla="val 16842"/>
            </a:avLst>
          </a:prstGeom>
          <a:solidFill>
            <a:srgbClr val="CA5010"/>
          </a:solidFill>
          <a:ln/>
        </p:spPr>
      </p:sp>
      <p:pic>
        <p:nvPicPr>
          <p:cNvPr id="22" name="Image 3" descr="preencoded.png">    </p:cNvPr>
          <p:cNvPicPr>
            <a:picLocks noChangeAspect="1"/>
          </p:cNvPicPr>
          <p:nvPr/>
        </p:nvPicPr>
        <p:blipFill>
          <a:blip r:embed="rId4"/>
          <a:stretch>
            <a:fillRect/>
          </a:stretch>
        </p:blipFill>
        <p:spPr>
          <a:xfrm>
            <a:off x="6854800" y="4809744"/>
            <a:ext cx="448056" cy="448056"/>
          </a:xfrm>
          <a:prstGeom prst="rect">
            <a:avLst/>
          </a:prstGeom>
        </p:spPr>
      </p:pic>
      <p:sp>
        <p:nvSpPr>
          <p:cNvPr id="23" name="Text 17"/>
          <p:cNvSpPr/>
          <p:nvPr/>
        </p:nvSpPr>
        <p:spPr>
          <a:xfrm>
            <a:off x="7696048" y="4636008"/>
            <a:ext cx="3672688" cy="457200"/>
          </a:xfrm>
          <a:prstGeom prst="rect">
            <a:avLst/>
          </a:prstGeom>
          <a:noFill/>
          <a:ln/>
        </p:spPr>
        <p:txBody>
          <a:bodyPr wrap="square" rtlCol="0" anchor="ctr"/>
          <a:lstStyle/>
          <a:p>
            <a:pPr indent="0" marL="0">
              <a:buNone/>
            </a:pPr>
            <a:r>
              <a:rPr lang="en-US" sz="1800" b="1" dirty="0">
                <a:solidFill>
                  <a:srgbClr val="1E2235"/>
                </a:solidFill>
                <a:latin typeface="Segoe UI" pitchFamily="34" charset="0"/>
                <a:ea typeface="Segoe UI" pitchFamily="34" charset="-122"/>
                <a:cs typeface="Segoe UI" pitchFamily="34" charset="-120"/>
              </a:rPr>
              <a:t>What's new</a:t>
            </a:r>
            <a:endParaRPr lang="en-US" sz="1800" dirty="0"/>
          </a:p>
        </p:txBody>
      </p:sp>
      <p:sp>
        <p:nvSpPr>
          <p:cNvPr id="24" name="Text 18"/>
          <p:cNvSpPr/>
          <p:nvPr/>
        </p:nvSpPr>
        <p:spPr>
          <a:xfrm>
            <a:off x="7696048" y="5120640"/>
            <a:ext cx="3626968" cy="1325880"/>
          </a:xfrm>
          <a:prstGeom prst="rect">
            <a:avLst/>
          </a:prstGeom>
          <a:noFill/>
          <a:ln/>
        </p:spPr>
        <p:txBody>
          <a:bodyPr wrap="square" rtlCol="0" anchor="t"/>
          <a:lstStyle/>
          <a:p>
            <a:pPr indent="0" marL="0">
              <a:lnSpc>
                <a:spcPct val="118000"/>
              </a:lnSpc>
              <a:buNone/>
            </a:pPr>
            <a:r>
              <a:rPr lang="en-US" sz="1050" dirty="0">
                <a:solidFill>
                  <a:srgbClr val="5B6079"/>
                </a:solidFill>
                <a:latin typeface="Segoe UI" pitchFamily="34" charset="0"/>
                <a:ea typeface="Segoe UI" pitchFamily="34" charset="-122"/>
                <a:cs typeface="Segoe UI" pitchFamily="34" charset="-120"/>
              </a:rPr>
              <a:t>Scheduled prompts (up to 25) and event-driven tasks; five Effort levels to balance quality against cost; every custom skill gets an automatic Skill Report (0–100 across four dimensions, plus five separate gates including a Safety and RAI scan); local Edge browser (GA since Aug 2026); image generation; Plugins / MCP for external systems.</a:t>
            </a:r>
            <a:endParaRPr lang="en-US" sz="1050" dirty="0"/>
          </a:p>
        </p:txBody>
      </p:sp>
      <p:sp>
        <p:nvSpPr>
          <p:cNvPr id="25" name="Text 1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6" name="Text 2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HOW IT WORKS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happens inside one agentic workflow</a:t>
            </a:r>
            <a:endParaRPr lang="en-US" sz="3000" dirty="0"/>
          </a:p>
        </p:txBody>
      </p:sp>
      <p:sp>
        <p:nvSpPr>
          <p:cNvPr id="5" name="Shape 3"/>
          <p:cNvSpPr/>
          <p:nvPr/>
        </p:nvSpPr>
        <p:spPr>
          <a:xfrm>
            <a:off x="640080"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6" name="Shape 4"/>
          <p:cNvSpPr/>
          <p:nvPr/>
        </p:nvSpPr>
        <p:spPr>
          <a:xfrm>
            <a:off x="1042416" y="2697480"/>
            <a:ext cx="768096" cy="768096"/>
          </a:xfrm>
          <a:prstGeom prst="ellipse">
            <a:avLst/>
          </a:prstGeom>
          <a:solidFill>
            <a:srgbClr val="6366F1"/>
          </a:solidFill>
          <a:ln/>
        </p:spPr>
      </p:sp>
      <p:pic>
        <p:nvPicPr>
          <p:cNvPr id="7" name="Image 0" descr="preencoded.png">    </p:cNvPr>
          <p:cNvPicPr>
            <a:picLocks noChangeAspect="1"/>
          </p:cNvPicPr>
          <p:nvPr/>
        </p:nvPicPr>
        <p:blipFill>
          <a:blip r:embed="rId1"/>
          <a:stretch>
            <a:fillRect/>
          </a:stretch>
        </p:blipFill>
        <p:spPr>
          <a:xfrm>
            <a:off x="1207008" y="2862072"/>
            <a:ext cx="438912" cy="438912"/>
          </a:xfrm>
          <a:prstGeom prst="rect">
            <a:avLst/>
          </a:prstGeom>
        </p:spPr>
      </p:pic>
      <p:sp>
        <p:nvSpPr>
          <p:cNvPr id="8" name="Text 5"/>
          <p:cNvSpPr/>
          <p:nvPr/>
        </p:nvSpPr>
        <p:spPr>
          <a:xfrm>
            <a:off x="640080"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Take the goal</a:t>
            </a:r>
            <a:endParaRPr lang="en-US" sz="1400" dirty="0"/>
          </a:p>
        </p:txBody>
      </p:sp>
      <p:sp>
        <p:nvSpPr>
          <p:cNvPr id="9" name="Text 6"/>
          <p:cNvSpPr/>
          <p:nvPr/>
        </p:nvSpPr>
        <p:spPr>
          <a:xfrm>
            <a:off x="640080"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Upload files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Give the instruction</a:t>
            </a:r>
            <a:endParaRPr lang="en-US" sz="1200" dirty="0"/>
          </a:p>
        </p:txBody>
      </p:sp>
      <p:pic>
        <p:nvPicPr>
          <p:cNvPr id="10" name="Image 1" descr="preencoded.png">    </p:cNvPr>
          <p:cNvPicPr>
            <a:picLocks noChangeAspect="1"/>
          </p:cNvPicPr>
          <p:nvPr/>
        </p:nvPicPr>
        <p:blipFill>
          <a:blip r:embed="rId2"/>
          <a:stretch>
            <a:fillRect/>
          </a:stretch>
        </p:blipFill>
        <p:spPr>
          <a:xfrm>
            <a:off x="2259757" y="2971800"/>
            <a:ext cx="201168" cy="201168"/>
          </a:xfrm>
          <a:prstGeom prst="rect">
            <a:avLst/>
          </a:prstGeom>
        </p:spPr>
      </p:pic>
      <p:sp>
        <p:nvSpPr>
          <p:cNvPr id="11" name="Shape 7"/>
          <p:cNvSpPr/>
          <p:nvPr/>
        </p:nvSpPr>
        <p:spPr>
          <a:xfrm>
            <a:off x="2507833"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12" name="Shape 8"/>
          <p:cNvSpPr/>
          <p:nvPr/>
        </p:nvSpPr>
        <p:spPr>
          <a:xfrm>
            <a:off x="2910169" y="2697480"/>
            <a:ext cx="768096" cy="768096"/>
          </a:xfrm>
          <a:prstGeom prst="ellipse">
            <a:avLst/>
          </a:prstGeom>
          <a:solidFill>
            <a:srgbClr val="6366F1"/>
          </a:solidFill>
          <a:ln/>
        </p:spPr>
      </p:sp>
      <p:pic>
        <p:nvPicPr>
          <p:cNvPr id="13" name="Image 2" descr="preencoded.png">    </p:cNvPr>
          <p:cNvPicPr>
            <a:picLocks noChangeAspect="1"/>
          </p:cNvPicPr>
          <p:nvPr/>
        </p:nvPicPr>
        <p:blipFill>
          <a:blip r:embed="rId3"/>
          <a:stretch>
            <a:fillRect/>
          </a:stretch>
        </p:blipFill>
        <p:spPr>
          <a:xfrm>
            <a:off x="3074761" y="2862072"/>
            <a:ext cx="438912" cy="438912"/>
          </a:xfrm>
          <a:prstGeom prst="rect">
            <a:avLst/>
          </a:prstGeom>
        </p:spPr>
      </p:pic>
      <p:sp>
        <p:nvSpPr>
          <p:cNvPr id="14" name="Text 9"/>
          <p:cNvSpPr/>
          <p:nvPr/>
        </p:nvSpPr>
        <p:spPr>
          <a:xfrm>
            <a:off x="2507833"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Plan</a:t>
            </a:r>
            <a:endParaRPr lang="en-US" sz="1400" dirty="0"/>
          </a:p>
        </p:txBody>
      </p:sp>
      <p:sp>
        <p:nvSpPr>
          <p:cNvPr id="15" name="Text 10"/>
          <p:cNvSpPr/>
          <p:nvPr/>
        </p:nvSpPr>
        <p:spPr>
          <a:xfrm>
            <a:off x="2507833"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Understand the task</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Break it into steps</a:t>
            </a:r>
            <a:endParaRPr lang="en-US" sz="1200" dirty="0"/>
          </a:p>
        </p:txBody>
      </p:sp>
      <p:pic>
        <p:nvPicPr>
          <p:cNvPr id="16" name="Image 3" descr="preencoded.png">    </p:cNvPr>
          <p:cNvPicPr>
            <a:picLocks noChangeAspect="1"/>
          </p:cNvPicPr>
          <p:nvPr/>
        </p:nvPicPr>
        <p:blipFill>
          <a:blip r:embed="rId4"/>
          <a:stretch>
            <a:fillRect/>
          </a:stretch>
        </p:blipFill>
        <p:spPr>
          <a:xfrm>
            <a:off x="4127510" y="2971800"/>
            <a:ext cx="201168" cy="201168"/>
          </a:xfrm>
          <a:prstGeom prst="rect">
            <a:avLst/>
          </a:prstGeom>
        </p:spPr>
      </p:pic>
      <p:sp>
        <p:nvSpPr>
          <p:cNvPr id="17" name="Shape 11"/>
          <p:cNvSpPr/>
          <p:nvPr/>
        </p:nvSpPr>
        <p:spPr>
          <a:xfrm>
            <a:off x="4375587"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18" name="Shape 12"/>
          <p:cNvSpPr/>
          <p:nvPr/>
        </p:nvSpPr>
        <p:spPr>
          <a:xfrm>
            <a:off x="4777923" y="2697480"/>
            <a:ext cx="768096" cy="768096"/>
          </a:xfrm>
          <a:prstGeom prst="ellipse">
            <a:avLst/>
          </a:prstGeom>
          <a:solidFill>
            <a:srgbClr val="6366F1"/>
          </a:solidFill>
          <a:ln/>
        </p:spPr>
      </p:sp>
      <p:pic>
        <p:nvPicPr>
          <p:cNvPr id="19" name="Image 4" descr="preencoded.png">    </p:cNvPr>
          <p:cNvPicPr>
            <a:picLocks noChangeAspect="1"/>
          </p:cNvPicPr>
          <p:nvPr/>
        </p:nvPicPr>
        <p:blipFill>
          <a:blip r:embed="rId5"/>
          <a:stretch>
            <a:fillRect/>
          </a:stretch>
        </p:blipFill>
        <p:spPr>
          <a:xfrm>
            <a:off x="4942515" y="2862072"/>
            <a:ext cx="438912" cy="438912"/>
          </a:xfrm>
          <a:prstGeom prst="rect">
            <a:avLst/>
          </a:prstGeom>
        </p:spPr>
      </p:pic>
      <p:sp>
        <p:nvSpPr>
          <p:cNvPr id="20" name="Text 13"/>
          <p:cNvSpPr/>
          <p:nvPr/>
        </p:nvSpPr>
        <p:spPr>
          <a:xfrm>
            <a:off x="4375587"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Load skills</a:t>
            </a:r>
            <a:endParaRPr lang="en-US" sz="1400" dirty="0"/>
          </a:p>
        </p:txBody>
      </p:sp>
      <p:sp>
        <p:nvSpPr>
          <p:cNvPr id="21" name="Text 14"/>
          <p:cNvSpPr/>
          <p:nvPr/>
        </p:nvSpPr>
        <p:spPr>
          <a:xfrm>
            <a:off x="4375587"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14 built-in</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 custom</a:t>
            </a:r>
            <a:endParaRPr lang="en-US" sz="1200" dirty="0"/>
          </a:p>
        </p:txBody>
      </p:sp>
      <p:pic>
        <p:nvPicPr>
          <p:cNvPr id="22" name="Image 5" descr="preencoded.png">    </p:cNvPr>
          <p:cNvPicPr>
            <a:picLocks noChangeAspect="1"/>
          </p:cNvPicPr>
          <p:nvPr/>
        </p:nvPicPr>
        <p:blipFill>
          <a:blip r:embed="rId6"/>
          <a:stretch>
            <a:fillRect/>
          </a:stretch>
        </p:blipFill>
        <p:spPr>
          <a:xfrm>
            <a:off x="5995264" y="2971800"/>
            <a:ext cx="201168" cy="201168"/>
          </a:xfrm>
          <a:prstGeom prst="rect">
            <a:avLst/>
          </a:prstGeom>
        </p:spPr>
      </p:pic>
      <p:sp>
        <p:nvSpPr>
          <p:cNvPr id="23" name="Shape 15"/>
          <p:cNvSpPr/>
          <p:nvPr/>
        </p:nvSpPr>
        <p:spPr>
          <a:xfrm>
            <a:off x="6243340"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24" name="Shape 16"/>
          <p:cNvSpPr/>
          <p:nvPr/>
        </p:nvSpPr>
        <p:spPr>
          <a:xfrm>
            <a:off x="6645676" y="2697480"/>
            <a:ext cx="768096" cy="768096"/>
          </a:xfrm>
          <a:prstGeom prst="ellipse">
            <a:avLst/>
          </a:prstGeom>
          <a:solidFill>
            <a:srgbClr val="6366F1"/>
          </a:solidFill>
          <a:ln/>
        </p:spPr>
      </p:sp>
      <p:pic>
        <p:nvPicPr>
          <p:cNvPr id="25" name="Image 6" descr="preencoded.png">    </p:cNvPr>
          <p:cNvPicPr>
            <a:picLocks noChangeAspect="1"/>
          </p:cNvPicPr>
          <p:nvPr/>
        </p:nvPicPr>
        <p:blipFill>
          <a:blip r:embed="rId7"/>
          <a:stretch>
            <a:fillRect/>
          </a:stretch>
        </p:blipFill>
        <p:spPr>
          <a:xfrm>
            <a:off x="6810268" y="2862072"/>
            <a:ext cx="438912" cy="438912"/>
          </a:xfrm>
          <a:prstGeom prst="rect">
            <a:avLst/>
          </a:prstGeom>
        </p:spPr>
      </p:pic>
      <p:sp>
        <p:nvSpPr>
          <p:cNvPr id="26" name="Text 17"/>
          <p:cNvSpPr/>
          <p:nvPr/>
        </p:nvSpPr>
        <p:spPr>
          <a:xfrm>
            <a:off x="6243340"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Execute</a:t>
            </a:r>
            <a:endParaRPr lang="en-US" sz="1400" dirty="0"/>
          </a:p>
        </p:txBody>
      </p:sp>
      <p:sp>
        <p:nvSpPr>
          <p:cNvPr id="27" name="Text 18"/>
          <p:cNvSpPr/>
          <p:nvPr/>
        </p:nvSpPr>
        <p:spPr>
          <a:xfrm>
            <a:off x="6243340"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Create documents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spreadsheets / mail</a:t>
            </a:r>
            <a:endParaRPr lang="en-US" sz="1200" dirty="0"/>
          </a:p>
        </p:txBody>
      </p:sp>
      <p:pic>
        <p:nvPicPr>
          <p:cNvPr id="28" name="Image 7" descr="preencoded.png">    </p:cNvPr>
          <p:cNvPicPr>
            <a:picLocks noChangeAspect="1"/>
          </p:cNvPicPr>
          <p:nvPr/>
        </p:nvPicPr>
        <p:blipFill>
          <a:blip r:embed="rId8"/>
          <a:stretch>
            <a:fillRect/>
          </a:stretch>
        </p:blipFill>
        <p:spPr>
          <a:xfrm>
            <a:off x="7863017" y="2971800"/>
            <a:ext cx="201168" cy="201168"/>
          </a:xfrm>
          <a:prstGeom prst="rect">
            <a:avLst/>
          </a:prstGeom>
        </p:spPr>
      </p:pic>
      <p:sp>
        <p:nvSpPr>
          <p:cNvPr id="29" name="Shape 19"/>
          <p:cNvSpPr/>
          <p:nvPr/>
        </p:nvSpPr>
        <p:spPr>
          <a:xfrm>
            <a:off x="8111094"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30" name="Shape 20"/>
          <p:cNvSpPr/>
          <p:nvPr/>
        </p:nvSpPr>
        <p:spPr>
          <a:xfrm>
            <a:off x="8513430" y="2697480"/>
            <a:ext cx="768096" cy="768096"/>
          </a:xfrm>
          <a:prstGeom prst="ellipse">
            <a:avLst/>
          </a:prstGeom>
          <a:solidFill>
            <a:srgbClr val="6366F1"/>
          </a:solidFill>
          <a:ln/>
        </p:spPr>
      </p:sp>
      <p:pic>
        <p:nvPicPr>
          <p:cNvPr id="31" name="Image 8" descr="preencoded.png">    </p:cNvPr>
          <p:cNvPicPr>
            <a:picLocks noChangeAspect="1"/>
          </p:cNvPicPr>
          <p:nvPr/>
        </p:nvPicPr>
        <p:blipFill>
          <a:blip r:embed="rId9"/>
          <a:stretch>
            <a:fillRect/>
          </a:stretch>
        </p:blipFill>
        <p:spPr>
          <a:xfrm>
            <a:off x="8678022" y="2862072"/>
            <a:ext cx="438912" cy="438912"/>
          </a:xfrm>
          <a:prstGeom prst="rect">
            <a:avLst/>
          </a:prstGeom>
        </p:spPr>
      </p:pic>
      <p:sp>
        <p:nvSpPr>
          <p:cNvPr id="32" name="Text 21"/>
          <p:cNvSpPr/>
          <p:nvPr/>
        </p:nvSpPr>
        <p:spPr>
          <a:xfrm>
            <a:off x="8111094"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Self-verify</a:t>
            </a:r>
            <a:endParaRPr lang="en-US" sz="1400" dirty="0"/>
          </a:p>
        </p:txBody>
      </p:sp>
      <p:sp>
        <p:nvSpPr>
          <p:cNvPr id="33" name="Text 22"/>
          <p:cNvSpPr/>
          <p:nvPr/>
        </p:nvSpPr>
        <p:spPr>
          <a:xfrm>
            <a:off x="8111094"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Check the numbers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and consistency</a:t>
            </a:r>
            <a:endParaRPr lang="en-US" sz="1200" dirty="0"/>
          </a:p>
        </p:txBody>
      </p:sp>
      <p:pic>
        <p:nvPicPr>
          <p:cNvPr id="34" name="Image 9" descr="preencoded.png">    </p:cNvPr>
          <p:cNvPicPr>
            <a:picLocks noChangeAspect="1"/>
          </p:cNvPicPr>
          <p:nvPr/>
        </p:nvPicPr>
        <p:blipFill>
          <a:blip r:embed="rId10"/>
          <a:stretch>
            <a:fillRect/>
          </a:stretch>
        </p:blipFill>
        <p:spPr>
          <a:xfrm>
            <a:off x="9730770" y="2971800"/>
            <a:ext cx="201168" cy="201168"/>
          </a:xfrm>
          <a:prstGeom prst="rect">
            <a:avLst/>
          </a:prstGeom>
        </p:spPr>
      </p:pic>
      <p:sp>
        <p:nvSpPr>
          <p:cNvPr id="35" name="Shape 23"/>
          <p:cNvSpPr/>
          <p:nvPr/>
        </p:nvSpPr>
        <p:spPr>
          <a:xfrm>
            <a:off x="9978847" y="2468880"/>
            <a:ext cx="1572768" cy="1920240"/>
          </a:xfrm>
          <a:prstGeom prst="rect">
            <a:avLst/>
          </a:prstGeom>
          <a:solidFill>
            <a:srgbClr val="FFFFFF"/>
          </a:solidFill>
          <a:ln w="12700">
            <a:solidFill>
              <a:srgbClr val="E4E7F2"/>
            </a:solidFill>
            <a:prstDash val="solid"/>
          </a:ln>
          <a:effectLst>
            <a:outerShdw sx="100000" sy="100000" kx="0" ky="0" algn="bl" rotWithShape="0" blurRad="76200" dist="25400" dir="5400000">
              <a:srgbClr val="9AA0C0">
                <a:alpha val="15000"/>
              </a:srgbClr>
            </a:outerShdw>
          </a:effectLst>
        </p:spPr>
      </p:sp>
      <p:sp>
        <p:nvSpPr>
          <p:cNvPr id="36" name="Shape 24"/>
          <p:cNvSpPr/>
          <p:nvPr/>
        </p:nvSpPr>
        <p:spPr>
          <a:xfrm>
            <a:off x="10381183" y="2697480"/>
            <a:ext cx="768096" cy="768096"/>
          </a:xfrm>
          <a:prstGeom prst="ellipse">
            <a:avLst/>
          </a:prstGeom>
          <a:solidFill>
            <a:srgbClr val="8B5CF6"/>
          </a:solidFill>
          <a:ln/>
        </p:spPr>
      </p:sp>
      <p:pic>
        <p:nvPicPr>
          <p:cNvPr id="37" name="Image 10" descr="preencoded.png">    </p:cNvPr>
          <p:cNvPicPr>
            <a:picLocks noChangeAspect="1"/>
          </p:cNvPicPr>
          <p:nvPr/>
        </p:nvPicPr>
        <p:blipFill>
          <a:blip r:embed="rId11"/>
          <a:stretch>
            <a:fillRect/>
          </a:stretch>
        </p:blipFill>
        <p:spPr>
          <a:xfrm>
            <a:off x="10545775" y="2862072"/>
            <a:ext cx="438912" cy="438912"/>
          </a:xfrm>
          <a:prstGeom prst="rect">
            <a:avLst/>
          </a:prstGeom>
        </p:spPr>
      </p:pic>
      <p:sp>
        <p:nvSpPr>
          <p:cNvPr id="38" name="Text 25"/>
          <p:cNvSpPr/>
          <p:nvPr/>
        </p:nvSpPr>
        <p:spPr>
          <a:xfrm>
            <a:off x="9978847" y="3547872"/>
            <a:ext cx="1572768" cy="329184"/>
          </a:xfrm>
          <a:prstGeom prst="rect">
            <a:avLst/>
          </a:prstGeom>
          <a:noFill/>
          <a:ln/>
        </p:spPr>
        <p:txBody>
          <a:bodyPr wrap="square" rtlCol="0" anchor="ctr"/>
          <a:lstStyle/>
          <a:p>
            <a:pPr algn="ctr" indent="0" marL="0">
              <a:buNone/>
            </a:pPr>
            <a:r>
              <a:rPr lang="en-US" sz="1400" b="1" dirty="0">
                <a:solidFill>
                  <a:srgbClr val="1E2235"/>
                </a:solidFill>
                <a:latin typeface="Segoe UI" pitchFamily="34" charset="0"/>
                <a:ea typeface="Segoe UI" pitchFamily="34" charset="-122"/>
                <a:cs typeface="Segoe UI" pitchFamily="34" charset="-120"/>
              </a:rPr>
              <a:t>Approval before action</a:t>
            </a:r>
            <a:endParaRPr lang="en-US" sz="1400" dirty="0"/>
          </a:p>
        </p:txBody>
      </p:sp>
      <p:sp>
        <p:nvSpPr>
          <p:cNvPr id="39" name="Text 26"/>
          <p:cNvSpPr/>
          <p:nvPr/>
        </p:nvSpPr>
        <p:spPr>
          <a:xfrm>
            <a:off x="9978847" y="3840480"/>
            <a:ext cx="1572768" cy="502920"/>
          </a:xfrm>
          <a:prstGeom prst="rect">
            <a:avLst/>
          </a:prstGeom>
          <a:noFill/>
          <a:ln/>
        </p:spPr>
        <p:txBody>
          <a:bodyPr wrap="square" rtlCol="0" anchor="ctr"/>
          <a:lstStyle/>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Outbound actions</a:t>
            </a:r>
            <a:endParaRPr lang="en-US" sz="1200" dirty="0"/>
          </a:p>
          <a:p>
            <a:pPr algn="ctr" indent="0" marL="0">
              <a:lnSpc>
                <a:spcPct val="110000"/>
              </a:lnSpc>
              <a:buNone/>
            </a:pPr>
            <a:r>
              <a:rPr lang="en-US" sz="1200" dirty="0">
                <a:solidFill>
                  <a:srgbClr val="5B6079"/>
                </a:solidFill>
                <a:latin typeface="Segoe UI" pitchFamily="34" charset="0"/>
                <a:ea typeface="Segoe UI" pitchFamily="34" charset="-122"/>
                <a:cs typeface="Segoe UI" pitchFamily="34" charset="-120"/>
              </a:rPr>
              <a:t>wait for you</a:t>
            </a:r>
            <a:endParaRPr lang="en-US" sz="1200" dirty="0"/>
          </a:p>
        </p:txBody>
      </p:sp>
      <p:sp>
        <p:nvSpPr>
          <p:cNvPr id="40" name="Text 27"/>
          <p:cNvSpPr/>
          <p:nvPr/>
        </p:nvSpPr>
        <p:spPr>
          <a:xfrm>
            <a:off x="640080" y="4937760"/>
            <a:ext cx="10972800" cy="320040"/>
          </a:xfrm>
          <a:prstGeom prst="rect">
            <a:avLst/>
          </a:prstGeom>
          <a:noFill/>
          <a:ln/>
        </p:spPr>
        <p:txBody>
          <a:bodyPr wrap="square" rtlCol="0" anchor="ctr"/>
          <a:lstStyle/>
          <a:p>
            <a:pPr algn="ctr" indent="0" marL="0">
              <a:buNone/>
            </a:pPr>
            <a:r>
              <a:rPr lang="en-US" sz="1400" i="1" dirty="0">
                <a:solidFill>
                  <a:srgbClr val="5B6079"/>
                </a:solidFill>
                <a:latin typeface="Segoe UI" pitchFamily="34" charset="0"/>
                <a:ea typeface="Segoe UI" pitchFamily="34" charset="-122"/>
                <a:cs typeface="Segoe UI" pitchFamily="34" charset="-120"/>
              </a:rPr>
              <a:t>The whole process is visible in the "Workspace" panel; you can soft/hard pause, resume or cancel a task.</a:t>
            </a:r>
            <a:endParaRPr lang="en-US" sz="1400" dirty="0"/>
          </a:p>
        </p:txBody>
      </p:sp>
      <p:sp>
        <p:nvSpPr>
          <p:cNvPr id="41" name="Text 28"/>
          <p:cNvSpPr/>
          <p:nvPr/>
        </p:nvSpPr>
        <p:spPr>
          <a:xfrm>
            <a:off x="640080" y="5285232"/>
            <a:ext cx="10972800" cy="457200"/>
          </a:xfrm>
          <a:prstGeom prst="rect">
            <a:avLst/>
          </a:prstGeom>
          <a:noFill/>
          <a:ln/>
        </p:spPr>
        <p:txBody>
          <a:bodyPr wrap="square" rtlCol="0" anchor="ctr"/>
          <a:lstStyle/>
          <a:p>
            <a:pPr algn="ctr" indent="0" marL="0">
              <a:buNone/>
            </a:pPr>
            <a:r>
              <a:rPr lang="en-US" sz="1300" i="1" dirty="0">
                <a:solidFill>
                  <a:srgbClr val="5B6079"/>
                </a:solidFill>
                <a:latin typeface="Segoe UI" pitchFamily="34" charset="0"/>
                <a:ea typeface="Segoe UI" pitchFamily="34" charset="-122"/>
                <a:cs typeface="Segoe UI" pitchFamily="34" charset="-120"/>
              </a:rPr>
              <a:t>It doesn't only start from chat: you can also have it fire automatically when a matching email arrives or you're @mentioned (event-driven tasks) — with the same self-verification and approval flow.</a:t>
            </a:r>
            <a:endParaRPr lang="en-US" sz="1300" dirty="0"/>
          </a:p>
        </p:txBody>
      </p:sp>
      <p:sp>
        <p:nvSpPr>
          <p:cNvPr id="42" name="Text 29"/>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3" name="Text 30"/>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BEFORE YOU START</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Set up your practice environment</a:t>
            </a:r>
            <a:endParaRPr lang="en-US" sz="3000" dirty="0"/>
          </a:p>
        </p:txBody>
      </p:sp>
      <p:sp>
        <p:nvSpPr>
          <p:cNvPr id="5" name="Text 3"/>
          <p:cNvSpPr/>
          <p:nvPr/>
        </p:nvSpPr>
        <p:spPr>
          <a:xfrm>
            <a:off x="640080" y="1481328"/>
            <a:ext cx="10972800" cy="329184"/>
          </a:xfrm>
          <a:prstGeom prst="rect">
            <a:avLst/>
          </a:prstGeom>
          <a:noFill/>
          <a:ln/>
        </p:spPr>
        <p:txBody>
          <a:bodyPr wrap="square" rtlCol="0" anchor="ctr"/>
          <a:lstStyle/>
          <a:p>
            <a:pPr indent="0" marL="0">
              <a:buNone/>
            </a:pPr>
            <a:r>
              <a:rPr lang="en-US" sz="1300" dirty="0">
                <a:solidFill>
                  <a:srgbClr val="5B6079"/>
                </a:solidFill>
                <a:latin typeface="Segoe UI" pitchFamily="34" charset="0"/>
                <a:ea typeface="Segoe UI" pitchFamily="34" charset="-122"/>
                <a:cs typeface="Segoe UI" pitchFamily="34" charset="-120"/>
              </a:rPr>
              <a:t>Seed the material into OneDrive under Documents/Cowork_Lab/RetailChannels/ before the session, and Cowork will find it itself · Setup time about 25 minutes</a:t>
            </a:r>
            <a:endParaRPr lang="en-US" sz="1300" dirty="0"/>
          </a:p>
        </p:txBody>
      </p:sp>
      <p:sp>
        <p:nvSpPr>
          <p:cNvPr id="6" name="Shape 4"/>
          <p:cNvSpPr/>
          <p:nvPr/>
        </p:nvSpPr>
        <p:spPr>
          <a:xfrm>
            <a:off x="640080" y="1874520"/>
            <a:ext cx="5272888" cy="777240"/>
          </a:xfrm>
          <a:prstGeom prst="rect">
            <a:avLst/>
          </a:prstGeom>
          <a:solidFill>
            <a:srgbClr val="FFFFFF"/>
          </a:solidFill>
          <a:ln w="12700">
            <a:solidFill>
              <a:srgbClr val="E4E7F2"/>
            </a:solidFill>
            <a:prstDash val="solid"/>
          </a:ln>
        </p:spPr>
      </p:sp>
      <p:sp>
        <p:nvSpPr>
          <p:cNvPr id="7" name="Shape 5"/>
          <p:cNvSpPr/>
          <p:nvPr/>
        </p:nvSpPr>
        <p:spPr>
          <a:xfrm>
            <a:off x="640080" y="1874520"/>
            <a:ext cx="68580" cy="777240"/>
          </a:xfrm>
          <a:prstGeom prst="rect">
            <a:avLst/>
          </a:prstGeom>
          <a:solidFill>
            <a:srgbClr val="6366F1"/>
          </a:solidFill>
          <a:ln/>
        </p:spPr>
      </p:sp>
      <p:sp>
        <p:nvSpPr>
          <p:cNvPr id="8" name="Text 6"/>
          <p:cNvSpPr/>
          <p:nvPr/>
        </p:nvSpPr>
        <p:spPr>
          <a:xfrm>
            <a:off x="804672" y="1929384"/>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9" name="Text 7"/>
          <p:cNvSpPr/>
          <p:nvPr/>
        </p:nvSpPr>
        <p:spPr>
          <a:xfrm>
            <a:off x="1243584" y="1920240"/>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 Understand how dates work in this material first</a:t>
            </a:r>
            <a:endParaRPr lang="en-US" sz="1250" dirty="0"/>
          </a:p>
        </p:txBody>
      </p:sp>
      <p:sp>
        <p:nvSpPr>
          <p:cNvPr id="10" name="Text 8"/>
          <p:cNvSpPr/>
          <p:nvPr/>
        </p:nvSpPr>
        <p:spPr>
          <a:xfrm>
            <a:off x="1243584" y="2194560"/>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The dates in this material are fixed simulated dates: th…</a:t>
            </a:r>
            <a:endParaRPr lang="en-US" sz="1050" dirty="0"/>
          </a:p>
        </p:txBody>
      </p:sp>
      <p:sp>
        <p:nvSpPr>
          <p:cNvPr id="11" name="Shape 9"/>
          <p:cNvSpPr/>
          <p:nvPr/>
        </p:nvSpPr>
        <p:spPr>
          <a:xfrm>
            <a:off x="6278728" y="1874520"/>
            <a:ext cx="5272888" cy="777240"/>
          </a:xfrm>
          <a:prstGeom prst="rect">
            <a:avLst/>
          </a:prstGeom>
          <a:solidFill>
            <a:srgbClr val="FFFFFF"/>
          </a:solidFill>
          <a:ln w="12700">
            <a:solidFill>
              <a:srgbClr val="E4E7F2"/>
            </a:solidFill>
            <a:prstDash val="solid"/>
          </a:ln>
        </p:spPr>
      </p:sp>
      <p:sp>
        <p:nvSpPr>
          <p:cNvPr id="12" name="Shape 10"/>
          <p:cNvSpPr/>
          <p:nvPr/>
        </p:nvSpPr>
        <p:spPr>
          <a:xfrm>
            <a:off x="6278728" y="1874520"/>
            <a:ext cx="68580" cy="777240"/>
          </a:xfrm>
          <a:prstGeom prst="rect">
            <a:avLst/>
          </a:prstGeom>
          <a:solidFill>
            <a:srgbClr val="6366F1"/>
          </a:solidFill>
          <a:ln/>
        </p:spPr>
      </p:sp>
      <p:sp>
        <p:nvSpPr>
          <p:cNvPr id="13" name="Text 11"/>
          <p:cNvSpPr/>
          <p:nvPr/>
        </p:nvSpPr>
        <p:spPr>
          <a:xfrm>
            <a:off x="6443320" y="1929384"/>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14" name="Text 12"/>
          <p:cNvSpPr/>
          <p:nvPr/>
        </p:nvSpPr>
        <p:spPr>
          <a:xfrm>
            <a:off x="6882232" y="1920240"/>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Create the OneDrive folders and upload the material for all seven scenarios</a:t>
            </a:r>
            <a:endParaRPr lang="en-US" sz="1250" dirty="0"/>
          </a:p>
        </p:txBody>
      </p:sp>
      <p:sp>
        <p:nvSpPr>
          <p:cNvPr id="15" name="Text 13"/>
          <p:cNvSpPr/>
          <p:nvPr/>
        </p:nvSpPr>
        <p:spPr>
          <a:xfrm>
            <a:off x="6882232" y="2194560"/>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Create Documents/Cowork_Lab/RetailChannels/ in OneDrive …</a:t>
            </a:r>
            <a:endParaRPr lang="en-US" sz="1050" dirty="0"/>
          </a:p>
        </p:txBody>
      </p:sp>
      <p:sp>
        <p:nvSpPr>
          <p:cNvPr id="16" name="Shape 14"/>
          <p:cNvSpPr/>
          <p:nvPr/>
        </p:nvSpPr>
        <p:spPr>
          <a:xfrm>
            <a:off x="640080" y="2779776"/>
            <a:ext cx="5272888" cy="777240"/>
          </a:xfrm>
          <a:prstGeom prst="rect">
            <a:avLst/>
          </a:prstGeom>
          <a:solidFill>
            <a:srgbClr val="FFFFFF"/>
          </a:solidFill>
          <a:ln w="12700">
            <a:solidFill>
              <a:srgbClr val="E4E7F2"/>
            </a:solidFill>
            <a:prstDash val="solid"/>
          </a:ln>
        </p:spPr>
      </p:sp>
      <p:sp>
        <p:nvSpPr>
          <p:cNvPr id="17" name="Shape 15"/>
          <p:cNvSpPr/>
          <p:nvPr/>
        </p:nvSpPr>
        <p:spPr>
          <a:xfrm>
            <a:off x="640080" y="2779776"/>
            <a:ext cx="68580" cy="777240"/>
          </a:xfrm>
          <a:prstGeom prst="rect">
            <a:avLst/>
          </a:prstGeom>
          <a:solidFill>
            <a:srgbClr val="6366F1"/>
          </a:solidFill>
          <a:ln/>
        </p:spPr>
      </p:sp>
      <p:sp>
        <p:nvSpPr>
          <p:cNvPr id="18" name="Text 16"/>
          <p:cNvSpPr/>
          <p:nvPr/>
        </p:nvSpPr>
        <p:spPr>
          <a:xfrm>
            <a:off x="804672" y="2834640"/>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19" name="Text 17"/>
          <p:cNvSpPr/>
          <p:nvPr/>
        </p:nvSpPr>
        <p:spPr>
          <a:xfrm>
            <a:off x="1243584" y="2825496"/>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Put the contact list in the parent folder — with addresses that really receive mail</a:t>
            </a:r>
            <a:endParaRPr lang="en-US" sz="1250" dirty="0"/>
          </a:p>
        </p:txBody>
      </p:sp>
      <p:sp>
        <p:nvSpPr>
          <p:cNvPr id="20" name="Text 18"/>
          <p:cNvSpPr/>
          <p:nvPr/>
        </p:nvSpPr>
        <p:spPr>
          <a:xfrm>
            <a:off x="1243584" y="3099816"/>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Contact_List.md belongs in the RetailChannels parent fol…</a:t>
            </a:r>
            <a:endParaRPr lang="en-US" sz="1050" dirty="0"/>
          </a:p>
        </p:txBody>
      </p:sp>
      <p:sp>
        <p:nvSpPr>
          <p:cNvPr id="21" name="Shape 19"/>
          <p:cNvSpPr/>
          <p:nvPr/>
        </p:nvSpPr>
        <p:spPr>
          <a:xfrm>
            <a:off x="6278728" y="2779776"/>
            <a:ext cx="5272888" cy="777240"/>
          </a:xfrm>
          <a:prstGeom prst="rect">
            <a:avLst/>
          </a:prstGeom>
          <a:solidFill>
            <a:srgbClr val="FFFFFF"/>
          </a:solidFill>
          <a:ln w="12700">
            <a:solidFill>
              <a:srgbClr val="E4E7F2"/>
            </a:solidFill>
            <a:prstDash val="solid"/>
          </a:ln>
        </p:spPr>
      </p:sp>
      <p:sp>
        <p:nvSpPr>
          <p:cNvPr id="22" name="Shape 20"/>
          <p:cNvSpPr/>
          <p:nvPr/>
        </p:nvSpPr>
        <p:spPr>
          <a:xfrm>
            <a:off x="6278728" y="2779776"/>
            <a:ext cx="68580" cy="777240"/>
          </a:xfrm>
          <a:prstGeom prst="rect">
            <a:avLst/>
          </a:prstGeom>
          <a:solidFill>
            <a:srgbClr val="6366F1"/>
          </a:solidFill>
          <a:ln/>
        </p:spPr>
      </p:sp>
      <p:sp>
        <p:nvSpPr>
          <p:cNvPr id="23" name="Text 21"/>
          <p:cNvSpPr/>
          <p:nvPr/>
        </p:nvSpPr>
        <p:spPr>
          <a:xfrm>
            <a:off x="6443320" y="2834640"/>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24" name="Text 22"/>
          <p:cNvSpPr/>
          <p:nvPr/>
        </p:nvSpPr>
        <p:spPr>
          <a:xfrm>
            <a:off x="6882232" y="2825496"/>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Create the “Zava Anniversary War Room” channel and post the background message (scenarios 1, 4, 5 and 6)</a:t>
            </a:r>
            <a:endParaRPr lang="en-US" sz="1250" dirty="0"/>
          </a:p>
        </p:txBody>
      </p:sp>
      <p:sp>
        <p:nvSpPr>
          <p:cNvPr id="25" name="Text 23"/>
          <p:cNvSpPr/>
          <p:nvPr/>
        </p:nvSpPr>
        <p:spPr>
          <a:xfrm>
            <a:off x="6882232" y="3099816"/>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Create a channel called Zava Anniversary War Room in the…</a:t>
            </a:r>
            <a:endParaRPr lang="en-US" sz="1050" dirty="0"/>
          </a:p>
        </p:txBody>
      </p:sp>
      <p:sp>
        <p:nvSpPr>
          <p:cNvPr id="26" name="Shape 24"/>
          <p:cNvSpPr/>
          <p:nvPr/>
        </p:nvSpPr>
        <p:spPr>
          <a:xfrm>
            <a:off x="640080" y="3685032"/>
            <a:ext cx="5272888" cy="777240"/>
          </a:xfrm>
          <a:prstGeom prst="rect">
            <a:avLst/>
          </a:prstGeom>
          <a:solidFill>
            <a:srgbClr val="FFFFFF"/>
          </a:solidFill>
          <a:ln w="12700">
            <a:solidFill>
              <a:srgbClr val="E4E7F2"/>
            </a:solidFill>
            <a:prstDash val="solid"/>
          </a:ln>
        </p:spPr>
      </p:sp>
      <p:sp>
        <p:nvSpPr>
          <p:cNvPr id="27" name="Shape 25"/>
          <p:cNvSpPr/>
          <p:nvPr/>
        </p:nvSpPr>
        <p:spPr>
          <a:xfrm>
            <a:off x="640080" y="3685032"/>
            <a:ext cx="68580" cy="777240"/>
          </a:xfrm>
          <a:prstGeom prst="rect">
            <a:avLst/>
          </a:prstGeom>
          <a:solidFill>
            <a:srgbClr val="6366F1"/>
          </a:solidFill>
          <a:ln/>
        </p:spPr>
      </p:sp>
      <p:sp>
        <p:nvSpPr>
          <p:cNvPr id="28" name="Text 26"/>
          <p:cNvSpPr/>
          <p:nvPr/>
        </p:nvSpPr>
        <p:spPr>
          <a:xfrm>
            <a:off x="804672" y="3739896"/>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29" name="Text 27"/>
          <p:cNvSpPr/>
          <p:nvPr/>
        </p:nvSpPr>
        <p:spPr>
          <a:xfrm>
            <a:off x="1243584" y="3730752"/>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Create two calendar events with no attendees (scenarios 1 and 6)</a:t>
            </a:r>
            <a:endParaRPr lang="en-US" sz="1250" dirty="0"/>
          </a:p>
        </p:txBody>
      </p:sp>
      <p:sp>
        <p:nvSpPr>
          <p:cNvPr id="30" name="Text 28"/>
          <p:cNvSpPr/>
          <p:nvPr/>
        </p:nvSpPr>
        <p:spPr>
          <a:xfrm>
            <a:off x="1243584" y="4005072"/>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Create in Outlook or OWA:① Zava Anniversary War Room #3:…</a:t>
            </a:r>
            <a:endParaRPr lang="en-US" sz="1050" dirty="0"/>
          </a:p>
        </p:txBody>
      </p:sp>
      <p:sp>
        <p:nvSpPr>
          <p:cNvPr id="31" name="Shape 29"/>
          <p:cNvSpPr/>
          <p:nvPr/>
        </p:nvSpPr>
        <p:spPr>
          <a:xfrm>
            <a:off x="6278728" y="3685032"/>
            <a:ext cx="5272888" cy="777240"/>
          </a:xfrm>
          <a:prstGeom prst="rect">
            <a:avLst/>
          </a:prstGeom>
          <a:solidFill>
            <a:srgbClr val="FFFFFF"/>
          </a:solidFill>
          <a:ln w="12700">
            <a:solidFill>
              <a:srgbClr val="E4E7F2"/>
            </a:solidFill>
            <a:prstDash val="solid"/>
          </a:ln>
        </p:spPr>
      </p:sp>
      <p:sp>
        <p:nvSpPr>
          <p:cNvPr id="32" name="Shape 30"/>
          <p:cNvSpPr/>
          <p:nvPr/>
        </p:nvSpPr>
        <p:spPr>
          <a:xfrm>
            <a:off x="6278728" y="3685032"/>
            <a:ext cx="68580" cy="777240"/>
          </a:xfrm>
          <a:prstGeom prst="rect">
            <a:avLst/>
          </a:prstGeom>
          <a:solidFill>
            <a:srgbClr val="6366F1"/>
          </a:solidFill>
          <a:ln/>
        </p:spPr>
      </p:sp>
      <p:sp>
        <p:nvSpPr>
          <p:cNvPr id="33" name="Text 31"/>
          <p:cNvSpPr/>
          <p:nvPr/>
        </p:nvSpPr>
        <p:spPr>
          <a:xfrm>
            <a:off x="6443320" y="3739896"/>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34" name="Text 32"/>
          <p:cNvSpPr/>
          <p:nvPr/>
        </p:nvSpPr>
        <p:spPr>
          <a:xfrm>
            <a:off x="6882232" y="3730752"/>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Create the Planner group plan “Zava Anniversary Prep” (scenarios 2 and 4 create tasks)</a:t>
            </a:r>
            <a:endParaRPr lang="en-US" sz="1250" dirty="0"/>
          </a:p>
        </p:txBody>
      </p:sp>
      <p:sp>
        <p:nvSpPr>
          <p:cNvPr id="35" name="Text 33"/>
          <p:cNvSpPr/>
          <p:nvPr/>
        </p:nvSpPr>
        <p:spPr>
          <a:xfrm>
            <a:off x="6882232" y="4005072"/>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In the same team create a group plan called Zava Anniver…</a:t>
            </a:r>
            <a:endParaRPr lang="en-US" sz="1050" dirty="0"/>
          </a:p>
        </p:txBody>
      </p:sp>
      <p:sp>
        <p:nvSpPr>
          <p:cNvPr id="36" name="Shape 34"/>
          <p:cNvSpPr/>
          <p:nvPr/>
        </p:nvSpPr>
        <p:spPr>
          <a:xfrm>
            <a:off x="640080" y="4590288"/>
            <a:ext cx="5272888" cy="777240"/>
          </a:xfrm>
          <a:prstGeom prst="rect">
            <a:avLst/>
          </a:prstGeom>
          <a:solidFill>
            <a:srgbClr val="FFFFFF"/>
          </a:solidFill>
          <a:ln w="12700">
            <a:solidFill>
              <a:srgbClr val="E4E7F2"/>
            </a:solidFill>
            <a:prstDash val="solid"/>
          </a:ln>
        </p:spPr>
      </p:sp>
      <p:sp>
        <p:nvSpPr>
          <p:cNvPr id="37" name="Shape 35"/>
          <p:cNvSpPr/>
          <p:nvPr/>
        </p:nvSpPr>
        <p:spPr>
          <a:xfrm>
            <a:off x="640080" y="4590288"/>
            <a:ext cx="68580" cy="777240"/>
          </a:xfrm>
          <a:prstGeom prst="rect">
            <a:avLst/>
          </a:prstGeom>
          <a:solidFill>
            <a:srgbClr val="6366F1"/>
          </a:solidFill>
          <a:ln/>
        </p:spPr>
      </p:sp>
      <p:sp>
        <p:nvSpPr>
          <p:cNvPr id="38" name="Text 36"/>
          <p:cNvSpPr/>
          <p:nvPr/>
        </p:nvSpPr>
        <p:spPr>
          <a:xfrm>
            <a:off x="804672" y="4645152"/>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39" name="Text 37"/>
          <p:cNvSpPr/>
          <p:nvPr/>
        </p:nvSpPr>
        <p:spPr>
          <a:xfrm>
            <a:off x="1243584" y="4636008"/>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Put the three live-use files into OneDrive under _Upload</a:t>
            </a:r>
            <a:endParaRPr lang="en-US" sz="1250" dirty="0"/>
          </a:p>
        </p:txBody>
      </p:sp>
      <p:sp>
        <p:nvSpPr>
          <p:cNvPr id="40" name="Text 38"/>
          <p:cNvSpPr/>
          <p:nvPr/>
        </p:nvSpPr>
        <p:spPr>
          <a:xfrm>
            <a:off x="1243584" y="4910328"/>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RET3_Supplier_Invoice_Lines.csv (scenario 3), RET5_OMS_O…</a:t>
            </a:r>
            <a:endParaRPr lang="en-US" sz="1050" dirty="0"/>
          </a:p>
        </p:txBody>
      </p:sp>
      <p:sp>
        <p:nvSpPr>
          <p:cNvPr id="41" name="Shape 39"/>
          <p:cNvSpPr/>
          <p:nvPr/>
        </p:nvSpPr>
        <p:spPr>
          <a:xfrm>
            <a:off x="6278728" y="4590288"/>
            <a:ext cx="5272888" cy="777240"/>
          </a:xfrm>
          <a:prstGeom prst="rect">
            <a:avLst/>
          </a:prstGeom>
          <a:solidFill>
            <a:srgbClr val="FFFFFF"/>
          </a:solidFill>
          <a:ln w="12700">
            <a:solidFill>
              <a:srgbClr val="E4E7F2"/>
            </a:solidFill>
            <a:prstDash val="solid"/>
          </a:ln>
        </p:spPr>
      </p:sp>
      <p:sp>
        <p:nvSpPr>
          <p:cNvPr id="42" name="Shape 40"/>
          <p:cNvSpPr/>
          <p:nvPr/>
        </p:nvSpPr>
        <p:spPr>
          <a:xfrm>
            <a:off x="6278728" y="4590288"/>
            <a:ext cx="68580" cy="777240"/>
          </a:xfrm>
          <a:prstGeom prst="rect">
            <a:avLst/>
          </a:prstGeom>
          <a:solidFill>
            <a:srgbClr val="6366F1"/>
          </a:solidFill>
          <a:ln/>
        </p:spPr>
      </p:sp>
      <p:sp>
        <p:nvSpPr>
          <p:cNvPr id="43" name="Text 41"/>
          <p:cNvSpPr/>
          <p:nvPr/>
        </p:nvSpPr>
        <p:spPr>
          <a:xfrm>
            <a:off x="6443320" y="4645152"/>
            <a:ext cx="411480" cy="329184"/>
          </a:xfrm>
          <a:prstGeom prst="rect">
            <a:avLst/>
          </a:prstGeom>
          <a:noFill/>
          <a:ln/>
        </p:spPr>
        <p:txBody>
          <a:bodyPr wrap="square" rtlCol="0" anchor="ctr"/>
          <a:lstStyle/>
          <a:p>
            <a:pPr algn="ctr" indent="0" marL="0">
              <a:buNone/>
            </a:pPr>
            <a:r>
              <a:rPr lang="en-US" sz="1500" dirty="0">
                <a:solidFill>
                  <a:srgbClr val="000000"/>
                </a:solidFill>
                <a:latin typeface="Segoe UI" pitchFamily="34" charset="0"/>
                <a:ea typeface="Segoe UI" pitchFamily="34" charset="-122"/>
                <a:cs typeface="Segoe UI" pitchFamily="34" charset="-120"/>
              </a:rPr>
              <a:t>📧</a:t>
            </a:r>
            <a:endParaRPr lang="en-US" sz="1500" dirty="0"/>
          </a:p>
        </p:txBody>
      </p:sp>
      <p:sp>
        <p:nvSpPr>
          <p:cNvPr id="44" name="Text 42"/>
          <p:cNvSpPr/>
          <p:nvPr/>
        </p:nvSpPr>
        <p:spPr>
          <a:xfrm>
            <a:off x="6882232" y="4636008"/>
            <a:ext cx="4495648" cy="292608"/>
          </a:xfrm>
          <a:prstGeom prst="rect">
            <a:avLst/>
          </a:prstGeom>
          <a:noFill/>
          <a:ln/>
        </p:spPr>
        <p:txBody>
          <a:bodyPr wrap="square" rtlCol="0" anchor="ctr"/>
          <a:lstStyle/>
          <a:p>
            <a:pPr indent="0" marL="0">
              <a:buNone/>
            </a:pPr>
            <a:r>
              <a:rPr lang="en-US" sz="1250" b="1" dirty="0">
                <a:solidFill>
                  <a:srgbClr val="1E2235"/>
                </a:solidFill>
                <a:latin typeface="Segoe UI" pitchFamily="34" charset="0"/>
                <a:ea typeface="Segoe UI" pitchFamily="34" charset="-122"/>
                <a:cs typeface="Segoe UI" pitchFamily="34" charset="-120"/>
              </a:rPr>
              <a:t>Do not send the scenario 2 alert email before the session</a:t>
            </a:r>
            <a:endParaRPr lang="en-US" sz="1250" dirty="0"/>
          </a:p>
        </p:txBody>
      </p:sp>
      <p:sp>
        <p:nvSpPr>
          <p:cNvPr id="45" name="Text 43"/>
          <p:cNvSpPr/>
          <p:nvPr/>
        </p:nvSpPr>
        <p:spPr>
          <a:xfrm>
            <a:off x="6882232" y="4910328"/>
            <a:ext cx="4495648" cy="411480"/>
          </a:xfrm>
          <a:prstGeom prst="rect">
            <a:avLst/>
          </a:prstGeom>
          <a:noFill/>
          <a:ln/>
        </p:spPr>
        <p:txBody>
          <a:bodyPr wrap="square" rtlCol="0" anchor="ctr"/>
          <a:lstStyle/>
          <a:p>
            <a:pPr indent="0" marL="0">
              <a:lnSpc>
                <a:spcPct val="112000"/>
              </a:lnSpc>
              <a:buNone/>
            </a:pPr>
            <a:r>
              <a:rPr lang="en-US" sz="1050" dirty="0">
                <a:solidFill>
                  <a:srgbClr val="5B6079"/>
                </a:solidFill>
                <a:latin typeface="Segoe UI" pitchFamily="34" charset="0"/>
                <a:ea typeface="Segoe UI" pitchFamily="34" charset="-122"/>
                <a:cs typeface="Segoe UI" pitchFamily="34" charset="-120"/>
              </a:rPr>
              <a:t>信箱_種入用/RET2_Stock_Alert_Email.md is what you send to you…</a:t>
            </a:r>
            <a:endParaRPr lang="en-US" sz="1050" dirty="0"/>
          </a:p>
        </p:txBody>
      </p:sp>
      <p:sp>
        <p:nvSpPr>
          <p:cNvPr id="46" name="Shape 44"/>
          <p:cNvSpPr/>
          <p:nvPr/>
        </p:nvSpPr>
        <p:spPr>
          <a:xfrm>
            <a:off x="640080" y="5532120"/>
            <a:ext cx="10911535" cy="749808"/>
          </a:xfrm>
          <a:prstGeom prst="rect">
            <a:avLst/>
          </a:prstGeom>
          <a:solidFill>
            <a:srgbClr val="FFFFFF"/>
          </a:solidFill>
          <a:ln w="12700">
            <a:solidFill>
              <a:srgbClr val="E4E7F2"/>
            </a:solidFill>
            <a:prstDash val="solid"/>
          </a:ln>
        </p:spPr>
      </p:sp>
      <p:sp>
        <p:nvSpPr>
          <p:cNvPr id="47" name="Shape 45"/>
          <p:cNvSpPr/>
          <p:nvPr/>
        </p:nvSpPr>
        <p:spPr>
          <a:xfrm>
            <a:off x="640080" y="5532120"/>
            <a:ext cx="91440" cy="749808"/>
          </a:xfrm>
          <a:prstGeom prst="rect">
            <a:avLst/>
          </a:prstGeom>
          <a:solidFill>
            <a:srgbClr val="6366F1"/>
          </a:solidFill>
          <a:ln/>
        </p:spPr>
      </p:sp>
      <p:sp>
        <p:nvSpPr>
          <p:cNvPr id="48" name="Text 46"/>
          <p:cNvSpPr/>
          <p:nvPr/>
        </p:nvSpPr>
        <p:spPr>
          <a:xfrm>
            <a:off x="914400" y="5614416"/>
            <a:ext cx="1828800" cy="274320"/>
          </a:xfrm>
          <a:prstGeom prst="rect">
            <a:avLst/>
          </a:prstGeom>
          <a:noFill/>
          <a:ln/>
        </p:spPr>
        <p:txBody>
          <a:bodyPr wrap="square" rtlCol="0" anchor="ctr"/>
          <a:lstStyle/>
          <a:p>
            <a:pPr indent="0" marL="0">
              <a:buNone/>
            </a:pPr>
            <a:r>
              <a:rPr lang="en-US" sz="1200" b="1" dirty="0">
                <a:solidFill>
                  <a:srgbClr val="1E2235"/>
                </a:solidFill>
                <a:latin typeface="Segoe UI" pitchFamily="34" charset="0"/>
                <a:ea typeface="Segoe UI" pitchFamily="34" charset="-122"/>
                <a:cs typeface="Segoe UI" pitchFamily="34" charset="-120"/>
              </a:rPr>
              <a:t>Final check before the session</a:t>
            </a:r>
            <a:endParaRPr lang="en-US" sz="1200" dirty="0"/>
          </a:p>
        </p:txBody>
      </p:sp>
      <p:pic>
        <p:nvPicPr>
          <p:cNvPr id="49" name="Image 0" descr="preencoded.png">    </p:cNvPr>
          <p:cNvPicPr>
            <a:picLocks noChangeAspect="1"/>
          </p:cNvPicPr>
          <p:nvPr/>
        </p:nvPicPr>
        <p:blipFill>
          <a:blip r:embed="rId1"/>
          <a:stretch>
            <a:fillRect/>
          </a:stretch>
        </p:blipFill>
        <p:spPr>
          <a:xfrm>
            <a:off x="2743200" y="5641848"/>
            <a:ext cx="155448" cy="155448"/>
          </a:xfrm>
          <a:prstGeom prst="rect">
            <a:avLst/>
          </a:prstGeom>
        </p:spPr>
      </p:pic>
      <p:sp>
        <p:nvSpPr>
          <p:cNvPr id="50" name="Text 47"/>
          <p:cNvSpPr/>
          <p:nvPr/>
        </p:nvSpPr>
        <p:spPr>
          <a:xfrm>
            <a:off x="2999232" y="5586984"/>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All seven subfolders under RetailChannels exist in OneDrive and the files open</a:t>
            </a:r>
            <a:endParaRPr lang="en-US" sz="1050" dirty="0"/>
          </a:p>
        </p:txBody>
      </p:sp>
      <p:pic>
        <p:nvPicPr>
          <p:cNvPr id="51" name="Image 1" descr="preencoded.png">    </p:cNvPr>
          <p:cNvPicPr>
            <a:picLocks noChangeAspect="1"/>
          </p:cNvPicPr>
          <p:nvPr/>
        </p:nvPicPr>
        <p:blipFill>
          <a:blip r:embed="rId2"/>
          <a:stretch>
            <a:fillRect/>
          </a:stretch>
        </p:blipFill>
        <p:spPr>
          <a:xfrm>
            <a:off x="2743200" y="5852160"/>
            <a:ext cx="155448" cy="155448"/>
          </a:xfrm>
          <a:prstGeom prst="rect">
            <a:avLst/>
          </a:prstGeom>
        </p:spPr>
      </p:pic>
      <p:sp>
        <p:nvSpPr>
          <p:cNvPr id="52" name="Text 48"/>
          <p:cNvSpPr/>
          <p:nvPr/>
        </p:nvSpPr>
        <p:spPr>
          <a:xfrm>
            <a:off x="2999232" y="5797296"/>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_Upload holds the three live-use files (or you plan to drag them in by hand at that step)</a:t>
            </a:r>
            <a:endParaRPr lang="en-US" sz="1050" dirty="0"/>
          </a:p>
        </p:txBody>
      </p:sp>
      <p:pic>
        <p:nvPicPr>
          <p:cNvPr id="53" name="Image 2" descr="preencoded.png">    </p:cNvPr>
          <p:cNvPicPr>
            <a:picLocks noChangeAspect="1"/>
          </p:cNvPicPr>
          <p:nvPr/>
        </p:nvPicPr>
        <p:blipFill>
          <a:blip r:embed="rId3"/>
          <a:stretch>
            <a:fillRect/>
          </a:stretch>
        </p:blipFill>
        <p:spPr>
          <a:xfrm>
            <a:off x="2743200" y="6062472"/>
            <a:ext cx="155448" cy="155448"/>
          </a:xfrm>
          <a:prstGeom prst="rect">
            <a:avLst/>
          </a:prstGeom>
        </p:spPr>
      </p:pic>
      <p:sp>
        <p:nvSpPr>
          <p:cNvPr id="54" name="Text 49"/>
          <p:cNvSpPr/>
          <p:nvPr/>
        </p:nvSpPr>
        <p:spPr>
          <a:xfrm>
            <a:off x="2999232" y="6007608"/>
            <a:ext cx="8259775" cy="237744"/>
          </a:xfrm>
          <a:prstGeom prst="rect">
            <a:avLst/>
          </a:prstGeom>
          <a:noFill/>
          <a:ln/>
        </p:spPr>
        <p:txBody>
          <a:bodyPr wrap="square" rtlCol="0" anchor="ctr"/>
          <a:lstStyle/>
          <a:p>
            <a:pPr indent="0" marL="0">
              <a:buNone/>
            </a:pPr>
            <a:r>
              <a:rPr lang="en-US" sz="1050" dirty="0">
                <a:solidFill>
                  <a:srgbClr val="1E2235"/>
                </a:solidFill>
                <a:latin typeface="Segoe UI" pitchFamily="34" charset="0"/>
                <a:ea typeface="Segoe UI" pitchFamily="34" charset="-122"/>
                <a:cs typeface="Segoe UI" pitchFamily="34" charset="-120"/>
              </a:rPr>
              <a:t>The contact list sits in the RetailChannels parent folder, not inside a subfolder, and the email column contains addresses that actually receive mail</a:t>
            </a:r>
            <a:endParaRPr lang="en-US" sz="1050" dirty="0"/>
          </a:p>
        </p:txBody>
      </p:sp>
      <p:sp>
        <p:nvSpPr>
          <p:cNvPr id="55" name="Text 50"/>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56" name="Text 51"/>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7 SCENARIOS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Seven hands-on scenarios</a:t>
            </a:r>
            <a:endParaRPr lang="en-US" sz="3000" dirty="0"/>
          </a:p>
        </p:txBody>
      </p:sp>
      <p:sp>
        <p:nvSpPr>
          <p:cNvPr id="5" name="Shape 3"/>
          <p:cNvSpPr/>
          <p:nvPr/>
        </p:nvSpPr>
        <p:spPr>
          <a:xfrm>
            <a:off x="640080"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6" name="Shape 4"/>
          <p:cNvSpPr/>
          <p:nvPr/>
        </p:nvSpPr>
        <p:spPr>
          <a:xfrm>
            <a:off x="640080" y="1828800"/>
            <a:ext cx="1355010" cy="109728"/>
          </a:xfrm>
          <a:prstGeom prst="rect">
            <a:avLst/>
          </a:prstGeom>
          <a:solidFill>
            <a:srgbClr val="12355B"/>
          </a:solidFill>
          <a:ln/>
        </p:spPr>
      </p:sp>
      <p:sp>
        <p:nvSpPr>
          <p:cNvPr id="7" name="Shape 5"/>
          <p:cNvSpPr/>
          <p:nvPr/>
        </p:nvSpPr>
        <p:spPr>
          <a:xfrm>
            <a:off x="860385" y="2194560"/>
            <a:ext cx="914400" cy="914400"/>
          </a:xfrm>
          <a:prstGeom prst="ellipse">
            <a:avLst/>
          </a:prstGeom>
          <a:solidFill>
            <a:srgbClr val="12355B"/>
          </a:solidFill>
          <a:ln/>
        </p:spPr>
      </p:sp>
      <p:pic>
        <p:nvPicPr>
          <p:cNvPr id="8" name="Image 0" descr="preencoded.png">    </p:cNvPr>
          <p:cNvPicPr>
            <a:picLocks noChangeAspect="1"/>
          </p:cNvPicPr>
          <p:nvPr/>
        </p:nvPicPr>
        <p:blipFill>
          <a:blip r:embed="rId1"/>
          <a:stretch>
            <a:fillRect/>
          </a:stretch>
        </p:blipFill>
        <p:spPr>
          <a:xfrm>
            <a:off x="1061553" y="2395728"/>
            <a:ext cx="512064" cy="512064"/>
          </a:xfrm>
          <a:prstGeom prst="rect">
            <a:avLst/>
          </a:prstGeom>
        </p:spPr>
      </p:pic>
      <p:sp>
        <p:nvSpPr>
          <p:cNvPr id="9" name="Text 6"/>
          <p:cNvSpPr/>
          <p:nvPr/>
        </p:nvSpPr>
        <p:spPr>
          <a:xfrm>
            <a:off x="731520" y="3163824"/>
            <a:ext cx="1172130" cy="410108"/>
          </a:xfrm>
          <a:prstGeom prst="rect">
            <a:avLst/>
          </a:prstGeom>
          <a:noFill/>
          <a:ln/>
        </p:spPr>
        <p:txBody>
          <a:bodyPr wrap="square" rtlCol="0" anchor="t"/>
          <a:lstStyle/>
          <a:p>
            <a:pPr algn="ctr" indent="0" marL="0">
              <a:buNone/>
            </a:pPr>
            <a:r>
              <a:rPr lang="en-US" sz="828" b="1" dirty="0">
                <a:solidFill>
                  <a:srgbClr val="12355B"/>
                </a:solidFill>
                <a:latin typeface="Segoe UI" pitchFamily="34" charset="0"/>
                <a:ea typeface="Segoe UI" pitchFamily="34" charset="-122"/>
                <a:cs typeface="Segoe UI" pitchFamily="34" charset="-120"/>
              </a:rPr>
              <a:t>Retail Channels · Regional Operations</a:t>
            </a:r>
            <a:endParaRPr lang="en-US" sz="828" dirty="0"/>
          </a:p>
        </p:txBody>
      </p:sp>
      <p:sp>
        <p:nvSpPr>
          <p:cNvPr id="10" name="Text 7"/>
          <p:cNvSpPr/>
          <p:nvPr/>
        </p:nvSpPr>
        <p:spPr>
          <a:xfrm>
            <a:off x="731520" y="3628796"/>
            <a:ext cx="1172130" cy="891540"/>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Anniversary War Room: Is a High Readiness Rate Enough to Open the Sale?</a:t>
            </a:r>
            <a:endParaRPr lang="en-US" sz="1080" dirty="0"/>
          </a:p>
        </p:txBody>
      </p:sp>
      <p:sp>
        <p:nvSpPr>
          <p:cNvPr id="11" name="Text 8"/>
          <p:cNvSpPr/>
          <p:nvPr/>
        </p:nvSpPr>
        <p:spPr>
          <a:xfrm>
            <a:off x="731520" y="4602632"/>
            <a:ext cx="1172130" cy="427939"/>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Meetings · Excel · PowerPoint · Teams</a:t>
            </a:r>
            <a:endParaRPr lang="en-US" sz="864" dirty="0"/>
          </a:p>
        </p:txBody>
      </p:sp>
      <p:sp>
        <p:nvSpPr>
          <p:cNvPr id="12" name="Text 9"/>
          <p:cNvSpPr/>
          <p:nvPr/>
        </p:nvSpPr>
        <p:spPr>
          <a:xfrm>
            <a:off x="731520" y="5112868"/>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~20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13" name="Shape 10"/>
          <p:cNvSpPr/>
          <p:nvPr/>
        </p:nvSpPr>
        <p:spPr>
          <a:xfrm>
            <a:off x="2232834"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14" name="Shape 11"/>
          <p:cNvSpPr/>
          <p:nvPr/>
        </p:nvSpPr>
        <p:spPr>
          <a:xfrm>
            <a:off x="2232834" y="1828800"/>
            <a:ext cx="1355010" cy="109728"/>
          </a:xfrm>
          <a:prstGeom prst="rect">
            <a:avLst/>
          </a:prstGeom>
          <a:solidFill>
            <a:srgbClr val="5A2A14"/>
          </a:solidFill>
          <a:ln/>
        </p:spPr>
      </p:sp>
      <p:sp>
        <p:nvSpPr>
          <p:cNvPr id="15" name="Shape 12"/>
          <p:cNvSpPr/>
          <p:nvPr/>
        </p:nvSpPr>
        <p:spPr>
          <a:xfrm>
            <a:off x="2453139" y="2194560"/>
            <a:ext cx="914400" cy="914400"/>
          </a:xfrm>
          <a:prstGeom prst="ellipse">
            <a:avLst/>
          </a:prstGeom>
          <a:solidFill>
            <a:srgbClr val="5A2A14"/>
          </a:solidFill>
          <a:ln/>
        </p:spPr>
      </p:sp>
      <p:pic>
        <p:nvPicPr>
          <p:cNvPr id="16" name="Image 1" descr="preencoded.png">    </p:cNvPr>
          <p:cNvPicPr>
            <a:picLocks noChangeAspect="1"/>
          </p:cNvPicPr>
          <p:nvPr/>
        </p:nvPicPr>
        <p:blipFill>
          <a:blip r:embed="rId2"/>
          <a:stretch>
            <a:fillRect/>
          </a:stretch>
        </p:blipFill>
        <p:spPr>
          <a:xfrm>
            <a:off x="2654307" y="2395728"/>
            <a:ext cx="512064" cy="512064"/>
          </a:xfrm>
          <a:prstGeom prst="rect">
            <a:avLst/>
          </a:prstGeom>
        </p:spPr>
      </p:pic>
      <p:sp>
        <p:nvSpPr>
          <p:cNvPr id="17" name="Text 13"/>
          <p:cNvSpPr/>
          <p:nvPr/>
        </p:nvSpPr>
        <p:spPr>
          <a:xfrm>
            <a:off x="2324274" y="3163824"/>
            <a:ext cx="1172130" cy="410108"/>
          </a:xfrm>
          <a:prstGeom prst="rect">
            <a:avLst/>
          </a:prstGeom>
          <a:noFill/>
          <a:ln/>
        </p:spPr>
        <p:txBody>
          <a:bodyPr wrap="square" rtlCol="0" anchor="t"/>
          <a:lstStyle/>
          <a:p>
            <a:pPr algn="ctr" indent="0" marL="0">
              <a:buNone/>
            </a:pPr>
            <a:r>
              <a:rPr lang="en-US" sz="828" b="1" dirty="0">
                <a:solidFill>
                  <a:srgbClr val="5A2A14"/>
                </a:solidFill>
                <a:latin typeface="Segoe UI" pitchFamily="34" charset="0"/>
                <a:ea typeface="Segoe UI" pitchFamily="34" charset="-122"/>
                <a:cs typeface="Segoe UI" pitchFamily="34" charset="-120"/>
              </a:rPr>
              <a:t>Retail Channels · Inventory &amp; Receiving Control</a:t>
            </a:r>
            <a:endParaRPr lang="en-US" sz="828" dirty="0"/>
          </a:p>
        </p:txBody>
      </p:sp>
      <p:sp>
        <p:nvSpPr>
          <p:cNvPr id="18" name="Text 14"/>
          <p:cNvSpPr/>
          <p:nvPr/>
        </p:nvSpPr>
        <p:spPr>
          <a:xfrm>
            <a:off x="2324274" y="3628796"/>
            <a:ext cx="1172130" cy="1248156"/>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Out of Stock Is Not Out of Inventory: Let the Alert Email Start the Investigation</a:t>
            </a:r>
            <a:endParaRPr lang="en-US" sz="1080" dirty="0"/>
          </a:p>
        </p:txBody>
      </p:sp>
      <p:sp>
        <p:nvSpPr>
          <p:cNvPr id="19" name="Text 15"/>
          <p:cNvSpPr/>
          <p:nvPr/>
        </p:nvSpPr>
        <p:spPr>
          <a:xfrm>
            <a:off x="2324274" y="4959248"/>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Event trigger · Adaptive Cards …</a:t>
            </a:r>
            <a:endParaRPr lang="en-US" sz="864" dirty="0"/>
          </a:p>
        </p:txBody>
      </p:sp>
      <p:sp>
        <p:nvSpPr>
          <p:cNvPr id="20" name="Text 16"/>
          <p:cNvSpPr/>
          <p:nvPr/>
        </p:nvSpPr>
        <p:spPr>
          <a:xfrm>
            <a:off x="2324274" y="5326837"/>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~25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21" name="Shape 17"/>
          <p:cNvSpPr/>
          <p:nvPr/>
        </p:nvSpPr>
        <p:spPr>
          <a:xfrm>
            <a:off x="3825588"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22" name="Shape 18"/>
          <p:cNvSpPr/>
          <p:nvPr/>
        </p:nvSpPr>
        <p:spPr>
          <a:xfrm>
            <a:off x="3825588" y="1828800"/>
            <a:ext cx="1355010" cy="109728"/>
          </a:xfrm>
          <a:prstGeom prst="rect">
            <a:avLst/>
          </a:prstGeom>
          <a:solidFill>
            <a:srgbClr val="2D4A3E"/>
          </a:solidFill>
          <a:ln/>
        </p:spPr>
      </p:sp>
      <p:sp>
        <p:nvSpPr>
          <p:cNvPr id="23" name="Shape 19"/>
          <p:cNvSpPr/>
          <p:nvPr/>
        </p:nvSpPr>
        <p:spPr>
          <a:xfrm>
            <a:off x="4045893" y="2194560"/>
            <a:ext cx="914400" cy="914400"/>
          </a:xfrm>
          <a:prstGeom prst="ellipse">
            <a:avLst/>
          </a:prstGeom>
          <a:solidFill>
            <a:srgbClr val="2D4A3E"/>
          </a:solidFill>
          <a:ln/>
        </p:spPr>
      </p:sp>
      <p:pic>
        <p:nvPicPr>
          <p:cNvPr id="24" name="Image 2" descr="preencoded.png">    </p:cNvPr>
          <p:cNvPicPr>
            <a:picLocks noChangeAspect="1"/>
          </p:cNvPicPr>
          <p:nvPr/>
        </p:nvPicPr>
        <p:blipFill>
          <a:blip r:embed="rId3"/>
          <a:stretch>
            <a:fillRect/>
          </a:stretch>
        </p:blipFill>
        <p:spPr>
          <a:xfrm>
            <a:off x="4247061" y="2395728"/>
            <a:ext cx="512064" cy="512064"/>
          </a:xfrm>
          <a:prstGeom prst="rect">
            <a:avLst/>
          </a:prstGeom>
        </p:spPr>
      </p:pic>
      <p:sp>
        <p:nvSpPr>
          <p:cNvPr id="25" name="Text 20"/>
          <p:cNvSpPr/>
          <p:nvPr/>
        </p:nvSpPr>
        <p:spPr>
          <a:xfrm>
            <a:off x="3917028" y="3163824"/>
            <a:ext cx="1172130" cy="410108"/>
          </a:xfrm>
          <a:prstGeom prst="rect">
            <a:avLst/>
          </a:prstGeom>
          <a:noFill/>
          <a:ln/>
        </p:spPr>
        <p:txBody>
          <a:bodyPr wrap="square" rtlCol="0" anchor="t"/>
          <a:lstStyle/>
          <a:p>
            <a:pPr algn="ctr" indent="0" marL="0">
              <a:buNone/>
            </a:pPr>
            <a:r>
              <a:rPr lang="en-US" sz="828" b="1" dirty="0">
                <a:solidFill>
                  <a:srgbClr val="2D4A3E"/>
                </a:solidFill>
                <a:latin typeface="Segoe UI" pitchFamily="34" charset="0"/>
                <a:ea typeface="Segoe UI" pitchFamily="34" charset="-122"/>
                <a:cs typeface="Segoe UI" pitchFamily="34" charset="-120"/>
              </a:rPr>
              <a:t>Retail Channels · Inventory &amp; Receiving Control</a:t>
            </a:r>
            <a:endParaRPr lang="en-US" sz="828" dirty="0"/>
          </a:p>
        </p:txBody>
      </p:sp>
      <p:sp>
        <p:nvSpPr>
          <p:cNvPr id="26" name="Text 21"/>
          <p:cNvSpPr/>
          <p:nvPr/>
        </p:nvSpPr>
        <p:spPr>
          <a:xfrm>
            <a:off x="3917028" y="3628796"/>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Receiving Variances and Claims: the Biggest Gap Is Not the One to Claim</a:t>
            </a:r>
            <a:endParaRPr lang="en-US" sz="1080" dirty="0"/>
          </a:p>
        </p:txBody>
      </p:sp>
      <p:sp>
        <p:nvSpPr>
          <p:cNvPr id="27" name="Text 22"/>
          <p:cNvSpPr/>
          <p:nvPr/>
        </p:nvSpPr>
        <p:spPr>
          <a:xfrm>
            <a:off x="3917028" y="4780940"/>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Excel · Word · OneDrive Search …</a:t>
            </a:r>
            <a:endParaRPr lang="en-US" sz="864" dirty="0"/>
          </a:p>
        </p:txBody>
      </p:sp>
      <p:sp>
        <p:nvSpPr>
          <p:cNvPr id="28" name="Text 23"/>
          <p:cNvSpPr/>
          <p:nvPr/>
        </p:nvSpPr>
        <p:spPr>
          <a:xfrm>
            <a:off x="3917028" y="5148529"/>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~25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29" name="Shape 24"/>
          <p:cNvSpPr/>
          <p:nvPr/>
        </p:nvSpPr>
        <p:spPr>
          <a:xfrm>
            <a:off x="5418343"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30" name="Shape 25"/>
          <p:cNvSpPr/>
          <p:nvPr/>
        </p:nvSpPr>
        <p:spPr>
          <a:xfrm>
            <a:off x="5418343" y="1828800"/>
            <a:ext cx="1355010" cy="109728"/>
          </a:xfrm>
          <a:prstGeom prst="rect">
            <a:avLst/>
          </a:prstGeom>
          <a:solidFill>
            <a:srgbClr val="0F3D3E"/>
          </a:solidFill>
          <a:ln/>
        </p:spPr>
      </p:sp>
      <p:sp>
        <p:nvSpPr>
          <p:cNvPr id="31" name="Shape 26"/>
          <p:cNvSpPr/>
          <p:nvPr/>
        </p:nvSpPr>
        <p:spPr>
          <a:xfrm>
            <a:off x="5638648" y="2194560"/>
            <a:ext cx="914400" cy="914400"/>
          </a:xfrm>
          <a:prstGeom prst="ellipse">
            <a:avLst/>
          </a:prstGeom>
          <a:solidFill>
            <a:srgbClr val="0F3D3E"/>
          </a:solidFill>
          <a:ln/>
        </p:spPr>
      </p:sp>
      <p:pic>
        <p:nvPicPr>
          <p:cNvPr id="32" name="Image 3" descr="preencoded.png">    </p:cNvPr>
          <p:cNvPicPr>
            <a:picLocks noChangeAspect="1"/>
          </p:cNvPicPr>
          <p:nvPr/>
        </p:nvPicPr>
        <p:blipFill>
          <a:blip r:embed="rId4"/>
          <a:stretch>
            <a:fillRect/>
          </a:stretch>
        </p:blipFill>
        <p:spPr>
          <a:xfrm>
            <a:off x="5839816" y="2395728"/>
            <a:ext cx="512064" cy="512064"/>
          </a:xfrm>
          <a:prstGeom prst="rect">
            <a:avLst/>
          </a:prstGeom>
        </p:spPr>
      </p:pic>
      <p:sp>
        <p:nvSpPr>
          <p:cNvPr id="33" name="Text 27"/>
          <p:cNvSpPr/>
          <p:nvPr/>
        </p:nvSpPr>
        <p:spPr>
          <a:xfrm>
            <a:off x="5509783" y="3163824"/>
            <a:ext cx="1172130" cy="273406"/>
          </a:xfrm>
          <a:prstGeom prst="rect">
            <a:avLst/>
          </a:prstGeom>
          <a:noFill/>
          <a:ln/>
        </p:spPr>
        <p:txBody>
          <a:bodyPr wrap="square" rtlCol="0" anchor="t"/>
          <a:lstStyle/>
          <a:p>
            <a:pPr algn="ctr" indent="0" marL="0">
              <a:buNone/>
            </a:pPr>
            <a:r>
              <a:rPr lang="en-US" sz="828" b="1" dirty="0">
                <a:solidFill>
                  <a:srgbClr val="0F3D3E"/>
                </a:solidFill>
                <a:latin typeface="Segoe UI" pitchFamily="34" charset="0"/>
                <a:ea typeface="Segoe UI" pitchFamily="34" charset="-122"/>
                <a:cs typeface="Segoe UI" pitchFamily="34" charset="-120"/>
              </a:rPr>
              <a:t>Retail Channels · Store Operations</a:t>
            </a:r>
            <a:endParaRPr lang="en-US" sz="828" dirty="0"/>
          </a:p>
        </p:txBody>
      </p:sp>
      <p:sp>
        <p:nvSpPr>
          <p:cNvPr id="34" name="Text 28"/>
          <p:cNvSpPr/>
          <p:nvPr/>
        </p:nvSpPr>
        <p:spPr>
          <a:xfrm>
            <a:off x="5509783" y="3492094"/>
            <a:ext cx="1172130" cy="1248156"/>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The Pickup Peak Gap: Enough Hours in Total Does Not Mean You Can Cover 5 p.m.</a:t>
            </a:r>
            <a:endParaRPr lang="en-US" sz="1080" dirty="0"/>
          </a:p>
        </p:txBody>
      </p:sp>
      <p:sp>
        <p:nvSpPr>
          <p:cNvPr id="35" name="Text 29"/>
          <p:cNvSpPr/>
          <p:nvPr/>
        </p:nvSpPr>
        <p:spPr>
          <a:xfrm>
            <a:off x="5509783" y="4822546"/>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Excel · Planner · Calendar · Teams</a:t>
            </a:r>
            <a:endParaRPr lang="en-US" sz="864" dirty="0"/>
          </a:p>
        </p:txBody>
      </p:sp>
      <p:sp>
        <p:nvSpPr>
          <p:cNvPr id="36" name="Text 30"/>
          <p:cNvSpPr/>
          <p:nvPr/>
        </p:nvSpPr>
        <p:spPr>
          <a:xfrm>
            <a:off x="5509783" y="5190134"/>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~20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37" name="Shape 31"/>
          <p:cNvSpPr/>
          <p:nvPr/>
        </p:nvSpPr>
        <p:spPr>
          <a:xfrm>
            <a:off x="7011097"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38" name="Shape 32"/>
          <p:cNvSpPr/>
          <p:nvPr/>
        </p:nvSpPr>
        <p:spPr>
          <a:xfrm>
            <a:off x="7011097" y="1828800"/>
            <a:ext cx="1355010" cy="109728"/>
          </a:xfrm>
          <a:prstGeom prst="rect">
            <a:avLst/>
          </a:prstGeom>
          <a:solidFill>
            <a:srgbClr val="5B2A6B"/>
          </a:solidFill>
          <a:ln/>
        </p:spPr>
      </p:sp>
      <p:sp>
        <p:nvSpPr>
          <p:cNvPr id="39" name="Shape 33"/>
          <p:cNvSpPr/>
          <p:nvPr/>
        </p:nvSpPr>
        <p:spPr>
          <a:xfrm>
            <a:off x="7231402" y="2194560"/>
            <a:ext cx="914400" cy="914400"/>
          </a:xfrm>
          <a:prstGeom prst="ellipse">
            <a:avLst/>
          </a:prstGeom>
          <a:solidFill>
            <a:srgbClr val="5B2A6B"/>
          </a:solidFill>
          <a:ln/>
        </p:spPr>
      </p:sp>
      <p:pic>
        <p:nvPicPr>
          <p:cNvPr id="40" name="Image 4" descr="preencoded.png">    </p:cNvPr>
          <p:cNvPicPr>
            <a:picLocks noChangeAspect="1"/>
          </p:cNvPicPr>
          <p:nvPr/>
        </p:nvPicPr>
        <p:blipFill>
          <a:blip r:embed="rId5"/>
          <a:stretch>
            <a:fillRect/>
          </a:stretch>
        </p:blipFill>
        <p:spPr>
          <a:xfrm>
            <a:off x="7432570" y="2395728"/>
            <a:ext cx="512064" cy="512064"/>
          </a:xfrm>
          <a:prstGeom prst="rect">
            <a:avLst/>
          </a:prstGeom>
        </p:spPr>
      </p:pic>
      <p:sp>
        <p:nvSpPr>
          <p:cNvPr id="41" name="Text 34"/>
          <p:cNvSpPr/>
          <p:nvPr/>
        </p:nvSpPr>
        <p:spPr>
          <a:xfrm>
            <a:off x="7102537" y="3163824"/>
            <a:ext cx="1172130" cy="410108"/>
          </a:xfrm>
          <a:prstGeom prst="rect">
            <a:avLst/>
          </a:prstGeom>
          <a:noFill/>
          <a:ln/>
        </p:spPr>
        <p:txBody>
          <a:bodyPr wrap="square" rtlCol="0" anchor="t"/>
          <a:lstStyle/>
          <a:p>
            <a:pPr algn="ctr" indent="0" marL="0">
              <a:buNone/>
            </a:pPr>
            <a:r>
              <a:rPr lang="en-US" sz="828" b="1" dirty="0">
                <a:solidFill>
                  <a:srgbClr val="5B2A6B"/>
                </a:solidFill>
                <a:latin typeface="Segoe UI" pitchFamily="34" charset="0"/>
                <a:ea typeface="Segoe UI" pitchFamily="34" charset="-122"/>
                <a:cs typeface="Segoe UI" pitchFamily="34" charset="-120"/>
              </a:rPr>
              <a:t>Retail Channels · E-commerce Fulfilment</a:t>
            </a:r>
            <a:endParaRPr lang="en-US" sz="828" dirty="0"/>
          </a:p>
        </p:txBody>
      </p:sp>
      <p:sp>
        <p:nvSpPr>
          <p:cNvPr id="42" name="Text 35"/>
          <p:cNvSpPr/>
          <p:nvPr/>
        </p:nvSpPr>
        <p:spPr>
          <a:xfrm>
            <a:off x="7102537" y="3628796"/>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Overdue Orders: Not Every Late Order Is the Carrier's Fault</a:t>
            </a:r>
            <a:endParaRPr lang="en-US" sz="1080" dirty="0"/>
          </a:p>
        </p:txBody>
      </p:sp>
      <p:sp>
        <p:nvSpPr>
          <p:cNvPr id="43" name="Text 36"/>
          <p:cNvSpPr/>
          <p:nvPr/>
        </p:nvSpPr>
        <p:spPr>
          <a:xfrm>
            <a:off x="7102537" y="4780940"/>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Word · Excel / CSV · Teams · Outlook</a:t>
            </a:r>
            <a:endParaRPr lang="en-US" sz="864" dirty="0"/>
          </a:p>
        </p:txBody>
      </p:sp>
      <p:sp>
        <p:nvSpPr>
          <p:cNvPr id="44" name="Text 37"/>
          <p:cNvSpPr/>
          <p:nvPr/>
        </p:nvSpPr>
        <p:spPr>
          <a:xfrm>
            <a:off x="7102537" y="5148529"/>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~25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45" name="Shape 38"/>
          <p:cNvSpPr/>
          <p:nvPr/>
        </p:nvSpPr>
        <p:spPr>
          <a:xfrm>
            <a:off x="8603851"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46" name="Shape 39"/>
          <p:cNvSpPr/>
          <p:nvPr/>
        </p:nvSpPr>
        <p:spPr>
          <a:xfrm>
            <a:off x="8603851" y="1828800"/>
            <a:ext cx="1355010" cy="109728"/>
          </a:xfrm>
          <a:prstGeom prst="rect">
            <a:avLst/>
          </a:prstGeom>
          <a:solidFill>
            <a:srgbClr val="1D4A7A"/>
          </a:solidFill>
          <a:ln/>
        </p:spPr>
      </p:sp>
      <p:sp>
        <p:nvSpPr>
          <p:cNvPr id="47" name="Shape 40"/>
          <p:cNvSpPr/>
          <p:nvPr/>
        </p:nvSpPr>
        <p:spPr>
          <a:xfrm>
            <a:off x="8824156" y="2194560"/>
            <a:ext cx="914400" cy="914400"/>
          </a:xfrm>
          <a:prstGeom prst="ellipse">
            <a:avLst/>
          </a:prstGeom>
          <a:solidFill>
            <a:srgbClr val="1D4A7A"/>
          </a:solidFill>
          <a:ln/>
        </p:spPr>
      </p:sp>
      <p:pic>
        <p:nvPicPr>
          <p:cNvPr id="48" name="Image 5" descr="preencoded.png">    </p:cNvPr>
          <p:cNvPicPr>
            <a:picLocks noChangeAspect="1"/>
          </p:cNvPicPr>
          <p:nvPr/>
        </p:nvPicPr>
        <p:blipFill>
          <a:blip r:embed="rId6"/>
          <a:stretch>
            <a:fillRect/>
          </a:stretch>
        </p:blipFill>
        <p:spPr>
          <a:xfrm>
            <a:off x="9025324" y="2395728"/>
            <a:ext cx="512064" cy="512064"/>
          </a:xfrm>
          <a:prstGeom prst="rect">
            <a:avLst/>
          </a:prstGeom>
        </p:spPr>
      </p:pic>
      <p:sp>
        <p:nvSpPr>
          <p:cNvPr id="49" name="Text 41"/>
          <p:cNvSpPr/>
          <p:nvPr/>
        </p:nvSpPr>
        <p:spPr>
          <a:xfrm>
            <a:off x="8695291" y="3163824"/>
            <a:ext cx="1172130" cy="410108"/>
          </a:xfrm>
          <a:prstGeom prst="rect">
            <a:avLst/>
          </a:prstGeom>
          <a:noFill/>
          <a:ln/>
        </p:spPr>
        <p:txBody>
          <a:bodyPr wrap="square" rtlCol="0" anchor="t"/>
          <a:lstStyle/>
          <a:p>
            <a:pPr algn="ctr" indent="0" marL="0">
              <a:buNone/>
            </a:pPr>
            <a:r>
              <a:rPr lang="en-US" sz="828" b="1" dirty="0">
                <a:solidFill>
                  <a:srgbClr val="1D4A7A"/>
                </a:solidFill>
                <a:latin typeface="Segoe UI" pitchFamily="34" charset="0"/>
                <a:ea typeface="Segoe UI" pitchFamily="34" charset="-122"/>
                <a:cs typeface="Segoe UI" pitchFamily="34" charset="-120"/>
              </a:rPr>
              <a:t>Retail Channels · Regional Operations</a:t>
            </a:r>
            <a:endParaRPr lang="en-US" sz="828" dirty="0"/>
          </a:p>
        </p:txBody>
      </p:sp>
      <p:sp>
        <p:nvSpPr>
          <p:cNvPr id="50" name="Text 42"/>
          <p:cNvSpPr/>
          <p:nvPr/>
        </p:nvSpPr>
        <p:spPr>
          <a:xfrm>
            <a:off x="8695291" y="3628796"/>
            <a:ext cx="1172130" cy="1069848"/>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The Monday Ops Briefing: The Headline Number Is Not the Whole Story</a:t>
            </a:r>
            <a:endParaRPr lang="en-US" sz="1080" dirty="0"/>
          </a:p>
        </p:txBody>
      </p:sp>
      <p:sp>
        <p:nvSpPr>
          <p:cNvPr id="51" name="Text 43"/>
          <p:cNvSpPr/>
          <p:nvPr/>
        </p:nvSpPr>
        <p:spPr>
          <a:xfrm>
            <a:off x="8695291" y="4780940"/>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Excel · Schedule · Teams · Word</a:t>
            </a:r>
            <a:endParaRPr lang="en-US" sz="864" dirty="0"/>
          </a:p>
        </p:txBody>
      </p:sp>
      <p:sp>
        <p:nvSpPr>
          <p:cNvPr id="52" name="Text 44"/>
          <p:cNvSpPr/>
          <p:nvPr/>
        </p:nvSpPr>
        <p:spPr>
          <a:xfrm>
            <a:off x="8695291" y="5148529"/>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~20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53" name="Shape 45"/>
          <p:cNvSpPr/>
          <p:nvPr/>
        </p:nvSpPr>
        <p:spPr>
          <a:xfrm>
            <a:off x="10196605" y="1828800"/>
            <a:ext cx="1355010" cy="3794760"/>
          </a:xfrm>
          <a:prstGeom prst="rect">
            <a:avLst/>
          </a:prstGeom>
          <a:solidFill>
            <a:srgbClr val="FFFFFF"/>
          </a:solidFill>
          <a:ln w="12700">
            <a:solidFill>
              <a:srgbClr val="E4E7F2"/>
            </a:solidFill>
            <a:prstDash val="solid"/>
          </a:ln>
          <a:effectLst>
            <a:outerShdw sx="100000" sy="100000" kx="0" ky="0" algn="bl" rotWithShape="0" blurRad="88900" dist="25400" dir="5400000">
              <a:srgbClr val="9AA0C0">
                <a:alpha val="16000"/>
              </a:srgbClr>
            </a:outerShdw>
          </a:effectLst>
        </p:spPr>
      </p:sp>
      <p:sp>
        <p:nvSpPr>
          <p:cNvPr id="54" name="Shape 46"/>
          <p:cNvSpPr/>
          <p:nvPr/>
        </p:nvSpPr>
        <p:spPr>
          <a:xfrm>
            <a:off x="10196605" y="1828800"/>
            <a:ext cx="1355010" cy="109728"/>
          </a:xfrm>
          <a:prstGeom prst="rect">
            <a:avLst/>
          </a:prstGeom>
          <a:solidFill>
            <a:srgbClr val="7A3B12"/>
          </a:solidFill>
          <a:ln/>
        </p:spPr>
      </p:sp>
      <p:sp>
        <p:nvSpPr>
          <p:cNvPr id="55" name="Shape 47"/>
          <p:cNvSpPr/>
          <p:nvPr/>
        </p:nvSpPr>
        <p:spPr>
          <a:xfrm>
            <a:off x="10416910" y="2194560"/>
            <a:ext cx="914400" cy="914400"/>
          </a:xfrm>
          <a:prstGeom prst="ellipse">
            <a:avLst/>
          </a:prstGeom>
          <a:solidFill>
            <a:srgbClr val="7A3B12"/>
          </a:solidFill>
          <a:ln/>
        </p:spPr>
      </p:sp>
      <p:pic>
        <p:nvPicPr>
          <p:cNvPr id="56" name="Image 6" descr="preencoded.png">    </p:cNvPr>
          <p:cNvPicPr>
            <a:picLocks noChangeAspect="1"/>
          </p:cNvPicPr>
          <p:nvPr/>
        </p:nvPicPr>
        <p:blipFill>
          <a:blip r:embed="rId7"/>
          <a:stretch>
            <a:fillRect/>
          </a:stretch>
        </p:blipFill>
        <p:spPr>
          <a:xfrm>
            <a:off x="10618078" y="2395728"/>
            <a:ext cx="512064" cy="512064"/>
          </a:xfrm>
          <a:prstGeom prst="rect">
            <a:avLst/>
          </a:prstGeom>
        </p:spPr>
      </p:pic>
      <p:sp>
        <p:nvSpPr>
          <p:cNvPr id="57" name="Text 48"/>
          <p:cNvSpPr/>
          <p:nvPr/>
        </p:nvSpPr>
        <p:spPr>
          <a:xfrm>
            <a:off x="10288045" y="3163824"/>
            <a:ext cx="1172130" cy="273406"/>
          </a:xfrm>
          <a:prstGeom prst="rect">
            <a:avLst/>
          </a:prstGeom>
          <a:noFill/>
          <a:ln/>
        </p:spPr>
        <p:txBody>
          <a:bodyPr wrap="square" rtlCol="0" anchor="t"/>
          <a:lstStyle/>
          <a:p>
            <a:pPr algn="ctr" indent="0" marL="0">
              <a:buNone/>
            </a:pPr>
            <a:r>
              <a:rPr lang="en-US" sz="828" b="1" dirty="0">
                <a:solidFill>
                  <a:srgbClr val="7A3B12"/>
                </a:solidFill>
                <a:latin typeface="Segoe UI" pitchFamily="34" charset="0"/>
                <a:ea typeface="Segoe UI" pitchFamily="34" charset="-122"/>
                <a:cs typeface="Segoe UI" pitchFamily="34" charset="-120"/>
              </a:rPr>
              <a:t>Retail Channels · Pricing Governance</a:t>
            </a:r>
            <a:endParaRPr lang="en-US" sz="828" dirty="0"/>
          </a:p>
        </p:txBody>
      </p:sp>
      <p:sp>
        <p:nvSpPr>
          <p:cNvPr id="58" name="Text 49"/>
          <p:cNvSpPr/>
          <p:nvPr/>
        </p:nvSpPr>
        <p:spPr>
          <a:xfrm>
            <a:off x="10288045" y="3492094"/>
            <a:ext cx="1172130" cy="1248156"/>
          </a:xfrm>
          <a:prstGeom prst="rect">
            <a:avLst/>
          </a:prstGeom>
          <a:noFill/>
          <a:ln/>
        </p:spPr>
        <p:txBody>
          <a:bodyPr wrap="square" rtlCol="0" anchor="t"/>
          <a:lstStyle/>
          <a:p>
            <a:pPr algn="ctr" indent="0" marL="0">
              <a:buNone/>
            </a:pPr>
            <a:r>
              <a:rPr lang="en-US" sz="1080" b="1" dirty="0">
                <a:solidFill>
                  <a:srgbClr val="1E2235"/>
                </a:solidFill>
                <a:latin typeface="Segoe UI" pitchFamily="34" charset="0"/>
                <a:ea typeface="Segoe UI" pitchFamily="34" charset="-122"/>
                <a:cs typeface="Segoe UI" pitchFamily="34" charset="-120"/>
              </a:rPr>
              <a:t>Discount Exceptions: The Deepest Discount Is Not Necessarily the Breach</a:t>
            </a:r>
            <a:endParaRPr lang="en-US" sz="1080" dirty="0"/>
          </a:p>
        </p:txBody>
      </p:sp>
      <p:sp>
        <p:nvSpPr>
          <p:cNvPr id="59" name="Text 50"/>
          <p:cNvSpPr/>
          <p:nvPr/>
        </p:nvSpPr>
        <p:spPr>
          <a:xfrm>
            <a:off x="10288045" y="4822546"/>
            <a:ext cx="1172130" cy="285293"/>
          </a:xfrm>
          <a:prstGeom prst="rect">
            <a:avLst/>
          </a:prstGeom>
          <a:noFill/>
          <a:ln/>
        </p:spPr>
        <p:txBody>
          <a:bodyPr wrap="square" rtlCol="0" anchor="t"/>
          <a:lstStyle/>
          <a:p>
            <a:pPr algn="ctr" indent="0" marL="0">
              <a:lnSpc>
                <a:spcPct val="105000"/>
              </a:lnSpc>
              <a:buNone/>
            </a:pPr>
            <a:r>
              <a:rPr lang="en-US" sz="864" dirty="0">
                <a:solidFill>
                  <a:srgbClr val="5B6079"/>
                </a:solidFill>
                <a:latin typeface="Segoe UI" pitchFamily="34" charset="0"/>
                <a:ea typeface="Segoe UI" pitchFamily="34" charset="-122"/>
                <a:cs typeface="Segoe UI" pitchFamily="34" charset="-120"/>
              </a:rPr>
              <a:t>Custom skills · PDF · Excel · Word</a:t>
            </a:r>
            <a:endParaRPr lang="en-US" sz="864" dirty="0"/>
          </a:p>
        </p:txBody>
      </p:sp>
      <p:sp>
        <p:nvSpPr>
          <p:cNvPr id="60" name="Text 51"/>
          <p:cNvSpPr/>
          <p:nvPr/>
        </p:nvSpPr>
        <p:spPr>
          <a:xfrm>
            <a:off x="10288045" y="5190134"/>
            <a:ext cx="1172130" cy="261518"/>
          </a:xfrm>
          <a:prstGeom prst="rect">
            <a:avLst/>
          </a:prstGeom>
          <a:noFill/>
          <a:ln/>
        </p:spPr>
        <p:txBody>
          <a:bodyPr wrap="square" rtlCol="0" anchor="t"/>
          <a:lstStyle/>
          <a:p>
            <a:pPr algn="ctr" indent="0" marL="0">
              <a:buNone/>
            </a:pPr>
            <a:r>
              <a:rPr lang="en-US" sz="792" dirty="0">
                <a:solidFill>
                  <a:srgbClr val="9AA0C0"/>
                </a:solidFill>
                <a:latin typeface="Segoe UI" pitchFamily="34" charset="0"/>
                <a:ea typeface="Segoe UI" pitchFamily="34" charset="-122"/>
                <a:cs typeface="Segoe UI" pitchFamily="34" charset="-120"/>
              </a:rPr>
              <a:t>~25 min</a:t>
            </a:r>
            <a:endParaRPr lang="en-US" sz="792" dirty="0"/>
          </a:p>
          <a:p>
            <a:pPr algn="ctr" indent="0" marL="0">
              <a:buNone/>
            </a:pPr>
            <a:r>
              <a:rPr lang="en-US" sz="792" dirty="0">
                <a:solidFill>
                  <a:srgbClr val="9AA0C0"/>
                </a:solidFill>
                <a:latin typeface="Segoe UI" pitchFamily="34" charset="0"/>
                <a:ea typeface="Segoe UI" pitchFamily="34" charset="-122"/>
                <a:cs typeface="Segoe UI" pitchFamily="34" charset="-120"/>
              </a:rPr>
              <a:t> ★★★</a:t>
            </a:r>
            <a:endParaRPr lang="en-US" sz="792" dirty="0"/>
          </a:p>
        </p:txBody>
      </p:sp>
      <p:sp>
        <p:nvSpPr>
          <p:cNvPr id="61" name="Text 52"/>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62" name="Text 53"/>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12355B"/>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12355B"/>
                </a:solidFill>
                <a:latin typeface="Segoe UI" pitchFamily="34" charset="0"/>
                <a:ea typeface="Segoe UI" pitchFamily="34" charset="-122"/>
                <a:cs typeface="Segoe UI" pitchFamily="34" charset="-120"/>
              </a:rPr>
              <a:t>Scenario 01</a:t>
            </a:r>
            <a:endParaRPr lang="en-US" sz="1400" dirty="0"/>
          </a:p>
        </p:txBody>
      </p:sp>
      <p:sp>
        <p:nvSpPr>
          <p:cNvPr id="5" name="Shape 3"/>
          <p:cNvSpPr/>
          <p:nvPr/>
        </p:nvSpPr>
        <p:spPr>
          <a:xfrm>
            <a:off x="502920" y="1143000"/>
            <a:ext cx="1097280" cy="1097280"/>
          </a:xfrm>
          <a:prstGeom prst="ellipse">
            <a:avLst/>
          </a:prstGeom>
          <a:solidFill>
            <a:srgbClr val="12355B"/>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Regional Operations</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Anniversary War Room: Is a High Readiness Rate Enough to Open the Sale?</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~20 min · Level ★★☆</a:t>
            </a:r>
            <a:endParaRPr lang="en-US" sz="1300" dirty="0"/>
          </a:p>
        </p:txBody>
      </p:sp>
      <p:sp>
        <p:nvSpPr>
          <p:cNvPr id="10" name="Shape 7"/>
          <p:cNvSpPr/>
          <p:nvPr/>
        </p:nvSpPr>
        <p:spPr>
          <a:xfrm>
            <a:off x="502920" y="4572000"/>
            <a:ext cx="1115568" cy="402336"/>
          </a:xfrm>
          <a:prstGeom prst="roundRect">
            <a:avLst>
              <a:gd name="adj" fmla="val 50000"/>
            </a:avLst>
          </a:prstGeom>
          <a:solidFill>
            <a:srgbClr val="6366F1"/>
          </a:solidFill>
          <a:ln/>
        </p:spPr>
      </p:sp>
      <p:sp>
        <p:nvSpPr>
          <p:cNvPr id="11" name="Text 8"/>
          <p:cNvSpPr/>
          <p:nvPr/>
        </p:nvSpPr>
        <p:spPr>
          <a:xfrm>
            <a:off x="502920" y="4572000"/>
            <a:ext cx="111556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Meetings</a:t>
            </a:r>
            <a:endParaRPr lang="en-US" sz="1200" dirty="0"/>
          </a:p>
        </p:txBody>
      </p:sp>
      <p:sp>
        <p:nvSpPr>
          <p:cNvPr id="12" name="Shape 9"/>
          <p:cNvSpPr/>
          <p:nvPr/>
        </p:nvSpPr>
        <p:spPr>
          <a:xfrm>
            <a:off x="1801368" y="4572000"/>
            <a:ext cx="813816" cy="402336"/>
          </a:xfrm>
          <a:prstGeom prst="roundRect">
            <a:avLst>
              <a:gd name="adj" fmla="val 50000"/>
            </a:avLst>
          </a:prstGeom>
          <a:solidFill>
            <a:srgbClr val="217346"/>
          </a:solidFill>
          <a:ln/>
        </p:spPr>
      </p:sp>
      <p:sp>
        <p:nvSpPr>
          <p:cNvPr id="13" name="Text 10"/>
          <p:cNvSpPr/>
          <p:nvPr/>
        </p:nvSpPr>
        <p:spPr>
          <a:xfrm>
            <a:off x="1801368"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4" name="Shape 11"/>
          <p:cNvSpPr/>
          <p:nvPr/>
        </p:nvSpPr>
        <p:spPr>
          <a:xfrm>
            <a:off x="502920" y="5074920"/>
            <a:ext cx="1316736" cy="402336"/>
          </a:xfrm>
          <a:prstGeom prst="roundRect">
            <a:avLst>
              <a:gd name="adj" fmla="val 50000"/>
            </a:avLst>
          </a:prstGeom>
          <a:solidFill>
            <a:srgbClr val="C43E1C"/>
          </a:solidFill>
          <a:ln/>
        </p:spPr>
      </p:sp>
      <p:sp>
        <p:nvSpPr>
          <p:cNvPr id="15" name="Text 12"/>
          <p:cNvSpPr/>
          <p:nvPr/>
        </p:nvSpPr>
        <p:spPr>
          <a:xfrm>
            <a:off x="502920" y="5074920"/>
            <a:ext cx="131673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PowerPoint</a:t>
            </a:r>
            <a:endParaRPr lang="en-US" sz="1200" dirty="0"/>
          </a:p>
        </p:txBody>
      </p:sp>
      <p:sp>
        <p:nvSpPr>
          <p:cNvPr id="16" name="Shape 13"/>
          <p:cNvSpPr/>
          <p:nvPr/>
        </p:nvSpPr>
        <p:spPr>
          <a:xfrm>
            <a:off x="2002536" y="5074920"/>
            <a:ext cx="813816" cy="402336"/>
          </a:xfrm>
          <a:prstGeom prst="roundRect">
            <a:avLst>
              <a:gd name="adj" fmla="val 50000"/>
            </a:avLst>
          </a:prstGeom>
          <a:solidFill>
            <a:srgbClr val="6366F1"/>
          </a:solidFill>
          <a:ln/>
        </p:spPr>
      </p:sp>
      <p:sp>
        <p:nvSpPr>
          <p:cNvPr id="17" name="Text 14"/>
          <p:cNvSpPr/>
          <p:nvPr/>
        </p:nvSpPr>
        <p:spPr>
          <a:xfrm>
            <a:off x="2002536"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Teams</a:t>
            </a:r>
            <a:endParaRPr lang="en-US" sz="1200" dirty="0"/>
          </a:p>
        </p:txBody>
      </p:sp>
      <p:sp>
        <p:nvSpPr>
          <p:cNvPr id="18" name="Text 15"/>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Ten days before the Anniversary Sale, the POS price-setup tracker shows nearly all 120 stores ticked off, and the regional director wants one answer: does the launch date move? The price the customer sees is a promise made weeks ahead, but the POS configuration behind it is completed store by store — “how many stores are done” and “how much of the business is ready” are two different questions, and only the second one counts. You connect the meeting, the tracker and the deck, and get the conclusion right before the session.</a:t>
            </a:r>
            <a:endParaRPr lang="en-US" sz="1200" dirty="0"/>
          </a:p>
        </p:txBody>
      </p:sp>
      <p:sp>
        <p:nvSpPr>
          <p:cNvPr id="19" name="Text 16"/>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12355B"/>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971800"/>
            <a:ext cx="457200" cy="457200"/>
          </a:xfrm>
          <a:prstGeom prst="ellipse">
            <a:avLst/>
          </a:prstGeom>
          <a:solidFill>
            <a:srgbClr val="FFFFFF">
              <a:alpha val="12000"/>
            </a:srgbClr>
          </a:solidFill>
          <a:ln w="19050">
            <a:solidFill>
              <a:srgbClr val="12355B"/>
            </a:solidFill>
            <a:prstDash val="solid"/>
          </a:ln>
        </p:spPr>
      </p:sp>
      <p:sp>
        <p:nvSpPr>
          <p:cNvPr id="21" name="Text 18"/>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12355B"/>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Start by tying the meeting, the tracker and the decisions together</a:t>
            </a:r>
            <a:endParaRPr lang="en-US" sz="1600" dirty="0"/>
          </a:p>
        </p:txBody>
      </p:sp>
      <p:sp>
        <p:nvSpPr>
          <p:cNvPr id="23" name="Text 20"/>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The files are in the war-room folder …</a:t>
            </a:r>
            <a:endParaRPr lang="en-US" sz="1300" dirty="0"/>
          </a:p>
        </p:txBody>
      </p:sp>
      <p:sp>
        <p:nvSpPr>
          <p:cNvPr id="24" name="Shape 21"/>
          <p:cNvSpPr/>
          <p:nvPr/>
        </p:nvSpPr>
        <p:spPr>
          <a:xfrm>
            <a:off x="4526280" y="3831336"/>
            <a:ext cx="457200" cy="457200"/>
          </a:xfrm>
          <a:prstGeom prst="ellipse">
            <a:avLst/>
          </a:prstGeom>
          <a:solidFill>
            <a:srgbClr val="FFFFFF">
              <a:alpha val="12000"/>
            </a:srgbClr>
          </a:solidFill>
          <a:ln w="19050">
            <a:solidFill>
              <a:srgbClr val="12355B"/>
            </a:solidFill>
            <a:prstDash val="solid"/>
          </a:ln>
        </p:spPr>
      </p:sp>
      <p:sp>
        <p:nvSpPr>
          <p:cNvPr id="25" name="Text 22"/>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12355B"/>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Push on it: is it really enough, and which stores make the difference</a:t>
            </a:r>
            <a:endParaRPr lang="en-US" sz="1600" dirty="0"/>
          </a:p>
        </p:txBody>
      </p:sp>
      <p:sp>
        <p:nvSpPr>
          <p:cNvPr id="27" name="Text 24"/>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Do not adopt the first answer yet. Have it re-test again…</a:t>
            </a:r>
            <a:endParaRPr lang="en-US" sz="1300" dirty="0"/>
          </a:p>
        </p:txBody>
      </p:sp>
      <p:sp>
        <p:nvSpPr>
          <p:cNvPr id="28" name="Shape 25"/>
          <p:cNvSpPr/>
          <p:nvPr/>
        </p:nvSpPr>
        <p:spPr>
          <a:xfrm>
            <a:off x="4526280" y="4690872"/>
            <a:ext cx="457200" cy="457200"/>
          </a:xfrm>
          <a:prstGeom prst="ellipse">
            <a:avLst/>
          </a:prstGeom>
          <a:solidFill>
            <a:srgbClr val="FFFFFF">
              <a:alpha val="12000"/>
            </a:srgbClr>
          </a:solidFill>
          <a:ln w="19050">
            <a:solidFill>
              <a:srgbClr val="12355B"/>
            </a:solidFill>
            <a:prstDash val="solid"/>
          </a:ln>
        </p:spPr>
      </p:sp>
      <p:sp>
        <p:nvSpPr>
          <p:cNvPr id="29" name="Text 26"/>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12355B"/>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Edit slides 4 and 5 of the deck in place</a:t>
            </a:r>
            <a:endParaRPr lang="en-US" sz="1600" dirty="0"/>
          </a:p>
        </p:txBody>
      </p:sp>
      <p:sp>
        <p:nvSpPr>
          <p:cNvPr id="31" name="Text 28"/>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When the “Edit file?” card appears, open the dropdown ne…</a:t>
            </a:r>
            <a:endParaRPr lang="en-US" sz="1300" dirty="0"/>
          </a:p>
        </p:txBody>
      </p:sp>
      <p:sp>
        <p:nvSpPr>
          <p:cNvPr id="32" name="Shape 29"/>
          <p:cNvSpPr/>
          <p:nvPr/>
        </p:nvSpPr>
        <p:spPr>
          <a:xfrm>
            <a:off x="4526280" y="5550408"/>
            <a:ext cx="457200" cy="457200"/>
          </a:xfrm>
          <a:prstGeom prst="ellipse">
            <a:avLst/>
          </a:prstGeom>
          <a:solidFill>
            <a:srgbClr val="FFFFFF">
              <a:alpha val="12000"/>
            </a:srgbClr>
          </a:solidFill>
          <a:ln w="19050">
            <a:solidFill>
              <a:srgbClr val="12355B"/>
            </a:solidFill>
            <a:prstDash val="solid"/>
          </a:ln>
        </p:spPr>
      </p:sp>
      <p:sp>
        <p:nvSpPr>
          <p:cNvPr id="33" name="Text 30"/>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12355B"/>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Post the conclusion to the channel in three points</a:t>
            </a:r>
            <a:endParaRPr lang="en-US" sz="1600" dirty="0"/>
          </a:p>
        </p:txBody>
      </p:sp>
      <p:sp>
        <p:nvSpPr>
          <p:cNvPr id="35" name="Text 32"/>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Because you asked it to reply to the director's question…</a:t>
            </a:r>
            <a:endParaRPr lang="en-US" sz="1300" dirty="0"/>
          </a:p>
        </p:txBody>
      </p:sp>
      <p:sp>
        <p:nvSpPr>
          <p:cNvPr id="36" name="Text 3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12355B"/>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12355B"/>
                </a:solidFill>
                <a:latin typeface="Segoe UI" pitchFamily="34" charset="0"/>
                <a:ea typeface="Segoe UI" pitchFamily="34" charset="-122"/>
                <a:cs typeface="Segoe UI" pitchFamily="34" charset="-120"/>
              </a:rPr>
              <a:t>Scenario 01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1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12355B"/>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1_04b_result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12355B"/>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12355B"/>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states that by store count the figure is 110/120 (91.7%), above the 90% threshold, and names this as why it “looks fine”</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Weighted by forecast campaign revenue, readiness is 85.9%, below the 90% threshold</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points out that 3 of the 10 stores not ready are in the revenue top ten (S014, S008, S056), together about 12.0% of forecast revenue</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5A2A14"/>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5A2A14"/>
                </a:solidFill>
                <a:latin typeface="Segoe UI" pitchFamily="34" charset="0"/>
                <a:ea typeface="Segoe UI" pitchFamily="34" charset="-122"/>
                <a:cs typeface="Segoe UI" pitchFamily="34" charset="-120"/>
              </a:rPr>
              <a:t>Scenario 02</a:t>
            </a:r>
            <a:endParaRPr lang="en-US" sz="1400" dirty="0"/>
          </a:p>
        </p:txBody>
      </p:sp>
      <p:sp>
        <p:nvSpPr>
          <p:cNvPr id="5" name="Shape 3"/>
          <p:cNvSpPr/>
          <p:nvPr/>
        </p:nvSpPr>
        <p:spPr>
          <a:xfrm>
            <a:off x="502920" y="1143000"/>
            <a:ext cx="1097280" cy="1097280"/>
          </a:xfrm>
          <a:prstGeom prst="ellipse">
            <a:avLst/>
          </a:prstGeom>
          <a:solidFill>
            <a:srgbClr val="5A2A14"/>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Inventory &amp; Receiving Control</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Out of Stock Is Not Out of Inventory: Let the Alert Email Start the Investigation</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~25 min · Level ★★★</a:t>
            </a:r>
            <a:endParaRPr lang="en-US" sz="1300" dirty="0"/>
          </a:p>
        </p:txBody>
      </p:sp>
      <p:sp>
        <p:nvSpPr>
          <p:cNvPr id="10" name="Shape 7"/>
          <p:cNvSpPr/>
          <p:nvPr/>
        </p:nvSpPr>
        <p:spPr>
          <a:xfrm>
            <a:off x="502920" y="4572000"/>
            <a:ext cx="1618488" cy="402336"/>
          </a:xfrm>
          <a:prstGeom prst="roundRect">
            <a:avLst>
              <a:gd name="adj" fmla="val 50000"/>
            </a:avLst>
          </a:prstGeom>
          <a:solidFill>
            <a:srgbClr val="6366F1"/>
          </a:solidFill>
          <a:ln/>
        </p:spPr>
      </p:sp>
      <p:sp>
        <p:nvSpPr>
          <p:cNvPr id="11" name="Text 8"/>
          <p:cNvSpPr/>
          <p:nvPr/>
        </p:nvSpPr>
        <p:spPr>
          <a:xfrm>
            <a:off x="502920" y="4572000"/>
            <a:ext cx="161848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Event trigger</a:t>
            </a:r>
            <a:endParaRPr lang="en-US" sz="1200" dirty="0"/>
          </a:p>
        </p:txBody>
      </p:sp>
      <p:sp>
        <p:nvSpPr>
          <p:cNvPr id="12" name="Shape 9"/>
          <p:cNvSpPr/>
          <p:nvPr/>
        </p:nvSpPr>
        <p:spPr>
          <a:xfrm>
            <a:off x="502920" y="5074920"/>
            <a:ext cx="1719072" cy="402336"/>
          </a:xfrm>
          <a:prstGeom prst="roundRect">
            <a:avLst>
              <a:gd name="adj" fmla="val 50000"/>
            </a:avLst>
          </a:prstGeom>
          <a:solidFill>
            <a:srgbClr val="6366F1"/>
          </a:solidFill>
          <a:ln/>
        </p:spPr>
      </p:sp>
      <p:sp>
        <p:nvSpPr>
          <p:cNvPr id="13" name="Text 10"/>
          <p:cNvSpPr/>
          <p:nvPr/>
        </p:nvSpPr>
        <p:spPr>
          <a:xfrm>
            <a:off x="502920" y="5074920"/>
            <a:ext cx="171907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Adaptive Cards</a:t>
            </a:r>
            <a:endParaRPr lang="en-US" sz="1200" dirty="0"/>
          </a:p>
        </p:txBody>
      </p:sp>
      <p:sp>
        <p:nvSpPr>
          <p:cNvPr id="14" name="Shape 11"/>
          <p:cNvSpPr/>
          <p:nvPr/>
        </p:nvSpPr>
        <p:spPr>
          <a:xfrm>
            <a:off x="2404872" y="5074920"/>
            <a:ext cx="813816" cy="402336"/>
          </a:xfrm>
          <a:prstGeom prst="roundRect">
            <a:avLst>
              <a:gd name="adj" fmla="val 50000"/>
            </a:avLst>
          </a:prstGeom>
          <a:solidFill>
            <a:srgbClr val="217346"/>
          </a:solidFill>
          <a:ln/>
        </p:spPr>
      </p:sp>
      <p:sp>
        <p:nvSpPr>
          <p:cNvPr id="15" name="Text 12"/>
          <p:cNvSpPr/>
          <p:nvPr/>
        </p:nvSpPr>
        <p:spPr>
          <a:xfrm>
            <a:off x="2404872"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6" name="Shape 13"/>
          <p:cNvSpPr/>
          <p:nvPr/>
        </p:nvSpPr>
        <p:spPr>
          <a:xfrm>
            <a:off x="502920" y="5577840"/>
            <a:ext cx="1014984" cy="402336"/>
          </a:xfrm>
          <a:prstGeom prst="roundRect">
            <a:avLst>
              <a:gd name="adj" fmla="val 50000"/>
            </a:avLst>
          </a:prstGeom>
          <a:solidFill>
            <a:srgbClr val="6366F1"/>
          </a:solidFill>
          <a:ln/>
        </p:spPr>
      </p:sp>
      <p:sp>
        <p:nvSpPr>
          <p:cNvPr id="17" name="Text 14"/>
          <p:cNvSpPr/>
          <p:nvPr/>
        </p:nvSpPr>
        <p:spPr>
          <a:xfrm>
            <a:off x="502920" y="5577840"/>
            <a:ext cx="101498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Planner</a:t>
            </a:r>
            <a:endParaRPr lang="en-US" sz="1200" dirty="0"/>
          </a:p>
        </p:txBody>
      </p:sp>
      <p:sp>
        <p:nvSpPr>
          <p:cNvPr id="18" name="Text 15"/>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The two headline SKUs of the Anniversary Sale show 0 in the POS and complaints have started, yet the DC books show 240 and 180 units. The instinct is “there is stock, transfer both”. The hard part is that the stock sits in receiving quarantine, and when it is released and how long it then takes to reach the store decides whether it arrives in time — when the promise (the shelf deadline) comes before the fulfilment (release plus transit), the same “we have stock” produces different outcomes. This scenario ends by setting it up to run itself the next time an alert email arrives, creating a task only when a person has to act.</a:t>
            </a:r>
            <a:endParaRPr lang="en-US" sz="1200" dirty="0"/>
          </a:p>
        </p:txBody>
      </p:sp>
      <p:sp>
        <p:nvSpPr>
          <p:cNvPr id="19" name="Text 16"/>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5A2A14"/>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971800"/>
            <a:ext cx="457200" cy="457200"/>
          </a:xfrm>
          <a:prstGeom prst="ellipse">
            <a:avLst/>
          </a:prstGeom>
          <a:solidFill>
            <a:srgbClr val="FFFFFF">
              <a:alpha val="12000"/>
            </a:srgbClr>
          </a:solidFill>
          <a:ln w="19050">
            <a:solidFill>
              <a:srgbClr val="5A2A14"/>
            </a:solidFill>
            <a:prstDash val="solid"/>
          </a:ln>
        </p:spPr>
      </p:sp>
      <p:sp>
        <p:nvSpPr>
          <p:cNvPr id="21" name="Text 18"/>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5A2A14"/>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Create the event trigger: investigate as soon as the alert email arrives</a:t>
            </a:r>
            <a:endParaRPr lang="en-US" sz="1600" dirty="0"/>
          </a:p>
        </p:txBody>
      </p:sp>
      <p:sp>
        <p:nvSpPr>
          <p:cNvPr id="23" name="Text 20"/>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Cowork will ask a few questions (the matching condition,…</a:t>
            </a:r>
            <a:endParaRPr lang="en-US" sz="1300" dirty="0"/>
          </a:p>
        </p:txBody>
      </p:sp>
      <p:sp>
        <p:nvSpPr>
          <p:cNvPr id="24" name="Shape 21"/>
          <p:cNvSpPr/>
          <p:nvPr/>
        </p:nvSpPr>
        <p:spPr>
          <a:xfrm>
            <a:off x="4526280" y="3831336"/>
            <a:ext cx="457200" cy="457200"/>
          </a:xfrm>
          <a:prstGeom prst="ellipse">
            <a:avLst/>
          </a:prstGeom>
          <a:solidFill>
            <a:srgbClr val="FFFFFF">
              <a:alpha val="12000"/>
            </a:srgbClr>
          </a:solidFill>
          <a:ln w="19050">
            <a:solidFill>
              <a:srgbClr val="5A2A14"/>
            </a:solidFill>
            <a:prstDash val="solid"/>
          </a:ln>
        </p:spPr>
      </p:sp>
      <p:sp>
        <p:nvSpPr>
          <p:cNvPr id="25" name="Text 22"/>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5A2A14"/>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Actually send yourself an alert email</a:t>
            </a:r>
            <a:endParaRPr lang="en-US" sz="1600" dirty="0"/>
          </a:p>
        </p:txBody>
      </p:sp>
      <p:sp>
        <p:nvSpPr>
          <p:cNvPr id="27" name="Text 24"/>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Send it to yourself from OWA or Outlook with the subject…</a:t>
            </a:r>
            <a:endParaRPr lang="en-US" sz="1300" dirty="0"/>
          </a:p>
        </p:txBody>
      </p:sp>
      <p:sp>
        <p:nvSpPr>
          <p:cNvPr id="28" name="Shape 25"/>
          <p:cNvSpPr/>
          <p:nvPr/>
        </p:nvSpPr>
        <p:spPr>
          <a:xfrm>
            <a:off x="4526280" y="4690872"/>
            <a:ext cx="457200" cy="457200"/>
          </a:xfrm>
          <a:prstGeom prst="ellipse">
            <a:avLst/>
          </a:prstGeom>
          <a:solidFill>
            <a:srgbClr val="FFFFFF">
              <a:alpha val="12000"/>
            </a:srgbClr>
          </a:solidFill>
          <a:ln w="19050">
            <a:solidFill>
              <a:srgbClr val="5A2A14"/>
            </a:solidFill>
            <a:prstDash val="solid"/>
          </a:ln>
        </p:spPr>
      </p:sp>
      <p:sp>
        <p:nvSpPr>
          <p:cNvPr id="29" name="Text 26"/>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5A2A14"/>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Open that run: see how it decided</a:t>
            </a:r>
            <a:endParaRPr lang="en-US" sz="1600" dirty="0"/>
          </a:p>
        </p:txBody>
      </p:sp>
      <p:sp>
        <p:nvSpPr>
          <p:cNvPr id="31" name="Text 28"/>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Open the run you just triggered from the Automations run…</a:t>
            </a:r>
            <a:endParaRPr lang="en-US" sz="1300" dirty="0"/>
          </a:p>
        </p:txBody>
      </p:sp>
      <p:sp>
        <p:nvSpPr>
          <p:cNvPr id="32" name="Shape 29"/>
          <p:cNvSpPr/>
          <p:nvPr/>
        </p:nvSpPr>
        <p:spPr>
          <a:xfrm>
            <a:off x="4526280" y="5550408"/>
            <a:ext cx="457200" cy="457200"/>
          </a:xfrm>
          <a:prstGeom prst="ellipse">
            <a:avLst/>
          </a:prstGeom>
          <a:solidFill>
            <a:srgbClr val="FFFFFF">
              <a:alpha val="12000"/>
            </a:srgbClr>
          </a:solidFill>
          <a:ln w="19050">
            <a:solidFill>
              <a:srgbClr val="5A2A14"/>
            </a:solidFill>
            <a:prstDash val="solid"/>
          </a:ln>
        </p:spPr>
      </p:sp>
      <p:sp>
        <p:nvSpPr>
          <p:cNvPr id="33" name="Text 30"/>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5A2A14"/>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For the one that misses, find an alternative and create the Planner task</a:t>
            </a:r>
            <a:endParaRPr lang="en-US" sz="1600" dirty="0"/>
          </a:p>
        </p:txBody>
      </p:sp>
      <p:sp>
        <p:nvSpPr>
          <p:cNvPr id="35" name="Text 32"/>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When the “Add task?” card appears, check the title and d…</a:t>
            </a:r>
            <a:endParaRPr lang="en-US" sz="1300" dirty="0"/>
          </a:p>
        </p:txBody>
      </p:sp>
      <p:sp>
        <p:nvSpPr>
          <p:cNvPr id="36" name="Text 3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5A2A14"/>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5A2A14"/>
                </a:solidFill>
                <a:latin typeface="Segoe UI" pitchFamily="34" charset="0"/>
                <a:ea typeface="Segoe UI" pitchFamily="34" charset="-122"/>
                <a:cs typeface="Segoe UI" pitchFamily="34" charset="-120"/>
              </a:rPr>
              <a:t>Scenario 02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2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5A2A14"/>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2_04c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5A2A14"/>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5A2A14"/>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After the question card, the matching condition and task location you chose are restated accurately, and a completion message appears after the “Enable automation” card</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One to four minutes after you send the email, the Automations page shows a new run record that you did not start by hand</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reports both SKUs at 0 in the POS with stock at the DC (SKU-10482: 240 units, SKU-10517: 180 units), and does not conclude both can be transferred just because stock exists</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2D4A3E"/>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2D4A3E"/>
                </a:solidFill>
                <a:latin typeface="Segoe UI" pitchFamily="34" charset="0"/>
                <a:ea typeface="Segoe UI" pitchFamily="34" charset="-122"/>
                <a:cs typeface="Segoe UI" pitchFamily="34" charset="-120"/>
              </a:rPr>
              <a:t>Scenario 03</a:t>
            </a:r>
            <a:endParaRPr lang="en-US" sz="1400" dirty="0"/>
          </a:p>
        </p:txBody>
      </p:sp>
      <p:sp>
        <p:nvSpPr>
          <p:cNvPr id="5" name="Shape 3"/>
          <p:cNvSpPr/>
          <p:nvPr/>
        </p:nvSpPr>
        <p:spPr>
          <a:xfrm>
            <a:off x="502920" y="1143000"/>
            <a:ext cx="1097280" cy="1097280"/>
          </a:xfrm>
          <a:prstGeom prst="ellipse">
            <a:avLst/>
          </a:prstGeom>
          <a:solidFill>
            <a:srgbClr val="2D4A3E"/>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Inventory &amp; Receiving Control</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Receiving Variances and Claims: the Biggest Gap Is Not the One to Claim</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~25 min · Level ★★☆</a:t>
            </a:r>
            <a:endParaRPr lang="en-US" sz="1300" dirty="0"/>
          </a:p>
        </p:txBody>
      </p:sp>
      <p:sp>
        <p:nvSpPr>
          <p:cNvPr id="10" name="Shape 7"/>
          <p:cNvSpPr/>
          <p:nvPr/>
        </p:nvSpPr>
        <p:spPr>
          <a:xfrm>
            <a:off x="502920" y="4572000"/>
            <a:ext cx="813816" cy="402336"/>
          </a:xfrm>
          <a:prstGeom prst="roundRect">
            <a:avLst>
              <a:gd name="adj" fmla="val 50000"/>
            </a:avLst>
          </a:prstGeom>
          <a:solidFill>
            <a:srgbClr val="217346"/>
          </a:solidFill>
          <a:ln/>
        </p:spPr>
      </p:sp>
      <p:sp>
        <p:nvSpPr>
          <p:cNvPr id="11" name="Text 8"/>
          <p:cNvSpPr/>
          <p:nvPr/>
        </p:nvSpPr>
        <p:spPr>
          <a:xfrm>
            <a:off x="502920"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2" name="Shape 9"/>
          <p:cNvSpPr/>
          <p:nvPr/>
        </p:nvSpPr>
        <p:spPr>
          <a:xfrm>
            <a:off x="1499616" y="4572000"/>
            <a:ext cx="713232" cy="402336"/>
          </a:xfrm>
          <a:prstGeom prst="roundRect">
            <a:avLst>
              <a:gd name="adj" fmla="val 50000"/>
            </a:avLst>
          </a:prstGeom>
          <a:solidFill>
            <a:srgbClr val="2B579A"/>
          </a:solidFill>
          <a:ln/>
        </p:spPr>
      </p:sp>
      <p:sp>
        <p:nvSpPr>
          <p:cNvPr id="13" name="Text 10"/>
          <p:cNvSpPr/>
          <p:nvPr/>
        </p:nvSpPr>
        <p:spPr>
          <a:xfrm>
            <a:off x="1499616" y="4572000"/>
            <a:ext cx="71323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Word</a:t>
            </a:r>
            <a:endParaRPr lang="en-US" sz="1200" dirty="0"/>
          </a:p>
        </p:txBody>
      </p:sp>
      <p:sp>
        <p:nvSpPr>
          <p:cNvPr id="14" name="Shape 11"/>
          <p:cNvSpPr/>
          <p:nvPr/>
        </p:nvSpPr>
        <p:spPr>
          <a:xfrm>
            <a:off x="502920" y="5074920"/>
            <a:ext cx="1819656" cy="402336"/>
          </a:xfrm>
          <a:prstGeom prst="roundRect">
            <a:avLst>
              <a:gd name="adj" fmla="val 50000"/>
            </a:avLst>
          </a:prstGeom>
          <a:solidFill>
            <a:srgbClr val="6366F1"/>
          </a:solidFill>
          <a:ln/>
        </p:spPr>
      </p:sp>
      <p:sp>
        <p:nvSpPr>
          <p:cNvPr id="15" name="Text 12"/>
          <p:cNvSpPr/>
          <p:nvPr/>
        </p:nvSpPr>
        <p:spPr>
          <a:xfrm>
            <a:off x="502920" y="5074920"/>
            <a:ext cx="181965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OneDrive Search</a:t>
            </a:r>
            <a:endParaRPr lang="en-US" sz="1200" dirty="0"/>
          </a:p>
        </p:txBody>
      </p:sp>
      <p:sp>
        <p:nvSpPr>
          <p:cNvPr id="16" name="Shape 13"/>
          <p:cNvSpPr/>
          <p:nvPr/>
        </p:nvSpPr>
        <p:spPr>
          <a:xfrm>
            <a:off x="2505456" y="5074920"/>
            <a:ext cx="1014984" cy="402336"/>
          </a:xfrm>
          <a:prstGeom prst="roundRect">
            <a:avLst>
              <a:gd name="adj" fmla="val 50000"/>
            </a:avLst>
          </a:prstGeom>
          <a:solidFill>
            <a:srgbClr val="0F6CBD"/>
          </a:solidFill>
          <a:ln/>
        </p:spPr>
      </p:sp>
      <p:sp>
        <p:nvSpPr>
          <p:cNvPr id="17" name="Text 14"/>
          <p:cNvSpPr/>
          <p:nvPr/>
        </p:nvSpPr>
        <p:spPr>
          <a:xfrm>
            <a:off x="2505456" y="5074920"/>
            <a:ext cx="101498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Outlook</a:t>
            </a:r>
            <a:endParaRPr lang="en-US" sz="1200" dirty="0"/>
          </a:p>
        </p:txBody>
      </p:sp>
      <p:sp>
        <p:nvSpPr>
          <p:cNvPr id="18" name="Text 15"/>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The goods receipt log shows 220 more units than the supplier's invoices, and the single largest batch is out by 120, so it looks like the one to claim. The hard part is that variances come from several different sources: some are genuine short deliveries, others are promotional gifts that are shipped free and never invoiced. The contract spells out what counts as a short delivery and when a claim can be raised, but not in the ledger — you have to compare four sources to see which batch really cost you. And the verdict goes back into the existing ledger, not a new file.</a:t>
            </a:r>
            <a:endParaRPr lang="en-US" sz="1200" dirty="0"/>
          </a:p>
        </p:txBody>
      </p:sp>
      <p:sp>
        <p:nvSpPr>
          <p:cNvPr id="19" name="Text 16"/>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2D4A3E"/>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971800"/>
            <a:ext cx="457200" cy="457200"/>
          </a:xfrm>
          <a:prstGeom prst="ellipse">
            <a:avLst/>
          </a:prstGeom>
          <a:solidFill>
            <a:srgbClr val="FFFFFF">
              <a:alpha val="12000"/>
            </a:srgbClr>
          </a:solidFill>
          <a:ln w="19050">
            <a:solidFill>
              <a:srgbClr val="2D4A3E"/>
            </a:solidFill>
            <a:prstDash val="solid"/>
          </a:ln>
        </p:spPr>
      </p:sp>
      <p:sp>
        <p:nvSpPr>
          <p:cNvPr id="21" name="Text 18"/>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2D4A3E"/>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First reconcile the four sources into one batch table</a:t>
            </a:r>
            <a:endParaRPr lang="en-US" sz="1600" dirty="0"/>
          </a:p>
        </p:txBody>
      </p:sp>
      <p:sp>
        <p:nvSpPr>
          <p:cNvPr id="23" name="Text 20"/>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the invoice lines are already on OneD…</a:t>
            </a:r>
            <a:endParaRPr lang="en-US" sz="1300" dirty="0"/>
          </a:p>
        </p:txBody>
      </p:sp>
      <p:sp>
        <p:nvSpPr>
          <p:cNvPr id="24" name="Shape 21"/>
          <p:cNvSpPr/>
          <p:nvPr/>
        </p:nvSpPr>
        <p:spPr>
          <a:xfrm>
            <a:off x="4526280" y="3831336"/>
            <a:ext cx="457200" cy="457200"/>
          </a:xfrm>
          <a:prstGeom prst="ellipse">
            <a:avLst/>
          </a:prstGeom>
          <a:solidFill>
            <a:srgbClr val="FFFFFF">
              <a:alpha val="12000"/>
            </a:srgbClr>
          </a:solidFill>
          <a:ln w="19050">
            <a:solidFill>
              <a:srgbClr val="2D4A3E"/>
            </a:solidFill>
            <a:prstDash val="solid"/>
          </a:ln>
        </p:spPr>
      </p:sp>
      <p:sp>
        <p:nvSpPr>
          <p:cNvPr id="25" name="Text 22"/>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2D4A3E"/>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 Judge against the contract: what to claim and what is not a short delivery</a:t>
            </a:r>
            <a:endParaRPr lang="en-US" sz="1600" dirty="0"/>
          </a:p>
        </p:txBody>
      </p:sp>
      <p:sp>
        <p:nvSpPr>
          <p:cNvPr id="27" name="Text 24"/>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Ask for the verdict only now, and have it state the basi…</a:t>
            </a:r>
            <a:endParaRPr lang="en-US" sz="1300" dirty="0"/>
          </a:p>
        </p:txBody>
      </p:sp>
      <p:sp>
        <p:nvSpPr>
          <p:cNvPr id="28" name="Shape 25"/>
          <p:cNvSpPr/>
          <p:nvPr/>
        </p:nvSpPr>
        <p:spPr>
          <a:xfrm>
            <a:off x="4526280" y="4690872"/>
            <a:ext cx="457200" cy="457200"/>
          </a:xfrm>
          <a:prstGeom prst="ellipse">
            <a:avLst/>
          </a:prstGeom>
          <a:solidFill>
            <a:srgbClr val="FFFFFF">
              <a:alpha val="12000"/>
            </a:srgbClr>
          </a:solidFill>
          <a:ln w="19050">
            <a:solidFill>
              <a:srgbClr val="2D4A3E"/>
            </a:solidFill>
            <a:prstDash val="solid"/>
          </a:ln>
        </p:spPr>
      </p:sp>
      <p:sp>
        <p:nvSpPr>
          <p:cNvPr id="29" name="Text 26"/>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2D4A3E"/>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Write the verdicts back into the existing ledger in place</a:t>
            </a:r>
            <a:endParaRPr lang="en-US" sz="1600" dirty="0"/>
          </a:p>
        </p:txBody>
      </p:sp>
      <p:sp>
        <p:nvSpPr>
          <p:cNvPr id="31" name="Text 28"/>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When the “Edit file?” card appears, open the dropdown be…</a:t>
            </a:r>
            <a:endParaRPr lang="en-US" sz="1300" dirty="0"/>
          </a:p>
        </p:txBody>
      </p:sp>
      <p:sp>
        <p:nvSpPr>
          <p:cNvPr id="32" name="Shape 29"/>
          <p:cNvSpPr/>
          <p:nvPr/>
        </p:nvSpPr>
        <p:spPr>
          <a:xfrm>
            <a:off x="4526280" y="5550408"/>
            <a:ext cx="457200" cy="457200"/>
          </a:xfrm>
          <a:prstGeom prst="ellipse">
            <a:avLst/>
          </a:prstGeom>
          <a:solidFill>
            <a:srgbClr val="FFFFFF">
              <a:alpha val="12000"/>
            </a:srgbClr>
          </a:solidFill>
          <a:ln w="19050">
            <a:solidFill>
              <a:srgbClr val="2D4A3E"/>
            </a:solidFill>
            <a:prstDash val="solid"/>
          </a:ln>
        </p:spPr>
      </p:sp>
      <p:sp>
        <p:nvSpPr>
          <p:cNvPr id="33" name="Text 30"/>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2D4A3E"/>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List the batches to claim and draft the note to the supplier</a:t>
            </a:r>
            <a:endParaRPr lang="en-US" sz="1600" dirty="0"/>
          </a:p>
        </p:txBody>
      </p:sp>
      <p:sp>
        <p:nvSpPr>
          <p:cNvPr id="35" name="Text 32"/>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This step only needs a draft; do not send. If it offers …</a:t>
            </a:r>
            <a:endParaRPr lang="en-US" sz="1300" dirty="0"/>
          </a:p>
        </p:txBody>
      </p:sp>
      <p:sp>
        <p:nvSpPr>
          <p:cNvPr id="36" name="Text 3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2D4A3E"/>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2D4A3E"/>
                </a:solidFill>
                <a:latin typeface="Segoe UI" pitchFamily="34" charset="0"/>
                <a:ea typeface="Segoe UI" pitchFamily="34" charset="-122"/>
                <a:cs typeface="Segoe UI" pitchFamily="34" charset="-120"/>
              </a:rPr>
              <a:t>Scenario 03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3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2D4A3E"/>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3_04b_not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2D4A3E"/>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2D4A3E"/>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batch table puts ASN, received, invoiced and gift side by side, and the total difference (received minus invoiced) is 220 units, matching your own sum</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notes that B-07 has ASN and received both at 1,200, invoiced 1,080, and that the 120 gap is promotional gift stock supplied free of charge, not a short delivery</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says the free-of-charge basis for gifts comes from the contract annex, not from the ledger, and that by the same reasoning the 100 units in B-03 are not a short delivery either</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0F3D3E"/>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0F3D3E"/>
                </a:solidFill>
                <a:latin typeface="Segoe UI" pitchFamily="34" charset="0"/>
                <a:ea typeface="Segoe UI" pitchFamily="34" charset="-122"/>
                <a:cs typeface="Segoe UI" pitchFamily="34" charset="-120"/>
              </a:rPr>
              <a:t>Scenario 04</a:t>
            </a:r>
            <a:endParaRPr lang="en-US" sz="1400" dirty="0"/>
          </a:p>
        </p:txBody>
      </p:sp>
      <p:sp>
        <p:nvSpPr>
          <p:cNvPr id="5" name="Shape 3"/>
          <p:cNvSpPr/>
          <p:nvPr/>
        </p:nvSpPr>
        <p:spPr>
          <a:xfrm>
            <a:off x="502920" y="1143000"/>
            <a:ext cx="1097280" cy="1097280"/>
          </a:xfrm>
          <a:prstGeom prst="ellipse">
            <a:avLst/>
          </a:prstGeom>
          <a:solidFill>
            <a:srgbClr val="0F3D3E"/>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Store Operations</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The Pickup Peak Gap: Enough Hours in Total Does Not Mean You Can Cover 5 p.m.</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~20 min · Level ★★☆</a:t>
            </a:r>
            <a:endParaRPr lang="en-US" sz="1300" dirty="0"/>
          </a:p>
        </p:txBody>
      </p:sp>
      <p:sp>
        <p:nvSpPr>
          <p:cNvPr id="10" name="Shape 7"/>
          <p:cNvSpPr/>
          <p:nvPr/>
        </p:nvSpPr>
        <p:spPr>
          <a:xfrm>
            <a:off x="502920" y="4572000"/>
            <a:ext cx="813816" cy="402336"/>
          </a:xfrm>
          <a:prstGeom prst="roundRect">
            <a:avLst>
              <a:gd name="adj" fmla="val 50000"/>
            </a:avLst>
          </a:prstGeom>
          <a:solidFill>
            <a:srgbClr val="217346"/>
          </a:solidFill>
          <a:ln/>
        </p:spPr>
      </p:sp>
      <p:sp>
        <p:nvSpPr>
          <p:cNvPr id="11" name="Text 8"/>
          <p:cNvSpPr/>
          <p:nvPr/>
        </p:nvSpPr>
        <p:spPr>
          <a:xfrm>
            <a:off x="502920"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2" name="Shape 9"/>
          <p:cNvSpPr/>
          <p:nvPr/>
        </p:nvSpPr>
        <p:spPr>
          <a:xfrm>
            <a:off x="1499616" y="4572000"/>
            <a:ext cx="1014984" cy="402336"/>
          </a:xfrm>
          <a:prstGeom prst="roundRect">
            <a:avLst>
              <a:gd name="adj" fmla="val 50000"/>
            </a:avLst>
          </a:prstGeom>
          <a:solidFill>
            <a:srgbClr val="6366F1"/>
          </a:solidFill>
          <a:ln/>
        </p:spPr>
      </p:sp>
      <p:sp>
        <p:nvSpPr>
          <p:cNvPr id="13" name="Text 10"/>
          <p:cNvSpPr/>
          <p:nvPr/>
        </p:nvSpPr>
        <p:spPr>
          <a:xfrm>
            <a:off x="1499616" y="4572000"/>
            <a:ext cx="101498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Planner</a:t>
            </a:r>
            <a:endParaRPr lang="en-US" sz="1200" dirty="0"/>
          </a:p>
        </p:txBody>
      </p:sp>
      <p:sp>
        <p:nvSpPr>
          <p:cNvPr id="14" name="Shape 11"/>
          <p:cNvSpPr/>
          <p:nvPr/>
        </p:nvSpPr>
        <p:spPr>
          <a:xfrm>
            <a:off x="502920" y="5074920"/>
            <a:ext cx="1115568" cy="402336"/>
          </a:xfrm>
          <a:prstGeom prst="roundRect">
            <a:avLst>
              <a:gd name="adj" fmla="val 50000"/>
            </a:avLst>
          </a:prstGeom>
          <a:solidFill>
            <a:srgbClr val="6366F1"/>
          </a:solidFill>
          <a:ln/>
        </p:spPr>
      </p:sp>
      <p:sp>
        <p:nvSpPr>
          <p:cNvPr id="15" name="Text 12"/>
          <p:cNvSpPr/>
          <p:nvPr/>
        </p:nvSpPr>
        <p:spPr>
          <a:xfrm>
            <a:off x="502920" y="5074920"/>
            <a:ext cx="111556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Calendar</a:t>
            </a:r>
            <a:endParaRPr lang="en-US" sz="1200" dirty="0"/>
          </a:p>
        </p:txBody>
      </p:sp>
      <p:sp>
        <p:nvSpPr>
          <p:cNvPr id="16" name="Shape 13"/>
          <p:cNvSpPr/>
          <p:nvPr/>
        </p:nvSpPr>
        <p:spPr>
          <a:xfrm>
            <a:off x="1801368" y="5074920"/>
            <a:ext cx="813816" cy="402336"/>
          </a:xfrm>
          <a:prstGeom prst="roundRect">
            <a:avLst>
              <a:gd name="adj" fmla="val 50000"/>
            </a:avLst>
          </a:prstGeom>
          <a:solidFill>
            <a:srgbClr val="6366F1"/>
          </a:solidFill>
          <a:ln/>
        </p:spPr>
      </p:sp>
      <p:sp>
        <p:nvSpPr>
          <p:cNvPr id="17" name="Text 14"/>
          <p:cNvSpPr/>
          <p:nvPr/>
        </p:nvSpPr>
        <p:spPr>
          <a:xfrm>
            <a:off x="1801368"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Teams</a:t>
            </a:r>
            <a:endParaRPr lang="en-US" sz="1200" dirty="0"/>
          </a:p>
        </p:txBody>
      </p:sp>
      <p:sp>
        <p:nvSpPr>
          <p:cNvPr id="18" name="Text 15"/>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Three days before launch, the roster for pickup day at Taipei Neihu shows 96 scheduled hours against 88 required — plenty. The difficulty is that customers arrive in the pickup slot you promised, and the two hours from 17:00 to 19:00 carry 42 chilled pickups that only authorised staff may hand over. Total hours is an average; qualification and time slot are the real constraints. The scenario ends by turning the fix into a Planner task with an owner and a due date, a calendar event and a Teams notice.</a:t>
            </a:r>
            <a:endParaRPr lang="en-US" sz="1200" dirty="0"/>
          </a:p>
        </p:txBody>
      </p:sp>
      <p:sp>
        <p:nvSpPr>
          <p:cNvPr id="19" name="Text 16"/>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0F3D3E"/>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971800"/>
            <a:ext cx="457200" cy="457200"/>
          </a:xfrm>
          <a:prstGeom prst="ellipse">
            <a:avLst/>
          </a:prstGeom>
          <a:solidFill>
            <a:srgbClr val="FFFFFF">
              <a:alpha val="12000"/>
            </a:srgbClr>
          </a:solidFill>
          <a:ln w="19050">
            <a:solidFill>
              <a:srgbClr val="0F3D3E"/>
            </a:solidFill>
            <a:prstDash val="solid"/>
          </a:ln>
        </p:spPr>
      </p:sp>
      <p:sp>
        <p:nvSpPr>
          <p:cNvPr id="21" name="Text 18"/>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0F3D3E"/>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Ask it to find the slot that will not hold</a:t>
            </a:r>
            <a:endParaRPr lang="en-US" sz="1600" dirty="0"/>
          </a:p>
        </p:txBody>
      </p:sp>
      <p:sp>
        <p:nvSpPr>
          <p:cNvPr id="23" name="Text 20"/>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All four files are in RetailChannels/…</a:t>
            </a:r>
            <a:endParaRPr lang="en-US" sz="1300" dirty="0"/>
          </a:p>
        </p:txBody>
      </p:sp>
      <p:sp>
        <p:nvSpPr>
          <p:cNvPr id="24" name="Shape 21"/>
          <p:cNvSpPr/>
          <p:nvPr/>
        </p:nvSpPr>
        <p:spPr>
          <a:xfrm>
            <a:off x="4526280" y="3831336"/>
            <a:ext cx="457200" cy="457200"/>
          </a:xfrm>
          <a:prstGeom prst="ellipse">
            <a:avLst/>
          </a:prstGeom>
          <a:solidFill>
            <a:srgbClr val="FFFFFF">
              <a:alpha val="12000"/>
            </a:srgbClr>
          </a:solidFill>
          <a:ln w="19050">
            <a:solidFill>
              <a:srgbClr val="0F3D3E"/>
            </a:solidFill>
            <a:prstDash val="solid"/>
          </a:ln>
        </p:spPr>
      </p:sp>
      <p:sp>
        <p:nvSpPr>
          <p:cNvPr id="25" name="Text 22"/>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0F3D3E"/>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Turn the fix into Planner tasks</a:t>
            </a:r>
            <a:endParaRPr lang="en-US" sz="1600" dirty="0"/>
          </a:p>
        </p:txBody>
      </p:sp>
      <p:sp>
        <p:nvSpPr>
          <p:cNvPr id="27" name="Text 24"/>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Carry on in the same conversation. When the “Add task?” …</a:t>
            </a:r>
            <a:endParaRPr lang="en-US" sz="1300" dirty="0"/>
          </a:p>
        </p:txBody>
      </p:sp>
      <p:sp>
        <p:nvSpPr>
          <p:cNvPr id="28" name="Shape 25"/>
          <p:cNvSpPr/>
          <p:nvPr/>
        </p:nvSpPr>
        <p:spPr>
          <a:xfrm>
            <a:off x="4526280" y="4690872"/>
            <a:ext cx="457200" cy="457200"/>
          </a:xfrm>
          <a:prstGeom prst="ellipse">
            <a:avLst/>
          </a:prstGeom>
          <a:solidFill>
            <a:srgbClr val="FFFFFF">
              <a:alpha val="12000"/>
            </a:srgbClr>
          </a:solidFill>
          <a:ln w="19050">
            <a:solidFill>
              <a:srgbClr val="0F3D3E"/>
            </a:solidFill>
            <a:prstDash val="solid"/>
          </a:ln>
        </p:spPr>
      </p:sp>
      <p:sp>
        <p:nvSpPr>
          <p:cNvPr id="29" name="Text 26"/>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0F3D3E"/>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Put the pickup-day adjustment on the calendar</a:t>
            </a:r>
            <a:endParaRPr lang="en-US" sz="1600" dirty="0"/>
          </a:p>
        </p:txBody>
      </p:sp>
      <p:sp>
        <p:nvSpPr>
          <p:cNvPr id="31" name="Text 28"/>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On the “Create calendar event?” card you can edit the ti…</a:t>
            </a:r>
            <a:endParaRPr lang="en-US" sz="1300" dirty="0"/>
          </a:p>
        </p:txBody>
      </p:sp>
      <p:sp>
        <p:nvSpPr>
          <p:cNvPr id="32" name="Shape 29"/>
          <p:cNvSpPr/>
          <p:nvPr/>
        </p:nvSpPr>
        <p:spPr>
          <a:xfrm>
            <a:off x="4526280" y="5550408"/>
            <a:ext cx="457200" cy="457200"/>
          </a:xfrm>
          <a:prstGeom prst="ellipse">
            <a:avLst/>
          </a:prstGeom>
          <a:solidFill>
            <a:srgbClr val="FFFFFF">
              <a:alpha val="12000"/>
            </a:srgbClr>
          </a:solidFill>
          <a:ln w="19050">
            <a:solidFill>
              <a:srgbClr val="0F3D3E"/>
            </a:solidFill>
            <a:prstDash val="solid"/>
          </a:ln>
        </p:spPr>
      </p:sp>
      <p:sp>
        <p:nvSpPr>
          <p:cNvPr id="33" name="Text 30"/>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0F3D3E"/>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Notify the war room channel</a:t>
            </a:r>
            <a:endParaRPr lang="en-US" sz="1600" dirty="0"/>
          </a:p>
        </p:txBody>
      </p:sp>
      <p:sp>
        <p:nvSpPr>
          <p:cNvPr id="35" name="Text 32"/>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On the “Post to channel?” card check the content and pre…</a:t>
            </a:r>
            <a:endParaRPr lang="en-US" sz="1300" dirty="0"/>
          </a:p>
        </p:txBody>
      </p:sp>
      <p:sp>
        <p:nvSpPr>
          <p:cNvPr id="36" name="Text 3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0F3D3E"/>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0F3D3E"/>
                </a:solidFill>
                <a:latin typeface="Segoe UI" pitchFamily="34" charset="0"/>
                <a:ea typeface="Segoe UI" pitchFamily="34" charset="-122"/>
                <a:cs typeface="Segoe UI" pitchFamily="34" charset="-120"/>
              </a:rPr>
              <a:t>Scenario 04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4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0F3D3E"/>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4_04b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0F3D3E"/>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0F3D3E"/>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says total hours (96 scheduled vs 88 required) are sufficient and the problem is the chilled pickups from 17:00 to 19:00, not volume</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states that zero qualified staff are in the store in that window and explains each of the three qualified people (on leave, supporting another store, shift ends at 17:00)</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recommendation is to extend the qualified person whose shift ends at 17:00 to 19:00 (2 hours), not to find a replacement</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5B2A6B"/>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5B2A6B"/>
                </a:solidFill>
                <a:latin typeface="Segoe UI" pitchFamily="34" charset="0"/>
                <a:ea typeface="Segoe UI" pitchFamily="34" charset="-122"/>
                <a:cs typeface="Segoe UI" pitchFamily="34" charset="-120"/>
              </a:rPr>
              <a:t>Scenario 05</a:t>
            </a:r>
            <a:endParaRPr lang="en-US" sz="1400" dirty="0"/>
          </a:p>
        </p:txBody>
      </p:sp>
      <p:sp>
        <p:nvSpPr>
          <p:cNvPr id="5" name="Shape 3"/>
          <p:cNvSpPr/>
          <p:nvPr/>
        </p:nvSpPr>
        <p:spPr>
          <a:xfrm>
            <a:off x="502920" y="1143000"/>
            <a:ext cx="1097280" cy="1097280"/>
          </a:xfrm>
          <a:prstGeom prst="ellipse">
            <a:avLst/>
          </a:prstGeom>
          <a:solidFill>
            <a:srgbClr val="5B2A6B"/>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E-commerce Fulfilment</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Overdue Orders: Not Every Late Order Is the Carrier's Fault</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~25 min · Level ★★☆</a:t>
            </a:r>
            <a:endParaRPr lang="en-US" sz="1300" dirty="0"/>
          </a:p>
        </p:txBody>
      </p:sp>
      <p:sp>
        <p:nvSpPr>
          <p:cNvPr id="10" name="Shape 7"/>
          <p:cNvSpPr/>
          <p:nvPr/>
        </p:nvSpPr>
        <p:spPr>
          <a:xfrm>
            <a:off x="502920" y="4572000"/>
            <a:ext cx="713232" cy="402336"/>
          </a:xfrm>
          <a:prstGeom prst="roundRect">
            <a:avLst>
              <a:gd name="adj" fmla="val 50000"/>
            </a:avLst>
          </a:prstGeom>
          <a:solidFill>
            <a:srgbClr val="2B579A"/>
          </a:solidFill>
          <a:ln/>
        </p:spPr>
      </p:sp>
      <p:sp>
        <p:nvSpPr>
          <p:cNvPr id="11" name="Text 8"/>
          <p:cNvSpPr/>
          <p:nvPr/>
        </p:nvSpPr>
        <p:spPr>
          <a:xfrm>
            <a:off x="502920" y="4572000"/>
            <a:ext cx="71323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Word</a:t>
            </a:r>
            <a:endParaRPr lang="en-US" sz="1200" dirty="0"/>
          </a:p>
        </p:txBody>
      </p:sp>
      <p:sp>
        <p:nvSpPr>
          <p:cNvPr id="12" name="Shape 9"/>
          <p:cNvSpPr/>
          <p:nvPr/>
        </p:nvSpPr>
        <p:spPr>
          <a:xfrm>
            <a:off x="1399032" y="4572000"/>
            <a:ext cx="1417320" cy="402336"/>
          </a:xfrm>
          <a:prstGeom prst="roundRect">
            <a:avLst>
              <a:gd name="adj" fmla="val 50000"/>
            </a:avLst>
          </a:prstGeom>
          <a:solidFill>
            <a:srgbClr val="6366F1"/>
          </a:solidFill>
          <a:ln/>
        </p:spPr>
      </p:sp>
      <p:sp>
        <p:nvSpPr>
          <p:cNvPr id="13" name="Text 10"/>
          <p:cNvSpPr/>
          <p:nvPr/>
        </p:nvSpPr>
        <p:spPr>
          <a:xfrm>
            <a:off x="1399032" y="4572000"/>
            <a:ext cx="1417320"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 / CSV</a:t>
            </a:r>
            <a:endParaRPr lang="en-US" sz="1200" dirty="0"/>
          </a:p>
        </p:txBody>
      </p:sp>
      <p:sp>
        <p:nvSpPr>
          <p:cNvPr id="14" name="Shape 11"/>
          <p:cNvSpPr/>
          <p:nvPr/>
        </p:nvSpPr>
        <p:spPr>
          <a:xfrm>
            <a:off x="502920" y="5074920"/>
            <a:ext cx="813816" cy="402336"/>
          </a:xfrm>
          <a:prstGeom prst="roundRect">
            <a:avLst>
              <a:gd name="adj" fmla="val 50000"/>
            </a:avLst>
          </a:prstGeom>
          <a:solidFill>
            <a:srgbClr val="6366F1"/>
          </a:solidFill>
          <a:ln/>
        </p:spPr>
      </p:sp>
      <p:sp>
        <p:nvSpPr>
          <p:cNvPr id="15" name="Text 12"/>
          <p:cNvSpPr/>
          <p:nvPr/>
        </p:nvSpPr>
        <p:spPr>
          <a:xfrm>
            <a:off x="502920"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Teams</a:t>
            </a:r>
            <a:endParaRPr lang="en-US" sz="1200" dirty="0"/>
          </a:p>
        </p:txBody>
      </p:sp>
      <p:sp>
        <p:nvSpPr>
          <p:cNvPr id="16" name="Shape 13"/>
          <p:cNvSpPr/>
          <p:nvPr/>
        </p:nvSpPr>
        <p:spPr>
          <a:xfrm>
            <a:off x="1499616" y="5074920"/>
            <a:ext cx="1014984" cy="402336"/>
          </a:xfrm>
          <a:prstGeom prst="roundRect">
            <a:avLst>
              <a:gd name="adj" fmla="val 50000"/>
            </a:avLst>
          </a:prstGeom>
          <a:solidFill>
            <a:srgbClr val="0F6CBD"/>
          </a:solidFill>
          <a:ln/>
        </p:spPr>
      </p:sp>
      <p:sp>
        <p:nvSpPr>
          <p:cNvPr id="17" name="Text 14"/>
          <p:cNvSpPr/>
          <p:nvPr/>
        </p:nvSpPr>
        <p:spPr>
          <a:xfrm>
            <a:off x="1499616" y="5074920"/>
            <a:ext cx="1014984"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Outlook</a:t>
            </a:r>
            <a:endParaRPr lang="en-US" sz="1200" dirty="0"/>
          </a:p>
        </p:txBody>
      </p:sp>
      <p:sp>
        <p:nvSpPr>
          <p:cNvPr id="18" name="Text 15"/>
          <p:cNvSpPr/>
          <p:nvPr/>
        </p:nvSpPr>
        <p:spPr>
          <a:xfrm>
            <a:off x="4526280" y="566928"/>
            <a:ext cx="7132320" cy="1819656"/>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The OMS export opens with 100 orders already past their promised delivery date. The easy move is one “our carrier is delayed, sorry” message to everyone. The hard part is that the promise was made to the customer, but the delay happened in different places — some orders are still sitting in the store, never picked; some are with the carrier; some are stuck on an address. Give the wrong reason and the customer asks again, and you are back to investigating. This scenario has you group the orders and handle each group through a different channel.</a:t>
            </a:r>
            <a:endParaRPr lang="en-US" sz="1200" dirty="0"/>
          </a:p>
        </p:txBody>
      </p:sp>
      <p:sp>
        <p:nvSpPr>
          <p:cNvPr id="19" name="Text 16"/>
          <p:cNvSpPr/>
          <p:nvPr/>
        </p:nvSpPr>
        <p:spPr>
          <a:xfrm>
            <a:off x="4526280" y="2514600"/>
            <a:ext cx="7132320" cy="365760"/>
          </a:xfrm>
          <a:prstGeom prst="rect">
            <a:avLst/>
          </a:prstGeom>
          <a:noFill/>
          <a:ln/>
        </p:spPr>
        <p:txBody>
          <a:bodyPr wrap="square" rtlCol="0" anchor="ctr"/>
          <a:lstStyle/>
          <a:p>
            <a:pPr indent="0" marL="0">
              <a:buNone/>
            </a:pPr>
            <a:r>
              <a:rPr lang="en-US" sz="1500" b="1" dirty="0">
                <a:solidFill>
                  <a:srgbClr val="5B2A6B"/>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971800"/>
            <a:ext cx="457200" cy="457200"/>
          </a:xfrm>
          <a:prstGeom prst="ellipse">
            <a:avLst/>
          </a:prstGeom>
          <a:solidFill>
            <a:srgbClr val="FFFFFF">
              <a:alpha val="12000"/>
            </a:srgbClr>
          </a:solidFill>
          <a:ln w="19050">
            <a:solidFill>
              <a:srgbClr val="5B2A6B"/>
            </a:solidFill>
            <a:prstDash val="solid"/>
          </a:ln>
        </p:spPr>
      </p:sp>
      <p:sp>
        <p:nvSpPr>
          <p:cNvPr id="21" name="Text 18"/>
          <p:cNvSpPr/>
          <p:nvPr/>
        </p:nvSpPr>
        <p:spPr>
          <a:xfrm>
            <a:off x="4526280" y="2971800"/>
            <a:ext cx="457200" cy="457200"/>
          </a:xfrm>
          <a:prstGeom prst="rect">
            <a:avLst/>
          </a:prstGeom>
          <a:noFill/>
          <a:ln/>
        </p:spPr>
        <p:txBody>
          <a:bodyPr wrap="square" rtlCol="0" anchor="ctr"/>
          <a:lstStyle/>
          <a:p>
            <a:pPr algn="ctr" indent="0" marL="0">
              <a:buNone/>
            </a:pPr>
            <a:r>
              <a:rPr lang="en-US" sz="1600" b="1" dirty="0">
                <a:solidFill>
                  <a:srgbClr val="5B2A6B"/>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953512"/>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First have it group the orders by cause</a:t>
            </a:r>
            <a:endParaRPr lang="en-US" sz="1600" dirty="0"/>
          </a:p>
        </p:txBody>
      </p:sp>
      <p:sp>
        <p:nvSpPr>
          <p:cNvPr id="23" name="Text 20"/>
          <p:cNvSpPr/>
          <p:nvPr/>
        </p:nvSpPr>
        <p:spPr>
          <a:xfrm>
            <a:off x="5166360" y="3319272"/>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The OMS export is in RetailChannels/_…</a:t>
            </a:r>
            <a:endParaRPr lang="en-US" sz="1300" dirty="0"/>
          </a:p>
        </p:txBody>
      </p:sp>
      <p:sp>
        <p:nvSpPr>
          <p:cNvPr id="24" name="Shape 21"/>
          <p:cNvSpPr/>
          <p:nvPr/>
        </p:nvSpPr>
        <p:spPr>
          <a:xfrm>
            <a:off x="4526280" y="3831336"/>
            <a:ext cx="457200" cy="457200"/>
          </a:xfrm>
          <a:prstGeom prst="ellipse">
            <a:avLst/>
          </a:prstGeom>
          <a:solidFill>
            <a:srgbClr val="FFFFFF">
              <a:alpha val="12000"/>
            </a:srgbClr>
          </a:solidFill>
          <a:ln w="19050">
            <a:solidFill>
              <a:srgbClr val="5B2A6B"/>
            </a:solidFill>
            <a:prstDash val="solid"/>
          </a:ln>
        </p:spPr>
      </p:sp>
      <p:sp>
        <p:nvSpPr>
          <p:cNvPr id="25" name="Text 22"/>
          <p:cNvSpPr/>
          <p:nvPr/>
        </p:nvSpPr>
        <p:spPr>
          <a:xfrm>
            <a:off x="4526280" y="3831336"/>
            <a:ext cx="457200" cy="457200"/>
          </a:xfrm>
          <a:prstGeom prst="rect">
            <a:avLst/>
          </a:prstGeom>
          <a:noFill/>
          <a:ln/>
        </p:spPr>
        <p:txBody>
          <a:bodyPr wrap="square" rtlCol="0" anchor="ctr"/>
          <a:lstStyle/>
          <a:p>
            <a:pPr algn="ctr" indent="0" marL="0">
              <a:buNone/>
            </a:pPr>
            <a:r>
              <a:rPr lang="en-US" sz="1600" b="1" dirty="0">
                <a:solidFill>
                  <a:srgbClr val="5B2A6B"/>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381304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Produce an internal escalation note (Word)</a:t>
            </a:r>
            <a:endParaRPr lang="en-US" sz="1600" dirty="0"/>
          </a:p>
        </p:txBody>
      </p:sp>
      <p:sp>
        <p:nvSpPr>
          <p:cNvPr id="27" name="Text 24"/>
          <p:cNvSpPr/>
          <p:nvPr/>
        </p:nvSpPr>
        <p:spPr>
          <a:xfrm>
            <a:off x="5166360" y="417880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It creates a new document, which usually needs no approv…</a:t>
            </a:r>
            <a:endParaRPr lang="en-US" sz="1300" dirty="0"/>
          </a:p>
        </p:txBody>
      </p:sp>
      <p:sp>
        <p:nvSpPr>
          <p:cNvPr id="28" name="Shape 25"/>
          <p:cNvSpPr/>
          <p:nvPr/>
        </p:nvSpPr>
        <p:spPr>
          <a:xfrm>
            <a:off x="4526280" y="4690872"/>
            <a:ext cx="457200" cy="457200"/>
          </a:xfrm>
          <a:prstGeom prst="ellipse">
            <a:avLst/>
          </a:prstGeom>
          <a:solidFill>
            <a:srgbClr val="FFFFFF">
              <a:alpha val="12000"/>
            </a:srgbClr>
          </a:solidFill>
          <a:ln w="19050">
            <a:solidFill>
              <a:srgbClr val="5B2A6B"/>
            </a:solidFill>
            <a:prstDash val="solid"/>
          </a:ln>
        </p:spPr>
      </p:sp>
      <p:sp>
        <p:nvSpPr>
          <p:cNvPr id="29" name="Text 26"/>
          <p:cNvSpPr/>
          <p:nvPr/>
        </p:nvSpPr>
        <p:spPr>
          <a:xfrm>
            <a:off x="4526280" y="4690872"/>
            <a:ext cx="457200" cy="457200"/>
          </a:xfrm>
          <a:prstGeom prst="rect">
            <a:avLst/>
          </a:prstGeom>
          <a:noFill/>
          <a:ln/>
        </p:spPr>
        <p:txBody>
          <a:bodyPr wrap="square" rtlCol="0" anchor="ctr"/>
          <a:lstStyle/>
          <a:p>
            <a:pPr algn="ctr" indent="0" marL="0">
              <a:buNone/>
            </a:pPr>
            <a:r>
              <a:rPr lang="en-US" sz="1600" b="1" dirty="0">
                <a:solidFill>
                  <a:srgbClr val="5B2A6B"/>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467258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Chase the stores in Teams</a:t>
            </a:r>
            <a:endParaRPr lang="en-US" sz="1600" dirty="0"/>
          </a:p>
        </p:txBody>
      </p:sp>
      <p:sp>
        <p:nvSpPr>
          <p:cNvPr id="31" name="Text 28"/>
          <p:cNvSpPr/>
          <p:nvPr/>
        </p:nvSpPr>
        <p:spPr>
          <a:xfrm>
            <a:off x="5166360" y="503834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Check the content on the “Post to channel?” card and pre…</a:t>
            </a:r>
            <a:endParaRPr lang="en-US" sz="1300" dirty="0"/>
          </a:p>
        </p:txBody>
      </p:sp>
      <p:sp>
        <p:nvSpPr>
          <p:cNvPr id="32" name="Shape 29"/>
          <p:cNvSpPr/>
          <p:nvPr/>
        </p:nvSpPr>
        <p:spPr>
          <a:xfrm>
            <a:off x="4526280" y="5550408"/>
            <a:ext cx="457200" cy="457200"/>
          </a:xfrm>
          <a:prstGeom prst="ellipse">
            <a:avLst/>
          </a:prstGeom>
          <a:solidFill>
            <a:srgbClr val="FFFFFF">
              <a:alpha val="12000"/>
            </a:srgbClr>
          </a:solidFill>
          <a:ln w="19050">
            <a:solidFill>
              <a:srgbClr val="5B2A6B"/>
            </a:solidFill>
            <a:prstDash val="solid"/>
          </a:ln>
        </p:spPr>
      </p:sp>
      <p:sp>
        <p:nvSpPr>
          <p:cNvPr id="33" name="Text 30"/>
          <p:cNvSpPr/>
          <p:nvPr/>
        </p:nvSpPr>
        <p:spPr>
          <a:xfrm>
            <a:off x="4526280" y="5550408"/>
            <a:ext cx="457200" cy="457200"/>
          </a:xfrm>
          <a:prstGeom prst="rect">
            <a:avLst/>
          </a:prstGeom>
          <a:noFill/>
          <a:ln/>
        </p:spPr>
        <p:txBody>
          <a:bodyPr wrap="square" rtlCol="0" anchor="ctr"/>
          <a:lstStyle/>
          <a:p>
            <a:pPr algn="ctr" indent="0" marL="0">
              <a:buNone/>
            </a:pPr>
            <a:r>
              <a:rPr lang="en-US" sz="1600" b="1" dirty="0">
                <a:solidFill>
                  <a:srgbClr val="5B2A6B"/>
                </a:solidFill>
                <a:latin typeface="Segoe UI" pitchFamily="34" charset="0"/>
                <a:ea typeface="Segoe UI" pitchFamily="34" charset="-122"/>
                <a:cs typeface="Segoe UI" pitchFamily="34" charset="-120"/>
              </a:rPr>
              <a:t>4</a:t>
            </a:r>
            <a:endParaRPr lang="en-US" sz="1600" dirty="0"/>
          </a:p>
        </p:txBody>
      </p:sp>
      <p:sp>
        <p:nvSpPr>
          <p:cNvPr id="34" name="Text 31"/>
          <p:cNvSpPr/>
          <p:nvPr/>
        </p:nvSpPr>
        <p:spPr>
          <a:xfrm>
            <a:off x="5166360" y="553212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Save a draft for the customers who should be told</a:t>
            </a:r>
            <a:endParaRPr lang="en-US" sz="1600" dirty="0"/>
          </a:p>
        </p:txBody>
      </p:sp>
      <p:sp>
        <p:nvSpPr>
          <p:cNvPr id="35" name="Text 32"/>
          <p:cNvSpPr/>
          <p:nvPr/>
        </p:nvSpPr>
        <p:spPr>
          <a:xfrm>
            <a:off x="5166360" y="589788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It creates a message in your Outlook Drafts folder and d…</a:t>
            </a:r>
            <a:endParaRPr lang="en-US" sz="1300" dirty="0"/>
          </a:p>
        </p:txBody>
      </p:sp>
      <p:sp>
        <p:nvSpPr>
          <p:cNvPr id="36" name="Text 3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5B2A6B"/>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5B2A6B"/>
                </a:solidFill>
                <a:latin typeface="Segoe UI" pitchFamily="34" charset="0"/>
                <a:ea typeface="Segoe UI" pitchFamily="34" charset="-122"/>
                <a:cs typeface="Segoe UI" pitchFamily="34" charset="-120"/>
              </a:rPr>
              <a:t>Scenario 05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5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5B2A6B"/>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5_04b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5B2A6B"/>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5B2A6B"/>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three groups in the table add up to 100, each order falls in exactly one, and it says the decision rests on pick-start time, latest carrier scan and the address-check flag</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largest group is “store has not started picking” at 71 orders (71%), not carrier delay</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Carrier delay is 18 orders and address issue is 11, each mapped to a different owner in the policy (carrier and customer, customer service)</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1D4A7A"/>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1D4A7A"/>
                </a:solidFill>
                <a:latin typeface="Segoe UI" pitchFamily="34" charset="0"/>
                <a:ea typeface="Segoe UI" pitchFamily="34" charset="-122"/>
                <a:cs typeface="Segoe UI" pitchFamily="34" charset="-120"/>
              </a:rPr>
              <a:t>Scenario 06</a:t>
            </a:r>
            <a:endParaRPr lang="en-US" sz="1400" dirty="0"/>
          </a:p>
        </p:txBody>
      </p:sp>
      <p:sp>
        <p:nvSpPr>
          <p:cNvPr id="5" name="Shape 3"/>
          <p:cNvSpPr/>
          <p:nvPr/>
        </p:nvSpPr>
        <p:spPr>
          <a:xfrm>
            <a:off x="502920" y="1143000"/>
            <a:ext cx="1097280" cy="1097280"/>
          </a:xfrm>
          <a:prstGeom prst="ellipse">
            <a:avLst/>
          </a:prstGeom>
          <a:solidFill>
            <a:srgbClr val="1D4A7A"/>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Regional Operations</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The Monday Ops Briefing: The Headline Number Is Not the Whole Story</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~20 min · Level ★★☆</a:t>
            </a:r>
            <a:endParaRPr lang="en-US" sz="1300" dirty="0"/>
          </a:p>
        </p:txBody>
      </p:sp>
      <p:sp>
        <p:nvSpPr>
          <p:cNvPr id="10" name="Shape 7"/>
          <p:cNvSpPr/>
          <p:nvPr/>
        </p:nvSpPr>
        <p:spPr>
          <a:xfrm>
            <a:off x="502920" y="4572000"/>
            <a:ext cx="813816" cy="402336"/>
          </a:xfrm>
          <a:prstGeom prst="roundRect">
            <a:avLst>
              <a:gd name="adj" fmla="val 50000"/>
            </a:avLst>
          </a:prstGeom>
          <a:solidFill>
            <a:srgbClr val="217346"/>
          </a:solidFill>
          <a:ln/>
        </p:spPr>
      </p:sp>
      <p:sp>
        <p:nvSpPr>
          <p:cNvPr id="11" name="Text 8"/>
          <p:cNvSpPr/>
          <p:nvPr/>
        </p:nvSpPr>
        <p:spPr>
          <a:xfrm>
            <a:off x="502920"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2" name="Shape 9"/>
          <p:cNvSpPr/>
          <p:nvPr/>
        </p:nvSpPr>
        <p:spPr>
          <a:xfrm>
            <a:off x="1499616" y="4572000"/>
            <a:ext cx="1115568" cy="402336"/>
          </a:xfrm>
          <a:prstGeom prst="roundRect">
            <a:avLst>
              <a:gd name="adj" fmla="val 50000"/>
            </a:avLst>
          </a:prstGeom>
          <a:solidFill>
            <a:srgbClr val="6366F1"/>
          </a:solidFill>
          <a:ln/>
        </p:spPr>
      </p:sp>
      <p:sp>
        <p:nvSpPr>
          <p:cNvPr id="13" name="Text 10"/>
          <p:cNvSpPr/>
          <p:nvPr/>
        </p:nvSpPr>
        <p:spPr>
          <a:xfrm>
            <a:off x="1499616" y="4572000"/>
            <a:ext cx="111556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Schedule</a:t>
            </a:r>
            <a:endParaRPr lang="en-US" sz="1200" dirty="0"/>
          </a:p>
        </p:txBody>
      </p:sp>
      <p:sp>
        <p:nvSpPr>
          <p:cNvPr id="14" name="Shape 11"/>
          <p:cNvSpPr/>
          <p:nvPr/>
        </p:nvSpPr>
        <p:spPr>
          <a:xfrm>
            <a:off x="2798064" y="4572000"/>
            <a:ext cx="813816" cy="402336"/>
          </a:xfrm>
          <a:prstGeom prst="roundRect">
            <a:avLst>
              <a:gd name="adj" fmla="val 50000"/>
            </a:avLst>
          </a:prstGeom>
          <a:solidFill>
            <a:srgbClr val="6366F1"/>
          </a:solidFill>
          <a:ln/>
        </p:spPr>
      </p:sp>
      <p:sp>
        <p:nvSpPr>
          <p:cNvPr id="15" name="Text 12"/>
          <p:cNvSpPr/>
          <p:nvPr/>
        </p:nvSpPr>
        <p:spPr>
          <a:xfrm>
            <a:off x="2798064" y="457200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Teams</a:t>
            </a:r>
            <a:endParaRPr lang="en-US" sz="1200" dirty="0"/>
          </a:p>
        </p:txBody>
      </p:sp>
      <p:sp>
        <p:nvSpPr>
          <p:cNvPr id="16" name="Shape 13"/>
          <p:cNvSpPr/>
          <p:nvPr/>
        </p:nvSpPr>
        <p:spPr>
          <a:xfrm>
            <a:off x="502920" y="5074920"/>
            <a:ext cx="713232" cy="402336"/>
          </a:xfrm>
          <a:prstGeom prst="roundRect">
            <a:avLst>
              <a:gd name="adj" fmla="val 50000"/>
            </a:avLst>
          </a:prstGeom>
          <a:solidFill>
            <a:srgbClr val="2B579A"/>
          </a:solidFill>
          <a:ln/>
        </p:spPr>
      </p:sp>
      <p:sp>
        <p:nvSpPr>
          <p:cNvPr id="17" name="Text 14"/>
          <p:cNvSpPr/>
          <p:nvPr/>
        </p:nvSpPr>
        <p:spPr>
          <a:xfrm>
            <a:off x="502920" y="5074920"/>
            <a:ext cx="71323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Word</a:t>
            </a:r>
            <a:endParaRPr lang="en-US" sz="1200" dirty="0"/>
          </a:p>
        </p:txBody>
      </p:sp>
      <p:sp>
        <p:nvSpPr>
          <p:cNvPr id="18" name="Text 15"/>
          <p:cNvSpPr/>
          <p:nvPr/>
        </p:nvSpPr>
        <p:spPr>
          <a:xfrm>
            <a:off x="4526280" y="566928"/>
            <a:ext cx="7132320" cy="2194560"/>
          </a:xfrm>
          <a:prstGeom prst="rect">
            <a:avLst/>
          </a:prstGeom>
          <a:noFill/>
          <a:ln/>
        </p:spPr>
        <p:txBody>
          <a:bodyPr wrap="square" rtlCol="0" anchor="t"/>
          <a:lstStyle/>
          <a:p>
            <a:pPr indent="0" marL="0">
              <a:lnSpc>
                <a:spcPct val="130000"/>
              </a:lnSpc>
              <a:buNone/>
            </a:pPr>
            <a:r>
              <a:rPr lang="en-US" sz="1500" dirty="0">
                <a:solidFill>
                  <a:srgbClr val="D7D9F0"/>
                </a:solidFill>
                <a:latin typeface="Segoe UI" pitchFamily="34" charset="0"/>
                <a:ea typeface="Segoe UI" pitchFamily="34" charset="-122"/>
                <a:cs typeface="Segoe UI" pitchFamily="34" charset="-120"/>
              </a:rPr>
              <a:t>The Zava Mid-Autumn Sale briefing says “promo-week sales +38%” and everyone nods. The difficulty is that a promotion borrows demand from the future: the weeks around it are usually pulled down, so looking at the promo week alone flatters the result — and the discount lowers the margin rate, so more sales does not always mean more profit. This scenario runs the judgement by hand once, then turns it into a schedule that runs every Monday, posts to Teams and updates the weekly meeting agenda.</a:t>
            </a:r>
            <a:endParaRPr lang="en-US" sz="1500" dirty="0"/>
          </a:p>
        </p:txBody>
      </p:sp>
      <p:sp>
        <p:nvSpPr>
          <p:cNvPr id="19" name="Text 16"/>
          <p:cNvSpPr/>
          <p:nvPr/>
        </p:nvSpPr>
        <p:spPr>
          <a:xfrm>
            <a:off x="4526280" y="2889504"/>
            <a:ext cx="7132320" cy="365760"/>
          </a:xfrm>
          <a:prstGeom prst="rect">
            <a:avLst/>
          </a:prstGeom>
          <a:noFill/>
          <a:ln/>
        </p:spPr>
        <p:txBody>
          <a:bodyPr wrap="square" rtlCol="0" anchor="ctr"/>
          <a:lstStyle/>
          <a:p>
            <a:pPr indent="0" marL="0">
              <a:buNone/>
            </a:pPr>
            <a:r>
              <a:rPr lang="en-US" sz="1500" b="1" dirty="0">
                <a:solidFill>
                  <a:srgbClr val="1D4A7A"/>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3346704"/>
            <a:ext cx="457200" cy="457200"/>
          </a:xfrm>
          <a:prstGeom prst="ellipse">
            <a:avLst/>
          </a:prstGeom>
          <a:solidFill>
            <a:srgbClr val="FFFFFF">
              <a:alpha val="12000"/>
            </a:srgbClr>
          </a:solidFill>
          <a:ln w="19050">
            <a:solidFill>
              <a:srgbClr val="1D4A7A"/>
            </a:solidFill>
            <a:prstDash val="solid"/>
          </a:ln>
        </p:spPr>
      </p:sp>
      <p:sp>
        <p:nvSpPr>
          <p:cNvPr id="21" name="Text 18"/>
          <p:cNvSpPr/>
          <p:nvPr/>
        </p:nvSpPr>
        <p:spPr>
          <a:xfrm>
            <a:off x="4526280" y="3346704"/>
            <a:ext cx="457200" cy="457200"/>
          </a:xfrm>
          <a:prstGeom prst="rect">
            <a:avLst/>
          </a:prstGeom>
          <a:noFill/>
          <a:ln/>
        </p:spPr>
        <p:txBody>
          <a:bodyPr wrap="square" rtlCol="0" anchor="ctr"/>
          <a:lstStyle/>
          <a:p>
            <a:pPr algn="ctr" indent="0" marL="0">
              <a:buNone/>
            </a:pPr>
            <a:r>
              <a:rPr lang="en-US" sz="1600" b="1" dirty="0">
                <a:solidFill>
                  <a:srgbClr val="1D4A7A"/>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3328416"/>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Run it by hand first: was the last campaign worth it?</a:t>
            </a:r>
            <a:endParaRPr lang="en-US" sz="1600" dirty="0"/>
          </a:p>
        </p:txBody>
      </p:sp>
      <p:sp>
        <p:nvSpPr>
          <p:cNvPr id="23" name="Text 20"/>
          <p:cNvSpPr/>
          <p:nvPr/>
        </p:nvSpPr>
        <p:spPr>
          <a:xfrm>
            <a:off x="5166360" y="3694176"/>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Nothing to upload. All three files are in RetailChannels…</a:t>
            </a:r>
            <a:endParaRPr lang="en-US" sz="1300" dirty="0"/>
          </a:p>
        </p:txBody>
      </p:sp>
      <p:sp>
        <p:nvSpPr>
          <p:cNvPr id="24" name="Shape 21"/>
          <p:cNvSpPr/>
          <p:nvPr/>
        </p:nvSpPr>
        <p:spPr>
          <a:xfrm>
            <a:off x="4526280" y="4370832"/>
            <a:ext cx="457200" cy="457200"/>
          </a:xfrm>
          <a:prstGeom prst="ellipse">
            <a:avLst/>
          </a:prstGeom>
          <a:solidFill>
            <a:srgbClr val="FFFFFF">
              <a:alpha val="12000"/>
            </a:srgbClr>
          </a:solidFill>
          <a:ln w="19050">
            <a:solidFill>
              <a:srgbClr val="1D4A7A"/>
            </a:solidFill>
            <a:prstDash val="solid"/>
          </a:ln>
        </p:spPr>
      </p:sp>
      <p:sp>
        <p:nvSpPr>
          <p:cNvPr id="25" name="Text 22"/>
          <p:cNvSpPr/>
          <p:nvPr/>
        </p:nvSpPr>
        <p:spPr>
          <a:xfrm>
            <a:off x="4526280" y="4370832"/>
            <a:ext cx="457200" cy="457200"/>
          </a:xfrm>
          <a:prstGeom prst="rect">
            <a:avLst/>
          </a:prstGeom>
          <a:noFill/>
          <a:ln/>
        </p:spPr>
        <p:txBody>
          <a:bodyPr wrap="square" rtlCol="0" anchor="ctr"/>
          <a:lstStyle/>
          <a:p>
            <a:pPr algn="ctr" indent="0" marL="0">
              <a:buNone/>
            </a:pPr>
            <a:r>
              <a:rPr lang="en-US" sz="1600" b="1" dirty="0">
                <a:solidFill>
                  <a:srgbClr val="1D4A7A"/>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435254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Create the Monday schedule</a:t>
            </a:r>
            <a:endParaRPr lang="en-US" sz="1600" dirty="0"/>
          </a:p>
        </p:txBody>
      </p:sp>
      <p:sp>
        <p:nvSpPr>
          <p:cNvPr id="27" name="Text 24"/>
          <p:cNvSpPr/>
          <p:nvPr/>
        </p:nvSpPr>
        <p:spPr>
          <a:xfrm>
            <a:off x="5166360" y="471830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Cowork may ask clarifying questions first (where to post…</a:t>
            </a:r>
            <a:endParaRPr lang="en-US" sz="1300" dirty="0"/>
          </a:p>
        </p:txBody>
      </p:sp>
      <p:sp>
        <p:nvSpPr>
          <p:cNvPr id="28" name="Shape 25"/>
          <p:cNvSpPr/>
          <p:nvPr/>
        </p:nvSpPr>
        <p:spPr>
          <a:xfrm>
            <a:off x="4526280" y="5440680"/>
            <a:ext cx="7132320" cy="777240"/>
          </a:xfrm>
          <a:prstGeom prst="rect">
            <a:avLst/>
          </a:prstGeom>
          <a:solidFill>
            <a:srgbClr val="FFFFFF">
              <a:alpha val="10000"/>
            </a:srgbClr>
          </a:solidFill>
          <a:ln w="12700">
            <a:solidFill>
              <a:srgbClr val="1D4A7A">
                <a:alpha val="65000"/>
              </a:srgbClr>
            </a:solidFill>
            <a:prstDash val="solid"/>
          </a:ln>
        </p:spPr>
      </p:sp>
      <p:sp>
        <p:nvSpPr>
          <p:cNvPr id="29" name="Shape 26"/>
          <p:cNvSpPr/>
          <p:nvPr/>
        </p:nvSpPr>
        <p:spPr>
          <a:xfrm>
            <a:off x="4526280" y="5440680"/>
            <a:ext cx="73152" cy="777240"/>
          </a:xfrm>
          <a:prstGeom prst="rect">
            <a:avLst/>
          </a:prstGeom>
          <a:solidFill>
            <a:srgbClr val="1D4A7A"/>
          </a:solidFill>
          <a:ln/>
        </p:spPr>
      </p:sp>
      <p:pic>
        <p:nvPicPr>
          <p:cNvPr id="30" name="Image 1" descr="preencoded.png">    </p:cNvPr>
          <p:cNvPicPr>
            <a:picLocks noChangeAspect="1"/>
          </p:cNvPicPr>
          <p:nvPr/>
        </p:nvPicPr>
        <p:blipFill>
          <a:blip r:embed="rId2"/>
          <a:stretch>
            <a:fillRect/>
          </a:stretch>
        </p:blipFill>
        <p:spPr>
          <a:xfrm>
            <a:off x="4782312" y="5687568"/>
            <a:ext cx="292608" cy="292608"/>
          </a:xfrm>
          <a:prstGeom prst="rect">
            <a:avLst/>
          </a:prstGeom>
        </p:spPr>
      </p:pic>
      <p:sp>
        <p:nvSpPr>
          <p:cNvPr id="31" name="Text 27"/>
          <p:cNvSpPr/>
          <p:nvPr/>
        </p:nvSpPr>
        <p:spPr>
          <a:xfrm>
            <a:off x="5239512" y="5440680"/>
            <a:ext cx="6309360" cy="777240"/>
          </a:xfrm>
          <a:prstGeom prst="rect">
            <a:avLst/>
          </a:prstGeom>
          <a:noFill/>
          <a:ln/>
        </p:spPr>
        <p:txBody>
          <a:bodyPr wrap="square" rtlCol="0" anchor="ctr"/>
          <a:lstStyle/>
          <a:p>
            <a:pPr indent="0" marL="0">
              <a:lnSpc>
                <a:spcPct val="115000"/>
              </a:lnSpc>
              <a:buNone/>
            </a:pPr>
            <a:r>
              <a:rPr lang="en-US" sz="1250" b="1" dirty="0">
                <a:solidFill>
                  <a:srgbClr val="FFFFFF"/>
                </a:solidFill>
                <a:latin typeface="Segoe UI" pitchFamily="34" charset="0"/>
                <a:ea typeface="Segoe UI" pitchFamily="34" charset="-122"/>
                <a:cs typeface="Segoe UI" pitchFamily="34" charset="-120"/>
              </a:rPr>
              <a:t>What to watch　</a:t>
            </a:r>
            <a:pPr indent="0" marL="0">
              <a:lnSpc>
                <a:spcPct val="115000"/>
              </a:lnSpc>
              <a:buNone/>
            </a:pPr>
            <a:r>
              <a:rPr lang="en-US" sz="1250" dirty="0">
                <a:solidFill>
                  <a:srgbClr val="C7CAEC"/>
                </a:solidFill>
                <a:latin typeface="Segoe UI" pitchFamily="34" charset="0"/>
                <a:ea typeface="Segoe UI" pitchFamily="34" charset="-122"/>
                <a:cs typeface="Segoe UI" pitchFamily="34" charset="-120"/>
              </a:rPr>
              <a:t>This scenario creates a schedule, posts to Teams and edi…</a:t>
            </a:r>
            <a:endParaRPr lang="en-US" sz="1250" dirty="0"/>
          </a:p>
        </p:txBody>
      </p:sp>
      <p:sp>
        <p:nvSpPr>
          <p:cNvPr id="32" name="Text 28"/>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3" name="Text 29"/>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1D4A7A"/>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1D4A7A"/>
                </a:solidFill>
                <a:latin typeface="Segoe UI" pitchFamily="34" charset="0"/>
                <a:ea typeface="Segoe UI" pitchFamily="34" charset="-122"/>
                <a:cs typeface="Segoe UI" pitchFamily="34" charset="-120"/>
              </a:rPr>
              <a:t>Scenario 06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6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1D4A7A"/>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6_02e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1D4A7A"/>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1D4A7A"/>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The reply does not stop at the promo week (+38%); it looks at the whole period including the weeks before and after</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points out that the two weeks before and the week after run below baseline (-5%, -6%, -3%) and the four weeks net out at about +6.0%</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notes the promo-week margin rate fell and the whole-period margin rate is about 25.7%, roughly 2.3 points below baseline</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031"/>
        </a:solidFill>
      </p:bgPr>
    </p:bg>
    <p:spTree>
      <p:nvGrpSpPr>
        <p:cNvPr id="1" name=""/>
        <p:cNvGrpSpPr/>
        <p:nvPr/>
      </p:nvGrpSpPr>
      <p:grpSpPr>
        <a:xfrm>
          <a:off x="0" y="0"/>
          <a:ext cx="0" cy="0"/>
          <a:chOff x="0" y="0"/>
          <a:chExt cx="0" cy="0"/>
        </a:xfrm>
      </p:grpSpPr>
      <p:sp>
        <p:nvSpPr>
          <p:cNvPr id="2" name="Shape 0"/>
          <p:cNvSpPr/>
          <p:nvPr/>
        </p:nvSpPr>
        <p:spPr>
          <a:xfrm>
            <a:off x="0" y="0"/>
            <a:ext cx="4023360" cy="6858000"/>
          </a:xfrm>
          <a:prstGeom prst="rect">
            <a:avLst/>
          </a:prstGeom>
          <a:solidFill>
            <a:srgbClr val="1C1E4A"/>
          </a:solidFill>
          <a:ln/>
        </p:spPr>
      </p:sp>
      <p:sp>
        <p:nvSpPr>
          <p:cNvPr id="3" name="Shape 1"/>
          <p:cNvSpPr/>
          <p:nvPr/>
        </p:nvSpPr>
        <p:spPr>
          <a:xfrm>
            <a:off x="0" y="0"/>
            <a:ext cx="146304" cy="6858000"/>
          </a:xfrm>
          <a:prstGeom prst="rect">
            <a:avLst/>
          </a:prstGeom>
          <a:solidFill>
            <a:srgbClr val="7A3B12"/>
          </a:solidFill>
          <a:ln/>
        </p:spPr>
      </p:sp>
      <p:sp>
        <p:nvSpPr>
          <p:cNvPr id="4" name="Text 2"/>
          <p:cNvSpPr/>
          <p:nvPr/>
        </p:nvSpPr>
        <p:spPr>
          <a:xfrm>
            <a:off x="502920" y="640080"/>
            <a:ext cx="3200400" cy="365760"/>
          </a:xfrm>
          <a:prstGeom prst="rect">
            <a:avLst/>
          </a:prstGeom>
          <a:noFill/>
          <a:ln/>
        </p:spPr>
        <p:txBody>
          <a:bodyPr wrap="square" rtlCol="0" anchor="ctr"/>
          <a:lstStyle/>
          <a:p>
            <a:pPr indent="0" marL="0">
              <a:buNone/>
            </a:pPr>
            <a:r>
              <a:rPr lang="en-US" sz="1400" b="1" spc="200" kern="0" dirty="0">
                <a:solidFill>
                  <a:srgbClr val="7A3B12"/>
                </a:solidFill>
                <a:latin typeface="Segoe UI" pitchFamily="34" charset="0"/>
                <a:ea typeface="Segoe UI" pitchFamily="34" charset="-122"/>
                <a:cs typeface="Segoe UI" pitchFamily="34" charset="-120"/>
              </a:rPr>
              <a:t>Scenario 07</a:t>
            </a:r>
            <a:endParaRPr lang="en-US" sz="1400" dirty="0"/>
          </a:p>
        </p:txBody>
      </p:sp>
      <p:sp>
        <p:nvSpPr>
          <p:cNvPr id="5" name="Shape 3"/>
          <p:cNvSpPr/>
          <p:nvPr/>
        </p:nvSpPr>
        <p:spPr>
          <a:xfrm>
            <a:off x="502920" y="1143000"/>
            <a:ext cx="1097280" cy="1097280"/>
          </a:xfrm>
          <a:prstGeom prst="ellipse">
            <a:avLst/>
          </a:prstGeom>
          <a:solidFill>
            <a:srgbClr val="7A3B12"/>
          </a:solidFill>
          <a:ln/>
        </p:spPr>
      </p:sp>
      <p:pic>
        <p:nvPicPr>
          <p:cNvPr id="6" name="Image 0" descr="preencoded.png">    </p:cNvPr>
          <p:cNvPicPr>
            <a:picLocks noChangeAspect="1"/>
          </p:cNvPicPr>
          <p:nvPr/>
        </p:nvPicPr>
        <p:blipFill>
          <a:blip r:embed="rId1"/>
          <a:stretch>
            <a:fillRect/>
          </a:stretch>
        </p:blipFill>
        <p:spPr>
          <a:xfrm>
            <a:off x="804672" y="1444752"/>
            <a:ext cx="493776" cy="493776"/>
          </a:xfrm>
          <a:prstGeom prst="rect">
            <a:avLst/>
          </a:prstGeom>
        </p:spPr>
      </p:pic>
      <p:sp>
        <p:nvSpPr>
          <p:cNvPr id="7" name="Text 4"/>
          <p:cNvSpPr/>
          <p:nvPr/>
        </p:nvSpPr>
        <p:spPr>
          <a:xfrm>
            <a:off x="502920" y="2377440"/>
            <a:ext cx="3200400" cy="320040"/>
          </a:xfrm>
          <a:prstGeom prst="rect">
            <a:avLst/>
          </a:prstGeom>
          <a:noFill/>
          <a:ln/>
        </p:spPr>
        <p:txBody>
          <a:bodyPr wrap="square" rtlCol="0" anchor="ctr"/>
          <a:lstStyle/>
          <a:p>
            <a:pPr indent="0" marL="0">
              <a:buNone/>
            </a:pPr>
            <a:r>
              <a:rPr lang="en-US" sz="1300" b="1" dirty="0">
                <a:solidFill>
                  <a:srgbClr val="B9BCE0"/>
                </a:solidFill>
                <a:latin typeface="Segoe UI" pitchFamily="34" charset="0"/>
                <a:ea typeface="Segoe UI" pitchFamily="34" charset="-122"/>
                <a:cs typeface="Segoe UI" pitchFamily="34" charset="-120"/>
              </a:rPr>
              <a:t>Retail Channels · Pricing Governance</a:t>
            </a:r>
            <a:endParaRPr lang="en-US" sz="1300" dirty="0"/>
          </a:p>
        </p:txBody>
      </p:sp>
      <p:sp>
        <p:nvSpPr>
          <p:cNvPr id="8" name="Text 5"/>
          <p:cNvSpPr/>
          <p:nvPr/>
        </p:nvSpPr>
        <p:spPr>
          <a:xfrm>
            <a:off x="502920" y="2697480"/>
            <a:ext cx="3291840" cy="1325880"/>
          </a:xfrm>
          <a:prstGeom prst="rect">
            <a:avLst/>
          </a:prstGeom>
          <a:noFill/>
          <a:ln/>
        </p:spPr>
        <p:txBody>
          <a:bodyPr wrap="square" rtlCol="0" anchor="t"/>
          <a:lstStyle/>
          <a:p>
            <a:pPr indent="0" marL="0">
              <a:buNone/>
            </a:pPr>
            <a:r>
              <a:rPr lang="en-US" sz="2400" b="1" dirty="0">
                <a:solidFill>
                  <a:srgbClr val="FFFFFF"/>
                </a:solidFill>
                <a:latin typeface="Segoe UI" pitchFamily="34" charset="0"/>
                <a:ea typeface="Segoe UI" pitchFamily="34" charset="-122"/>
                <a:cs typeface="Segoe UI" pitchFamily="34" charset="-120"/>
              </a:rPr>
              <a:t>Discount Exceptions: The Deepest Discount Is Not Necessarily the Breach</a:t>
            </a:r>
            <a:endParaRPr lang="en-US" sz="2400" dirty="0"/>
          </a:p>
        </p:txBody>
      </p:sp>
      <p:sp>
        <p:nvSpPr>
          <p:cNvPr id="9" name="Text 6"/>
          <p:cNvSpPr/>
          <p:nvPr/>
        </p:nvSpPr>
        <p:spPr>
          <a:xfrm>
            <a:off x="502920" y="4114800"/>
            <a:ext cx="3291840" cy="320040"/>
          </a:xfrm>
          <a:prstGeom prst="rect">
            <a:avLst/>
          </a:prstGeom>
          <a:noFill/>
          <a:ln/>
        </p:spPr>
        <p:txBody>
          <a:bodyPr wrap="square" rtlCol="0" anchor="ctr"/>
          <a:lstStyle/>
          <a:p>
            <a:pPr indent="0" marL="0">
              <a:buNone/>
            </a:pPr>
            <a:r>
              <a:rPr lang="en-US" sz="1300" dirty="0">
                <a:solidFill>
                  <a:srgbClr val="9FA3CC"/>
                </a:solidFill>
                <a:latin typeface="Segoe UI" pitchFamily="34" charset="0"/>
                <a:ea typeface="Segoe UI" pitchFamily="34" charset="-122"/>
                <a:cs typeface="Segoe UI" pitchFamily="34" charset="-120"/>
              </a:rPr>
              <a:t>⏱ ~25 min · Level ★★★</a:t>
            </a:r>
            <a:endParaRPr lang="en-US" sz="1300" dirty="0"/>
          </a:p>
        </p:txBody>
      </p:sp>
      <p:sp>
        <p:nvSpPr>
          <p:cNvPr id="10" name="Shape 7"/>
          <p:cNvSpPr/>
          <p:nvPr/>
        </p:nvSpPr>
        <p:spPr>
          <a:xfrm>
            <a:off x="502920" y="4572000"/>
            <a:ext cx="1618488" cy="402336"/>
          </a:xfrm>
          <a:prstGeom prst="roundRect">
            <a:avLst>
              <a:gd name="adj" fmla="val 50000"/>
            </a:avLst>
          </a:prstGeom>
          <a:solidFill>
            <a:srgbClr val="6366F1"/>
          </a:solidFill>
          <a:ln/>
        </p:spPr>
      </p:sp>
      <p:sp>
        <p:nvSpPr>
          <p:cNvPr id="11" name="Text 8"/>
          <p:cNvSpPr/>
          <p:nvPr/>
        </p:nvSpPr>
        <p:spPr>
          <a:xfrm>
            <a:off x="502920" y="4572000"/>
            <a:ext cx="161848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Custom skills</a:t>
            </a:r>
            <a:endParaRPr lang="en-US" sz="1200" dirty="0"/>
          </a:p>
        </p:txBody>
      </p:sp>
      <p:sp>
        <p:nvSpPr>
          <p:cNvPr id="12" name="Shape 9"/>
          <p:cNvSpPr/>
          <p:nvPr/>
        </p:nvSpPr>
        <p:spPr>
          <a:xfrm>
            <a:off x="2304288" y="4572000"/>
            <a:ext cx="612648" cy="402336"/>
          </a:xfrm>
          <a:prstGeom prst="roundRect">
            <a:avLst>
              <a:gd name="adj" fmla="val 50000"/>
            </a:avLst>
          </a:prstGeom>
          <a:solidFill>
            <a:srgbClr val="6366F1"/>
          </a:solidFill>
          <a:ln/>
        </p:spPr>
      </p:sp>
      <p:sp>
        <p:nvSpPr>
          <p:cNvPr id="13" name="Text 10"/>
          <p:cNvSpPr/>
          <p:nvPr/>
        </p:nvSpPr>
        <p:spPr>
          <a:xfrm>
            <a:off x="2304288" y="4572000"/>
            <a:ext cx="612648"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PDF</a:t>
            </a:r>
            <a:endParaRPr lang="en-US" sz="1200" dirty="0"/>
          </a:p>
        </p:txBody>
      </p:sp>
      <p:sp>
        <p:nvSpPr>
          <p:cNvPr id="14" name="Shape 11"/>
          <p:cNvSpPr/>
          <p:nvPr/>
        </p:nvSpPr>
        <p:spPr>
          <a:xfrm>
            <a:off x="502920" y="5074920"/>
            <a:ext cx="813816" cy="402336"/>
          </a:xfrm>
          <a:prstGeom prst="roundRect">
            <a:avLst>
              <a:gd name="adj" fmla="val 50000"/>
            </a:avLst>
          </a:prstGeom>
          <a:solidFill>
            <a:srgbClr val="217346"/>
          </a:solidFill>
          <a:ln/>
        </p:spPr>
      </p:sp>
      <p:sp>
        <p:nvSpPr>
          <p:cNvPr id="15" name="Text 12"/>
          <p:cNvSpPr/>
          <p:nvPr/>
        </p:nvSpPr>
        <p:spPr>
          <a:xfrm>
            <a:off x="502920" y="5074920"/>
            <a:ext cx="813816"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Excel</a:t>
            </a:r>
            <a:endParaRPr lang="en-US" sz="1200" dirty="0"/>
          </a:p>
        </p:txBody>
      </p:sp>
      <p:sp>
        <p:nvSpPr>
          <p:cNvPr id="16" name="Shape 13"/>
          <p:cNvSpPr/>
          <p:nvPr/>
        </p:nvSpPr>
        <p:spPr>
          <a:xfrm>
            <a:off x="1499616" y="5074920"/>
            <a:ext cx="713232" cy="402336"/>
          </a:xfrm>
          <a:prstGeom prst="roundRect">
            <a:avLst>
              <a:gd name="adj" fmla="val 50000"/>
            </a:avLst>
          </a:prstGeom>
          <a:solidFill>
            <a:srgbClr val="2B579A"/>
          </a:solidFill>
          <a:ln/>
        </p:spPr>
      </p:sp>
      <p:sp>
        <p:nvSpPr>
          <p:cNvPr id="17" name="Text 14"/>
          <p:cNvSpPr/>
          <p:nvPr/>
        </p:nvSpPr>
        <p:spPr>
          <a:xfrm>
            <a:off x="1499616" y="5074920"/>
            <a:ext cx="713232" cy="402336"/>
          </a:xfrm>
          <a:prstGeom prst="rect">
            <a:avLst/>
          </a:prstGeom>
          <a:noFill/>
          <a:ln/>
        </p:spPr>
        <p:txBody>
          <a:bodyPr wrap="square"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Word</a:t>
            </a:r>
            <a:endParaRPr lang="en-US" sz="1200" dirty="0"/>
          </a:p>
        </p:txBody>
      </p:sp>
      <p:sp>
        <p:nvSpPr>
          <p:cNvPr id="18" name="Text 15"/>
          <p:cNvSpPr/>
          <p:nvPr/>
        </p:nvSpPr>
        <p:spPr>
          <a:xfrm>
            <a:off x="4526280" y="566928"/>
            <a:ext cx="7132320" cy="1673352"/>
          </a:xfrm>
          <a:prstGeom prst="rect">
            <a:avLst/>
          </a:prstGeom>
          <a:noFill/>
          <a:ln/>
        </p:spPr>
        <p:txBody>
          <a:bodyPr wrap="square" rtlCol="0" anchor="t"/>
          <a:lstStyle/>
          <a:p>
            <a:pPr indent="0" marL="0">
              <a:lnSpc>
                <a:spcPct val="130000"/>
              </a:lnSpc>
              <a:buNone/>
            </a:pPr>
            <a:r>
              <a:rPr lang="en-US" sz="1200" dirty="0">
                <a:solidFill>
                  <a:srgbClr val="D7D9F0"/>
                </a:solidFill>
                <a:latin typeface="Segoe UI" pitchFamily="34" charset="0"/>
                <a:ea typeface="Segoe UI" pitchFamily="34" charset="-122"/>
                <a:cs typeface="Segoe UI" pitchFamily="34" charset="-120"/>
              </a:rPr>
              <a:t>One promotion, one product, three channels each asking for a discount exception. The instinct is that the deepest discount is the one that breaks the floor. But the margin floor is measured on the actual selling price, and the supplier subsidy applies to only one channel, with conditions and a validity period — all of it buried in a PDF, not in the policy text. You re-judge this every month. This scenario turns the judgement into your own skill, so next time you just ask for it.</a:t>
            </a:r>
            <a:endParaRPr lang="en-US" sz="1200" dirty="0"/>
          </a:p>
        </p:txBody>
      </p:sp>
      <p:sp>
        <p:nvSpPr>
          <p:cNvPr id="19" name="Text 16"/>
          <p:cNvSpPr/>
          <p:nvPr/>
        </p:nvSpPr>
        <p:spPr>
          <a:xfrm>
            <a:off x="4526280" y="2368296"/>
            <a:ext cx="7132320" cy="365760"/>
          </a:xfrm>
          <a:prstGeom prst="rect">
            <a:avLst/>
          </a:prstGeom>
          <a:noFill/>
          <a:ln/>
        </p:spPr>
        <p:txBody>
          <a:bodyPr wrap="square" rtlCol="0" anchor="ctr"/>
          <a:lstStyle/>
          <a:p>
            <a:pPr indent="0" marL="0">
              <a:buNone/>
            </a:pPr>
            <a:r>
              <a:rPr lang="en-US" sz="1500" b="1" dirty="0">
                <a:solidFill>
                  <a:srgbClr val="7A3B12"/>
                </a:solidFill>
                <a:latin typeface="Segoe UI" pitchFamily="34" charset="0"/>
                <a:ea typeface="Segoe UI" pitchFamily="34" charset="-122"/>
                <a:cs typeface="Segoe UI" pitchFamily="34" charset="-120"/>
              </a:rPr>
              <a:t>Agentic workflow</a:t>
            </a:r>
            <a:endParaRPr lang="en-US" sz="1500" dirty="0"/>
          </a:p>
        </p:txBody>
      </p:sp>
      <p:sp>
        <p:nvSpPr>
          <p:cNvPr id="20" name="Shape 17"/>
          <p:cNvSpPr/>
          <p:nvPr/>
        </p:nvSpPr>
        <p:spPr>
          <a:xfrm>
            <a:off x="4526280" y="2825496"/>
            <a:ext cx="457200" cy="457200"/>
          </a:xfrm>
          <a:prstGeom prst="ellipse">
            <a:avLst/>
          </a:prstGeom>
          <a:solidFill>
            <a:srgbClr val="FFFFFF">
              <a:alpha val="12000"/>
            </a:srgbClr>
          </a:solidFill>
          <a:ln w="19050">
            <a:solidFill>
              <a:srgbClr val="7A3B12"/>
            </a:solidFill>
            <a:prstDash val="solid"/>
          </a:ln>
        </p:spPr>
      </p:sp>
      <p:sp>
        <p:nvSpPr>
          <p:cNvPr id="21" name="Text 18"/>
          <p:cNvSpPr/>
          <p:nvPr/>
        </p:nvSpPr>
        <p:spPr>
          <a:xfrm>
            <a:off x="4526280" y="2825496"/>
            <a:ext cx="457200" cy="457200"/>
          </a:xfrm>
          <a:prstGeom prst="rect">
            <a:avLst/>
          </a:prstGeom>
          <a:noFill/>
          <a:ln/>
        </p:spPr>
        <p:txBody>
          <a:bodyPr wrap="square" rtlCol="0" anchor="ctr"/>
          <a:lstStyle/>
          <a:p>
            <a:pPr algn="ctr" indent="0" marL="0">
              <a:buNone/>
            </a:pPr>
            <a:r>
              <a:rPr lang="en-US" sz="1600" b="1" dirty="0">
                <a:solidFill>
                  <a:srgbClr val="7A3B12"/>
                </a:solidFill>
                <a:latin typeface="Segoe UI" pitchFamily="34" charset="0"/>
                <a:ea typeface="Segoe UI" pitchFamily="34" charset="-122"/>
                <a:cs typeface="Segoe UI" pitchFamily="34" charset="-120"/>
              </a:rPr>
              <a:t>1</a:t>
            </a:r>
            <a:endParaRPr lang="en-US" sz="1600" dirty="0"/>
          </a:p>
        </p:txBody>
      </p:sp>
      <p:sp>
        <p:nvSpPr>
          <p:cNvPr id="22" name="Text 19"/>
          <p:cNvSpPr/>
          <p:nvPr/>
        </p:nvSpPr>
        <p:spPr>
          <a:xfrm>
            <a:off x="5166360" y="2807208"/>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First rule on the three existing exceptions</a:t>
            </a:r>
            <a:endParaRPr lang="en-US" sz="1600" dirty="0"/>
          </a:p>
        </p:txBody>
      </p:sp>
      <p:sp>
        <p:nvSpPr>
          <p:cNvPr id="23" name="Text 20"/>
          <p:cNvSpPr/>
          <p:nvPr/>
        </p:nvSpPr>
        <p:spPr>
          <a:xfrm>
            <a:off x="5166360" y="3172968"/>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The policy, floor sheet and log are in RetailChannels/RE…</a:t>
            </a:r>
            <a:endParaRPr lang="en-US" sz="1300" dirty="0"/>
          </a:p>
        </p:txBody>
      </p:sp>
      <p:sp>
        <p:nvSpPr>
          <p:cNvPr id="24" name="Shape 21"/>
          <p:cNvSpPr/>
          <p:nvPr/>
        </p:nvSpPr>
        <p:spPr>
          <a:xfrm>
            <a:off x="4526280" y="3685032"/>
            <a:ext cx="457200" cy="457200"/>
          </a:xfrm>
          <a:prstGeom prst="ellipse">
            <a:avLst/>
          </a:prstGeom>
          <a:solidFill>
            <a:srgbClr val="FFFFFF">
              <a:alpha val="12000"/>
            </a:srgbClr>
          </a:solidFill>
          <a:ln w="19050">
            <a:solidFill>
              <a:srgbClr val="7A3B12"/>
            </a:solidFill>
            <a:prstDash val="solid"/>
          </a:ln>
        </p:spPr>
      </p:sp>
      <p:sp>
        <p:nvSpPr>
          <p:cNvPr id="25" name="Text 22"/>
          <p:cNvSpPr/>
          <p:nvPr/>
        </p:nvSpPr>
        <p:spPr>
          <a:xfrm>
            <a:off x="4526280" y="3685032"/>
            <a:ext cx="457200" cy="457200"/>
          </a:xfrm>
          <a:prstGeom prst="rect">
            <a:avLst/>
          </a:prstGeom>
          <a:noFill/>
          <a:ln/>
        </p:spPr>
        <p:txBody>
          <a:bodyPr wrap="square" rtlCol="0" anchor="ctr"/>
          <a:lstStyle/>
          <a:p>
            <a:pPr algn="ctr" indent="0" marL="0">
              <a:buNone/>
            </a:pPr>
            <a:r>
              <a:rPr lang="en-US" sz="1600" b="1" dirty="0">
                <a:solidFill>
                  <a:srgbClr val="7A3B12"/>
                </a:solidFill>
                <a:latin typeface="Segoe UI" pitchFamily="34" charset="0"/>
                <a:ea typeface="Segoe UI" pitchFamily="34" charset="-122"/>
                <a:cs typeface="Segoe UI" pitchFamily="34" charset="-120"/>
              </a:rPr>
              <a:t>2</a:t>
            </a:r>
            <a:endParaRPr lang="en-US" sz="1600" dirty="0"/>
          </a:p>
        </p:txBody>
      </p:sp>
      <p:sp>
        <p:nvSpPr>
          <p:cNvPr id="26" name="Text 23"/>
          <p:cNvSpPr/>
          <p:nvPr/>
        </p:nvSpPr>
        <p:spPr>
          <a:xfrm>
            <a:off x="5166360" y="3666744"/>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Turn this reasoning into a skill</a:t>
            </a:r>
            <a:endParaRPr lang="en-US" sz="1600" dirty="0"/>
          </a:p>
        </p:txBody>
      </p:sp>
      <p:sp>
        <p:nvSpPr>
          <p:cNvPr id="27" name="Text 24"/>
          <p:cNvSpPr/>
          <p:nvPr/>
        </p:nvSpPr>
        <p:spPr>
          <a:xfrm>
            <a:off x="5166360" y="4032504"/>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Cowork drafts the skill, then raises a “copy files” appr…</a:t>
            </a:r>
            <a:endParaRPr lang="en-US" sz="1300" dirty="0"/>
          </a:p>
        </p:txBody>
      </p:sp>
      <p:sp>
        <p:nvSpPr>
          <p:cNvPr id="28" name="Shape 25"/>
          <p:cNvSpPr/>
          <p:nvPr/>
        </p:nvSpPr>
        <p:spPr>
          <a:xfrm>
            <a:off x="4526280" y="4544568"/>
            <a:ext cx="457200" cy="457200"/>
          </a:xfrm>
          <a:prstGeom prst="ellipse">
            <a:avLst/>
          </a:prstGeom>
          <a:solidFill>
            <a:srgbClr val="FFFFFF">
              <a:alpha val="12000"/>
            </a:srgbClr>
          </a:solidFill>
          <a:ln w="19050">
            <a:solidFill>
              <a:srgbClr val="7A3B12"/>
            </a:solidFill>
            <a:prstDash val="solid"/>
          </a:ln>
        </p:spPr>
      </p:sp>
      <p:sp>
        <p:nvSpPr>
          <p:cNvPr id="29" name="Text 26"/>
          <p:cNvSpPr/>
          <p:nvPr/>
        </p:nvSpPr>
        <p:spPr>
          <a:xfrm>
            <a:off x="4526280" y="4544568"/>
            <a:ext cx="457200" cy="457200"/>
          </a:xfrm>
          <a:prstGeom prst="rect">
            <a:avLst/>
          </a:prstGeom>
          <a:noFill/>
          <a:ln/>
        </p:spPr>
        <p:txBody>
          <a:bodyPr wrap="square" rtlCol="0" anchor="ctr"/>
          <a:lstStyle/>
          <a:p>
            <a:pPr algn="ctr" indent="0" marL="0">
              <a:buNone/>
            </a:pPr>
            <a:r>
              <a:rPr lang="en-US" sz="1600" b="1" dirty="0">
                <a:solidFill>
                  <a:srgbClr val="7A3B12"/>
                </a:solidFill>
                <a:latin typeface="Segoe UI" pitchFamily="34" charset="0"/>
                <a:ea typeface="Segoe UI" pitchFamily="34" charset="-122"/>
                <a:cs typeface="Segoe UI" pitchFamily="34" charset="-120"/>
              </a:rPr>
              <a:t>3</a:t>
            </a:r>
            <a:endParaRPr lang="en-US" sz="1600" dirty="0"/>
          </a:p>
        </p:txBody>
      </p:sp>
      <p:sp>
        <p:nvSpPr>
          <p:cNvPr id="30" name="Text 27"/>
          <p:cNvSpPr/>
          <p:nvPr/>
        </p:nvSpPr>
        <p:spPr>
          <a:xfrm>
            <a:off x="5166360" y="4526280"/>
            <a:ext cx="6492240" cy="365760"/>
          </a:xfrm>
          <a:prstGeom prst="rect">
            <a:avLst/>
          </a:prstGeom>
          <a:noFill/>
          <a:ln/>
        </p:spPr>
        <p:txBody>
          <a:bodyPr wrap="square"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Start a new task and use the skill on two new exceptions</a:t>
            </a:r>
            <a:endParaRPr lang="en-US" sz="1600" dirty="0"/>
          </a:p>
        </p:txBody>
      </p:sp>
      <p:sp>
        <p:nvSpPr>
          <p:cNvPr id="31" name="Text 28"/>
          <p:cNvSpPr/>
          <p:nvPr/>
        </p:nvSpPr>
        <p:spPr>
          <a:xfrm>
            <a:off x="5166360" y="4892040"/>
            <a:ext cx="6492240" cy="502920"/>
          </a:xfrm>
          <a:prstGeom prst="rect">
            <a:avLst/>
          </a:prstGeom>
          <a:noFill/>
          <a:ln/>
        </p:spPr>
        <p:txBody>
          <a:bodyPr wrap="square" rtlCol="0" anchor="ctr"/>
          <a:lstStyle/>
          <a:p>
            <a:pPr indent="0" marL="0">
              <a:lnSpc>
                <a:spcPct val="115000"/>
              </a:lnSpc>
              <a:buNone/>
            </a:pPr>
            <a:r>
              <a:rPr lang="en-US" sz="1300" dirty="0">
                <a:solidFill>
                  <a:srgbClr val="AEB2D8"/>
                </a:solidFill>
                <a:latin typeface="Segoe UI" pitchFamily="34" charset="0"/>
                <a:ea typeface="Segoe UI" pitchFamily="34" charset="-122"/>
                <a:cs typeface="Segoe UI" pitchFamily="34" charset="-120"/>
              </a:rPr>
              <a:t>First start a new task — not in the conversation you jus…</a:t>
            </a:r>
            <a:endParaRPr lang="en-US" sz="1300" dirty="0"/>
          </a:p>
        </p:txBody>
      </p:sp>
      <p:sp>
        <p:nvSpPr>
          <p:cNvPr id="32" name="Shape 29"/>
          <p:cNvSpPr/>
          <p:nvPr/>
        </p:nvSpPr>
        <p:spPr>
          <a:xfrm>
            <a:off x="4526280" y="5440680"/>
            <a:ext cx="7132320" cy="777240"/>
          </a:xfrm>
          <a:prstGeom prst="rect">
            <a:avLst/>
          </a:prstGeom>
          <a:solidFill>
            <a:srgbClr val="FFFFFF">
              <a:alpha val="10000"/>
            </a:srgbClr>
          </a:solidFill>
          <a:ln w="12700">
            <a:solidFill>
              <a:srgbClr val="7A3B12">
                <a:alpha val="65000"/>
              </a:srgbClr>
            </a:solidFill>
            <a:prstDash val="solid"/>
          </a:ln>
        </p:spPr>
      </p:sp>
      <p:sp>
        <p:nvSpPr>
          <p:cNvPr id="33" name="Shape 30"/>
          <p:cNvSpPr/>
          <p:nvPr/>
        </p:nvSpPr>
        <p:spPr>
          <a:xfrm>
            <a:off x="4526280" y="5440680"/>
            <a:ext cx="73152" cy="777240"/>
          </a:xfrm>
          <a:prstGeom prst="rect">
            <a:avLst/>
          </a:prstGeom>
          <a:solidFill>
            <a:srgbClr val="7A3B12"/>
          </a:solidFill>
          <a:ln/>
        </p:spPr>
      </p:sp>
      <p:pic>
        <p:nvPicPr>
          <p:cNvPr id="34" name="Image 1" descr="preencoded.png">    </p:cNvPr>
          <p:cNvPicPr>
            <a:picLocks noChangeAspect="1"/>
          </p:cNvPicPr>
          <p:nvPr/>
        </p:nvPicPr>
        <p:blipFill>
          <a:blip r:embed="rId2"/>
          <a:stretch>
            <a:fillRect/>
          </a:stretch>
        </p:blipFill>
        <p:spPr>
          <a:xfrm>
            <a:off x="4782312" y="5687568"/>
            <a:ext cx="292608" cy="292608"/>
          </a:xfrm>
          <a:prstGeom prst="rect">
            <a:avLst/>
          </a:prstGeom>
        </p:spPr>
      </p:pic>
      <p:sp>
        <p:nvSpPr>
          <p:cNvPr id="35" name="Text 31"/>
          <p:cNvSpPr/>
          <p:nvPr/>
        </p:nvSpPr>
        <p:spPr>
          <a:xfrm>
            <a:off x="5239512" y="5440680"/>
            <a:ext cx="6309360" cy="777240"/>
          </a:xfrm>
          <a:prstGeom prst="rect">
            <a:avLst/>
          </a:prstGeom>
          <a:noFill/>
          <a:ln/>
        </p:spPr>
        <p:txBody>
          <a:bodyPr wrap="square" rtlCol="0" anchor="ctr"/>
          <a:lstStyle/>
          <a:p>
            <a:pPr indent="0" marL="0">
              <a:lnSpc>
                <a:spcPct val="115000"/>
              </a:lnSpc>
              <a:buNone/>
            </a:pPr>
            <a:r>
              <a:rPr lang="en-US" sz="1250" b="1" dirty="0">
                <a:solidFill>
                  <a:srgbClr val="FFFFFF"/>
                </a:solidFill>
                <a:latin typeface="Segoe UI" pitchFamily="34" charset="0"/>
                <a:ea typeface="Segoe UI" pitchFamily="34" charset="-122"/>
                <a:cs typeface="Segoe UI" pitchFamily="34" charset="-120"/>
              </a:rPr>
              <a:t>What to watch　</a:t>
            </a:r>
            <a:pPr indent="0" marL="0">
              <a:lnSpc>
                <a:spcPct val="115000"/>
              </a:lnSpc>
              <a:buNone/>
            </a:pPr>
            <a:r>
              <a:rPr lang="en-US" sz="1250" dirty="0">
                <a:solidFill>
                  <a:srgbClr val="C7CAEC"/>
                </a:solidFill>
                <a:latin typeface="Segoe UI" pitchFamily="34" charset="0"/>
                <a:ea typeface="Segoe UI" pitchFamily="34" charset="-122"/>
                <a:cs typeface="Segoe UI" pitchFamily="34" charset="-120"/>
              </a:rPr>
              <a:t>This scenario builds a custom skill and edits your excep…</a:t>
            </a:r>
            <a:endParaRPr lang="en-US" sz="1250" dirty="0"/>
          </a:p>
        </p:txBody>
      </p:sp>
      <p:sp>
        <p:nvSpPr>
          <p:cNvPr id="36" name="Text 32"/>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37" name="Text 33"/>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7A3B12"/>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7A3B12"/>
                </a:solidFill>
                <a:latin typeface="Segoe UI" pitchFamily="34" charset="0"/>
                <a:ea typeface="Segoe UI" pitchFamily="34" charset="-122"/>
                <a:cs typeface="Segoe UI" pitchFamily="34" charset="-120"/>
              </a:rPr>
              <a:t>Scenario 07 · Live demo</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What Cowork does, and what it produces</a:t>
            </a:r>
            <a:endParaRPr lang="en-US" sz="3000" dirty="0"/>
          </a:p>
        </p:txBody>
      </p:sp>
      <p:sp>
        <p:nvSpPr>
          <p:cNvPr id="5" name="Shape 3"/>
          <p:cNvSpPr/>
          <p:nvPr/>
        </p:nvSpPr>
        <p:spPr>
          <a:xfrm>
            <a:off x="137754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6" name="Image 0" descr="C:\temp\CoworkLab\v3\_working\screenshots\ret7_01_prompt_en.png">    </p:cNvPr>
          <p:cNvPicPr>
            <a:picLocks noChangeAspect="1"/>
          </p:cNvPicPr>
          <p:nvPr/>
        </p:nvPicPr>
        <p:blipFill>
          <a:blip r:embed="rId1"/>
          <a:stretch>
            <a:fillRect/>
          </a:stretch>
        </p:blipFill>
        <p:spPr>
          <a:xfrm>
            <a:off x="1432408" y="1828800"/>
            <a:ext cx="4434840" cy="2904283"/>
          </a:xfrm>
          <a:prstGeom prst="rect">
            <a:avLst/>
          </a:prstGeom>
        </p:spPr>
      </p:pic>
      <p:sp>
        <p:nvSpPr>
          <p:cNvPr id="7" name="Text 4"/>
          <p:cNvSpPr/>
          <p:nvPr/>
        </p:nvSpPr>
        <p:spPr>
          <a:xfrm>
            <a:off x="1432408" y="4824523"/>
            <a:ext cx="4434840" cy="292608"/>
          </a:xfrm>
          <a:prstGeom prst="rect">
            <a:avLst/>
          </a:prstGeom>
          <a:noFill/>
          <a:ln/>
        </p:spPr>
        <p:txBody>
          <a:bodyPr wrap="square" rtlCol="0" anchor="ctr"/>
          <a:lstStyle/>
          <a:p>
            <a:pPr algn="ctr" indent="0" marL="0">
              <a:buNone/>
            </a:pPr>
            <a:r>
              <a:rPr lang="en-US" sz="1350" b="1" dirty="0">
                <a:solidFill>
                  <a:srgbClr val="7A3B12"/>
                </a:solidFill>
                <a:latin typeface="Segoe UI" pitchFamily="34" charset="0"/>
                <a:ea typeface="Segoe UI" pitchFamily="34" charset="-122"/>
                <a:cs typeface="Segoe UI" pitchFamily="34" charset="-120"/>
              </a:rPr>
              <a:t>① Your input and prompt</a:t>
            </a:r>
            <a:endParaRPr lang="en-US" sz="1350" dirty="0"/>
          </a:p>
        </p:txBody>
      </p:sp>
      <p:sp>
        <p:nvSpPr>
          <p:cNvPr id="8" name="Shape 5"/>
          <p:cNvSpPr/>
          <p:nvPr/>
        </p:nvSpPr>
        <p:spPr>
          <a:xfrm>
            <a:off x="6269584" y="1773936"/>
            <a:ext cx="4544568" cy="3014011"/>
          </a:xfrm>
          <a:prstGeom prst="rect">
            <a:avLst/>
          </a:prstGeom>
          <a:solidFill>
            <a:srgbClr val="FFFFFF"/>
          </a:solidFill>
          <a:ln w="12700">
            <a:solidFill>
              <a:srgbClr val="E4E7F2"/>
            </a:solidFill>
            <a:prstDash val="solid"/>
          </a:ln>
          <a:effectLst>
            <a:outerShdw sx="100000" sy="100000" kx="0" ky="0" algn="bl" rotWithShape="0" blurRad="114300" dist="38100" dir="5400000">
              <a:srgbClr val="8A90B5">
                <a:alpha val="22000"/>
              </a:srgbClr>
            </a:outerShdw>
          </a:effectLst>
        </p:spPr>
      </p:sp>
      <p:pic>
        <p:nvPicPr>
          <p:cNvPr id="9" name="Image 1" descr="C:\temp\CoworkLab\v3\_working\screenshots\ret7_03d_done_en.png">    </p:cNvPr>
          <p:cNvPicPr>
            <a:picLocks noChangeAspect="1"/>
          </p:cNvPicPr>
          <p:nvPr/>
        </p:nvPicPr>
        <p:blipFill>
          <a:blip r:embed="rId2"/>
          <a:stretch>
            <a:fillRect/>
          </a:stretch>
        </p:blipFill>
        <p:spPr>
          <a:xfrm>
            <a:off x="6324448" y="1828800"/>
            <a:ext cx="4434840" cy="2904283"/>
          </a:xfrm>
          <a:prstGeom prst="rect">
            <a:avLst/>
          </a:prstGeom>
        </p:spPr>
      </p:pic>
      <p:sp>
        <p:nvSpPr>
          <p:cNvPr id="10" name="Text 6"/>
          <p:cNvSpPr/>
          <p:nvPr/>
        </p:nvSpPr>
        <p:spPr>
          <a:xfrm>
            <a:off x="6324448" y="4824523"/>
            <a:ext cx="4434840" cy="292608"/>
          </a:xfrm>
          <a:prstGeom prst="rect">
            <a:avLst/>
          </a:prstGeom>
          <a:noFill/>
          <a:ln/>
        </p:spPr>
        <p:txBody>
          <a:bodyPr wrap="square" rtlCol="0" anchor="ctr"/>
          <a:lstStyle/>
          <a:p>
            <a:pPr algn="ctr" indent="0" marL="0">
              <a:buNone/>
            </a:pPr>
            <a:r>
              <a:rPr lang="en-US" sz="1350" b="1" dirty="0">
                <a:solidFill>
                  <a:srgbClr val="7A3B12"/>
                </a:solidFill>
                <a:latin typeface="Segoe UI" pitchFamily="34" charset="0"/>
                <a:ea typeface="Segoe UI" pitchFamily="34" charset="-122"/>
                <a:cs typeface="Segoe UI" pitchFamily="34" charset="-120"/>
              </a:rPr>
              <a:t>② The result</a:t>
            </a:r>
            <a:endParaRPr lang="en-US" sz="1350" dirty="0"/>
          </a:p>
        </p:txBody>
      </p:sp>
      <p:sp>
        <p:nvSpPr>
          <p:cNvPr id="11" name="Shape 7"/>
          <p:cNvSpPr/>
          <p:nvPr/>
        </p:nvSpPr>
        <p:spPr>
          <a:xfrm>
            <a:off x="640080" y="5226859"/>
            <a:ext cx="10911535" cy="1143000"/>
          </a:xfrm>
          <a:prstGeom prst="rect">
            <a:avLst/>
          </a:prstGeom>
          <a:solidFill>
            <a:srgbClr val="FFFFFF"/>
          </a:solidFill>
          <a:ln w="12700">
            <a:solidFill>
              <a:srgbClr val="E4E7F2"/>
            </a:solidFill>
            <a:prstDash val="solid"/>
          </a:ln>
        </p:spPr>
      </p:sp>
      <p:sp>
        <p:nvSpPr>
          <p:cNvPr id="12" name="Shape 8"/>
          <p:cNvSpPr/>
          <p:nvPr/>
        </p:nvSpPr>
        <p:spPr>
          <a:xfrm>
            <a:off x="640080" y="5226859"/>
            <a:ext cx="91440" cy="1143000"/>
          </a:xfrm>
          <a:prstGeom prst="rect">
            <a:avLst/>
          </a:prstGeom>
          <a:solidFill>
            <a:srgbClr val="7A3B12"/>
          </a:solidFill>
          <a:ln/>
        </p:spPr>
      </p:sp>
      <p:sp>
        <p:nvSpPr>
          <p:cNvPr id="13" name="Text 9"/>
          <p:cNvSpPr/>
          <p:nvPr/>
        </p:nvSpPr>
        <p:spPr>
          <a:xfrm>
            <a:off x="914400" y="5336587"/>
            <a:ext cx="1783080" cy="320040"/>
          </a:xfrm>
          <a:prstGeom prst="rect">
            <a:avLst/>
          </a:prstGeom>
          <a:noFill/>
          <a:ln/>
        </p:spPr>
        <p:txBody>
          <a:bodyPr wrap="square" rtlCol="0" anchor="ctr"/>
          <a:lstStyle/>
          <a:p>
            <a:pPr indent="0" marL="0">
              <a:buNone/>
            </a:pPr>
            <a:r>
              <a:rPr lang="en-US" sz="1400" b="1" dirty="0">
                <a:solidFill>
                  <a:srgbClr val="1E2235"/>
                </a:solidFill>
                <a:latin typeface="Segoe UI" pitchFamily="34" charset="0"/>
                <a:ea typeface="Segoe UI" pitchFamily="34" charset="-122"/>
                <a:cs typeface="Segoe UI" pitchFamily="34" charset="-120"/>
              </a:rPr>
              <a:t>Check the output</a:t>
            </a:r>
            <a:endParaRPr lang="en-US" sz="1400" dirty="0"/>
          </a:p>
        </p:txBody>
      </p:sp>
      <p:pic>
        <p:nvPicPr>
          <p:cNvPr id="14" name="Image 2" descr="preencoded.png">    </p:cNvPr>
          <p:cNvPicPr>
            <a:picLocks noChangeAspect="1"/>
          </p:cNvPicPr>
          <p:nvPr/>
        </p:nvPicPr>
        <p:blipFill>
          <a:blip r:embed="rId3"/>
          <a:stretch>
            <a:fillRect/>
          </a:stretch>
        </p:blipFill>
        <p:spPr>
          <a:xfrm>
            <a:off x="2880360" y="5373163"/>
            <a:ext cx="182880" cy="182880"/>
          </a:xfrm>
          <a:prstGeom prst="rect">
            <a:avLst/>
          </a:prstGeom>
        </p:spPr>
      </p:pic>
      <p:sp>
        <p:nvSpPr>
          <p:cNvPr id="15" name="Text 10"/>
          <p:cNvSpPr/>
          <p:nvPr/>
        </p:nvSpPr>
        <p:spPr>
          <a:xfrm>
            <a:off x="3154680" y="5318299"/>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EX-01 (Online) is ruled compliant: margin after subsidy 20.0%, 2.0 points above the floor, and it says the subsidy is what makes it work</a:t>
            </a:r>
            <a:endParaRPr lang="en-US" sz="1300" dirty="0"/>
          </a:p>
        </p:txBody>
      </p:sp>
      <p:pic>
        <p:nvPicPr>
          <p:cNvPr id="16" name="Image 3" descr="preencoded.png">    </p:cNvPr>
          <p:cNvPicPr>
            <a:picLocks noChangeAspect="1"/>
          </p:cNvPicPr>
          <p:nvPr/>
        </p:nvPicPr>
        <p:blipFill>
          <a:blip r:embed="rId4"/>
          <a:stretch>
            <a:fillRect/>
          </a:stretch>
        </p:blipFill>
        <p:spPr>
          <a:xfrm>
            <a:off x="2880360" y="5711491"/>
            <a:ext cx="182880" cy="182880"/>
          </a:xfrm>
          <a:prstGeom prst="rect">
            <a:avLst/>
          </a:prstGeom>
        </p:spPr>
      </p:pic>
      <p:sp>
        <p:nvSpPr>
          <p:cNvPr id="17" name="Text 11"/>
          <p:cNvSpPr/>
          <p:nvPr/>
        </p:nvSpPr>
        <p:spPr>
          <a:xfrm>
            <a:off x="3154680" y="5656627"/>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EX-02 (Store) is ruled compliant at 20.0%; EX-03 (Franchise) is ruled a breach at 15.8%, 2.2 points below the floor</a:t>
            </a:r>
            <a:endParaRPr lang="en-US" sz="1300" dirty="0"/>
          </a:p>
        </p:txBody>
      </p:sp>
      <p:pic>
        <p:nvPicPr>
          <p:cNvPr id="18" name="Image 4" descr="preencoded.png">    </p:cNvPr>
          <p:cNvPicPr>
            <a:picLocks noChangeAspect="1"/>
          </p:cNvPicPr>
          <p:nvPr/>
        </p:nvPicPr>
        <p:blipFill>
          <a:blip r:embed="rId5"/>
          <a:stretch>
            <a:fillRect/>
          </a:stretch>
        </p:blipFill>
        <p:spPr>
          <a:xfrm>
            <a:off x="2880360" y="6049819"/>
            <a:ext cx="182880" cy="182880"/>
          </a:xfrm>
          <a:prstGeom prst="rect">
            <a:avLst/>
          </a:prstGeom>
        </p:spPr>
      </p:pic>
      <p:sp>
        <p:nvSpPr>
          <p:cNvPr id="19" name="Text 12"/>
          <p:cNvSpPr/>
          <p:nvPr/>
        </p:nvSpPr>
        <p:spPr>
          <a:xfrm>
            <a:off x="3154680" y="5994955"/>
            <a:ext cx="8122615" cy="310896"/>
          </a:xfrm>
          <a:prstGeom prst="rect">
            <a:avLst/>
          </a:prstGeom>
          <a:noFill/>
          <a:ln/>
        </p:spPr>
        <p:txBody>
          <a:bodyPr wrap="square" rtlCol="0" anchor="ctr"/>
          <a:lstStyle/>
          <a:p>
            <a:pPr indent="0" marL="0">
              <a:buNone/>
            </a:pPr>
            <a:r>
              <a:rPr lang="en-US" sz="1300" dirty="0">
                <a:solidFill>
                  <a:srgbClr val="1E2235"/>
                </a:solidFill>
                <a:latin typeface="Segoe UI" pitchFamily="34" charset="0"/>
                <a:ea typeface="Segoe UI" pitchFamily="34" charset="-122"/>
                <a:cs typeface="Segoe UI" pitchFamily="34" charset="-120"/>
              </a:rPr>
              <a:t>It states that the subsidy agreement applies to Online only and cannot be applied to Franchise or Store, and that the breach is not the deepest discount</a:t>
            </a:r>
            <a:endParaRPr lang="en-US" sz="1300" dirty="0"/>
          </a:p>
        </p:txBody>
      </p:sp>
      <p:sp>
        <p:nvSpPr>
          <p:cNvPr id="20" name="Text 13"/>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21" name="Text 14"/>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C"/>
        </a:solidFill>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6366F1"/>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6366F1"/>
                </a:solidFill>
                <a:latin typeface="Segoe UI" pitchFamily="34" charset="0"/>
                <a:ea typeface="Segoe UI" pitchFamily="34" charset="-122"/>
                <a:cs typeface="Segoe UI" pitchFamily="34" charset="-120"/>
              </a:rPr>
              <a:t>MAKE IT YOURS</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1E2235"/>
                </a:solidFill>
                <a:latin typeface="Segoe UI" pitchFamily="34" charset="0"/>
                <a:ea typeface="Segoe UI" pitchFamily="34" charset="-122"/>
                <a:cs typeface="Segoe UI" pitchFamily="34" charset="-120"/>
              </a:rPr>
              <a:t>Extend it to your own work</a:t>
            </a:r>
            <a:endParaRPr lang="en-US" sz="3000" dirty="0"/>
          </a:p>
        </p:txBody>
      </p:sp>
      <p:sp>
        <p:nvSpPr>
          <p:cNvPr id="5" name="Shape 3"/>
          <p:cNvSpPr/>
          <p:nvPr/>
        </p:nvSpPr>
        <p:spPr>
          <a:xfrm>
            <a:off x="640080" y="1783080"/>
            <a:ext cx="10911535" cy="549946"/>
          </a:xfrm>
          <a:prstGeom prst="rect">
            <a:avLst/>
          </a:prstGeom>
          <a:solidFill>
            <a:srgbClr val="FFFFFF"/>
          </a:solidFill>
          <a:ln w="12700">
            <a:solidFill>
              <a:srgbClr val="E4E7F2"/>
            </a:solidFill>
            <a:prstDash val="solid"/>
          </a:ln>
        </p:spPr>
      </p:sp>
      <p:sp>
        <p:nvSpPr>
          <p:cNvPr id="6" name="Shape 4"/>
          <p:cNvSpPr/>
          <p:nvPr/>
        </p:nvSpPr>
        <p:spPr>
          <a:xfrm>
            <a:off x="868680" y="1811165"/>
            <a:ext cx="493776" cy="493776"/>
          </a:xfrm>
          <a:prstGeom prst="ellipse">
            <a:avLst/>
          </a:prstGeom>
          <a:solidFill>
            <a:srgbClr val="12355B"/>
          </a:solidFill>
          <a:ln/>
        </p:spPr>
      </p:sp>
      <p:pic>
        <p:nvPicPr>
          <p:cNvPr id="7" name="Image 0" descr="preencoded.png">    </p:cNvPr>
          <p:cNvPicPr>
            <a:picLocks noChangeAspect="1"/>
          </p:cNvPicPr>
          <p:nvPr/>
        </p:nvPicPr>
        <p:blipFill>
          <a:blip r:embed="rId1"/>
          <a:stretch>
            <a:fillRect/>
          </a:stretch>
        </p:blipFill>
        <p:spPr>
          <a:xfrm>
            <a:off x="996696" y="1939181"/>
            <a:ext cx="237744" cy="237744"/>
          </a:xfrm>
          <a:prstGeom prst="rect">
            <a:avLst/>
          </a:prstGeom>
        </p:spPr>
      </p:pic>
      <p:sp>
        <p:nvSpPr>
          <p:cNvPr id="8" name="Text 5"/>
          <p:cNvSpPr/>
          <p:nvPr/>
        </p:nvSpPr>
        <p:spPr>
          <a:xfrm>
            <a:off x="1554480" y="1819656"/>
            <a:ext cx="2286000" cy="476794"/>
          </a:xfrm>
          <a:prstGeom prst="rect">
            <a:avLst/>
          </a:prstGeom>
          <a:noFill/>
          <a:ln/>
        </p:spPr>
        <p:txBody>
          <a:bodyPr wrap="square" rtlCol="0" anchor="ctr"/>
          <a:lstStyle/>
          <a:p>
            <a:pPr indent="0" marL="0">
              <a:buNone/>
            </a:pPr>
            <a:r>
              <a:rPr lang="en-US" sz="1300" b="1" dirty="0">
                <a:solidFill>
                  <a:srgbClr val="12355B"/>
                </a:solidFill>
                <a:latin typeface="Segoe UI" pitchFamily="34" charset="0"/>
                <a:ea typeface="Segoe UI" pitchFamily="34" charset="-122"/>
                <a:cs typeface="Segoe UI" pitchFamily="34" charset="-120"/>
              </a:rPr>
              <a:t>Retail Channels · Regional Operations</a:t>
            </a:r>
            <a:endParaRPr lang="en-US" sz="1300" dirty="0"/>
          </a:p>
        </p:txBody>
      </p:sp>
      <p:sp>
        <p:nvSpPr>
          <p:cNvPr id="9" name="Text 6"/>
          <p:cNvSpPr/>
          <p:nvPr/>
        </p:nvSpPr>
        <p:spPr>
          <a:xfrm>
            <a:off x="3749040" y="1819656"/>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Ask it: if the price-configuration cut-off slipped by a day, would the stores outside the top ten still need action?</a:t>
            </a:r>
            <a:endParaRPr lang="en-US" sz="1250" dirty="0"/>
          </a:p>
        </p:txBody>
      </p:sp>
      <p:sp>
        <p:nvSpPr>
          <p:cNvPr id="10" name="Shape 7"/>
          <p:cNvSpPr/>
          <p:nvPr/>
        </p:nvSpPr>
        <p:spPr>
          <a:xfrm>
            <a:off x="640080" y="2442754"/>
            <a:ext cx="10911535" cy="549946"/>
          </a:xfrm>
          <a:prstGeom prst="rect">
            <a:avLst/>
          </a:prstGeom>
          <a:solidFill>
            <a:srgbClr val="FFFFFF"/>
          </a:solidFill>
          <a:ln w="12700">
            <a:solidFill>
              <a:srgbClr val="E4E7F2"/>
            </a:solidFill>
            <a:prstDash val="solid"/>
          </a:ln>
        </p:spPr>
      </p:sp>
      <p:sp>
        <p:nvSpPr>
          <p:cNvPr id="11" name="Shape 8"/>
          <p:cNvSpPr/>
          <p:nvPr/>
        </p:nvSpPr>
        <p:spPr>
          <a:xfrm>
            <a:off x="868680" y="2470839"/>
            <a:ext cx="493776" cy="493776"/>
          </a:xfrm>
          <a:prstGeom prst="ellipse">
            <a:avLst/>
          </a:prstGeom>
          <a:solidFill>
            <a:srgbClr val="5A2A14"/>
          </a:solidFill>
          <a:ln/>
        </p:spPr>
      </p:sp>
      <p:pic>
        <p:nvPicPr>
          <p:cNvPr id="12" name="Image 1" descr="preencoded.png">    </p:cNvPr>
          <p:cNvPicPr>
            <a:picLocks noChangeAspect="1"/>
          </p:cNvPicPr>
          <p:nvPr/>
        </p:nvPicPr>
        <p:blipFill>
          <a:blip r:embed="rId2"/>
          <a:stretch>
            <a:fillRect/>
          </a:stretch>
        </p:blipFill>
        <p:spPr>
          <a:xfrm>
            <a:off x="996696" y="2598855"/>
            <a:ext cx="237744" cy="237744"/>
          </a:xfrm>
          <a:prstGeom prst="rect">
            <a:avLst/>
          </a:prstGeom>
        </p:spPr>
      </p:pic>
      <p:sp>
        <p:nvSpPr>
          <p:cNvPr id="13" name="Text 9"/>
          <p:cNvSpPr/>
          <p:nvPr/>
        </p:nvSpPr>
        <p:spPr>
          <a:xfrm>
            <a:off x="1554480" y="2479330"/>
            <a:ext cx="2286000" cy="476794"/>
          </a:xfrm>
          <a:prstGeom prst="rect">
            <a:avLst/>
          </a:prstGeom>
          <a:noFill/>
          <a:ln/>
        </p:spPr>
        <p:txBody>
          <a:bodyPr wrap="square" rtlCol="0" anchor="ctr"/>
          <a:lstStyle/>
          <a:p>
            <a:pPr indent="0" marL="0">
              <a:buNone/>
            </a:pPr>
            <a:r>
              <a:rPr lang="en-US" sz="1300" b="1" dirty="0">
                <a:solidFill>
                  <a:srgbClr val="5A2A14"/>
                </a:solidFill>
                <a:latin typeface="Segoe UI" pitchFamily="34" charset="0"/>
                <a:ea typeface="Segoe UI" pitchFamily="34" charset="-122"/>
                <a:cs typeface="Segoe UI" pitchFamily="34" charset="-120"/>
              </a:rPr>
              <a:t>Retail Channels · Inventory &amp; Receiving Control</a:t>
            </a:r>
            <a:endParaRPr lang="en-US" sz="1300" dirty="0"/>
          </a:p>
        </p:txBody>
      </p:sp>
      <p:sp>
        <p:nvSpPr>
          <p:cNvPr id="14" name="Text 10"/>
          <p:cNvSpPr/>
          <p:nvPr/>
        </p:nvSpPr>
        <p:spPr>
          <a:xfrm>
            <a:off x="3749040" y="2479330"/>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Push one SKU's expected release date in the quarantine list back by two days, send another alert email and see whether the verdict flips.</a:t>
            </a:r>
            <a:endParaRPr lang="en-US" sz="1250" dirty="0"/>
          </a:p>
        </p:txBody>
      </p:sp>
      <p:sp>
        <p:nvSpPr>
          <p:cNvPr id="15" name="Shape 11"/>
          <p:cNvSpPr/>
          <p:nvPr/>
        </p:nvSpPr>
        <p:spPr>
          <a:xfrm>
            <a:off x="640080" y="3102429"/>
            <a:ext cx="10911535" cy="549946"/>
          </a:xfrm>
          <a:prstGeom prst="rect">
            <a:avLst/>
          </a:prstGeom>
          <a:solidFill>
            <a:srgbClr val="FFFFFF"/>
          </a:solidFill>
          <a:ln w="12700">
            <a:solidFill>
              <a:srgbClr val="E4E7F2"/>
            </a:solidFill>
            <a:prstDash val="solid"/>
          </a:ln>
        </p:spPr>
      </p:sp>
      <p:sp>
        <p:nvSpPr>
          <p:cNvPr id="16" name="Shape 12"/>
          <p:cNvSpPr/>
          <p:nvPr/>
        </p:nvSpPr>
        <p:spPr>
          <a:xfrm>
            <a:off x="868680" y="3130514"/>
            <a:ext cx="493776" cy="493776"/>
          </a:xfrm>
          <a:prstGeom prst="ellipse">
            <a:avLst/>
          </a:prstGeom>
          <a:solidFill>
            <a:srgbClr val="2D4A3E"/>
          </a:solidFill>
          <a:ln/>
        </p:spPr>
      </p:sp>
      <p:pic>
        <p:nvPicPr>
          <p:cNvPr id="17" name="Image 2" descr="preencoded.png">    </p:cNvPr>
          <p:cNvPicPr>
            <a:picLocks noChangeAspect="1"/>
          </p:cNvPicPr>
          <p:nvPr/>
        </p:nvPicPr>
        <p:blipFill>
          <a:blip r:embed="rId3"/>
          <a:stretch>
            <a:fillRect/>
          </a:stretch>
        </p:blipFill>
        <p:spPr>
          <a:xfrm>
            <a:off x="996696" y="3258530"/>
            <a:ext cx="237744" cy="237744"/>
          </a:xfrm>
          <a:prstGeom prst="rect">
            <a:avLst/>
          </a:prstGeom>
        </p:spPr>
      </p:pic>
      <p:sp>
        <p:nvSpPr>
          <p:cNvPr id="18" name="Text 13"/>
          <p:cNvSpPr/>
          <p:nvPr/>
        </p:nvSpPr>
        <p:spPr>
          <a:xfrm>
            <a:off x="1554480" y="3139005"/>
            <a:ext cx="2286000" cy="476794"/>
          </a:xfrm>
          <a:prstGeom prst="rect">
            <a:avLst/>
          </a:prstGeom>
          <a:noFill/>
          <a:ln/>
        </p:spPr>
        <p:txBody>
          <a:bodyPr wrap="square" rtlCol="0" anchor="ctr"/>
          <a:lstStyle/>
          <a:p>
            <a:pPr indent="0" marL="0">
              <a:buNone/>
            </a:pPr>
            <a:r>
              <a:rPr lang="en-US" sz="1300" b="1" dirty="0">
                <a:solidFill>
                  <a:srgbClr val="2D4A3E"/>
                </a:solidFill>
                <a:latin typeface="Segoe UI" pitchFamily="34" charset="0"/>
                <a:ea typeface="Segoe UI" pitchFamily="34" charset="-122"/>
                <a:cs typeface="Segoe UI" pitchFamily="34" charset="-120"/>
              </a:rPr>
              <a:t>Retail Channels · Inventory &amp; Receiving Control</a:t>
            </a:r>
            <a:endParaRPr lang="en-US" sz="1300" dirty="0"/>
          </a:p>
        </p:txBody>
      </p:sp>
      <p:sp>
        <p:nvSpPr>
          <p:cNvPr id="19" name="Text 14"/>
          <p:cNvSpPr/>
          <p:nvPr/>
        </p:nvSpPr>
        <p:spPr>
          <a:xfrm>
            <a:off x="3749040" y="3139005"/>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Ask it: if the contract threshold were lowered to a short delivery of 10 units, which batches would come in, and how would the ledger change?</a:t>
            </a:r>
            <a:endParaRPr lang="en-US" sz="1250" dirty="0"/>
          </a:p>
        </p:txBody>
      </p:sp>
      <p:sp>
        <p:nvSpPr>
          <p:cNvPr id="20" name="Shape 15"/>
          <p:cNvSpPr/>
          <p:nvPr/>
        </p:nvSpPr>
        <p:spPr>
          <a:xfrm>
            <a:off x="640080" y="3762103"/>
            <a:ext cx="10911535" cy="549946"/>
          </a:xfrm>
          <a:prstGeom prst="rect">
            <a:avLst/>
          </a:prstGeom>
          <a:solidFill>
            <a:srgbClr val="FFFFFF"/>
          </a:solidFill>
          <a:ln w="12700">
            <a:solidFill>
              <a:srgbClr val="E4E7F2"/>
            </a:solidFill>
            <a:prstDash val="solid"/>
          </a:ln>
        </p:spPr>
      </p:sp>
      <p:sp>
        <p:nvSpPr>
          <p:cNvPr id="21" name="Shape 16"/>
          <p:cNvSpPr/>
          <p:nvPr/>
        </p:nvSpPr>
        <p:spPr>
          <a:xfrm>
            <a:off x="868680" y="3790188"/>
            <a:ext cx="493776" cy="493776"/>
          </a:xfrm>
          <a:prstGeom prst="ellipse">
            <a:avLst/>
          </a:prstGeom>
          <a:solidFill>
            <a:srgbClr val="0F3D3E"/>
          </a:solidFill>
          <a:ln/>
        </p:spPr>
      </p:sp>
      <p:pic>
        <p:nvPicPr>
          <p:cNvPr id="22" name="Image 3" descr="preencoded.png">    </p:cNvPr>
          <p:cNvPicPr>
            <a:picLocks noChangeAspect="1"/>
          </p:cNvPicPr>
          <p:nvPr/>
        </p:nvPicPr>
        <p:blipFill>
          <a:blip r:embed="rId4"/>
          <a:stretch>
            <a:fillRect/>
          </a:stretch>
        </p:blipFill>
        <p:spPr>
          <a:xfrm>
            <a:off x="996696" y="3918204"/>
            <a:ext cx="237744" cy="237744"/>
          </a:xfrm>
          <a:prstGeom prst="rect">
            <a:avLst/>
          </a:prstGeom>
        </p:spPr>
      </p:pic>
      <p:sp>
        <p:nvSpPr>
          <p:cNvPr id="23" name="Text 17"/>
          <p:cNvSpPr/>
          <p:nvPr/>
        </p:nvSpPr>
        <p:spPr>
          <a:xfrm>
            <a:off x="1554480" y="3798679"/>
            <a:ext cx="2286000" cy="476794"/>
          </a:xfrm>
          <a:prstGeom prst="rect">
            <a:avLst/>
          </a:prstGeom>
          <a:noFill/>
          <a:ln/>
        </p:spPr>
        <p:txBody>
          <a:bodyPr wrap="square" rtlCol="0" anchor="ctr"/>
          <a:lstStyle/>
          <a:p>
            <a:pPr indent="0" marL="0">
              <a:buNone/>
            </a:pPr>
            <a:r>
              <a:rPr lang="en-US" sz="1300" b="1" dirty="0">
                <a:solidFill>
                  <a:srgbClr val="0F3D3E"/>
                </a:solidFill>
                <a:latin typeface="Segoe UI" pitchFamily="34" charset="0"/>
                <a:ea typeface="Segoe UI" pitchFamily="34" charset="-122"/>
                <a:cs typeface="Segoe UI" pitchFamily="34" charset="-120"/>
              </a:rPr>
              <a:t>Retail Channels · Store Operations</a:t>
            </a:r>
            <a:endParaRPr lang="en-US" sz="1300" dirty="0"/>
          </a:p>
        </p:txBody>
      </p:sp>
      <p:sp>
        <p:nvSpPr>
          <p:cNvPr id="24" name="Text 18"/>
          <p:cNvSpPr/>
          <p:nvPr/>
        </p:nvSpPr>
        <p:spPr>
          <a:xfrm>
            <a:off x="3749040" y="3798679"/>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Ask it: if the person who would extend also calls in sick, is there any other fix? Does it re-check the authorisation list and the training length?</a:t>
            </a:r>
            <a:endParaRPr lang="en-US" sz="1250" dirty="0"/>
          </a:p>
        </p:txBody>
      </p:sp>
      <p:sp>
        <p:nvSpPr>
          <p:cNvPr id="25" name="Shape 19"/>
          <p:cNvSpPr/>
          <p:nvPr/>
        </p:nvSpPr>
        <p:spPr>
          <a:xfrm>
            <a:off x="640080" y="4421777"/>
            <a:ext cx="10911535" cy="549946"/>
          </a:xfrm>
          <a:prstGeom prst="rect">
            <a:avLst/>
          </a:prstGeom>
          <a:solidFill>
            <a:srgbClr val="FFFFFF"/>
          </a:solidFill>
          <a:ln w="12700">
            <a:solidFill>
              <a:srgbClr val="E4E7F2"/>
            </a:solidFill>
            <a:prstDash val="solid"/>
          </a:ln>
        </p:spPr>
      </p:sp>
      <p:sp>
        <p:nvSpPr>
          <p:cNvPr id="26" name="Shape 20"/>
          <p:cNvSpPr/>
          <p:nvPr/>
        </p:nvSpPr>
        <p:spPr>
          <a:xfrm>
            <a:off x="868680" y="4449862"/>
            <a:ext cx="493776" cy="493776"/>
          </a:xfrm>
          <a:prstGeom prst="ellipse">
            <a:avLst/>
          </a:prstGeom>
          <a:solidFill>
            <a:srgbClr val="5B2A6B"/>
          </a:solidFill>
          <a:ln/>
        </p:spPr>
      </p:sp>
      <p:pic>
        <p:nvPicPr>
          <p:cNvPr id="27" name="Image 4" descr="preencoded.png">    </p:cNvPr>
          <p:cNvPicPr>
            <a:picLocks noChangeAspect="1"/>
          </p:cNvPicPr>
          <p:nvPr/>
        </p:nvPicPr>
        <p:blipFill>
          <a:blip r:embed="rId5"/>
          <a:stretch>
            <a:fillRect/>
          </a:stretch>
        </p:blipFill>
        <p:spPr>
          <a:xfrm>
            <a:off x="996696" y="4577878"/>
            <a:ext cx="237744" cy="237744"/>
          </a:xfrm>
          <a:prstGeom prst="rect">
            <a:avLst/>
          </a:prstGeom>
        </p:spPr>
      </p:pic>
      <p:sp>
        <p:nvSpPr>
          <p:cNvPr id="28" name="Text 21"/>
          <p:cNvSpPr/>
          <p:nvPr/>
        </p:nvSpPr>
        <p:spPr>
          <a:xfrm>
            <a:off x="1554480" y="4458353"/>
            <a:ext cx="2286000" cy="476794"/>
          </a:xfrm>
          <a:prstGeom prst="rect">
            <a:avLst/>
          </a:prstGeom>
          <a:noFill/>
          <a:ln/>
        </p:spPr>
        <p:txBody>
          <a:bodyPr wrap="square" rtlCol="0" anchor="ctr"/>
          <a:lstStyle/>
          <a:p>
            <a:pPr indent="0" marL="0">
              <a:buNone/>
            </a:pPr>
            <a:r>
              <a:rPr lang="en-US" sz="1300" b="1" dirty="0">
                <a:solidFill>
                  <a:srgbClr val="5B2A6B"/>
                </a:solidFill>
                <a:latin typeface="Segoe UI" pitchFamily="34" charset="0"/>
                <a:ea typeface="Segoe UI" pitchFamily="34" charset="-122"/>
                <a:cs typeface="Segoe UI" pitchFamily="34" charset="-120"/>
              </a:rPr>
              <a:t>Retail Channels · E-commerce Fulfilment</a:t>
            </a:r>
            <a:endParaRPr lang="en-US" sz="1300" dirty="0"/>
          </a:p>
        </p:txBody>
      </p:sp>
      <p:sp>
        <p:nvSpPr>
          <p:cNvPr id="29" name="Text 22"/>
          <p:cNvSpPr/>
          <p:nvPr/>
        </p:nvSpPr>
        <p:spPr>
          <a:xfrm>
            <a:off x="3749040" y="4458353"/>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Ask it for a three-sentence summary for your manager comparing “send carrier delay to everyone” with “group and handle separately”.</a:t>
            </a:r>
            <a:endParaRPr lang="en-US" sz="1250" dirty="0"/>
          </a:p>
        </p:txBody>
      </p:sp>
      <p:sp>
        <p:nvSpPr>
          <p:cNvPr id="30" name="Shape 23"/>
          <p:cNvSpPr/>
          <p:nvPr/>
        </p:nvSpPr>
        <p:spPr>
          <a:xfrm>
            <a:off x="640080" y="5081451"/>
            <a:ext cx="10911535" cy="549946"/>
          </a:xfrm>
          <a:prstGeom prst="rect">
            <a:avLst/>
          </a:prstGeom>
          <a:solidFill>
            <a:srgbClr val="FFFFFF"/>
          </a:solidFill>
          <a:ln w="12700">
            <a:solidFill>
              <a:srgbClr val="E4E7F2"/>
            </a:solidFill>
            <a:prstDash val="solid"/>
          </a:ln>
        </p:spPr>
      </p:sp>
      <p:sp>
        <p:nvSpPr>
          <p:cNvPr id="31" name="Shape 24"/>
          <p:cNvSpPr/>
          <p:nvPr/>
        </p:nvSpPr>
        <p:spPr>
          <a:xfrm>
            <a:off x="868680" y="5109537"/>
            <a:ext cx="493776" cy="493776"/>
          </a:xfrm>
          <a:prstGeom prst="ellipse">
            <a:avLst/>
          </a:prstGeom>
          <a:solidFill>
            <a:srgbClr val="1D4A7A"/>
          </a:solidFill>
          <a:ln/>
        </p:spPr>
      </p:sp>
      <p:pic>
        <p:nvPicPr>
          <p:cNvPr id="32" name="Image 5" descr="preencoded.png">    </p:cNvPr>
          <p:cNvPicPr>
            <a:picLocks noChangeAspect="1"/>
          </p:cNvPicPr>
          <p:nvPr/>
        </p:nvPicPr>
        <p:blipFill>
          <a:blip r:embed="rId6"/>
          <a:stretch>
            <a:fillRect/>
          </a:stretch>
        </p:blipFill>
        <p:spPr>
          <a:xfrm>
            <a:off x="996696" y="5237553"/>
            <a:ext cx="237744" cy="237744"/>
          </a:xfrm>
          <a:prstGeom prst="rect">
            <a:avLst/>
          </a:prstGeom>
        </p:spPr>
      </p:pic>
      <p:sp>
        <p:nvSpPr>
          <p:cNvPr id="33" name="Text 25"/>
          <p:cNvSpPr/>
          <p:nvPr/>
        </p:nvSpPr>
        <p:spPr>
          <a:xfrm>
            <a:off x="1554480" y="5118027"/>
            <a:ext cx="2286000" cy="476794"/>
          </a:xfrm>
          <a:prstGeom prst="rect">
            <a:avLst/>
          </a:prstGeom>
          <a:noFill/>
          <a:ln/>
        </p:spPr>
        <p:txBody>
          <a:bodyPr wrap="square" rtlCol="0" anchor="ctr"/>
          <a:lstStyle/>
          <a:p>
            <a:pPr indent="0" marL="0">
              <a:buNone/>
            </a:pPr>
            <a:r>
              <a:rPr lang="en-US" sz="1300" b="1" dirty="0">
                <a:solidFill>
                  <a:srgbClr val="1D4A7A"/>
                </a:solidFill>
                <a:latin typeface="Segoe UI" pitchFamily="34" charset="0"/>
                <a:ea typeface="Segoe UI" pitchFamily="34" charset="-122"/>
                <a:cs typeface="Segoe UI" pitchFamily="34" charset="-120"/>
              </a:rPr>
              <a:t>Retail Channels · Regional Operations</a:t>
            </a:r>
            <a:endParaRPr lang="en-US" sz="1300" dirty="0"/>
          </a:p>
        </p:txBody>
      </p:sp>
      <p:sp>
        <p:nvSpPr>
          <p:cNvPr id="34" name="Text 26"/>
          <p:cNvSpPr/>
          <p:nvPr/>
        </p:nvSpPr>
        <p:spPr>
          <a:xfrm>
            <a:off x="3749040" y="5118027"/>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Have it pull in the region and category detail and see which region and category account for most of the margin drop.</a:t>
            </a:r>
            <a:endParaRPr lang="en-US" sz="1250" dirty="0"/>
          </a:p>
        </p:txBody>
      </p:sp>
      <p:sp>
        <p:nvSpPr>
          <p:cNvPr id="35" name="Shape 27"/>
          <p:cNvSpPr/>
          <p:nvPr/>
        </p:nvSpPr>
        <p:spPr>
          <a:xfrm>
            <a:off x="640080" y="5741126"/>
            <a:ext cx="10911535" cy="549946"/>
          </a:xfrm>
          <a:prstGeom prst="rect">
            <a:avLst/>
          </a:prstGeom>
          <a:solidFill>
            <a:srgbClr val="FFFFFF"/>
          </a:solidFill>
          <a:ln w="12700">
            <a:solidFill>
              <a:srgbClr val="E4E7F2"/>
            </a:solidFill>
            <a:prstDash val="solid"/>
          </a:ln>
        </p:spPr>
      </p:sp>
      <p:sp>
        <p:nvSpPr>
          <p:cNvPr id="36" name="Shape 28"/>
          <p:cNvSpPr/>
          <p:nvPr/>
        </p:nvSpPr>
        <p:spPr>
          <a:xfrm>
            <a:off x="868680" y="5769211"/>
            <a:ext cx="493776" cy="493776"/>
          </a:xfrm>
          <a:prstGeom prst="ellipse">
            <a:avLst/>
          </a:prstGeom>
          <a:solidFill>
            <a:srgbClr val="7A3B12"/>
          </a:solidFill>
          <a:ln/>
        </p:spPr>
      </p:sp>
      <p:pic>
        <p:nvPicPr>
          <p:cNvPr id="37" name="Image 6" descr="preencoded.png">    </p:cNvPr>
          <p:cNvPicPr>
            <a:picLocks noChangeAspect="1"/>
          </p:cNvPicPr>
          <p:nvPr/>
        </p:nvPicPr>
        <p:blipFill>
          <a:blip r:embed="rId7"/>
          <a:stretch>
            <a:fillRect/>
          </a:stretch>
        </p:blipFill>
        <p:spPr>
          <a:xfrm>
            <a:off x="996696" y="5897227"/>
            <a:ext cx="237744" cy="237744"/>
          </a:xfrm>
          <a:prstGeom prst="rect">
            <a:avLst/>
          </a:prstGeom>
        </p:spPr>
      </p:pic>
      <p:sp>
        <p:nvSpPr>
          <p:cNvPr id="38" name="Text 29"/>
          <p:cNvSpPr/>
          <p:nvPr/>
        </p:nvSpPr>
        <p:spPr>
          <a:xfrm>
            <a:off x="1554480" y="5777702"/>
            <a:ext cx="2286000" cy="476794"/>
          </a:xfrm>
          <a:prstGeom prst="rect">
            <a:avLst/>
          </a:prstGeom>
          <a:noFill/>
          <a:ln/>
        </p:spPr>
        <p:txBody>
          <a:bodyPr wrap="square" rtlCol="0" anchor="ctr"/>
          <a:lstStyle/>
          <a:p>
            <a:pPr indent="0" marL="0">
              <a:buNone/>
            </a:pPr>
            <a:r>
              <a:rPr lang="en-US" sz="1300" b="1" dirty="0">
                <a:solidFill>
                  <a:srgbClr val="7A3B12"/>
                </a:solidFill>
                <a:latin typeface="Segoe UI" pitchFamily="34" charset="0"/>
                <a:ea typeface="Segoe UI" pitchFamily="34" charset="-122"/>
                <a:cs typeface="Segoe UI" pitchFamily="34" charset="-120"/>
              </a:rPr>
              <a:t>Retail Channels · Pricing Governance</a:t>
            </a:r>
            <a:endParaRPr lang="en-US" sz="1300" dirty="0"/>
          </a:p>
        </p:txBody>
      </p:sp>
      <p:sp>
        <p:nvSpPr>
          <p:cNvPr id="39" name="Text 30"/>
          <p:cNvSpPr/>
          <p:nvPr/>
        </p:nvSpPr>
        <p:spPr>
          <a:xfrm>
            <a:off x="3749040" y="5777702"/>
            <a:ext cx="7619695" cy="476794"/>
          </a:xfrm>
          <a:prstGeom prst="rect">
            <a:avLst/>
          </a:prstGeom>
          <a:noFill/>
          <a:ln/>
        </p:spPr>
        <p:txBody>
          <a:bodyPr wrap="square" rtlCol="0" anchor="ctr"/>
          <a:lstStyle/>
          <a:p>
            <a:pPr indent="0" marL="0">
              <a:lnSpc>
                <a:spcPct val="110000"/>
              </a:lnSpc>
              <a:buNone/>
            </a:pPr>
            <a:r>
              <a:rPr lang="en-US" sz="1250" dirty="0">
                <a:solidFill>
                  <a:srgbClr val="1E2235"/>
                </a:solidFill>
                <a:latin typeface="Segoe UI" pitchFamily="34" charset="0"/>
                <a:ea typeface="Segoe UI" pitchFamily="34" charset="-122"/>
                <a:cs typeface="Segoe UI" pitchFamily="34" charset="-120"/>
              </a:rPr>
              <a:t>💡 Ask for a change to the skill: when the subsidy agreement has expired, add a “subsidy within validity period” column to the result table, and see how it updates the skill.</a:t>
            </a:r>
            <a:endParaRPr lang="en-US" sz="1250" dirty="0"/>
          </a:p>
        </p:txBody>
      </p:sp>
      <p:sp>
        <p:nvSpPr>
          <p:cNvPr id="40" name="Text 31"/>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5B6079"/>
                </a:solidFill>
                <a:latin typeface="Segoe UI" pitchFamily="34" charset="0"/>
                <a:ea typeface="Segoe UI" pitchFamily="34" charset="-122"/>
                <a:cs typeface="Segoe UI" pitchFamily="34" charset="-120"/>
              </a:rPr>
              <a:t>Microsoft 365 Copilot Cowork</a:t>
            </a:r>
            <a:endParaRPr lang="en-US" sz="900" dirty="0"/>
          </a:p>
        </p:txBody>
      </p:sp>
      <p:sp>
        <p:nvSpPr>
          <p:cNvPr id="41" name="Text 32"/>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5B6079"/>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0080" y="566928"/>
            <a:ext cx="384048" cy="128016"/>
          </a:xfrm>
          <a:prstGeom prst="rect">
            <a:avLst/>
          </a:prstGeom>
          <a:solidFill>
            <a:srgbClr val="22D3EE"/>
          </a:solidFill>
          <a:ln/>
        </p:spPr>
      </p:sp>
      <p:sp>
        <p:nvSpPr>
          <p:cNvPr id="3" name="Text 1"/>
          <p:cNvSpPr/>
          <p:nvPr/>
        </p:nvSpPr>
        <p:spPr>
          <a:xfrm>
            <a:off x="1143000" y="457200"/>
            <a:ext cx="8229600" cy="310896"/>
          </a:xfrm>
          <a:prstGeom prst="rect">
            <a:avLst/>
          </a:prstGeom>
          <a:noFill/>
          <a:ln/>
        </p:spPr>
        <p:txBody>
          <a:bodyPr wrap="square" rtlCol="0" anchor="ctr"/>
          <a:lstStyle/>
          <a:p>
            <a:pPr indent="0" marL="0">
              <a:buNone/>
            </a:pPr>
            <a:r>
              <a:rPr lang="en-US" sz="1200" b="1" spc="200" kern="0" dirty="0">
                <a:solidFill>
                  <a:srgbClr val="22D3EE"/>
                </a:solidFill>
                <a:latin typeface="Segoe UI" pitchFamily="34" charset="0"/>
                <a:ea typeface="Segoe UI" pitchFamily="34" charset="-122"/>
                <a:cs typeface="Segoe UI" pitchFamily="34" charset="-120"/>
              </a:rPr>
              <a:t>TRUST &amp; CONTROL</a:t>
            </a:r>
            <a:endParaRPr lang="en-US" sz="1200" dirty="0"/>
          </a:p>
        </p:txBody>
      </p:sp>
      <p:sp>
        <p:nvSpPr>
          <p:cNvPr id="4" name="Text 2"/>
          <p:cNvSpPr/>
          <p:nvPr/>
        </p:nvSpPr>
        <p:spPr>
          <a:xfrm>
            <a:off x="640080" y="786384"/>
            <a:ext cx="10972800" cy="640080"/>
          </a:xfrm>
          <a:prstGeom prst="rect">
            <a:avLst/>
          </a:prstGeom>
          <a:noFill/>
          <a:ln/>
        </p:spPr>
        <p:txBody>
          <a:bodyPr wrap="square" rtlCol="0" anchor="ctr"/>
          <a:lstStyle/>
          <a:p>
            <a:pPr indent="0" marL="0">
              <a:buNone/>
            </a:pPr>
            <a:r>
              <a:rPr lang="en-US" sz="3000" b="1" dirty="0">
                <a:solidFill>
                  <a:srgbClr val="FFFFFF"/>
                </a:solidFill>
                <a:latin typeface="Segoe UI" pitchFamily="34" charset="0"/>
                <a:ea typeface="Segoe UI" pitchFamily="34" charset="-122"/>
                <a:cs typeface="Segoe UI" pitchFamily="34" charset="-120"/>
              </a:rPr>
              <a:t>Automated — but you're still the decision maker</a:t>
            </a:r>
            <a:endParaRPr lang="en-US" sz="3000" dirty="0"/>
          </a:p>
        </p:txBody>
      </p:sp>
      <p:sp>
        <p:nvSpPr>
          <p:cNvPr id="5" name="Shape 3"/>
          <p:cNvSpPr/>
          <p:nvPr/>
        </p:nvSpPr>
        <p:spPr>
          <a:xfrm>
            <a:off x="640080" y="1874520"/>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6" name="Image 0" descr="preencoded.png">    </p:cNvPr>
          <p:cNvPicPr>
            <a:picLocks noChangeAspect="1"/>
          </p:cNvPicPr>
          <p:nvPr/>
        </p:nvPicPr>
        <p:blipFill>
          <a:blip r:embed="rId2"/>
          <a:stretch>
            <a:fillRect/>
          </a:stretch>
        </p:blipFill>
        <p:spPr>
          <a:xfrm>
            <a:off x="804672" y="2039112"/>
            <a:ext cx="448056" cy="448056"/>
          </a:xfrm>
          <a:prstGeom prst="rect">
            <a:avLst/>
          </a:prstGeom>
        </p:spPr>
      </p:pic>
      <p:sp>
        <p:nvSpPr>
          <p:cNvPr id="7" name="Text 4"/>
          <p:cNvSpPr/>
          <p:nvPr/>
        </p:nvSpPr>
        <p:spPr>
          <a:xfrm>
            <a:off x="1691640" y="1856232"/>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Approval before action</a:t>
            </a:r>
            <a:endParaRPr lang="en-US" sz="1700" dirty="0"/>
          </a:p>
        </p:txBody>
      </p:sp>
      <p:sp>
        <p:nvSpPr>
          <p:cNvPr id="8" name="Text 5"/>
          <p:cNvSpPr/>
          <p:nvPr/>
        </p:nvSpPr>
        <p:spPr>
          <a:xfrm>
            <a:off x="1691640" y="2203704"/>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Medium/high-risk actions show a RISK-LEVEL; sending mail, posting to Teams or creating meetings all open as an editable preview and go out only after approval.</a:t>
            </a:r>
            <a:endParaRPr lang="en-US" sz="1300" dirty="0"/>
          </a:p>
        </p:txBody>
      </p:sp>
      <p:sp>
        <p:nvSpPr>
          <p:cNvPr id="9" name="Shape 6"/>
          <p:cNvSpPr/>
          <p:nvPr/>
        </p:nvSpPr>
        <p:spPr>
          <a:xfrm>
            <a:off x="640080" y="3044952"/>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0" name="Image 1" descr="preencoded.png">    </p:cNvPr>
          <p:cNvPicPr>
            <a:picLocks noChangeAspect="1"/>
          </p:cNvPicPr>
          <p:nvPr/>
        </p:nvPicPr>
        <p:blipFill>
          <a:blip r:embed="rId3"/>
          <a:stretch>
            <a:fillRect/>
          </a:stretch>
        </p:blipFill>
        <p:spPr>
          <a:xfrm>
            <a:off x="804672" y="3209544"/>
            <a:ext cx="448056" cy="448056"/>
          </a:xfrm>
          <a:prstGeom prst="rect">
            <a:avLst/>
          </a:prstGeom>
        </p:spPr>
      </p:pic>
      <p:sp>
        <p:nvSpPr>
          <p:cNvPr id="11" name="Text 7"/>
          <p:cNvSpPr/>
          <p:nvPr/>
        </p:nvSpPr>
        <p:spPr>
          <a:xfrm>
            <a:off x="1691640" y="3026664"/>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Scope you control</a:t>
            </a:r>
            <a:endParaRPr lang="en-US" sz="1700" dirty="0"/>
          </a:p>
        </p:txBody>
      </p:sp>
      <p:sp>
        <p:nvSpPr>
          <p:cNvPr id="12" name="Text 8"/>
          <p:cNvSpPr/>
          <p:nvPr/>
        </p:nvSpPr>
        <p:spPr>
          <a:xfrm>
            <a:off x="1691640" y="3374136"/>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Don't-ask-again can be limited to a recipient, a domain, or always; tasks can be soft/hard paused, resumed or cancelled.</a:t>
            </a:r>
            <a:endParaRPr lang="en-US" sz="1300" dirty="0"/>
          </a:p>
        </p:txBody>
      </p:sp>
      <p:sp>
        <p:nvSpPr>
          <p:cNvPr id="13" name="Shape 9"/>
          <p:cNvSpPr/>
          <p:nvPr/>
        </p:nvSpPr>
        <p:spPr>
          <a:xfrm>
            <a:off x="640080" y="4215384"/>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4" name="Image 2" descr="preencoded.png">    </p:cNvPr>
          <p:cNvPicPr>
            <a:picLocks noChangeAspect="1"/>
          </p:cNvPicPr>
          <p:nvPr/>
        </p:nvPicPr>
        <p:blipFill>
          <a:blip r:embed="rId4"/>
          <a:stretch>
            <a:fillRect/>
          </a:stretch>
        </p:blipFill>
        <p:spPr>
          <a:xfrm>
            <a:off x="804672" y="4379976"/>
            <a:ext cx="448056" cy="448056"/>
          </a:xfrm>
          <a:prstGeom prst="rect">
            <a:avLst/>
          </a:prstGeom>
        </p:spPr>
      </p:pic>
      <p:sp>
        <p:nvSpPr>
          <p:cNvPr id="15" name="Text 10"/>
          <p:cNvSpPr/>
          <p:nvPr/>
        </p:nvSpPr>
        <p:spPr>
          <a:xfrm>
            <a:off x="1691640" y="4197096"/>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Automated tasks have guardrails too</a:t>
            </a:r>
            <a:endParaRPr lang="en-US" sz="1700" dirty="0"/>
          </a:p>
        </p:txBody>
      </p:sp>
      <p:sp>
        <p:nvSpPr>
          <p:cNvPr id="16" name="Text 11"/>
          <p:cNvSpPr/>
          <p:nvPr/>
        </p:nvSpPr>
        <p:spPr>
          <a:xfrm>
            <a:off x="1691640" y="4544568"/>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Scheduled prompts and event-driven tasks have run-frequency limits and loop protection; they always run with the creator's permissions, and are recorded in the unified audit log alongside all other Cowork activity, under Microsoft Purview policy.</a:t>
            </a:r>
            <a:endParaRPr lang="en-US" sz="1300" dirty="0"/>
          </a:p>
        </p:txBody>
      </p:sp>
      <p:sp>
        <p:nvSpPr>
          <p:cNvPr id="17" name="Shape 12"/>
          <p:cNvSpPr/>
          <p:nvPr/>
        </p:nvSpPr>
        <p:spPr>
          <a:xfrm>
            <a:off x="640080" y="5385816"/>
            <a:ext cx="777240" cy="777240"/>
          </a:xfrm>
          <a:prstGeom prst="roundRect">
            <a:avLst>
              <a:gd name="adj" fmla="val 18824"/>
            </a:avLst>
          </a:prstGeom>
          <a:solidFill>
            <a:srgbClr val="FFFFFF">
              <a:alpha val="14000"/>
            </a:srgbClr>
          </a:solidFill>
          <a:ln w="12700">
            <a:solidFill>
              <a:srgbClr val="22D3EE">
                <a:alpha val="60000"/>
              </a:srgbClr>
            </a:solidFill>
            <a:prstDash val="solid"/>
          </a:ln>
        </p:spPr>
      </p:sp>
      <p:pic>
        <p:nvPicPr>
          <p:cNvPr id="18" name="Image 3" descr="preencoded.png">    </p:cNvPr>
          <p:cNvPicPr>
            <a:picLocks noChangeAspect="1"/>
          </p:cNvPicPr>
          <p:nvPr/>
        </p:nvPicPr>
        <p:blipFill>
          <a:blip r:embed="rId5"/>
          <a:stretch>
            <a:fillRect/>
          </a:stretch>
        </p:blipFill>
        <p:spPr>
          <a:xfrm>
            <a:off x="804672" y="5550408"/>
            <a:ext cx="448056" cy="448056"/>
          </a:xfrm>
          <a:prstGeom prst="rect">
            <a:avLst/>
          </a:prstGeom>
        </p:spPr>
      </p:pic>
      <p:sp>
        <p:nvSpPr>
          <p:cNvPr id="19" name="Text 13"/>
          <p:cNvSpPr/>
          <p:nvPr/>
        </p:nvSpPr>
        <p:spPr>
          <a:xfrm>
            <a:off x="1691640" y="5367528"/>
            <a:ext cx="6858000" cy="347472"/>
          </a:xfrm>
          <a:prstGeom prst="rect">
            <a:avLst/>
          </a:prstGeom>
          <a:noFill/>
          <a:ln/>
        </p:spPr>
        <p:txBody>
          <a:bodyPr wrap="square" rtlCol="0" anchor="ctr"/>
          <a:lstStyle/>
          <a:p>
            <a:pPr indent="0" marL="0">
              <a:buNone/>
            </a:pPr>
            <a:r>
              <a:rPr lang="en-US" sz="1700" b="1" dirty="0">
                <a:solidFill>
                  <a:srgbClr val="FFFFFF"/>
                </a:solidFill>
                <a:latin typeface="Segoe UI" pitchFamily="34" charset="0"/>
                <a:ea typeface="Segoe UI" pitchFamily="34" charset="-122"/>
                <a:cs typeface="Segoe UI" pitchFamily="34" charset="-120"/>
              </a:rPr>
              <a:t>Know the limits</a:t>
            </a:r>
            <a:endParaRPr lang="en-US" sz="1700" dirty="0"/>
          </a:p>
        </p:txBody>
      </p:sp>
      <p:sp>
        <p:nvSpPr>
          <p:cNvPr id="20" name="Text 14"/>
          <p:cNvSpPr/>
          <p:nvPr/>
        </p:nvSpPr>
        <p:spPr>
          <a:xfrm>
            <a:off x="1691640" y="5715000"/>
            <a:ext cx="9966960" cy="658368"/>
          </a:xfrm>
          <a:prstGeom prst="rect">
            <a:avLst/>
          </a:prstGeom>
          <a:noFill/>
          <a:ln/>
        </p:spPr>
        <p:txBody>
          <a:bodyPr wrap="square" rtlCol="0" anchor="ctr"/>
          <a:lstStyle/>
          <a:p>
            <a:pPr indent="0" marL="0">
              <a:lnSpc>
                <a:spcPct val="118000"/>
              </a:lnSpc>
              <a:buNone/>
            </a:pPr>
            <a:r>
              <a:rPr lang="en-US" sz="1300" dirty="0">
                <a:solidFill>
                  <a:srgbClr val="C7CAEC"/>
                </a:solidFill>
                <a:latin typeface="Segoe UI" pitchFamily="34" charset="0"/>
                <a:ea typeface="Segoe UI" pitchFamily="34" charset="-122"/>
                <a:cs typeface="Segoe UI" pitchFamily="34" charset="-120"/>
              </a:rPr>
              <a:t>No access to local files, no deleting OneDrive/SharePoint files, no reading encrypted files; attachments under 200MB; custom skills and third-party plugins aren't validated by Microsoft, so review the output yourself. Microsoft explicitly lists it as unsuitable where accuracy must be guaranteed without human review.</a:t>
            </a:r>
            <a:endParaRPr lang="en-US" sz="1300" dirty="0"/>
          </a:p>
        </p:txBody>
      </p:sp>
      <p:sp>
        <p:nvSpPr>
          <p:cNvPr id="21" name="Text 15"/>
          <p:cNvSpPr/>
          <p:nvPr/>
        </p:nvSpPr>
        <p:spPr>
          <a:xfrm>
            <a:off x="640080" y="6473952"/>
            <a:ext cx="5486400" cy="274320"/>
          </a:xfrm>
          <a:prstGeom prst="rect">
            <a:avLst/>
          </a:prstGeom>
          <a:noFill/>
          <a:ln/>
        </p:spPr>
        <p:txBody>
          <a:bodyPr wrap="square" rtlCol="0" anchor="ctr"/>
          <a:lstStyle/>
          <a:p>
            <a:pPr algn="l" indent="0" marL="0">
              <a:buNone/>
            </a:pPr>
            <a:r>
              <a:rPr lang="en-US" sz="900" dirty="0">
                <a:solidFill>
                  <a:srgbClr val="8A8FB5"/>
                </a:solidFill>
                <a:latin typeface="Segoe UI" pitchFamily="34" charset="0"/>
                <a:ea typeface="Segoe UI" pitchFamily="34" charset="-122"/>
                <a:cs typeface="Segoe UI" pitchFamily="34" charset="-120"/>
              </a:rPr>
              <a:t>Microsoft 365 Copilot Cowork</a:t>
            </a:r>
            <a:endParaRPr lang="en-US" sz="900" dirty="0"/>
          </a:p>
        </p:txBody>
      </p:sp>
      <p:sp>
        <p:nvSpPr>
          <p:cNvPr id="22" name="Text 16"/>
          <p:cNvSpPr/>
          <p:nvPr/>
        </p:nvSpPr>
        <p:spPr>
          <a:xfrm>
            <a:off x="11002975" y="6473952"/>
            <a:ext cx="548640" cy="274320"/>
          </a:xfrm>
          <a:prstGeom prst="rect">
            <a:avLst/>
          </a:prstGeom>
          <a:noFill/>
          <a:ln/>
        </p:spPr>
        <p:txBody>
          <a:bodyPr wrap="square" rtlCol="0" anchor="ctr"/>
          <a:lstStyle/>
          <a:p>
            <a:pPr algn="r" indent="0" marL="0">
              <a:buNone/>
            </a:pPr>
            <a:r>
              <a:rPr lang="en-US" sz="900" dirty="0">
                <a:solidFill>
                  <a:srgbClr val="8A8FB5"/>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1554480"/>
            <a:ext cx="10058400" cy="822960"/>
          </a:xfrm>
          <a:prstGeom prst="rect">
            <a:avLst/>
          </a:prstGeom>
          <a:noFill/>
          <a:ln/>
        </p:spPr>
        <p:txBody>
          <a:bodyPr wrap="square"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Start practising now</a:t>
            </a:r>
            <a:endParaRPr lang="en-US" sz="4000" dirty="0"/>
          </a:p>
        </p:txBody>
      </p:sp>
      <p:sp>
        <p:nvSpPr>
          <p:cNvPr id="3" name="Shape 1"/>
          <p:cNvSpPr/>
          <p:nvPr/>
        </p:nvSpPr>
        <p:spPr>
          <a:xfrm>
            <a:off x="640080" y="2606040"/>
            <a:ext cx="8686800" cy="868680"/>
          </a:xfrm>
          <a:prstGeom prst="roundRect">
            <a:avLst>
              <a:gd name="adj" fmla="val 12632"/>
            </a:avLst>
          </a:prstGeom>
          <a:solidFill>
            <a:srgbClr val="FFFFFF">
              <a:alpha val="10000"/>
            </a:srgbClr>
          </a:solidFill>
          <a:ln w="12700">
            <a:solidFill>
              <a:srgbClr val="FFFFFF">
                <a:alpha val="35000"/>
              </a:srgbClr>
            </a:solidFill>
            <a:prstDash val="solid"/>
          </a:ln>
        </p:spPr>
      </p:sp>
      <p:pic>
        <p:nvPicPr>
          <p:cNvPr id="4" name="Image 0" descr="preencoded.png">    </p:cNvPr>
          <p:cNvPicPr>
            <a:picLocks noChangeAspect="1"/>
          </p:cNvPicPr>
          <p:nvPr/>
        </p:nvPicPr>
        <p:blipFill>
          <a:blip r:embed="rId2"/>
          <a:stretch>
            <a:fillRect/>
          </a:stretch>
        </p:blipFill>
        <p:spPr>
          <a:xfrm>
            <a:off x="914400" y="2880360"/>
            <a:ext cx="329184" cy="329184"/>
          </a:xfrm>
          <a:prstGeom prst="rect">
            <a:avLst/>
          </a:prstGeom>
        </p:spPr>
      </p:pic>
      <p:sp>
        <p:nvSpPr>
          <p:cNvPr id="5" name="Text 2"/>
          <p:cNvSpPr/>
          <p:nvPr/>
        </p:nvSpPr>
        <p:spPr>
          <a:xfrm>
            <a:off x="1417320" y="2715768"/>
            <a:ext cx="7315200" cy="320040"/>
          </a:xfrm>
          <a:prstGeom prst="rect">
            <a:avLst/>
          </a:prstGeom>
          <a:noFill/>
          <a:ln/>
        </p:spPr>
        <p:txBody>
          <a:bodyPr wrap="square"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Cowork Playbook</a:t>
            </a:r>
            <a:endParaRPr lang="en-US" sz="1400" dirty="0"/>
          </a:p>
        </p:txBody>
      </p:sp>
      <p:sp>
        <p:nvSpPr>
          <p:cNvPr id="6" name="Text 3">
            <a:hlinkClick r:id="rId3" tooltip=""/>
          </p:cNvPr>
          <p:cNvSpPr/>
          <p:nvPr/>
        </p:nvSpPr>
        <p:spPr>
          <a:xfrm>
            <a:off x="1417320" y="3008376"/>
            <a:ext cx="7772400" cy="320040"/>
          </a:xfrm>
          <a:prstGeom prst="rect">
            <a:avLst/>
          </a:prstGeom>
          <a:noFill/>
          <a:ln/>
        </p:spPr>
        <p:txBody>
          <a:bodyPr wrap="square" rtlCol="0" anchor="ctr"/>
          <a:lstStyle/>
          <a:p>
            <a:pPr indent="0" marL="0">
              <a:buNone/>
            </a:pPr>
            <a:r>
              <a:rPr lang="en-US" sz="1300" u="sng" dirty="0">
                <a:solidFill>
                  <a:srgbClr val="9FE9FF"/>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aka.ms/CoworkPlaybook</a:t>
            </a:r>
            <a:endParaRPr lang="en-US" sz="1300" dirty="0"/>
          </a:p>
        </p:txBody>
      </p:sp>
      <p:pic>
        <p:nvPicPr>
          <p:cNvPr id="7" name="Image 1" descr="preencoded.png">    </p:cNvPr>
          <p:cNvPicPr>
            <a:picLocks noChangeAspect="1"/>
          </p:cNvPicPr>
          <p:nvPr/>
        </p:nvPicPr>
        <p:blipFill>
          <a:blip r:embed="rId4"/>
          <a:stretch>
            <a:fillRect/>
          </a:stretch>
        </p:blipFill>
        <p:spPr>
          <a:xfrm>
            <a:off x="640080" y="3950208"/>
            <a:ext cx="237744" cy="237744"/>
          </a:xfrm>
          <a:prstGeom prst="rect">
            <a:avLst/>
          </a:prstGeom>
        </p:spPr>
      </p:pic>
      <p:sp>
        <p:nvSpPr>
          <p:cNvPr id="8" name="Text 4"/>
          <p:cNvSpPr/>
          <p:nvPr/>
        </p:nvSpPr>
        <p:spPr>
          <a:xfrm>
            <a:off x="1005840" y="3895344"/>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Start with the scenario closest to your own work</a:t>
            </a:r>
            <a:endParaRPr lang="en-US" sz="1400" dirty="0"/>
          </a:p>
        </p:txBody>
      </p:sp>
      <p:pic>
        <p:nvPicPr>
          <p:cNvPr id="9" name="Image 2" descr="preencoded.png">    </p:cNvPr>
          <p:cNvPicPr>
            <a:picLocks noChangeAspect="1"/>
          </p:cNvPicPr>
          <p:nvPr/>
        </p:nvPicPr>
        <p:blipFill>
          <a:blip r:embed="rId5"/>
          <a:stretch>
            <a:fillRect/>
          </a:stretch>
        </p:blipFill>
        <p:spPr>
          <a:xfrm>
            <a:off x="640080" y="4425696"/>
            <a:ext cx="237744" cy="237744"/>
          </a:xfrm>
          <a:prstGeom prst="rect">
            <a:avLst/>
          </a:prstGeom>
        </p:spPr>
      </p:pic>
      <p:sp>
        <p:nvSpPr>
          <p:cNvPr id="10" name="Text 5"/>
          <p:cNvSpPr/>
          <p:nvPr/>
        </p:nvSpPr>
        <p:spPr>
          <a:xfrm>
            <a:off x="1005840" y="4370832"/>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Custom skills live in OneDrive at /Documents/Cowork/skills/ as SKILL.md (up to 50, 1MB each)</a:t>
            </a:r>
            <a:endParaRPr lang="en-US" sz="1400" dirty="0"/>
          </a:p>
        </p:txBody>
      </p:sp>
      <p:pic>
        <p:nvPicPr>
          <p:cNvPr id="11" name="Image 3" descr="preencoded.png">    </p:cNvPr>
          <p:cNvPicPr>
            <a:picLocks noChangeAspect="1"/>
          </p:cNvPicPr>
          <p:nvPr/>
        </p:nvPicPr>
        <p:blipFill>
          <a:blip r:embed="rId6"/>
          <a:stretch>
            <a:fillRect/>
          </a:stretch>
        </p:blipFill>
        <p:spPr>
          <a:xfrm>
            <a:off x="640080" y="4901184"/>
            <a:ext cx="237744" cy="237744"/>
          </a:xfrm>
          <a:prstGeom prst="rect">
            <a:avLst/>
          </a:prstGeom>
        </p:spPr>
      </p:pic>
      <p:sp>
        <p:nvSpPr>
          <p:cNvPr id="12" name="Text 6"/>
          <p:cNvSpPr/>
          <p:nvPr/>
        </p:nvSpPr>
        <p:spPr>
          <a:xfrm>
            <a:off x="1005840" y="4846320"/>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Model picker: Auto (default), GPT 5.5 Frontier, GPT 5.6 Sol/Terra, GPT 6 Astra, Opus 5, Claude Sonnet 5, Claude Fable 5.1</a:t>
            </a:r>
            <a:endParaRPr lang="en-US" sz="1400" dirty="0"/>
          </a:p>
        </p:txBody>
      </p:sp>
      <p:pic>
        <p:nvPicPr>
          <p:cNvPr id="13" name="Image 4" descr="preencoded.png">    </p:cNvPr>
          <p:cNvPicPr>
            <a:picLocks noChangeAspect="1"/>
          </p:cNvPicPr>
          <p:nvPr/>
        </p:nvPicPr>
        <p:blipFill>
          <a:blip r:embed="rId7"/>
          <a:stretch>
            <a:fillRect/>
          </a:stretch>
        </p:blipFill>
        <p:spPr>
          <a:xfrm>
            <a:off x="640080" y="5376672"/>
            <a:ext cx="237744" cy="237744"/>
          </a:xfrm>
          <a:prstGeom prst="rect">
            <a:avLst/>
          </a:prstGeom>
        </p:spPr>
      </p:pic>
      <p:sp>
        <p:nvSpPr>
          <p:cNvPr id="14" name="Text 7"/>
          <p:cNvSpPr/>
          <p:nvPr/>
        </p:nvSpPr>
        <p:spPr>
          <a:xfrm>
            <a:off x="1005840" y="5321808"/>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Effort: Light / Medium (default) / High / Extra High / Max — higher is more thorough, but slower and uses more credits</a:t>
            </a:r>
            <a:endParaRPr lang="en-US" sz="1400" dirty="0"/>
          </a:p>
        </p:txBody>
      </p:sp>
      <p:pic>
        <p:nvPicPr>
          <p:cNvPr id="15" name="Image 5" descr="preencoded.png">    </p:cNvPr>
          <p:cNvPicPr>
            <a:picLocks noChangeAspect="1"/>
          </p:cNvPicPr>
          <p:nvPr/>
        </p:nvPicPr>
        <p:blipFill>
          <a:blip r:embed="rId8"/>
          <a:stretch>
            <a:fillRect/>
          </a:stretch>
        </p:blipFill>
        <p:spPr>
          <a:xfrm>
            <a:off x="640080" y="5852160"/>
            <a:ext cx="237744" cy="237744"/>
          </a:xfrm>
          <a:prstGeom prst="rect">
            <a:avLst/>
          </a:prstGeom>
        </p:spPr>
      </p:pic>
      <p:sp>
        <p:nvSpPr>
          <p:cNvPr id="16" name="Text 8"/>
          <p:cNvSpPr/>
          <p:nvPr/>
        </p:nvSpPr>
        <p:spPr>
          <a:xfrm>
            <a:off x="1005840" y="5797296"/>
            <a:ext cx="9144000" cy="365760"/>
          </a:xfrm>
          <a:prstGeom prst="rect">
            <a:avLst/>
          </a:prstGeom>
          <a:noFill/>
          <a:ln/>
        </p:spPr>
        <p:txBody>
          <a:bodyPr wrap="square" rtlCol="0" anchor="ctr"/>
          <a:lstStyle/>
          <a:p>
            <a:pPr indent="0" marL="0">
              <a:buNone/>
            </a:pPr>
            <a:r>
              <a:rPr lang="en-US" sz="1400" dirty="0">
                <a:solidFill>
                  <a:srgbClr val="E3E5F7"/>
                </a:solidFill>
                <a:latin typeface="Segoe UI" pitchFamily="34" charset="0"/>
                <a:ea typeface="Segoe UI" pitchFamily="34" charset="-122"/>
                <a:cs typeface="Segoe UI" pitchFamily="34" charset="-120"/>
              </a:rPr>
              <a:t>Want it to fire by itself? Set a scheduled prompt (up to 25) or an event-driven task (incoming mail / @mention) on the "Automations" page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2377440"/>
            <a:ext cx="10058400" cy="1097280"/>
          </a:xfrm>
          <a:prstGeom prst="rect">
            <a:avLst/>
          </a:prstGeom>
          <a:noFill/>
          <a:ln/>
        </p:spPr>
        <p:txBody>
          <a:bodyPr wrap="square" rtlCol="0" anchor="ctr"/>
          <a:lstStyle/>
          <a:p>
            <a:pPr indent="0" marL="0">
              <a:buNone/>
            </a:pPr>
            <a:r>
              <a:rPr lang="en-US" sz="6000" b="1" dirty="0">
                <a:solidFill>
                  <a:srgbClr val="FFFFFF"/>
                </a:solidFill>
                <a:latin typeface="Segoe UI" pitchFamily="34" charset="0"/>
                <a:ea typeface="Segoe UI" pitchFamily="34" charset="-122"/>
                <a:cs typeface="Segoe UI" pitchFamily="34" charset="-120"/>
              </a:rPr>
              <a:t>Thank you</a:t>
            </a:r>
            <a:endParaRPr lang="en-US" sz="6000" dirty="0"/>
          </a:p>
        </p:txBody>
      </p:sp>
      <p:sp>
        <p:nvSpPr>
          <p:cNvPr id="3" name="Text 1"/>
          <p:cNvSpPr/>
          <p:nvPr/>
        </p:nvSpPr>
        <p:spPr>
          <a:xfrm>
            <a:off x="640080" y="3611880"/>
            <a:ext cx="10058400" cy="548640"/>
          </a:xfrm>
          <a:prstGeom prst="rect">
            <a:avLst/>
          </a:prstGeom>
          <a:noFill/>
          <a:ln/>
        </p:spPr>
        <p:txBody>
          <a:bodyPr wrap="square" rtlCol="0" anchor="ctr"/>
          <a:lstStyle/>
          <a:p>
            <a:pPr indent="0" marL="0">
              <a:buNone/>
            </a:pPr>
            <a:r>
              <a:rPr lang="en-US" sz="1800" dirty="0">
                <a:solidFill>
                  <a:srgbClr val="C7CAEC"/>
                </a:solidFill>
                <a:latin typeface="Segoe UI" pitchFamily="34" charset="0"/>
                <a:ea typeface="Segoe UI" pitchFamily="34" charset="-122"/>
                <a:cs typeface="Segoe UI" pitchFamily="34" charset="-120"/>
              </a:rPr>
              <a:t>From asking to delegating — you set the standard, Cowork does the work.</a:t>
            </a:r>
            <a:endParaRPr lang="en-US" sz="1800" dirty="0"/>
          </a:p>
        </p:txBody>
      </p:sp>
      <p:sp>
        <p:nvSpPr>
          <p:cNvPr id="4" name="Shape 2"/>
          <p:cNvSpPr/>
          <p:nvPr/>
        </p:nvSpPr>
        <p:spPr>
          <a:xfrm>
            <a:off x="640080" y="4389120"/>
            <a:ext cx="3200400" cy="0"/>
          </a:xfrm>
          <a:prstGeom prst="line">
            <a:avLst/>
          </a:prstGeom>
          <a:noFill/>
          <a:ln w="12700">
            <a:solidFill>
              <a:srgbClr val="FFFFFF">
                <a:alpha val="30000"/>
              </a:srgbClr>
            </a:solidFill>
            <a:prstDash val="solid"/>
          </a:ln>
        </p:spPr>
      </p:sp>
      <p:sp>
        <p:nvSpPr>
          <p:cNvPr id="5" name="Text 3"/>
          <p:cNvSpPr/>
          <p:nvPr/>
        </p:nvSpPr>
        <p:spPr>
          <a:xfrm>
            <a:off x="640080" y="4526280"/>
            <a:ext cx="10058400" cy="365760"/>
          </a:xfrm>
          <a:prstGeom prst="rect">
            <a:avLst/>
          </a:prstGeom>
          <a:noFill/>
          <a:ln/>
        </p:spPr>
        <p:txBody>
          <a:bodyPr wrap="square" rtlCol="0" anchor="ctr"/>
          <a:lstStyle/>
          <a:p>
            <a:pPr indent="0" marL="0">
              <a:buNone/>
            </a:pPr>
            <a:r>
              <a:rPr lang="en-US" sz="1200" dirty="0">
                <a:solidFill>
                  <a:srgbClr val="9FA3CC"/>
                </a:solidFill>
                <a:latin typeface="Segoe UI" pitchFamily="34" charset="0"/>
                <a:ea typeface="Segoe UI" pitchFamily="34" charset="-122"/>
                <a:cs typeface="Segoe UI" pitchFamily="34" charset="-120"/>
              </a:rPr>
              <a:t>Microsoft 365 Copilot Cowork · Training deck</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365 Copilot Cowork Training</dc:title>
  <dc:subject>PptxGenJS Presentation</dc:subject>
  <dc:creator>Andy Hung</dc:creator>
  <cp:lastModifiedBy>Andy Hung</cp:lastModifiedBy>
  <cp:revision>1</cp:revision>
  <dcterms:created xsi:type="dcterms:W3CDTF">2026-10-16T13:42:50Z</dcterms:created>
  <dcterms:modified xsi:type="dcterms:W3CDTF">2026-10-16T13:42:50Z</dcterms:modified>
</cp:coreProperties>
</file>