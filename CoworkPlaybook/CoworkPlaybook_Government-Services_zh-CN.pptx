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aka.ms/CoworkPlaybook" TargetMode="External"/><Relationship Id="rId1" Type="http://schemas.openxmlformats.org/officeDocument/2006/relationships/image" Target="../media/Slide-25-image-1.png"/><Relationship Id="rId2"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6.png"/><Relationship Id="rId8" Type="http://schemas.openxmlformats.org/officeDocument/2006/relationships/image" Target="../media/image-25-7.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371600"/>
            <a:ext cx="2788920" cy="457200"/>
          </a:xfrm>
          <a:prstGeom prst="roundRect">
            <a:avLst>
              <a:gd name="adj" fmla="val 50000"/>
            </a:avLst>
          </a:prstGeom>
          <a:solidFill>
            <a:srgbClr val="FFFFFF">
              <a:alpha val="12000"/>
            </a:srgbClr>
          </a:solidFill>
          <a:ln w="12700">
            <a:solidFill>
              <a:srgbClr val="FFFFFF">
                <a:alpha val="30000"/>
              </a:srgbClr>
            </a:solidFill>
            <a:prstDash val="solid"/>
          </a:ln>
        </p:spPr>
      </p:sp>
      <p:pic>
        <p:nvPicPr>
          <p:cNvPr id="3" name="Image 0" descr="preencoded.png">    </p:cNvPr>
          <p:cNvPicPr>
            <a:picLocks noChangeAspect="1"/>
          </p:cNvPicPr>
          <p:nvPr/>
        </p:nvPicPr>
        <p:blipFill>
          <a:blip r:embed="rId2"/>
          <a:stretch>
            <a:fillRect/>
          </a:stretch>
        </p:blipFill>
        <p:spPr>
          <a:xfrm>
            <a:off x="841248" y="1481328"/>
            <a:ext cx="237744" cy="237744"/>
          </a:xfrm>
          <a:prstGeom prst="rect">
            <a:avLst/>
          </a:prstGeom>
        </p:spPr>
      </p:pic>
      <p:sp>
        <p:nvSpPr>
          <p:cNvPr id="4" name="Text 1"/>
          <p:cNvSpPr/>
          <p:nvPr/>
        </p:nvSpPr>
        <p:spPr>
          <a:xfrm>
            <a:off x="1143000" y="1371600"/>
            <a:ext cx="2377440" cy="45720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Microsoft 365 Copilot</a:t>
            </a:r>
            <a:endParaRPr lang="en-US" sz="1300" dirty="0"/>
          </a:p>
        </p:txBody>
      </p:sp>
      <p:sp>
        <p:nvSpPr>
          <p:cNvPr id="5" name="Text 2"/>
          <p:cNvSpPr/>
          <p:nvPr/>
        </p:nvSpPr>
        <p:spPr>
          <a:xfrm>
            <a:off x="603504" y="1874520"/>
            <a:ext cx="10058400" cy="1280160"/>
          </a:xfrm>
          <a:prstGeom prst="rect">
            <a:avLst/>
          </a:prstGeom>
          <a:noFill/>
          <a:ln/>
        </p:spPr>
        <p:txBody>
          <a:bodyPr wrap="square" rtlCol="0" anchor="ctr"/>
          <a:lstStyle/>
          <a:p>
            <a:pPr indent="0" marL="0">
              <a:buNone/>
            </a:pPr>
            <a:r>
              <a:rPr lang="en-US" sz="8400" b="1" dirty="0">
                <a:solidFill>
                  <a:srgbClr val="FFFFFF"/>
                </a:solidFill>
                <a:latin typeface="Microsoft YaHei" pitchFamily="34" charset="0"/>
                <a:ea typeface="Microsoft YaHei" pitchFamily="34" charset="-122"/>
                <a:cs typeface="Microsoft YaHei" pitchFamily="34" charset="-120"/>
              </a:rPr>
              <a:t>Cowork</a:t>
            </a:r>
            <a:endParaRPr lang="en-US" sz="8400" dirty="0"/>
          </a:p>
        </p:txBody>
      </p:sp>
      <p:sp>
        <p:nvSpPr>
          <p:cNvPr id="6" name="Text 3"/>
          <p:cNvSpPr/>
          <p:nvPr/>
        </p:nvSpPr>
        <p:spPr>
          <a:xfrm>
            <a:off x="640080" y="3154680"/>
            <a:ext cx="10058400" cy="731520"/>
          </a:xfrm>
          <a:prstGeom prst="rect">
            <a:avLst/>
          </a:prstGeom>
          <a:noFill/>
          <a:ln/>
        </p:spPr>
        <p:txBody>
          <a:bodyPr wrap="square" rtlCol="0" anchor="ctr"/>
          <a:lstStyle/>
          <a:p>
            <a:pPr indent="0" marL="0">
              <a:buNone/>
            </a:pPr>
            <a:r>
              <a:rPr lang="en-US" sz="3400" b="1" dirty="0">
                <a:solidFill>
                  <a:srgbClr val="CFC9FF"/>
                </a:solidFill>
                <a:latin typeface="Microsoft YaHei" pitchFamily="34" charset="0"/>
                <a:ea typeface="Microsoft YaHei" pitchFamily="34" charset="-122"/>
                <a:cs typeface="Microsoft YaHei" pitchFamily="34" charset="-120"/>
              </a:rPr>
              <a:t>代理式 AI 的实战工作流</a:t>
            </a:r>
            <a:endParaRPr lang="en-US" sz="3400" dirty="0"/>
          </a:p>
        </p:txBody>
      </p:sp>
      <p:sp>
        <p:nvSpPr>
          <p:cNvPr id="7" name="Text 4"/>
          <p:cNvSpPr/>
          <p:nvPr/>
        </p:nvSpPr>
        <p:spPr>
          <a:xfrm>
            <a:off x="640080" y="3977640"/>
            <a:ext cx="9601200" cy="548640"/>
          </a:xfrm>
          <a:prstGeom prst="rect">
            <a:avLst/>
          </a:prstGeom>
          <a:noFill/>
          <a:ln/>
        </p:spPr>
        <p:txBody>
          <a:bodyPr wrap="square" rtlCol="0" anchor="ctr"/>
          <a:lstStyle/>
          <a:p>
            <a:pPr indent="0" marL="0">
              <a:buNone/>
            </a:pPr>
            <a:r>
              <a:rPr lang="en-US" sz="1600" dirty="0">
                <a:solidFill>
                  <a:srgbClr val="B9BCE0"/>
                </a:solidFill>
                <a:latin typeface="Microsoft YaHei" pitchFamily="34" charset="0"/>
                <a:ea typeface="Microsoft YaHei" pitchFamily="34" charset="-122"/>
                <a:cs typeface="Microsoft YaHei" pitchFamily="34" charset="-120"/>
              </a:rPr>
              <a:t>从 7 个公共服务的真实场景，看 Copilot 如何跨应用多步执行，并在中高风险操作前显示风险等级、等你批准</a:t>
            </a:r>
            <a:endParaRPr lang="en-US" sz="1600" dirty="0"/>
          </a:p>
        </p:txBody>
      </p:sp>
      <p:sp>
        <p:nvSpPr>
          <p:cNvPr id="8" name="Shape 5"/>
          <p:cNvSpPr/>
          <p:nvPr/>
        </p:nvSpPr>
        <p:spPr>
          <a:xfrm>
            <a:off x="640080" y="5074920"/>
            <a:ext cx="3840480" cy="0"/>
          </a:xfrm>
          <a:prstGeom prst="line">
            <a:avLst/>
          </a:prstGeom>
          <a:noFill/>
          <a:ln w="12700">
            <a:solidFill>
              <a:srgbClr val="FFFFFF">
                <a:alpha val="25000"/>
              </a:srgbClr>
            </a:solidFill>
            <a:prstDash val="solid"/>
          </a:ln>
        </p:spPr>
      </p:sp>
      <p:sp>
        <p:nvSpPr>
          <p:cNvPr id="9" name="Text 6"/>
          <p:cNvSpPr/>
          <p:nvPr/>
        </p:nvSpPr>
        <p:spPr>
          <a:xfrm>
            <a:off x="640080" y="5212080"/>
            <a:ext cx="7315200" cy="365760"/>
          </a:xfrm>
          <a:prstGeom prst="rect">
            <a:avLst/>
          </a:prstGeom>
          <a:noFill/>
          <a:ln/>
        </p:spPr>
        <p:txBody>
          <a:bodyPr wrap="square" rtlCol="0" anchor="ctr"/>
          <a:lstStyle/>
          <a:p>
            <a:pPr indent="0" marL="0">
              <a:buNone/>
            </a:pPr>
            <a:r>
              <a:rPr lang="en-US" sz="1300" dirty="0">
                <a:solidFill>
                  <a:srgbClr val="9FA3CC"/>
                </a:solidFill>
                <a:latin typeface="Microsoft YaHei" pitchFamily="34" charset="0"/>
                <a:ea typeface="Microsoft YaHei" pitchFamily="34" charset="-122"/>
                <a:cs typeface="Microsoft YaHei" pitchFamily="34" charset="-120"/>
              </a:rPr>
              <a:t>培训演示文稿 · 客户分享版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YaHei" pitchFamily="34" charset="0"/>
                <a:ea typeface="Microsoft YaHei" pitchFamily="34" charset="-122"/>
                <a:cs typeface="Microsoft YaHei" pitchFamily="34" charset="-120"/>
              </a:rPr>
              <a:t>AGENDA</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今天的内容</a:t>
            </a:r>
            <a:endParaRPr lang="en-US" sz="3000" dirty="0"/>
          </a:p>
        </p:txBody>
      </p:sp>
      <p:sp>
        <p:nvSpPr>
          <p:cNvPr id="5" name="Text 3"/>
          <p:cNvSpPr/>
          <p:nvPr/>
        </p:nvSpPr>
        <p:spPr>
          <a:xfrm>
            <a:off x="640080" y="16642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YaHei" pitchFamily="34" charset="0"/>
                <a:ea typeface="Microsoft YaHei" pitchFamily="34" charset="-122"/>
                <a:cs typeface="Microsoft YaHei" pitchFamily="34" charset="-120"/>
              </a:rPr>
              <a:t>01</a:t>
            </a:r>
            <a:endParaRPr lang="en-US" sz="3400" dirty="0"/>
          </a:p>
        </p:txBody>
      </p:sp>
      <p:sp>
        <p:nvSpPr>
          <p:cNvPr id="6" name="Text 4"/>
          <p:cNvSpPr/>
          <p:nvPr/>
        </p:nvSpPr>
        <p:spPr>
          <a:xfrm>
            <a:off x="1737360" y="1700784"/>
            <a:ext cx="3657600" cy="457200"/>
          </a:xfrm>
          <a:prstGeom prst="rect">
            <a:avLst/>
          </a:prstGeom>
          <a:noFill/>
          <a:ln/>
        </p:spPr>
        <p:txBody>
          <a:bodyPr wrap="square" rtlCol="0" anchor="ctr"/>
          <a:lstStyle/>
          <a:p>
            <a:pPr indent="0" marL="0">
              <a:buNone/>
            </a:pPr>
            <a:r>
              <a:rPr lang="en-US" sz="1900" b="1" dirty="0">
                <a:solidFill>
                  <a:srgbClr val="1E2235"/>
                </a:solidFill>
                <a:latin typeface="Microsoft YaHei" pitchFamily="34" charset="0"/>
                <a:ea typeface="Microsoft YaHei" pitchFamily="34" charset="-122"/>
                <a:cs typeface="Microsoft YaHei" pitchFamily="34" charset="-120"/>
              </a:rPr>
              <a:t>认识 Cowork</a:t>
            </a:r>
            <a:endParaRPr lang="en-US" sz="1900" dirty="0"/>
          </a:p>
        </p:txBody>
      </p:sp>
      <p:sp>
        <p:nvSpPr>
          <p:cNvPr id="7" name="Text 5"/>
          <p:cNvSpPr/>
          <p:nvPr/>
        </p:nvSpPr>
        <p:spPr>
          <a:xfrm>
            <a:off x="1737360" y="2121408"/>
            <a:ext cx="9601200" cy="365760"/>
          </a:xfrm>
          <a:prstGeom prst="rect">
            <a:avLst/>
          </a:prstGeom>
          <a:noFill/>
          <a:ln/>
        </p:spPr>
        <p:txBody>
          <a:bodyPr wrap="square" rtlCol="0" anchor="ctr"/>
          <a:lstStyle/>
          <a:p>
            <a:pPr indent="0" marL="0">
              <a:buNone/>
            </a:pPr>
            <a:r>
              <a:rPr lang="en-US" sz="1350" dirty="0">
                <a:solidFill>
                  <a:srgbClr val="5B6079"/>
                </a:solidFill>
                <a:latin typeface="Microsoft YaHei" pitchFamily="34" charset="0"/>
                <a:ea typeface="Microsoft YaHei" pitchFamily="34" charset="-122"/>
                <a:cs typeface="Microsoft YaHei" pitchFamily="34" charset="-120"/>
              </a:rPr>
              <a:t>什么是代理式 AI，和一般 Copilot Chat 有什么不同</a:t>
            </a:r>
            <a:endParaRPr lang="en-US" sz="1350" dirty="0"/>
          </a:p>
        </p:txBody>
      </p:sp>
      <p:sp>
        <p:nvSpPr>
          <p:cNvPr id="8" name="Text 6"/>
          <p:cNvSpPr/>
          <p:nvPr/>
        </p:nvSpPr>
        <p:spPr>
          <a:xfrm>
            <a:off x="640080" y="25786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YaHei" pitchFamily="34" charset="0"/>
                <a:ea typeface="Microsoft YaHei" pitchFamily="34" charset="-122"/>
                <a:cs typeface="Microsoft YaHei" pitchFamily="34" charset="-120"/>
              </a:rPr>
              <a:t>02</a:t>
            </a:r>
            <a:endParaRPr lang="en-US" sz="3400" dirty="0"/>
          </a:p>
        </p:txBody>
      </p:sp>
      <p:sp>
        <p:nvSpPr>
          <p:cNvPr id="9" name="Text 7"/>
          <p:cNvSpPr/>
          <p:nvPr/>
        </p:nvSpPr>
        <p:spPr>
          <a:xfrm>
            <a:off x="1737360" y="2615184"/>
            <a:ext cx="3657600" cy="457200"/>
          </a:xfrm>
          <a:prstGeom prst="rect">
            <a:avLst/>
          </a:prstGeom>
          <a:noFill/>
          <a:ln/>
        </p:spPr>
        <p:txBody>
          <a:bodyPr wrap="square" rtlCol="0" anchor="ctr"/>
          <a:lstStyle/>
          <a:p>
            <a:pPr indent="0" marL="0">
              <a:buNone/>
            </a:pPr>
            <a:r>
              <a:rPr lang="en-US" sz="1900" b="1" dirty="0">
                <a:solidFill>
                  <a:srgbClr val="1E2235"/>
                </a:solidFill>
                <a:latin typeface="Microsoft YaHei" pitchFamily="34" charset="0"/>
                <a:ea typeface="Microsoft YaHei" pitchFamily="34" charset="-122"/>
                <a:cs typeface="Microsoft YaHei" pitchFamily="34" charset="-120"/>
              </a:rPr>
              <a:t>核心能力与运作</a:t>
            </a:r>
            <a:endParaRPr lang="en-US" sz="1900" dirty="0"/>
          </a:p>
        </p:txBody>
      </p:sp>
      <p:sp>
        <p:nvSpPr>
          <p:cNvPr id="10" name="Text 8"/>
          <p:cNvSpPr/>
          <p:nvPr/>
        </p:nvSpPr>
        <p:spPr>
          <a:xfrm>
            <a:off x="1737360" y="3035808"/>
            <a:ext cx="9601200" cy="365760"/>
          </a:xfrm>
          <a:prstGeom prst="rect">
            <a:avLst/>
          </a:prstGeom>
          <a:noFill/>
          <a:ln/>
        </p:spPr>
        <p:txBody>
          <a:bodyPr wrap="square" rtlCol="0" anchor="ctr"/>
          <a:lstStyle/>
          <a:p>
            <a:pPr indent="0" marL="0">
              <a:buNone/>
            </a:pPr>
            <a:r>
              <a:rPr lang="en-US" sz="1350" dirty="0">
                <a:solidFill>
                  <a:srgbClr val="5B6079"/>
                </a:solidFill>
                <a:latin typeface="Microsoft YaHei" pitchFamily="34" charset="0"/>
                <a:ea typeface="Microsoft YaHei" pitchFamily="34" charset="-122"/>
                <a:cs typeface="Microsoft YaHei" pitchFamily="34" charset="-120"/>
              </a:rPr>
              <a:t>技能、工作区、操作前审批、自检</a:t>
            </a:r>
            <a:endParaRPr lang="en-US" sz="1350" dirty="0"/>
          </a:p>
        </p:txBody>
      </p:sp>
      <p:sp>
        <p:nvSpPr>
          <p:cNvPr id="11" name="Text 9"/>
          <p:cNvSpPr/>
          <p:nvPr/>
        </p:nvSpPr>
        <p:spPr>
          <a:xfrm>
            <a:off x="640080" y="34930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YaHei" pitchFamily="34" charset="0"/>
                <a:ea typeface="Microsoft YaHei" pitchFamily="34" charset="-122"/>
                <a:cs typeface="Microsoft YaHei" pitchFamily="34" charset="-120"/>
              </a:rPr>
              <a:t>03</a:t>
            </a:r>
            <a:endParaRPr lang="en-US" sz="3400" dirty="0"/>
          </a:p>
        </p:txBody>
      </p:sp>
      <p:sp>
        <p:nvSpPr>
          <p:cNvPr id="12" name="Text 10"/>
          <p:cNvSpPr/>
          <p:nvPr/>
        </p:nvSpPr>
        <p:spPr>
          <a:xfrm>
            <a:off x="1737360" y="3529584"/>
            <a:ext cx="3657600" cy="457200"/>
          </a:xfrm>
          <a:prstGeom prst="rect">
            <a:avLst/>
          </a:prstGeom>
          <a:noFill/>
          <a:ln/>
        </p:spPr>
        <p:txBody>
          <a:bodyPr wrap="square" rtlCol="0" anchor="ctr"/>
          <a:lstStyle/>
          <a:p>
            <a:pPr indent="0" marL="0">
              <a:buNone/>
            </a:pPr>
            <a:r>
              <a:rPr lang="en-US" sz="1900" b="1" dirty="0">
                <a:solidFill>
                  <a:srgbClr val="1E2235"/>
                </a:solidFill>
                <a:latin typeface="Microsoft YaHei" pitchFamily="34" charset="0"/>
                <a:ea typeface="Microsoft YaHei" pitchFamily="34" charset="-122"/>
                <a:cs typeface="Microsoft YaHei" pitchFamily="34" charset="-120"/>
              </a:rPr>
              <a:t>练习环境准备</a:t>
            </a:r>
            <a:endParaRPr lang="en-US" sz="1900" dirty="0"/>
          </a:p>
        </p:txBody>
      </p:sp>
      <p:sp>
        <p:nvSpPr>
          <p:cNvPr id="13" name="Text 11"/>
          <p:cNvSpPr/>
          <p:nvPr/>
        </p:nvSpPr>
        <p:spPr>
          <a:xfrm>
            <a:off x="1737360" y="3950208"/>
            <a:ext cx="9601200" cy="365760"/>
          </a:xfrm>
          <a:prstGeom prst="rect">
            <a:avLst/>
          </a:prstGeom>
          <a:noFill/>
          <a:ln/>
        </p:spPr>
        <p:txBody>
          <a:bodyPr wrap="square" rtlCol="0" anchor="ctr"/>
          <a:lstStyle/>
          <a:p>
            <a:pPr indent="0" marL="0">
              <a:buNone/>
            </a:pPr>
            <a:r>
              <a:rPr lang="en-US" sz="1350" dirty="0">
                <a:solidFill>
                  <a:srgbClr val="5B6079"/>
                </a:solidFill>
                <a:latin typeface="Microsoft YaHei" pitchFamily="34" charset="0"/>
                <a:ea typeface="Microsoft YaHei" pitchFamily="34" charset="-122"/>
                <a:cs typeface="Microsoft YaHei" pitchFamily="34" charset="-120"/>
              </a:rPr>
              <a:t>素材课前放进 OneDrive 和邮箱，让 Cowork 自己去找</a:t>
            </a:r>
            <a:endParaRPr lang="en-US" sz="1350" dirty="0"/>
          </a:p>
        </p:txBody>
      </p:sp>
      <p:sp>
        <p:nvSpPr>
          <p:cNvPr id="14" name="Text 12"/>
          <p:cNvSpPr/>
          <p:nvPr/>
        </p:nvSpPr>
        <p:spPr>
          <a:xfrm>
            <a:off x="640080" y="44074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YaHei" pitchFamily="34" charset="0"/>
                <a:ea typeface="Microsoft YaHei" pitchFamily="34" charset="-122"/>
                <a:cs typeface="Microsoft YaHei" pitchFamily="34" charset="-120"/>
              </a:rPr>
              <a:t>04</a:t>
            </a:r>
            <a:endParaRPr lang="en-US" sz="3400" dirty="0"/>
          </a:p>
        </p:txBody>
      </p:sp>
      <p:sp>
        <p:nvSpPr>
          <p:cNvPr id="15" name="Text 13"/>
          <p:cNvSpPr/>
          <p:nvPr/>
        </p:nvSpPr>
        <p:spPr>
          <a:xfrm>
            <a:off x="1737360" y="4443984"/>
            <a:ext cx="3657600" cy="457200"/>
          </a:xfrm>
          <a:prstGeom prst="rect">
            <a:avLst/>
          </a:prstGeom>
          <a:noFill/>
          <a:ln/>
        </p:spPr>
        <p:txBody>
          <a:bodyPr wrap="square" rtlCol="0" anchor="ctr"/>
          <a:lstStyle/>
          <a:p>
            <a:pPr indent="0" marL="0">
              <a:buNone/>
            </a:pPr>
            <a:r>
              <a:rPr lang="en-US" sz="1900" b="1" dirty="0">
                <a:solidFill>
                  <a:srgbClr val="1E2235"/>
                </a:solidFill>
                <a:latin typeface="Microsoft YaHei" pitchFamily="34" charset="0"/>
                <a:ea typeface="Microsoft YaHei" pitchFamily="34" charset="-122"/>
                <a:cs typeface="Microsoft YaHei" pitchFamily="34" charset="-120"/>
              </a:rPr>
              <a:t>七大实战场景</a:t>
            </a:r>
            <a:endParaRPr lang="en-US" sz="1900" dirty="0"/>
          </a:p>
        </p:txBody>
      </p:sp>
      <p:sp>
        <p:nvSpPr>
          <p:cNvPr id="16" name="Text 14"/>
          <p:cNvSpPr/>
          <p:nvPr/>
        </p:nvSpPr>
        <p:spPr>
          <a:xfrm>
            <a:off x="1737360" y="4864608"/>
            <a:ext cx="9601200" cy="365760"/>
          </a:xfrm>
          <a:prstGeom prst="rect">
            <a:avLst/>
          </a:prstGeom>
          <a:noFill/>
          <a:ln/>
        </p:spPr>
        <p:txBody>
          <a:bodyPr wrap="square" rtlCol="0" anchor="ctr"/>
          <a:lstStyle/>
          <a:p>
            <a:pPr indent="0" marL="0">
              <a:buNone/>
            </a:pPr>
            <a:r>
              <a:rPr lang="en-US" sz="1350" dirty="0">
                <a:solidFill>
                  <a:srgbClr val="5B6079"/>
                </a:solidFill>
                <a:latin typeface="Microsoft YaHei" pitchFamily="34" charset="0"/>
                <a:ea typeface="Microsoft YaHei" pitchFamily="34" charset="-122"/>
                <a:cs typeface="Microsoft YaHei" pitchFamily="34" charset="-120"/>
              </a:rPr>
              <a:t>服务邮箱分流、服务连续性简报、运营会议跟进、容量与预约规划、现场证据核对、无障碍服务流程、服务准备度简报，逐一拆解工作流</a:t>
            </a:r>
            <a:endParaRPr lang="en-US" sz="1350" dirty="0"/>
          </a:p>
        </p:txBody>
      </p:sp>
      <p:sp>
        <p:nvSpPr>
          <p:cNvPr id="17" name="Text 15"/>
          <p:cNvSpPr/>
          <p:nvPr/>
        </p:nvSpPr>
        <p:spPr>
          <a:xfrm>
            <a:off x="640080" y="5321808"/>
            <a:ext cx="1005840" cy="822960"/>
          </a:xfrm>
          <a:prstGeom prst="rect">
            <a:avLst/>
          </a:prstGeom>
          <a:noFill/>
          <a:ln/>
        </p:spPr>
        <p:txBody>
          <a:bodyPr wrap="square" rtlCol="0" anchor="ctr"/>
          <a:lstStyle/>
          <a:p>
            <a:pPr algn="l" indent="0" marL="0">
              <a:buNone/>
            </a:pPr>
            <a:r>
              <a:rPr lang="en-US" sz="3400" b="1" dirty="0">
                <a:solidFill>
                  <a:srgbClr val="6366F1"/>
                </a:solidFill>
                <a:latin typeface="Microsoft YaHei" pitchFamily="34" charset="0"/>
                <a:ea typeface="Microsoft YaHei" pitchFamily="34" charset="-122"/>
                <a:cs typeface="Microsoft YaHei" pitchFamily="34" charset="-120"/>
              </a:rPr>
              <a:t>05</a:t>
            </a:r>
            <a:endParaRPr lang="en-US" sz="3400" dirty="0"/>
          </a:p>
        </p:txBody>
      </p:sp>
      <p:sp>
        <p:nvSpPr>
          <p:cNvPr id="18" name="Text 16"/>
          <p:cNvSpPr/>
          <p:nvPr/>
        </p:nvSpPr>
        <p:spPr>
          <a:xfrm>
            <a:off x="1737360" y="5358384"/>
            <a:ext cx="3657600" cy="457200"/>
          </a:xfrm>
          <a:prstGeom prst="rect">
            <a:avLst/>
          </a:prstGeom>
          <a:noFill/>
          <a:ln/>
        </p:spPr>
        <p:txBody>
          <a:bodyPr wrap="square" rtlCol="0" anchor="ctr"/>
          <a:lstStyle/>
          <a:p>
            <a:pPr indent="0" marL="0">
              <a:buNone/>
            </a:pPr>
            <a:r>
              <a:rPr lang="en-US" sz="1900" b="1" dirty="0">
                <a:solidFill>
                  <a:srgbClr val="1E2235"/>
                </a:solidFill>
                <a:latin typeface="Microsoft YaHei" pitchFamily="34" charset="0"/>
                <a:ea typeface="Microsoft YaHei" pitchFamily="34" charset="-122"/>
                <a:cs typeface="Microsoft YaHei" pitchFamily="34" charset="-120"/>
              </a:rPr>
              <a:t>用到你的日常工作里</a:t>
            </a:r>
            <a:endParaRPr lang="en-US" sz="1900" dirty="0"/>
          </a:p>
        </p:txBody>
      </p:sp>
      <p:sp>
        <p:nvSpPr>
          <p:cNvPr id="19" name="Text 17"/>
          <p:cNvSpPr/>
          <p:nvPr/>
        </p:nvSpPr>
        <p:spPr>
          <a:xfrm>
            <a:off x="1737360" y="5779008"/>
            <a:ext cx="9601200" cy="365760"/>
          </a:xfrm>
          <a:prstGeom prst="rect">
            <a:avLst/>
          </a:prstGeom>
          <a:noFill/>
          <a:ln/>
        </p:spPr>
        <p:txBody>
          <a:bodyPr wrap="square" rtlCol="0" anchor="ctr"/>
          <a:lstStyle/>
          <a:p>
            <a:pPr indent="0" marL="0">
              <a:buNone/>
            </a:pPr>
            <a:r>
              <a:rPr lang="en-US" sz="1350" dirty="0">
                <a:solidFill>
                  <a:srgbClr val="5B6079"/>
                </a:solidFill>
                <a:latin typeface="Microsoft YaHei" pitchFamily="34" charset="0"/>
                <a:ea typeface="Microsoft YaHei" pitchFamily="34" charset="-122"/>
                <a:cs typeface="Microsoft YaHei" pitchFamily="34" charset="-120"/>
              </a:rPr>
              <a:t>如何把这些场景延伸到自己的工作</a:t>
            </a:r>
            <a:endParaRPr lang="en-US" sz="1350" dirty="0"/>
          </a:p>
        </p:txBody>
      </p:sp>
      <p:sp>
        <p:nvSpPr>
          <p:cNvPr id="20" name="Text 18"/>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1" name="Text 19"/>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YaHei" pitchFamily="34" charset="0"/>
                <a:ea typeface="Microsoft YaHei" pitchFamily="34" charset="-122"/>
                <a:cs typeface="Microsoft YaHei" pitchFamily="34" charset="-120"/>
              </a:rPr>
              <a:t>WHAT IS COWORK</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从「对话」到「代理执行」</a:t>
            </a:r>
            <a:endParaRPr lang="en-US" sz="3000" dirty="0"/>
          </a:p>
        </p:txBody>
      </p:sp>
      <p:sp>
        <p:nvSpPr>
          <p:cNvPr id="5" name="Text 3"/>
          <p:cNvSpPr/>
          <p:nvPr/>
        </p:nvSpPr>
        <p:spPr>
          <a:xfrm>
            <a:off x="640080" y="1737360"/>
            <a:ext cx="10881360" cy="457200"/>
          </a:xfrm>
          <a:prstGeom prst="rect">
            <a:avLst/>
          </a:prstGeom>
          <a:noFill/>
          <a:ln/>
        </p:spPr>
        <p:txBody>
          <a:bodyPr wrap="square" rtlCol="0" anchor="ctr"/>
          <a:lstStyle/>
          <a:p>
            <a:pPr indent="0" marL="0">
              <a:buNone/>
            </a:pPr>
            <a:r>
              <a:rPr lang="en-US" sz="2200" dirty="0">
                <a:solidFill>
                  <a:srgbClr val="000000"/>
                </a:solidFill>
                <a:latin typeface="Microsoft YaHei" pitchFamily="34" charset="0"/>
                <a:ea typeface="Microsoft YaHei" pitchFamily="34" charset="-122"/>
                <a:cs typeface="Microsoft YaHei" pitchFamily="34" charset="-120"/>
              </a:rPr>
              <a:t>Cowork 是 Copilot 的</a:t>
            </a:r>
            <a:pPr indent="0" marL="0">
              <a:buNone/>
            </a:pPr>
            <a:r>
              <a:rPr lang="en-US" sz="2200" b="1" dirty="0">
                <a:solidFill>
                  <a:srgbClr val="6366F1"/>
                </a:solidFill>
                <a:latin typeface="Microsoft YaHei" pitchFamily="34" charset="0"/>
                <a:ea typeface="Microsoft YaHei" pitchFamily="34" charset="-122"/>
                <a:cs typeface="Microsoft YaHei" pitchFamily="34" charset="-120"/>
              </a:rPr>
              <a:t>代理式（agentic）</a:t>
            </a:r>
            <a:pPr indent="0" marL="0">
              <a:buNone/>
            </a:pPr>
            <a:r>
              <a:rPr lang="en-US" sz="2200" dirty="0">
                <a:solidFill>
                  <a:srgbClr val="000000"/>
                </a:solidFill>
                <a:latin typeface="Microsoft YaHei" pitchFamily="34" charset="0"/>
                <a:ea typeface="Microsoft YaHei" pitchFamily="34" charset="-122"/>
                <a:cs typeface="Microsoft YaHei" pitchFamily="34" charset="-120"/>
              </a:rPr>
              <a:t>工作模式。</a:t>
            </a:r>
            <a:endParaRPr lang="en-US" sz="2200" dirty="0"/>
          </a:p>
        </p:txBody>
      </p:sp>
      <p:sp>
        <p:nvSpPr>
          <p:cNvPr id="6" name="Text 4"/>
          <p:cNvSpPr/>
          <p:nvPr/>
        </p:nvSpPr>
        <p:spPr>
          <a:xfrm>
            <a:off x="640080" y="2286000"/>
            <a:ext cx="10881360" cy="914400"/>
          </a:xfrm>
          <a:prstGeom prst="rect">
            <a:avLst/>
          </a:prstGeom>
          <a:noFill/>
          <a:ln/>
        </p:spPr>
        <p:txBody>
          <a:bodyPr wrap="square" rtlCol="0" anchor="ctr"/>
          <a:lstStyle/>
          <a:p>
            <a:pPr indent="0" marL="0">
              <a:lnSpc>
                <a:spcPct val="130000"/>
              </a:lnSpc>
              <a:buNone/>
            </a:pPr>
            <a:r>
              <a:rPr lang="en-US" sz="1500" dirty="0">
                <a:solidFill>
                  <a:srgbClr val="5B6079"/>
                </a:solidFill>
                <a:latin typeface="Microsoft YaHei" pitchFamily="34" charset="0"/>
                <a:ea typeface="Microsoft YaHei" pitchFamily="34" charset="-122"/>
                <a:cs typeface="Microsoft YaHei" pitchFamily="34" charset="-120"/>
              </a:rPr>
              <a:t>你交付一个目标，它会自己拆解步骤、读取云端文件、加载需要的技能，跨应用产出成果并自检——中高风险操作会显示风险等级并停下来请你批准。你从「快速单轮问答」升级为「交付一个可执行的任务」。</a:t>
            </a:r>
            <a:endParaRPr lang="en-US" sz="1500" dirty="0"/>
          </a:p>
        </p:txBody>
      </p:sp>
      <p:sp>
        <p:nvSpPr>
          <p:cNvPr id="7" name="Shape 5"/>
          <p:cNvSpPr/>
          <p:nvPr/>
        </p:nvSpPr>
        <p:spPr>
          <a:xfrm>
            <a:off x="640080"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8" name="Shape 6"/>
          <p:cNvSpPr/>
          <p:nvPr/>
        </p:nvSpPr>
        <p:spPr>
          <a:xfrm>
            <a:off x="640080" y="3611880"/>
            <a:ext cx="3454298" cy="82296"/>
          </a:xfrm>
          <a:prstGeom prst="rect">
            <a:avLst/>
          </a:prstGeom>
          <a:solidFill>
            <a:srgbClr val="94A3B8"/>
          </a:solidFill>
          <a:ln/>
        </p:spPr>
      </p:sp>
      <p:pic>
        <p:nvPicPr>
          <p:cNvPr id="9" name="Image 0" descr="preencoded.png">    </p:cNvPr>
          <p:cNvPicPr>
            <a:picLocks noChangeAspect="1"/>
          </p:cNvPicPr>
          <p:nvPr/>
        </p:nvPicPr>
        <p:blipFill>
          <a:blip r:embed="rId1"/>
          <a:stretch>
            <a:fillRect/>
          </a:stretch>
        </p:blipFill>
        <p:spPr>
          <a:xfrm>
            <a:off x="960120" y="3931920"/>
            <a:ext cx="457200" cy="457200"/>
          </a:xfrm>
          <a:prstGeom prst="rect">
            <a:avLst/>
          </a:prstGeom>
        </p:spPr>
      </p:pic>
      <p:sp>
        <p:nvSpPr>
          <p:cNvPr id="10" name="Text 7"/>
          <p:cNvSpPr/>
          <p:nvPr/>
        </p:nvSpPr>
        <p:spPr>
          <a:xfrm>
            <a:off x="960120" y="4526280"/>
            <a:ext cx="2814218" cy="365760"/>
          </a:xfrm>
          <a:prstGeom prst="rect">
            <a:avLst/>
          </a:prstGeom>
          <a:noFill/>
          <a:ln/>
        </p:spPr>
        <p:txBody>
          <a:bodyPr wrap="square" rtlCol="0" anchor="ctr"/>
          <a:lstStyle/>
          <a:p>
            <a:pPr indent="0" marL="0">
              <a:buNone/>
            </a:pPr>
            <a:r>
              <a:rPr lang="en-US" sz="1700" b="1" dirty="0">
                <a:solidFill>
                  <a:srgbClr val="1E2235"/>
                </a:solidFill>
                <a:latin typeface="Microsoft YaHei" pitchFamily="34" charset="0"/>
                <a:ea typeface="Microsoft YaHei" pitchFamily="34" charset="-122"/>
                <a:cs typeface="Microsoft YaHei" pitchFamily="34" charset="-120"/>
              </a:rPr>
              <a:t>一般 Chat</a:t>
            </a:r>
            <a:endParaRPr lang="en-US" sz="1700" dirty="0"/>
          </a:p>
        </p:txBody>
      </p:sp>
      <p:sp>
        <p:nvSpPr>
          <p:cNvPr id="11" name="Text 8"/>
          <p:cNvSpPr/>
          <p:nvPr/>
        </p:nvSpPr>
        <p:spPr>
          <a:xfrm>
            <a:off x="960120"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Microsoft YaHei" pitchFamily="34" charset="0"/>
                <a:ea typeface="Microsoft YaHei" pitchFamily="34" charset="-122"/>
                <a:cs typeface="Microsoft YaHei" pitchFamily="34" charset="-120"/>
              </a:rPr>
              <a:t>快速单轮问答；适合即时回答和头脑风暴。</a:t>
            </a:r>
            <a:endParaRPr lang="en-US" sz="1400" dirty="0"/>
          </a:p>
        </p:txBody>
      </p:sp>
      <p:sp>
        <p:nvSpPr>
          <p:cNvPr id="12" name="Shape 9"/>
          <p:cNvSpPr/>
          <p:nvPr/>
        </p:nvSpPr>
        <p:spPr>
          <a:xfrm>
            <a:off x="4368698"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3" name="Shape 10"/>
          <p:cNvSpPr/>
          <p:nvPr/>
        </p:nvSpPr>
        <p:spPr>
          <a:xfrm>
            <a:off x="4368698" y="3611880"/>
            <a:ext cx="3454298" cy="82296"/>
          </a:xfrm>
          <a:prstGeom prst="rect">
            <a:avLst/>
          </a:prstGeom>
          <a:solidFill>
            <a:srgbClr val="6366F1"/>
          </a:solidFill>
          <a:ln/>
        </p:spPr>
      </p:sp>
      <p:pic>
        <p:nvPicPr>
          <p:cNvPr id="14" name="Image 1" descr="preencoded.png">    </p:cNvPr>
          <p:cNvPicPr>
            <a:picLocks noChangeAspect="1"/>
          </p:cNvPicPr>
          <p:nvPr/>
        </p:nvPicPr>
        <p:blipFill>
          <a:blip r:embed="rId2"/>
          <a:stretch>
            <a:fillRect/>
          </a:stretch>
        </p:blipFill>
        <p:spPr>
          <a:xfrm>
            <a:off x="4688738" y="3931920"/>
            <a:ext cx="457200" cy="457200"/>
          </a:xfrm>
          <a:prstGeom prst="rect">
            <a:avLst/>
          </a:prstGeom>
        </p:spPr>
      </p:pic>
      <p:sp>
        <p:nvSpPr>
          <p:cNvPr id="15" name="Text 11"/>
          <p:cNvSpPr/>
          <p:nvPr/>
        </p:nvSpPr>
        <p:spPr>
          <a:xfrm>
            <a:off x="4688738" y="4526280"/>
            <a:ext cx="2814218" cy="365760"/>
          </a:xfrm>
          <a:prstGeom prst="rect">
            <a:avLst/>
          </a:prstGeom>
          <a:noFill/>
          <a:ln/>
        </p:spPr>
        <p:txBody>
          <a:bodyPr wrap="square" rtlCol="0" anchor="ctr"/>
          <a:lstStyle/>
          <a:p>
            <a:pPr indent="0" marL="0">
              <a:buNone/>
            </a:pPr>
            <a:r>
              <a:rPr lang="en-US" sz="1700" b="1" dirty="0">
                <a:solidFill>
                  <a:srgbClr val="1E2235"/>
                </a:solidFill>
                <a:latin typeface="Microsoft YaHei" pitchFamily="34" charset="0"/>
                <a:ea typeface="Microsoft YaHei" pitchFamily="34" charset="-122"/>
                <a:cs typeface="Microsoft YaHei" pitchFamily="34" charset="-120"/>
              </a:rPr>
              <a:t>Cowork 代理</a:t>
            </a:r>
            <a:endParaRPr lang="en-US" sz="1700" dirty="0"/>
          </a:p>
        </p:txBody>
      </p:sp>
      <p:sp>
        <p:nvSpPr>
          <p:cNvPr id="16" name="Text 12"/>
          <p:cNvSpPr/>
          <p:nvPr/>
        </p:nvSpPr>
        <p:spPr>
          <a:xfrm>
            <a:off x="4688738"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Microsoft YaHei" pitchFamily="34" charset="0"/>
                <a:ea typeface="Microsoft YaHei" pitchFamily="34" charset="-122"/>
                <a:cs typeface="Microsoft YaHei" pitchFamily="34" charset="-120"/>
              </a:rPr>
              <a:t>你给目标，它跨应用多步骤自主执行，可以运行几分钟到几小时。</a:t>
            </a:r>
            <a:endParaRPr lang="en-US" sz="1400" dirty="0"/>
          </a:p>
        </p:txBody>
      </p:sp>
      <p:sp>
        <p:nvSpPr>
          <p:cNvPr id="17" name="Shape 13"/>
          <p:cNvSpPr/>
          <p:nvPr/>
        </p:nvSpPr>
        <p:spPr>
          <a:xfrm>
            <a:off x="8097317"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8" name="Shape 14"/>
          <p:cNvSpPr/>
          <p:nvPr/>
        </p:nvSpPr>
        <p:spPr>
          <a:xfrm>
            <a:off x="8097317" y="3611880"/>
            <a:ext cx="3454298" cy="82296"/>
          </a:xfrm>
          <a:prstGeom prst="rect">
            <a:avLst/>
          </a:prstGeom>
          <a:solidFill>
            <a:srgbClr val="8B5CF6"/>
          </a:solidFill>
          <a:ln/>
        </p:spPr>
      </p:sp>
      <p:pic>
        <p:nvPicPr>
          <p:cNvPr id="19" name="Image 2" descr="preencoded.png">    </p:cNvPr>
          <p:cNvPicPr>
            <a:picLocks noChangeAspect="1"/>
          </p:cNvPicPr>
          <p:nvPr/>
        </p:nvPicPr>
        <p:blipFill>
          <a:blip r:embed="rId3"/>
          <a:stretch>
            <a:fillRect/>
          </a:stretch>
        </p:blipFill>
        <p:spPr>
          <a:xfrm>
            <a:off x="8417357" y="3931920"/>
            <a:ext cx="457200" cy="457200"/>
          </a:xfrm>
          <a:prstGeom prst="rect">
            <a:avLst/>
          </a:prstGeom>
        </p:spPr>
      </p:pic>
      <p:sp>
        <p:nvSpPr>
          <p:cNvPr id="20" name="Text 15"/>
          <p:cNvSpPr/>
          <p:nvPr/>
        </p:nvSpPr>
        <p:spPr>
          <a:xfrm>
            <a:off x="8417357" y="4526280"/>
            <a:ext cx="2814218" cy="365760"/>
          </a:xfrm>
          <a:prstGeom prst="rect">
            <a:avLst/>
          </a:prstGeom>
          <a:noFill/>
          <a:ln/>
        </p:spPr>
        <p:txBody>
          <a:bodyPr wrap="square" rtlCol="0" anchor="ctr"/>
          <a:lstStyle/>
          <a:p>
            <a:pPr indent="0" marL="0">
              <a:buNone/>
            </a:pPr>
            <a:r>
              <a:rPr lang="en-US" sz="1700" b="1" dirty="0">
                <a:solidFill>
                  <a:srgbClr val="1E2235"/>
                </a:solidFill>
                <a:latin typeface="Microsoft YaHei" pitchFamily="34" charset="0"/>
                <a:ea typeface="Microsoft YaHei" pitchFamily="34" charset="-122"/>
                <a:cs typeface="Microsoft YaHei" pitchFamily="34" charset="-120"/>
              </a:rPr>
              <a:t>你仍然主导</a:t>
            </a:r>
            <a:endParaRPr lang="en-US" sz="1700" dirty="0"/>
          </a:p>
        </p:txBody>
      </p:sp>
      <p:sp>
        <p:nvSpPr>
          <p:cNvPr id="21" name="Text 16"/>
          <p:cNvSpPr/>
          <p:nvPr/>
        </p:nvSpPr>
        <p:spPr>
          <a:xfrm>
            <a:off x="8417357"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Microsoft YaHei" pitchFamily="34" charset="0"/>
                <a:ea typeface="Microsoft YaHei" pitchFamily="34" charset="-122"/>
                <a:cs typeface="Microsoft YaHei" pitchFamily="34" charset="-120"/>
              </a:rPr>
              <a:t>对外或影响别人的操作，一律先暂停等你批准。</a:t>
            </a:r>
            <a:endParaRPr lang="en-US" sz="1400" dirty="0"/>
          </a:p>
        </p:txBody>
      </p:sp>
      <p:sp>
        <p:nvSpPr>
          <p:cNvPr id="22" name="Text 1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3" name="Text 1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YaHei" pitchFamily="34" charset="0"/>
                <a:ea typeface="Microsoft YaHei" pitchFamily="34" charset="-122"/>
                <a:cs typeface="Microsoft YaHei" pitchFamily="34" charset="-120"/>
              </a:rPr>
              <a:t>COMPARISON</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Cowork 与一般 Copilot Chat</a:t>
            </a:r>
            <a:endParaRPr lang="en-US" sz="3000" dirty="0"/>
          </a:p>
        </p:txBody>
      </p:sp>
      <p:sp>
        <p:nvSpPr>
          <p:cNvPr id="5" name="Shape 3"/>
          <p:cNvSpPr/>
          <p:nvPr/>
        </p:nvSpPr>
        <p:spPr>
          <a:xfrm>
            <a:off x="640080" y="1737360"/>
            <a:ext cx="2743200" cy="457200"/>
          </a:xfrm>
          <a:prstGeom prst="rect">
            <a:avLst/>
          </a:prstGeom>
          <a:solidFill>
            <a:srgbClr val="EEF0F8"/>
          </a:solidFill>
          <a:ln/>
        </p:spPr>
      </p:sp>
      <p:sp>
        <p:nvSpPr>
          <p:cNvPr id="6" name="Shape 4"/>
          <p:cNvSpPr/>
          <p:nvPr/>
        </p:nvSpPr>
        <p:spPr>
          <a:xfrm>
            <a:off x="3383280" y="1737360"/>
            <a:ext cx="4023360" cy="457200"/>
          </a:xfrm>
          <a:prstGeom prst="rect">
            <a:avLst/>
          </a:prstGeom>
          <a:solidFill>
            <a:srgbClr val="0F1031"/>
          </a:solidFill>
          <a:ln/>
        </p:spPr>
      </p:sp>
      <p:sp>
        <p:nvSpPr>
          <p:cNvPr id="7" name="Shape 5"/>
          <p:cNvSpPr/>
          <p:nvPr/>
        </p:nvSpPr>
        <p:spPr>
          <a:xfrm>
            <a:off x="7406640" y="1737360"/>
            <a:ext cx="4142232" cy="457200"/>
          </a:xfrm>
          <a:prstGeom prst="rect">
            <a:avLst/>
          </a:prstGeom>
          <a:solidFill>
            <a:srgbClr val="6366F1"/>
          </a:solidFill>
          <a:ln/>
        </p:spPr>
      </p:sp>
      <p:sp>
        <p:nvSpPr>
          <p:cNvPr id="8" name="Text 6"/>
          <p:cNvSpPr/>
          <p:nvPr/>
        </p:nvSpPr>
        <p:spPr>
          <a:xfrm>
            <a:off x="640080" y="1737360"/>
            <a:ext cx="2743200" cy="457200"/>
          </a:xfrm>
          <a:prstGeom prst="rect">
            <a:avLst/>
          </a:prstGeom>
          <a:noFill/>
          <a:ln/>
        </p:spPr>
        <p:txBody>
          <a:bodyPr wrap="square" rtlCol="0" anchor="ctr"/>
          <a:lstStyle/>
          <a:p>
            <a:pPr indent="0" marL="0">
              <a:buNone/>
            </a:pPr>
            <a:endParaRPr lang="en-US" dirty="0"/>
          </a:p>
        </p:txBody>
      </p:sp>
      <p:sp>
        <p:nvSpPr>
          <p:cNvPr id="9" name="Text 7"/>
          <p:cNvSpPr/>
          <p:nvPr/>
        </p:nvSpPr>
        <p:spPr>
          <a:xfrm>
            <a:off x="3383280" y="1737360"/>
            <a:ext cx="402336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一般 Copilot Chat</a:t>
            </a:r>
            <a:endParaRPr lang="en-US" sz="1400" dirty="0"/>
          </a:p>
        </p:txBody>
      </p:sp>
      <p:sp>
        <p:nvSpPr>
          <p:cNvPr id="10" name="Text 8"/>
          <p:cNvSpPr/>
          <p:nvPr/>
        </p:nvSpPr>
        <p:spPr>
          <a:xfrm>
            <a:off x="7406640" y="1737360"/>
            <a:ext cx="4142232"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Copilot Cowork</a:t>
            </a:r>
            <a:endParaRPr lang="en-US" sz="1400" dirty="0"/>
          </a:p>
        </p:txBody>
      </p:sp>
      <p:sp>
        <p:nvSpPr>
          <p:cNvPr id="11" name="Shape 9"/>
          <p:cNvSpPr/>
          <p:nvPr/>
        </p:nvSpPr>
        <p:spPr>
          <a:xfrm>
            <a:off x="640080" y="2194560"/>
            <a:ext cx="10908792" cy="457200"/>
          </a:xfrm>
          <a:prstGeom prst="rect">
            <a:avLst/>
          </a:prstGeom>
          <a:solidFill>
            <a:srgbClr val="F2F4FB"/>
          </a:solidFill>
          <a:ln/>
        </p:spPr>
      </p:sp>
      <p:sp>
        <p:nvSpPr>
          <p:cNvPr id="12" name="Text 10"/>
          <p:cNvSpPr/>
          <p:nvPr/>
        </p:nvSpPr>
        <p:spPr>
          <a:xfrm>
            <a:off x="822960" y="21945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交付目标，跨应用自主多步执行</a:t>
            </a:r>
            <a:endParaRPr lang="en-US" sz="1250" dirty="0"/>
          </a:p>
        </p:txBody>
      </p:sp>
      <p:sp>
        <p:nvSpPr>
          <p:cNvPr id="13" name="Text 11"/>
          <p:cNvSpPr/>
          <p:nvPr/>
        </p:nvSpPr>
        <p:spPr>
          <a:xfrm>
            <a:off x="3566160" y="21945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快速单轮问答</a:t>
            </a:r>
            <a:endParaRPr lang="en-US" sz="1250" dirty="0"/>
          </a:p>
        </p:txBody>
      </p:sp>
      <p:sp>
        <p:nvSpPr>
          <p:cNvPr id="14" name="Text 12"/>
          <p:cNvSpPr/>
          <p:nvPr/>
        </p:nvSpPr>
        <p:spPr>
          <a:xfrm>
            <a:off x="7589520" y="21945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交付目标，跨应用自主多步执行</a:t>
            </a:r>
            <a:endParaRPr lang="en-US" sz="1250" dirty="0"/>
          </a:p>
        </p:txBody>
      </p:sp>
      <p:sp>
        <p:nvSpPr>
          <p:cNvPr id="15" name="Shape 13"/>
          <p:cNvSpPr/>
          <p:nvPr/>
        </p:nvSpPr>
        <p:spPr>
          <a:xfrm>
            <a:off x="640080" y="2651760"/>
            <a:ext cx="10908792" cy="457200"/>
          </a:xfrm>
          <a:prstGeom prst="rect">
            <a:avLst/>
          </a:prstGeom>
          <a:solidFill>
            <a:srgbClr val="FFFFFF"/>
          </a:solidFill>
          <a:ln/>
        </p:spPr>
      </p:sp>
      <p:sp>
        <p:nvSpPr>
          <p:cNvPr id="16" name="Text 14"/>
          <p:cNvSpPr/>
          <p:nvPr/>
        </p:nvSpPr>
        <p:spPr>
          <a:xfrm>
            <a:off x="822960" y="26517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分钟～数小时（自主执行）</a:t>
            </a:r>
            <a:endParaRPr lang="en-US" sz="1250" dirty="0"/>
          </a:p>
        </p:txBody>
      </p:sp>
      <p:sp>
        <p:nvSpPr>
          <p:cNvPr id="17" name="Text 15"/>
          <p:cNvSpPr/>
          <p:nvPr/>
        </p:nvSpPr>
        <p:spPr>
          <a:xfrm>
            <a:off x="3566160" y="26517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秒～分钟</a:t>
            </a:r>
            <a:endParaRPr lang="en-US" sz="1250" dirty="0"/>
          </a:p>
        </p:txBody>
      </p:sp>
      <p:sp>
        <p:nvSpPr>
          <p:cNvPr id="18" name="Text 16"/>
          <p:cNvSpPr/>
          <p:nvPr/>
        </p:nvSpPr>
        <p:spPr>
          <a:xfrm>
            <a:off x="7589520" y="26517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分钟～数小时（自主执行）</a:t>
            </a:r>
            <a:endParaRPr lang="en-US" sz="1250" dirty="0"/>
          </a:p>
        </p:txBody>
      </p:sp>
      <p:sp>
        <p:nvSpPr>
          <p:cNvPr id="19" name="Shape 17"/>
          <p:cNvSpPr/>
          <p:nvPr/>
        </p:nvSpPr>
        <p:spPr>
          <a:xfrm>
            <a:off x="640080" y="3108960"/>
            <a:ext cx="10908792" cy="457200"/>
          </a:xfrm>
          <a:prstGeom prst="rect">
            <a:avLst/>
          </a:prstGeom>
          <a:solidFill>
            <a:srgbClr val="F2F4FB"/>
          </a:solidFill>
          <a:ln/>
        </p:spPr>
      </p:sp>
      <p:sp>
        <p:nvSpPr>
          <p:cNvPr id="20" name="Text 18"/>
          <p:cNvSpPr/>
          <p:nvPr/>
        </p:nvSpPr>
        <p:spPr>
          <a:xfrm>
            <a:off x="822960" y="31089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跨任务与来源的多步骤工作流</a:t>
            </a:r>
            <a:endParaRPr lang="en-US" sz="1250" dirty="0"/>
          </a:p>
        </p:txBody>
      </p:sp>
      <p:sp>
        <p:nvSpPr>
          <p:cNvPr id="21" name="Text 19"/>
          <p:cNvSpPr/>
          <p:nvPr/>
        </p:nvSpPr>
        <p:spPr>
          <a:xfrm>
            <a:off x="3566160" y="31089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单步骤、单个会话</a:t>
            </a:r>
            <a:endParaRPr lang="en-US" sz="1250" dirty="0"/>
          </a:p>
        </p:txBody>
      </p:sp>
      <p:sp>
        <p:nvSpPr>
          <p:cNvPr id="22" name="Text 20"/>
          <p:cNvSpPr/>
          <p:nvPr/>
        </p:nvSpPr>
        <p:spPr>
          <a:xfrm>
            <a:off x="7589520" y="31089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跨任务与来源的多步骤工作流</a:t>
            </a:r>
            <a:endParaRPr lang="en-US" sz="1250" dirty="0"/>
          </a:p>
        </p:txBody>
      </p:sp>
      <p:sp>
        <p:nvSpPr>
          <p:cNvPr id="23" name="Shape 21"/>
          <p:cNvSpPr/>
          <p:nvPr/>
        </p:nvSpPr>
        <p:spPr>
          <a:xfrm>
            <a:off x="640080" y="3566160"/>
            <a:ext cx="10908792" cy="457200"/>
          </a:xfrm>
          <a:prstGeom prst="rect">
            <a:avLst/>
          </a:prstGeom>
          <a:solidFill>
            <a:srgbClr val="FFFFFF"/>
          </a:solidFill>
          <a:ln/>
        </p:spPr>
      </p:sp>
      <p:sp>
        <p:nvSpPr>
          <p:cNvPr id="24" name="Text 22"/>
          <p:cNvSpPr/>
          <p:nvPr/>
        </p:nvSpPr>
        <p:spPr>
          <a:xfrm>
            <a:off x="822960" y="35661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读取云端附件、产出新文件；不访问本地文件</a:t>
            </a:r>
            <a:endParaRPr lang="en-US" sz="1250" dirty="0"/>
          </a:p>
        </p:txBody>
      </p:sp>
      <p:sp>
        <p:nvSpPr>
          <p:cNvPr id="25" name="Text 23"/>
          <p:cNvSpPr/>
          <p:nvPr/>
        </p:nvSpPr>
        <p:spPr>
          <a:xfrm>
            <a:off x="3566160" y="35661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粘贴片段内容</a:t>
            </a:r>
            <a:endParaRPr lang="en-US" sz="1250" dirty="0"/>
          </a:p>
        </p:txBody>
      </p:sp>
      <p:sp>
        <p:nvSpPr>
          <p:cNvPr id="26" name="Text 24"/>
          <p:cNvSpPr/>
          <p:nvPr/>
        </p:nvSpPr>
        <p:spPr>
          <a:xfrm>
            <a:off x="7589520" y="35661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读取云端附件、产出新文件；不访问本地文件</a:t>
            </a:r>
            <a:endParaRPr lang="en-US" sz="1250" dirty="0"/>
          </a:p>
        </p:txBody>
      </p:sp>
      <p:sp>
        <p:nvSpPr>
          <p:cNvPr id="27" name="Shape 25"/>
          <p:cNvSpPr/>
          <p:nvPr/>
        </p:nvSpPr>
        <p:spPr>
          <a:xfrm>
            <a:off x="640080" y="4023360"/>
            <a:ext cx="10908792" cy="457200"/>
          </a:xfrm>
          <a:prstGeom prst="rect">
            <a:avLst/>
          </a:prstGeom>
          <a:solidFill>
            <a:srgbClr val="F2F4FB"/>
          </a:solidFill>
          <a:ln/>
        </p:spPr>
      </p:sp>
      <p:sp>
        <p:nvSpPr>
          <p:cNvPr id="28" name="Text 26"/>
          <p:cNvSpPr/>
          <p:nvPr/>
        </p:nvSpPr>
        <p:spPr>
          <a:xfrm>
            <a:off x="822960" y="40233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自动加载 14 个内置技能和自定义技能</a:t>
            </a:r>
            <a:endParaRPr lang="en-US" sz="1250" dirty="0"/>
          </a:p>
        </p:txBody>
      </p:sp>
      <p:sp>
        <p:nvSpPr>
          <p:cNvPr id="29" name="Text 27"/>
          <p:cNvSpPr/>
          <p:nvPr/>
        </p:nvSpPr>
        <p:spPr>
          <a:xfrm>
            <a:off x="3566160" y="40233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单一对话能力</a:t>
            </a:r>
            <a:endParaRPr lang="en-US" sz="1250" dirty="0"/>
          </a:p>
        </p:txBody>
      </p:sp>
      <p:sp>
        <p:nvSpPr>
          <p:cNvPr id="30" name="Text 28"/>
          <p:cNvSpPr/>
          <p:nvPr/>
        </p:nvSpPr>
        <p:spPr>
          <a:xfrm>
            <a:off x="7589520" y="40233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自动加载 14 个内置技能和自定义技能</a:t>
            </a:r>
            <a:endParaRPr lang="en-US" sz="1250" dirty="0"/>
          </a:p>
        </p:txBody>
      </p:sp>
      <p:sp>
        <p:nvSpPr>
          <p:cNvPr id="31" name="Shape 29"/>
          <p:cNvSpPr/>
          <p:nvPr/>
        </p:nvSpPr>
        <p:spPr>
          <a:xfrm>
            <a:off x="640080" y="4480560"/>
            <a:ext cx="10908792" cy="457200"/>
          </a:xfrm>
          <a:prstGeom prst="rect">
            <a:avLst/>
          </a:prstGeom>
          <a:solidFill>
            <a:srgbClr val="FFFFFF"/>
          </a:solidFill>
          <a:ln/>
        </p:spPr>
      </p:sp>
      <p:sp>
        <p:nvSpPr>
          <p:cNvPr id="32" name="Text 30"/>
          <p:cNvSpPr/>
          <p:nvPr/>
        </p:nvSpPr>
        <p:spPr>
          <a:xfrm>
            <a:off x="822960" y="44805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OneDrive 里真实的文档、电子表格、演示文稿</a:t>
            </a:r>
            <a:endParaRPr lang="en-US" sz="1250" dirty="0"/>
          </a:p>
        </p:txBody>
      </p:sp>
      <p:sp>
        <p:nvSpPr>
          <p:cNvPr id="33" name="Text 31"/>
          <p:cNvSpPr/>
          <p:nvPr/>
        </p:nvSpPr>
        <p:spPr>
          <a:xfrm>
            <a:off x="3566160" y="44805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聊天窗口里的文字</a:t>
            </a:r>
            <a:endParaRPr lang="en-US" sz="1250" dirty="0"/>
          </a:p>
        </p:txBody>
      </p:sp>
      <p:sp>
        <p:nvSpPr>
          <p:cNvPr id="34" name="Text 32"/>
          <p:cNvSpPr/>
          <p:nvPr/>
        </p:nvSpPr>
        <p:spPr>
          <a:xfrm>
            <a:off x="7589520" y="44805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OneDrive 里真实的文档、电子表格、演示文稿</a:t>
            </a:r>
            <a:endParaRPr lang="en-US" sz="1250" dirty="0"/>
          </a:p>
        </p:txBody>
      </p:sp>
      <p:sp>
        <p:nvSpPr>
          <p:cNvPr id="35" name="Shape 33"/>
          <p:cNvSpPr/>
          <p:nvPr/>
        </p:nvSpPr>
        <p:spPr>
          <a:xfrm>
            <a:off x="640080" y="4937760"/>
            <a:ext cx="10908792" cy="457200"/>
          </a:xfrm>
          <a:prstGeom prst="rect">
            <a:avLst/>
          </a:prstGeom>
          <a:solidFill>
            <a:srgbClr val="F2F4FB"/>
          </a:solidFill>
          <a:ln/>
        </p:spPr>
      </p:sp>
      <p:sp>
        <p:nvSpPr>
          <p:cNvPr id="36" name="Text 34"/>
          <p:cNvSpPr/>
          <p:nvPr/>
        </p:nvSpPr>
        <p:spPr>
          <a:xfrm>
            <a:off x="822960" y="49377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计划提示／事件触发：收到邮件或被 @提及时自动执行</a:t>
            </a:r>
            <a:endParaRPr lang="en-US" sz="1250" dirty="0"/>
          </a:p>
        </p:txBody>
      </p:sp>
      <p:sp>
        <p:nvSpPr>
          <p:cNvPr id="37" name="Text 35"/>
          <p:cNvSpPr/>
          <p:nvPr/>
        </p:nvSpPr>
        <p:spPr>
          <a:xfrm>
            <a:off x="3566160" y="49377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每次都要你打开并下指令</a:t>
            </a:r>
            <a:endParaRPr lang="en-US" sz="1250" dirty="0"/>
          </a:p>
        </p:txBody>
      </p:sp>
      <p:sp>
        <p:nvSpPr>
          <p:cNvPr id="38" name="Text 36"/>
          <p:cNvSpPr/>
          <p:nvPr/>
        </p:nvSpPr>
        <p:spPr>
          <a:xfrm>
            <a:off x="7589520" y="49377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计划提示／事件触发：收到邮件或被 @提及时自动执行</a:t>
            </a:r>
            <a:endParaRPr lang="en-US" sz="1250" dirty="0"/>
          </a:p>
        </p:txBody>
      </p:sp>
      <p:sp>
        <p:nvSpPr>
          <p:cNvPr id="39" name="Shape 37"/>
          <p:cNvSpPr/>
          <p:nvPr/>
        </p:nvSpPr>
        <p:spPr>
          <a:xfrm>
            <a:off x="640080" y="5394960"/>
            <a:ext cx="10908792" cy="457200"/>
          </a:xfrm>
          <a:prstGeom prst="rect">
            <a:avLst/>
          </a:prstGeom>
          <a:solidFill>
            <a:srgbClr val="FFFFFF"/>
          </a:solidFill>
          <a:ln/>
        </p:spPr>
      </p:sp>
      <p:sp>
        <p:nvSpPr>
          <p:cNvPr id="40" name="Text 38"/>
          <p:cNvSpPr/>
          <p:nvPr/>
        </p:nvSpPr>
        <p:spPr>
          <a:xfrm>
            <a:off x="822960" y="53949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可以通过 Plugins／MCP 连外部系统，官方目录已有 92 个合作伙伴 plugin（D365、SAP、Fabric 等）</a:t>
            </a:r>
            <a:endParaRPr lang="en-US" sz="1250" dirty="0"/>
          </a:p>
        </p:txBody>
      </p:sp>
      <p:sp>
        <p:nvSpPr>
          <p:cNvPr id="41" name="Text 39"/>
          <p:cNvSpPr/>
          <p:nvPr/>
        </p:nvSpPr>
        <p:spPr>
          <a:xfrm>
            <a:off x="3566160" y="53949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接地于 M365 数据</a:t>
            </a:r>
            <a:endParaRPr lang="en-US" sz="1250" dirty="0"/>
          </a:p>
        </p:txBody>
      </p:sp>
      <p:sp>
        <p:nvSpPr>
          <p:cNvPr id="42" name="Text 40"/>
          <p:cNvSpPr/>
          <p:nvPr/>
        </p:nvSpPr>
        <p:spPr>
          <a:xfrm>
            <a:off x="7589520" y="53949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可以通过 Plugins／MCP 连外部系统，官方目录已有 92 个合作伙伴 plugin（D365、SAP、Fabric 等）</a:t>
            </a:r>
            <a:endParaRPr lang="en-US" sz="1250" dirty="0"/>
          </a:p>
        </p:txBody>
      </p:sp>
      <p:sp>
        <p:nvSpPr>
          <p:cNvPr id="43" name="Shape 41"/>
          <p:cNvSpPr/>
          <p:nvPr/>
        </p:nvSpPr>
        <p:spPr>
          <a:xfrm>
            <a:off x="640080" y="5852160"/>
            <a:ext cx="10908792" cy="457200"/>
          </a:xfrm>
          <a:prstGeom prst="rect">
            <a:avLst/>
          </a:prstGeom>
          <a:solidFill>
            <a:srgbClr val="F2F4FB"/>
          </a:solidFill>
          <a:ln/>
        </p:spPr>
      </p:sp>
      <p:sp>
        <p:nvSpPr>
          <p:cNvPr id="44" name="Text 42"/>
          <p:cNvSpPr/>
          <p:nvPr/>
        </p:nvSpPr>
        <p:spPr>
          <a:xfrm>
            <a:off x="822960" y="5852160"/>
            <a:ext cx="2468880" cy="457200"/>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中高风险操作显示风险等级，批准后才执行</a:t>
            </a:r>
            <a:endParaRPr lang="en-US" sz="1250" dirty="0"/>
          </a:p>
        </p:txBody>
      </p:sp>
      <p:sp>
        <p:nvSpPr>
          <p:cNvPr id="45" name="Text 43"/>
          <p:cNvSpPr/>
          <p:nvPr/>
        </p:nvSpPr>
        <p:spPr>
          <a:xfrm>
            <a:off x="3566160" y="5852160"/>
            <a:ext cx="3657600" cy="457200"/>
          </a:xfrm>
          <a:prstGeom prst="rect">
            <a:avLst/>
          </a:prstGeom>
          <a:noFill/>
          <a:ln/>
        </p:spPr>
        <p:txBody>
          <a:bodyPr wrap="square" rtlCol="0" anchor="ctr"/>
          <a:lstStyle/>
          <a:p>
            <a:pPr indent="0" marL="0">
              <a:buNone/>
            </a:pPr>
            <a:r>
              <a:rPr lang="en-US" sz="1250" dirty="0">
                <a:solidFill>
                  <a:srgbClr val="5B6079"/>
                </a:solidFill>
                <a:latin typeface="Microsoft YaHei" pitchFamily="34" charset="0"/>
                <a:ea typeface="Microsoft YaHei" pitchFamily="34" charset="-122"/>
                <a:cs typeface="Microsoft YaHei" pitchFamily="34" charset="-120"/>
              </a:rPr>
              <a:t>你自己判断</a:t>
            </a:r>
            <a:endParaRPr lang="en-US" sz="1250" dirty="0"/>
          </a:p>
        </p:txBody>
      </p:sp>
      <p:sp>
        <p:nvSpPr>
          <p:cNvPr id="46" name="Text 44"/>
          <p:cNvSpPr/>
          <p:nvPr/>
        </p:nvSpPr>
        <p:spPr>
          <a:xfrm>
            <a:off x="7589520" y="5852160"/>
            <a:ext cx="3776472" cy="457200"/>
          </a:xfrm>
          <a:prstGeom prst="rect">
            <a:avLst/>
          </a:prstGeom>
          <a:noFill/>
          <a:ln/>
        </p:spPr>
        <p:txBody>
          <a:bodyPr wrap="square" rtlCol="0" anchor="ctr"/>
          <a:lstStyle/>
          <a:p>
            <a:pPr indent="0" marL="0">
              <a:buNone/>
            </a:pPr>
            <a:r>
              <a:rPr lang="en-US" sz="1250" dirty="0">
                <a:solidFill>
                  <a:srgbClr val="1E2235"/>
                </a:solidFill>
                <a:latin typeface="Microsoft YaHei" pitchFamily="34" charset="0"/>
                <a:ea typeface="Microsoft YaHei" pitchFamily="34" charset="-122"/>
                <a:cs typeface="Microsoft YaHei" pitchFamily="34" charset="-120"/>
              </a:rPr>
              <a:t>中高风险操作显示风险等级，批准后才执行</a:t>
            </a:r>
            <a:endParaRPr lang="en-US" sz="1250" dirty="0"/>
          </a:p>
        </p:txBody>
      </p:sp>
      <p:sp>
        <p:nvSpPr>
          <p:cNvPr id="47"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48"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YaHei" pitchFamily="34" charset="0"/>
                <a:ea typeface="Microsoft YaHei" pitchFamily="34" charset="-122"/>
                <a:cs typeface="Microsoft YaHei" pitchFamily="34" charset="-120"/>
              </a:rPr>
              <a:t>CORE CAPABILITIES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四个让 Cowork 不一样的能力</a:t>
            </a:r>
            <a:endParaRPr lang="en-US" sz="3000" dirty="0"/>
          </a:p>
        </p:txBody>
      </p:sp>
      <p:sp>
        <p:nvSpPr>
          <p:cNvPr id="5" name="Shape 3"/>
          <p:cNvSpPr/>
          <p:nvPr/>
        </p:nvSpPr>
        <p:spPr>
          <a:xfrm>
            <a:off x="640080"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6" name="Shape 4"/>
          <p:cNvSpPr/>
          <p:nvPr/>
        </p:nvSpPr>
        <p:spPr>
          <a:xfrm>
            <a:off x="960120" y="2084832"/>
            <a:ext cx="868680" cy="868680"/>
          </a:xfrm>
          <a:prstGeom prst="roundRect">
            <a:avLst>
              <a:gd name="adj" fmla="val 16842"/>
            </a:avLst>
          </a:prstGeom>
          <a:solidFill>
            <a:srgbClr val="7A4DDB"/>
          </a:solidFill>
          <a:ln/>
        </p:spPr>
      </p:sp>
      <p:pic>
        <p:nvPicPr>
          <p:cNvPr id="7" name="Image 0" descr="preencoded.png">    </p:cNvPr>
          <p:cNvPicPr>
            <a:picLocks noChangeAspect="1"/>
          </p:cNvPicPr>
          <p:nvPr/>
        </p:nvPicPr>
        <p:blipFill>
          <a:blip r:embed="rId1"/>
          <a:stretch>
            <a:fillRect/>
          </a:stretch>
        </p:blipFill>
        <p:spPr>
          <a:xfrm>
            <a:off x="1170432" y="2295144"/>
            <a:ext cx="448056" cy="448056"/>
          </a:xfrm>
          <a:prstGeom prst="rect">
            <a:avLst/>
          </a:prstGeom>
        </p:spPr>
      </p:pic>
      <p:sp>
        <p:nvSpPr>
          <p:cNvPr id="8" name="Text 5"/>
          <p:cNvSpPr/>
          <p:nvPr/>
        </p:nvSpPr>
        <p:spPr>
          <a:xfrm>
            <a:off x="2011680" y="2121408"/>
            <a:ext cx="3672688" cy="457200"/>
          </a:xfrm>
          <a:prstGeom prst="rect">
            <a:avLst/>
          </a:prstGeom>
          <a:noFill/>
          <a:ln/>
        </p:spPr>
        <p:txBody>
          <a:bodyPr wrap="square" rtlCol="0" anchor="ctr"/>
          <a:lstStyle/>
          <a:p>
            <a:pPr indent="0" marL="0">
              <a:buNone/>
            </a:pPr>
            <a:r>
              <a:rPr lang="en-US" sz="1800" b="1" dirty="0">
                <a:solidFill>
                  <a:srgbClr val="1E2235"/>
                </a:solidFill>
                <a:latin typeface="Microsoft YaHei" pitchFamily="34" charset="0"/>
                <a:ea typeface="Microsoft YaHei" pitchFamily="34" charset="-122"/>
                <a:cs typeface="Microsoft YaHei" pitchFamily="34" charset="-120"/>
              </a:rPr>
              <a:t>14 个内置技能</a:t>
            </a:r>
            <a:endParaRPr lang="en-US" sz="1800" dirty="0"/>
          </a:p>
        </p:txBody>
      </p:sp>
      <p:sp>
        <p:nvSpPr>
          <p:cNvPr id="9" name="Text 6"/>
          <p:cNvSpPr/>
          <p:nvPr/>
        </p:nvSpPr>
        <p:spPr>
          <a:xfrm>
            <a:off x="2011680"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Microsoft YaHei" pitchFamily="34" charset="0"/>
                <a:ea typeface="Microsoft YaHei" pitchFamily="34" charset="-122"/>
                <a:cs typeface="Microsoft YaHei" pitchFamily="34" charset="-120"/>
              </a:rPr>
              <a:t>Word、Excel、PowerPoint、PDF、Email、Scheduling、Calendar Management、Meetings、Daily Briefing、Enterprise Search、Deep Research、Communications、Adaptive Cards、App（Frontier）。</a:t>
            </a:r>
            <a:endParaRPr lang="en-US" sz="1300" dirty="0"/>
          </a:p>
        </p:txBody>
      </p:sp>
      <p:sp>
        <p:nvSpPr>
          <p:cNvPr id="10" name="Shape 7"/>
          <p:cNvSpPr/>
          <p:nvPr/>
        </p:nvSpPr>
        <p:spPr>
          <a:xfrm>
            <a:off x="6324448"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1" name="Shape 8"/>
          <p:cNvSpPr/>
          <p:nvPr/>
        </p:nvSpPr>
        <p:spPr>
          <a:xfrm>
            <a:off x="6644488" y="2084832"/>
            <a:ext cx="868680" cy="868680"/>
          </a:xfrm>
          <a:prstGeom prst="roundRect">
            <a:avLst>
              <a:gd name="adj" fmla="val 16842"/>
            </a:avLst>
          </a:prstGeom>
          <a:solidFill>
            <a:srgbClr val="0F6CBD"/>
          </a:solidFill>
          <a:ln/>
        </p:spPr>
      </p:sp>
      <p:pic>
        <p:nvPicPr>
          <p:cNvPr id="12" name="Image 1" descr="preencoded.png">    </p:cNvPr>
          <p:cNvPicPr>
            <a:picLocks noChangeAspect="1"/>
          </p:cNvPicPr>
          <p:nvPr/>
        </p:nvPicPr>
        <p:blipFill>
          <a:blip r:embed="rId2"/>
          <a:stretch>
            <a:fillRect/>
          </a:stretch>
        </p:blipFill>
        <p:spPr>
          <a:xfrm>
            <a:off x="6854800" y="2295144"/>
            <a:ext cx="448056" cy="448056"/>
          </a:xfrm>
          <a:prstGeom prst="rect">
            <a:avLst/>
          </a:prstGeom>
        </p:spPr>
      </p:pic>
      <p:sp>
        <p:nvSpPr>
          <p:cNvPr id="13" name="Text 9"/>
          <p:cNvSpPr/>
          <p:nvPr/>
        </p:nvSpPr>
        <p:spPr>
          <a:xfrm>
            <a:off x="7696048" y="2121408"/>
            <a:ext cx="3672688" cy="457200"/>
          </a:xfrm>
          <a:prstGeom prst="rect">
            <a:avLst/>
          </a:prstGeom>
          <a:noFill/>
          <a:ln/>
        </p:spPr>
        <p:txBody>
          <a:bodyPr wrap="square" rtlCol="0" anchor="ctr"/>
          <a:lstStyle/>
          <a:p>
            <a:pPr indent="0" marL="0">
              <a:buNone/>
            </a:pPr>
            <a:r>
              <a:rPr lang="en-US" sz="1800" b="1" dirty="0">
                <a:solidFill>
                  <a:srgbClr val="1E2235"/>
                </a:solidFill>
                <a:latin typeface="Microsoft YaHei" pitchFamily="34" charset="0"/>
                <a:ea typeface="Microsoft YaHei" pitchFamily="34" charset="-122"/>
                <a:cs typeface="Microsoft YaHei" pitchFamily="34" charset="-120"/>
              </a:rPr>
              <a:t>工作区 Workspace</a:t>
            </a:r>
            <a:endParaRPr lang="en-US" sz="1800" dirty="0"/>
          </a:p>
        </p:txBody>
      </p:sp>
      <p:sp>
        <p:nvSpPr>
          <p:cNvPr id="14" name="Text 10"/>
          <p:cNvSpPr/>
          <p:nvPr/>
        </p:nvSpPr>
        <p:spPr>
          <a:xfrm>
            <a:off x="7696048"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Microsoft YaHei" pitchFamily="34" charset="0"/>
                <a:ea typeface="Microsoft YaHei" pitchFamily="34" charset="-122"/>
                <a:cs typeface="Microsoft YaHei" pitchFamily="34" charset="-120"/>
              </a:rPr>
              <a:t>右侧面板同时显示进度、输入文件、输出文件、已加载技能、计划任务和已批准的权限，过程透明可追溯。</a:t>
            </a:r>
            <a:endParaRPr lang="en-US" sz="1300" dirty="0"/>
          </a:p>
        </p:txBody>
      </p:sp>
      <p:sp>
        <p:nvSpPr>
          <p:cNvPr id="15" name="Shape 11"/>
          <p:cNvSpPr/>
          <p:nvPr/>
        </p:nvSpPr>
        <p:spPr>
          <a:xfrm>
            <a:off x="640080"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6" name="Shape 12"/>
          <p:cNvSpPr/>
          <p:nvPr/>
        </p:nvSpPr>
        <p:spPr>
          <a:xfrm>
            <a:off x="960120" y="4599432"/>
            <a:ext cx="868680" cy="868680"/>
          </a:xfrm>
          <a:prstGeom prst="roundRect">
            <a:avLst>
              <a:gd name="adj" fmla="val 16842"/>
            </a:avLst>
          </a:prstGeom>
          <a:solidFill>
            <a:srgbClr val="0A8F5B"/>
          </a:solidFill>
          <a:ln/>
        </p:spPr>
      </p:sp>
      <p:pic>
        <p:nvPicPr>
          <p:cNvPr id="17" name="Image 2" descr="preencoded.png">    </p:cNvPr>
          <p:cNvPicPr>
            <a:picLocks noChangeAspect="1"/>
          </p:cNvPicPr>
          <p:nvPr/>
        </p:nvPicPr>
        <p:blipFill>
          <a:blip r:embed="rId3"/>
          <a:stretch>
            <a:fillRect/>
          </a:stretch>
        </p:blipFill>
        <p:spPr>
          <a:xfrm>
            <a:off x="1170432" y="4809744"/>
            <a:ext cx="448056" cy="448056"/>
          </a:xfrm>
          <a:prstGeom prst="rect">
            <a:avLst/>
          </a:prstGeom>
        </p:spPr>
      </p:pic>
      <p:sp>
        <p:nvSpPr>
          <p:cNvPr id="18" name="Text 13"/>
          <p:cNvSpPr/>
          <p:nvPr/>
        </p:nvSpPr>
        <p:spPr>
          <a:xfrm>
            <a:off x="2011680" y="4636008"/>
            <a:ext cx="3672688" cy="457200"/>
          </a:xfrm>
          <a:prstGeom prst="rect">
            <a:avLst/>
          </a:prstGeom>
          <a:noFill/>
          <a:ln/>
        </p:spPr>
        <p:txBody>
          <a:bodyPr wrap="square" rtlCol="0" anchor="ctr"/>
          <a:lstStyle/>
          <a:p>
            <a:pPr indent="0" marL="0">
              <a:buNone/>
            </a:pPr>
            <a:r>
              <a:rPr lang="en-US" sz="1800" b="1" dirty="0">
                <a:solidFill>
                  <a:srgbClr val="1E2235"/>
                </a:solidFill>
                <a:latin typeface="Microsoft YaHei" pitchFamily="34" charset="0"/>
                <a:ea typeface="Microsoft YaHei" pitchFamily="34" charset="-122"/>
                <a:cs typeface="Microsoft YaHei" pitchFamily="34" charset="-120"/>
              </a:rPr>
              <a:t>操作前审批</a:t>
            </a:r>
            <a:endParaRPr lang="en-US" sz="1800" dirty="0"/>
          </a:p>
        </p:txBody>
      </p:sp>
      <p:sp>
        <p:nvSpPr>
          <p:cNvPr id="19" name="Text 14"/>
          <p:cNvSpPr/>
          <p:nvPr/>
        </p:nvSpPr>
        <p:spPr>
          <a:xfrm>
            <a:off x="2011680"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Microsoft YaHei" pitchFamily="34" charset="0"/>
                <a:ea typeface="Microsoft YaHei" pitchFamily="34" charset="-122"/>
                <a:cs typeface="Microsoft YaHei" pitchFamily="34" charset="-120"/>
              </a:rPr>
              <a:t>中高风险操作显示 RISK-LEVEL；可以批准、取消，或者设置仅限此收件人／仅限此域名／始终允许；多条待审可以一起批准。</a:t>
            </a:r>
            <a:endParaRPr lang="en-US" sz="1300" dirty="0"/>
          </a:p>
        </p:txBody>
      </p:sp>
      <p:sp>
        <p:nvSpPr>
          <p:cNvPr id="20" name="Shape 15"/>
          <p:cNvSpPr/>
          <p:nvPr/>
        </p:nvSpPr>
        <p:spPr>
          <a:xfrm>
            <a:off x="6324448"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21" name="Shape 16"/>
          <p:cNvSpPr/>
          <p:nvPr/>
        </p:nvSpPr>
        <p:spPr>
          <a:xfrm>
            <a:off x="6644488" y="4599432"/>
            <a:ext cx="868680" cy="868680"/>
          </a:xfrm>
          <a:prstGeom prst="roundRect">
            <a:avLst>
              <a:gd name="adj" fmla="val 16842"/>
            </a:avLst>
          </a:prstGeom>
          <a:solidFill>
            <a:srgbClr val="CA5010"/>
          </a:solidFill>
          <a:ln/>
        </p:spPr>
      </p:sp>
      <p:pic>
        <p:nvPicPr>
          <p:cNvPr id="22" name="Image 3" descr="preencoded.png">    </p:cNvPr>
          <p:cNvPicPr>
            <a:picLocks noChangeAspect="1"/>
          </p:cNvPicPr>
          <p:nvPr/>
        </p:nvPicPr>
        <p:blipFill>
          <a:blip r:embed="rId4"/>
          <a:stretch>
            <a:fillRect/>
          </a:stretch>
        </p:blipFill>
        <p:spPr>
          <a:xfrm>
            <a:off x="6854800" y="4809744"/>
            <a:ext cx="448056" cy="448056"/>
          </a:xfrm>
          <a:prstGeom prst="rect">
            <a:avLst/>
          </a:prstGeom>
        </p:spPr>
      </p:pic>
      <p:sp>
        <p:nvSpPr>
          <p:cNvPr id="23" name="Text 17"/>
          <p:cNvSpPr/>
          <p:nvPr/>
        </p:nvSpPr>
        <p:spPr>
          <a:xfrm>
            <a:off x="7696048" y="4636008"/>
            <a:ext cx="3672688" cy="457200"/>
          </a:xfrm>
          <a:prstGeom prst="rect">
            <a:avLst/>
          </a:prstGeom>
          <a:noFill/>
          <a:ln/>
        </p:spPr>
        <p:txBody>
          <a:bodyPr wrap="square" rtlCol="0" anchor="ctr"/>
          <a:lstStyle/>
          <a:p>
            <a:pPr indent="0" marL="0">
              <a:buNone/>
            </a:pPr>
            <a:r>
              <a:rPr lang="en-US" sz="1800" b="1" dirty="0">
                <a:solidFill>
                  <a:srgbClr val="1E2235"/>
                </a:solidFill>
                <a:latin typeface="Microsoft YaHei" pitchFamily="34" charset="0"/>
                <a:ea typeface="Microsoft YaHei" pitchFamily="34" charset="-122"/>
                <a:cs typeface="Microsoft YaHei" pitchFamily="34" charset="-120"/>
              </a:rPr>
              <a:t>新能力</a:t>
            </a:r>
            <a:endParaRPr lang="en-US" sz="1800" dirty="0"/>
          </a:p>
        </p:txBody>
      </p:sp>
      <p:sp>
        <p:nvSpPr>
          <p:cNvPr id="24" name="Text 18"/>
          <p:cNvSpPr/>
          <p:nvPr/>
        </p:nvSpPr>
        <p:spPr>
          <a:xfrm>
            <a:off x="7696048"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Microsoft YaHei" pitchFamily="34" charset="0"/>
                <a:ea typeface="Microsoft YaHei" pitchFamily="34" charset="-122"/>
                <a:cs typeface="Microsoft YaHei" pitchFamily="34" charset="-120"/>
              </a:rPr>
              <a:t>计划提示（上限 25 个）和事件触发任务、工作量级别五档调节质量与成本、自定义技能创建后自动生成技能报告（0–100 分四个维度，另有含安全与 RAI 扫描的 5 道独立关卡）、本机 Edge 浏览器（2026/8 GA）、图像生成、Plugins／MCP 连外部系统。</a:t>
            </a:r>
            <a:endParaRPr lang="en-US" sz="1300" dirty="0"/>
          </a:p>
        </p:txBody>
      </p:sp>
      <p:sp>
        <p:nvSpPr>
          <p:cNvPr id="25" name="Text 1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6" name="Text 2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YaHei" pitchFamily="34" charset="0"/>
                <a:ea typeface="Microsoft YaHei" pitchFamily="34" charset="-122"/>
                <a:cs typeface="Microsoft YaHei" pitchFamily="34" charset="-120"/>
              </a:rPr>
              <a:t>HOW IT WORKS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一次代理式工作流，背后发生什么</a:t>
            </a:r>
            <a:endParaRPr lang="en-US" sz="3000" dirty="0"/>
          </a:p>
        </p:txBody>
      </p:sp>
      <p:sp>
        <p:nvSpPr>
          <p:cNvPr id="5" name="Shape 3"/>
          <p:cNvSpPr/>
          <p:nvPr/>
        </p:nvSpPr>
        <p:spPr>
          <a:xfrm>
            <a:off x="64008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6" name="Shape 4"/>
          <p:cNvSpPr/>
          <p:nvPr/>
        </p:nvSpPr>
        <p:spPr>
          <a:xfrm>
            <a:off x="1042416" y="2697480"/>
            <a:ext cx="768096" cy="768096"/>
          </a:xfrm>
          <a:prstGeom prst="ellipse">
            <a:avLst/>
          </a:prstGeom>
          <a:solidFill>
            <a:srgbClr val="6366F1"/>
          </a:solidFill>
          <a:ln/>
        </p:spPr>
      </p:sp>
      <p:pic>
        <p:nvPicPr>
          <p:cNvPr id="7" name="Image 0" descr="preencoded.png">    </p:cNvPr>
          <p:cNvPicPr>
            <a:picLocks noChangeAspect="1"/>
          </p:cNvPicPr>
          <p:nvPr/>
        </p:nvPicPr>
        <p:blipFill>
          <a:blip r:embed="rId1"/>
          <a:stretch>
            <a:fillRect/>
          </a:stretch>
        </p:blipFill>
        <p:spPr>
          <a:xfrm>
            <a:off x="1207008" y="2862072"/>
            <a:ext cx="438912" cy="438912"/>
          </a:xfrm>
          <a:prstGeom prst="rect">
            <a:avLst/>
          </a:prstGeom>
        </p:spPr>
      </p:pic>
      <p:sp>
        <p:nvSpPr>
          <p:cNvPr id="8" name="Text 5"/>
          <p:cNvSpPr/>
          <p:nvPr/>
        </p:nvSpPr>
        <p:spPr>
          <a:xfrm>
            <a:off x="64008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YaHei" pitchFamily="34" charset="0"/>
                <a:ea typeface="Microsoft YaHei" pitchFamily="34" charset="-122"/>
                <a:cs typeface="Microsoft YaHei" pitchFamily="34" charset="-120"/>
              </a:rPr>
              <a:t>接收目标</a:t>
            </a:r>
            <a:endParaRPr lang="en-US" sz="1400" dirty="0"/>
          </a:p>
        </p:txBody>
      </p:sp>
      <p:sp>
        <p:nvSpPr>
          <p:cNvPr id="9" name="Text 6"/>
          <p:cNvSpPr/>
          <p:nvPr/>
        </p:nvSpPr>
        <p:spPr>
          <a:xfrm>
            <a:off x="64008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上传文件</a:t>
            </a:r>
            <a:endParaRPr lang="en-US" sz="1200" dirty="0"/>
          </a:p>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下达指令</a:t>
            </a:r>
            <a:endParaRPr lang="en-US" sz="1200" dirty="0"/>
          </a:p>
        </p:txBody>
      </p:sp>
      <p:pic>
        <p:nvPicPr>
          <p:cNvPr id="10" name="Image 1" descr="preencoded.png">    </p:cNvPr>
          <p:cNvPicPr>
            <a:picLocks noChangeAspect="1"/>
          </p:cNvPicPr>
          <p:nvPr/>
        </p:nvPicPr>
        <p:blipFill>
          <a:blip r:embed="rId2"/>
          <a:stretch>
            <a:fillRect/>
          </a:stretch>
        </p:blipFill>
        <p:spPr>
          <a:xfrm>
            <a:off x="2259757" y="2971800"/>
            <a:ext cx="201168" cy="201168"/>
          </a:xfrm>
          <a:prstGeom prst="rect">
            <a:avLst/>
          </a:prstGeom>
        </p:spPr>
      </p:pic>
      <p:sp>
        <p:nvSpPr>
          <p:cNvPr id="11" name="Shape 7"/>
          <p:cNvSpPr/>
          <p:nvPr/>
        </p:nvSpPr>
        <p:spPr>
          <a:xfrm>
            <a:off x="2507833"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2" name="Shape 8"/>
          <p:cNvSpPr/>
          <p:nvPr/>
        </p:nvSpPr>
        <p:spPr>
          <a:xfrm>
            <a:off x="2910169" y="2697480"/>
            <a:ext cx="768096" cy="768096"/>
          </a:xfrm>
          <a:prstGeom prst="ellipse">
            <a:avLst/>
          </a:prstGeom>
          <a:solidFill>
            <a:srgbClr val="6366F1"/>
          </a:solidFill>
          <a:ln/>
        </p:spPr>
      </p:sp>
      <p:pic>
        <p:nvPicPr>
          <p:cNvPr id="13" name="Image 2" descr="preencoded.png">    </p:cNvPr>
          <p:cNvPicPr>
            <a:picLocks noChangeAspect="1"/>
          </p:cNvPicPr>
          <p:nvPr/>
        </p:nvPicPr>
        <p:blipFill>
          <a:blip r:embed="rId3"/>
          <a:stretch>
            <a:fillRect/>
          </a:stretch>
        </p:blipFill>
        <p:spPr>
          <a:xfrm>
            <a:off x="3074761" y="2862072"/>
            <a:ext cx="438912" cy="438912"/>
          </a:xfrm>
          <a:prstGeom prst="rect">
            <a:avLst/>
          </a:prstGeom>
        </p:spPr>
      </p:pic>
      <p:sp>
        <p:nvSpPr>
          <p:cNvPr id="14" name="Text 9"/>
          <p:cNvSpPr/>
          <p:nvPr/>
        </p:nvSpPr>
        <p:spPr>
          <a:xfrm>
            <a:off x="2507833"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YaHei" pitchFamily="34" charset="0"/>
                <a:ea typeface="Microsoft YaHei" pitchFamily="34" charset="-122"/>
                <a:cs typeface="Microsoft YaHei" pitchFamily="34" charset="-120"/>
              </a:rPr>
              <a:t>规划拆解</a:t>
            </a:r>
            <a:endParaRPr lang="en-US" sz="1400" dirty="0"/>
          </a:p>
        </p:txBody>
      </p:sp>
      <p:sp>
        <p:nvSpPr>
          <p:cNvPr id="15" name="Text 10"/>
          <p:cNvSpPr/>
          <p:nvPr/>
        </p:nvSpPr>
        <p:spPr>
          <a:xfrm>
            <a:off x="2507833"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理解任务</a:t>
            </a:r>
            <a:endParaRPr lang="en-US" sz="1200" dirty="0"/>
          </a:p>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拆成步骤</a:t>
            </a:r>
            <a:endParaRPr lang="en-US" sz="1200" dirty="0"/>
          </a:p>
        </p:txBody>
      </p:sp>
      <p:pic>
        <p:nvPicPr>
          <p:cNvPr id="16" name="Image 3" descr="preencoded.png">    </p:cNvPr>
          <p:cNvPicPr>
            <a:picLocks noChangeAspect="1"/>
          </p:cNvPicPr>
          <p:nvPr/>
        </p:nvPicPr>
        <p:blipFill>
          <a:blip r:embed="rId4"/>
          <a:stretch>
            <a:fillRect/>
          </a:stretch>
        </p:blipFill>
        <p:spPr>
          <a:xfrm>
            <a:off x="4127510" y="2971800"/>
            <a:ext cx="201168" cy="201168"/>
          </a:xfrm>
          <a:prstGeom prst="rect">
            <a:avLst/>
          </a:prstGeom>
        </p:spPr>
      </p:pic>
      <p:sp>
        <p:nvSpPr>
          <p:cNvPr id="17" name="Shape 11"/>
          <p:cNvSpPr/>
          <p:nvPr/>
        </p:nvSpPr>
        <p:spPr>
          <a:xfrm>
            <a:off x="437558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8" name="Shape 12"/>
          <p:cNvSpPr/>
          <p:nvPr/>
        </p:nvSpPr>
        <p:spPr>
          <a:xfrm>
            <a:off x="4777923" y="2697480"/>
            <a:ext cx="768096" cy="768096"/>
          </a:xfrm>
          <a:prstGeom prst="ellipse">
            <a:avLst/>
          </a:prstGeom>
          <a:solidFill>
            <a:srgbClr val="6366F1"/>
          </a:solidFill>
          <a:ln/>
        </p:spPr>
      </p:sp>
      <p:pic>
        <p:nvPicPr>
          <p:cNvPr id="19" name="Image 4" descr="preencoded.png">    </p:cNvPr>
          <p:cNvPicPr>
            <a:picLocks noChangeAspect="1"/>
          </p:cNvPicPr>
          <p:nvPr/>
        </p:nvPicPr>
        <p:blipFill>
          <a:blip r:embed="rId5"/>
          <a:stretch>
            <a:fillRect/>
          </a:stretch>
        </p:blipFill>
        <p:spPr>
          <a:xfrm>
            <a:off x="4942515" y="2862072"/>
            <a:ext cx="438912" cy="438912"/>
          </a:xfrm>
          <a:prstGeom prst="rect">
            <a:avLst/>
          </a:prstGeom>
        </p:spPr>
      </p:pic>
      <p:sp>
        <p:nvSpPr>
          <p:cNvPr id="20" name="Text 13"/>
          <p:cNvSpPr/>
          <p:nvPr/>
        </p:nvSpPr>
        <p:spPr>
          <a:xfrm>
            <a:off x="437558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YaHei" pitchFamily="34" charset="0"/>
                <a:ea typeface="Microsoft YaHei" pitchFamily="34" charset="-122"/>
                <a:cs typeface="Microsoft YaHei" pitchFamily="34" charset="-120"/>
              </a:rPr>
              <a:t>加载技能</a:t>
            </a:r>
            <a:endParaRPr lang="en-US" sz="1400" dirty="0"/>
          </a:p>
        </p:txBody>
      </p:sp>
      <p:sp>
        <p:nvSpPr>
          <p:cNvPr id="21" name="Text 14"/>
          <p:cNvSpPr/>
          <p:nvPr/>
        </p:nvSpPr>
        <p:spPr>
          <a:xfrm>
            <a:off x="437558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14 内置</a:t>
            </a:r>
            <a:endParaRPr lang="en-US" sz="1200" dirty="0"/>
          </a:p>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 自定义技能</a:t>
            </a:r>
            <a:endParaRPr lang="en-US" sz="1200" dirty="0"/>
          </a:p>
        </p:txBody>
      </p:sp>
      <p:pic>
        <p:nvPicPr>
          <p:cNvPr id="22" name="Image 5" descr="preencoded.png">    </p:cNvPr>
          <p:cNvPicPr>
            <a:picLocks noChangeAspect="1"/>
          </p:cNvPicPr>
          <p:nvPr/>
        </p:nvPicPr>
        <p:blipFill>
          <a:blip r:embed="rId6"/>
          <a:stretch>
            <a:fillRect/>
          </a:stretch>
        </p:blipFill>
        <p:spPr>
          <a:xfrm>
            <a:off x="5995264" y="2971800"/>
            <a:ext cx="201168" cy="201168"/>
          </a:xfrm>
          <a:prstGeom prst="rect">
            <a:avLst/>
          </a:prstGeom>
        </p:spPr>
      </p:pic>
      <p:sp>
        <p:nvSpPr>
          <p:cNvPr id="23" name="Shape 15"/>
          <p:cNvSpPr/>
          <p:nvPr/>
        </p:nvSpPr>
        <p:spPr>
          <a:xfrm>
            <a:off x="624334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24" name="Shape 16"/>
          <p:cNvSpPr/>
          <p:nvPr/>
        </p:nvSpPr>
        <p:spPr>
          <a:xfrm>
            <a:off x="6645676" y="2697480"/>
            <a:ext cx="768096" cy="768096"/>
          </a:xfrm>
          <a:prstGeom prst="ellipse">
            <a:avLst/>
          </a:prstGeom>
          <a:solidFill>
            <a:srgbClr val="6366F1"/>
          </a:solidFill>
          <a:ln/>
        </p:spPr>
      </p:sp>
      <p:pic>
        <p:nvPicPr>
          <p:cNvPr id="25" name="Image 6" descr="preencoded.png">    </p:cNvPr>
          <p:cNvPicPr>
            <a:picLocks noChangeAspect="1"/>
          </p:cNvPicPr>
          <p:nvPr/>
        </p:nvPicPr>
        <p:blipFill>
          <a:blip r:embed="rId7"/>
          <a:stretch>
            <a:fillRect/>
          </a:stretch>
        </p:blipFill>
        <p:spPr>
          <a:xfrm>
            <a:off x="6810268" y="2862072"/>
            <a:ext cx="438912" cy="438912"/>
          </a:xfrm>
          <a:prstGeom prst="rect">
            <a:avLst/>
          </a:prstGeom>
        </p:spPr>
      </p:pic>
      <p:sp>
        <p:nvSpPr>
          <p:cNvPr id="26" name="Text 17"/>
          <p:cNvSpPr/>
          <p:nvPr/>
        </p:nvSpPr>
        <p:spPr>
          <a:xfrm>
            <a:off x="624334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YaHei" pitchFamily="34" charset="0"/>
                <a:ea typeface="Microsoft YaHei" pitchFamily="34" charset="-122"/>
                <a:cs typeface="Microsoft YaHei" pitchFamily="34" charset="-120"/>
              </a:rPr>
              <a:t>执行产出</a:t>
            </a:r>
            <a:endParaRPr lang="en-US" sz="1400" dirty="0"/>
          </a:p>
        </p:txBody>
      </p:sp>
      <p:sp>
        <p:nvSpPr>
          <p:cNvPr id="27" name="Text 18"/>
          <p:cNvSpPr/>
          <p:nvPr/>
        </p:nvSpPr>
        <p:spPr>
          <a:xfrm>
            <a:off x="624334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创建文档</a:t>
            </a:r>
            <a:endParaRPr lang="en-US" sz="1200" dirty="0"/>
          </a:p>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电子表格／邮件</a:t>
            </a:r>
            <a:endParaRPr lang="en-US" sz="1200" dirty="0"/>
          </a:p>
        </p:txBody>
      </p:sp>
      <p:pic>
        <p:nvPicPr>
          <p:cNvPr id="28" name="Image 7" descr="preencoded.png">    </p:cNvPr>
          <p:cNvPicPr>
            <a:picLocks noChangeAspect="1"/>
          </p:cNvPicPr>
          <p:nvPr/>
        </p:nvPicPr>
        <p:blipFill>
          <a:blip r:embed="rId8"/>
          <a:stretch>
            <a:fillRect/>
          </a:stretch>
        </p:blipFill>
        <p:spPr>
          <a:xfrm>
            <a:off x="7863017" y="2971800"/>
            <a:ext cx="201168" cy="201168"/>
          </a:xfrm>
          <a:prstGeom prst="rect">
            <a:avLst/>
          </a:prstGeom>
        </p:spPr>
      </p:pic>
      <p:sp>
        <p:nvSpPr>
          <p:cNvPr id="29" name="Shape 19"/>
          <p:cNvSpPr/>
          <p:nvPr/>
        </p:nvSpPr>
        <p:spPr>
          <a:xfrm>
            <a:off x="8111094"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0" name="Shape 20"/>
          <p:cNvSpPr/>
          <p:nvPr/>
        </p:nvSpPr>
        <p:spPr>
          <a:xfrm>
            <a:off x="8513430" y="2697480"/>
            <a:ext cx="768096" cy="768096"/>
          </a:xfrm>
          <a:prstGeom prst="ellipse">
            <a:avLst/>
          </a:prstGeom>
          <a:solidFill>
            <a:srgbClr val="6366F1"/>
          </a:solidFill>
          <a:ln/>
        </p:spPr>
      </p:sp>
      <p:pic>
        <p:nvPicPr>
          <p:cNvPr id="31" name="Image 8" descr="preencoded.png">    </p:cNvPr>
          <p:cNvPicPr>
            <a:picLocks noChangeAspect="1"/>
          </p:cNvPicPr>
          <p:nvPr/>
        </p:nvPicPr>
        <p:blipFill>
          <a:blip r:embed="rId9"/>
          <a:stretch>
            <a:fillRect/>
          </a:stretch>
        </p:blipFill>
        <p:spPr>
          <a:xfrm>
            <a:off x="8678022" y="2862072"/>
            <a:ext cx="438912" cy="438912"/>
          </a:xfrm>
          <a:prstGeom prst="rect">
            <a:avLst/>
          </a:prstGeom>
        </p:spPr>
      </p:pic>
      <p:sp>
        <p:nvSpPr>
          <p:cNvPr id="32" name="Text 21"/>
          <p:cNvSpPr/>
          <p:nvPr/>
        </p:nvSpPr>
        <p:spPr>
          <a:xfrm>
            <a:off x="8111094"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YaHei" pitchFamily="34" charset="0"/>
                <a:ea typeface="Microsoft YaHei" pitchFamily="34" charset="-122"/>
                <a:cs typeface="Microsoft YaHei" pitchFamily="34" charset="-120"/>
              </a:rPr>
              <a:t>自检</a:t>
            </a:r>
            <a:endParaRPr lang="en-US" sz="1400" dirty="0"/>
          </a:p>
        </p:txBody>
      </p:sp>
      <p:sp>
        <p:nvSpPr>
          <p:cNvPr id="33" name="Text 22"/>
          <p:cNvSpPr/>
          <p:nvPr/>
        </p:nvSpPr>
        <p:spPr>
          <a:xfrm>
            <a:off x="8111094"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核对数字</a:t>
            </a:r>
            <a:endParaRPr lang="en-US" sz="1200" dirty="0"/>
          </a:p>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与一致性</a:t>
            </a:r>
            <a:endParaRPr lang="en-US" sz="1200" dirty="0"/>
          </a:p>
        </p:txBody>
      </p:sp>
      <p:pic>
        <p:nvPicPr>
          <p:cNvPr id="34" name="Image 9" descr="preencoded.png">    </p:cNvPr>
          <p:cNvPicPr>
            <a:picLocks noChangeAspect="1"/>
          </p:cNvPicPr>
          <p:nvPr/>
        </p:nvPicPr>
        <p:blipFill>
          <a:blip r:embed="rId10"/>
          <a:stretch>
            <a:fillRect/>
          </a:stretch>
        </p:blipFill>
        <p:spPr>
          <a:xfrm>
            <a:off x="9730770" y="2971800"/>
            <a:ext cx="201168" cy="201168"/>
          </a:xfrm>
          <a:prstGeom prst="rect">
            <a:avLst/>
          </a:prstGeom>
        </p:spPr>
      </p:pic>
      <p:sp>
        <p:nvSpPr>
          <p:cNvPr id="35" name="Shape 23"/>
          <p:cNvSpPr/>
          <p:nvPr/>
        </p:nvSpPr>
        <p:spPr>
          <a:xfrm>
            <a:off x="997884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6" name="Shape 24"/>
          <p:cNvSpPr/>
          <p:nvPr/>
        </p:nvSpPr>
        <p:spPr>
          <a:xfrm>
            <a:off x="10381183" y="2697480"/>
            <a:ext cx="768096" cy="768096"/>
          </a:xfrm>
          <a:prstGeom prst="ellipse">
            <a:avLst/>
          </a:prstGeom>
          <a:solidFill>
            <a:srgbClr val="8B5CF6"/>
          </a:solidFill>
          <a:ln/>
        </p:spPr>
      </p:sp>
      <p:pic>
        <p:nvPicPr>
          <p:cNvPr id="37" name="Image 10" descr="preencoded.png">    </p:cNvPr>
          <p:cNvPicPr>
            <a:picLocks noChangeAspect="1"/>
          </p:cNvPicPr>
          <p:nvPr/>
        </p:nvPicPr>
        <p:blipFill>
          <a:blip r:embed="rId11"/>
          <a:stretch>
            <a:fillRect/>
          </a:stretch>
        </p:blipFill>
        <p:spPr>
          <a:xfrm>
            <a:off x="10545775" y="2862072"/>
            <a:ext cx="438912" cy="438912"/>
          </a:xfrm>
          <a:prstGeom prst="rect">
            <a:avLst/>
          </a:prstGeom>
        </p:spPr>
      </p:pic>
      <p:sp>
        <p:nvSpPr>
          <p:cNvPr id="38" name="Text 25"/>
          <p:cNvSpPr/>
          <p:nvPr/>
        </p:nvSpPr>
        <p:spPr>
          <a:xfrm>
            <a:off x="997884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Microsoft YaHei" pitchFamily="34" charset="0"/>
                <a:ea typeface="Microsoft YaHei" pitchFamily="34" charset="-122"/>
                <a:cs typeface="Microsoft YaHei" pitchFamily="34" charset="-120"/>
              </a:rPr>
              <a:t>操作前审批</a:t>
            </a:r>
            <a:endParaRPr lang="en-US" sz="1400" dirty="0"/>
          </a:p>
        </p:txBody>
      </p:sp>
      <p:sp>
        <p:nvSpPr>
          <p:cNvPr id="39" name="Text 26"/>
          <p:cNvSpPr/>
          <p:nvPr/>
        </p:nvSpPr>
        <p:spPr>
          <a:xfrm>
            <a:off x="997884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对外操作</a:t>
            </a:r>
            <a:endParaRPr lang="en-US" sz="1200" dirty="0"/>
          </a:p>
          <a:p>
            <a:pPr algn="ctr" indent="0" marL="0">
              <a:lnSpc>
                <a:spcPct val="110000"/>
              </a:lnSpc>
              <a:buNone/>
            </a:pPr>
            <a:r>
              <a:rPr lang="en-US" sz="1200" dirty="0">
                <a:solidFill>
                  <a:srgbClr val="5B6079"/>
                </a:solidFill>
                <a:latin typeface="Microsoft YaHei" pitchFamily="34" charset="0"/>
                <a:ea typeface="Microsoft YaHei" pitchFamily="34" charset="-122"/>
                <a:cs typeface="Microsoft YaHei" pitchFamily="34" charset="-120"/>
              </a:rPr>
              <a:t>等你批准</a:t>
            </a:r>
            <a:endParaRPr lang="en-US" sz="1200" dirty="0"/>
          </a:p>
        </p:txBody>
      </p:sp>
      <p:sp>
        <p:nvSpPr>
          <p:cNvPr id="40" name="Text 27"/>
          <p:cNvSpPr/>
          <p:nvPr/>
        </p:nvSpPr>
        <p:spPr>
          <a:xfrm>
            <a:off x="640080" y="4937760"/>
            <a:ext cx="10972800" cy="320040"/>
          </a:xfrm>
          <a:prstGeom prst="rect">
            <a:avLst/>
          </a:prstGeom>
          <a:noFill/>
          <a:ln/>
        </p:spPr>
        <p:txBody>
          <a:bodyPr wrap="square" rtlCol="0" anchor="ctr"/>
          <a:lstStyle/>
          <a:p>
            <a:pPr algn="ctr" indent="0" marL="0">
              <a:buNone/>
            </a:pPr>
            <a:r>
              <a:rPr lang="en-US" sz="1400" i="1" dirty="0">
                <a:solidFill>
                  <a:srgbClr val="5B6079"/>
                </a:solidFill>
                <a:latin typeface="Microsoft YaHei" pitchFamily="34" charset="0"/>
                <a:ea typeface="Microsoft YaHei" pitchFamily="34" charset="-122"/>
                <a:cs typeface="Microsoft YaHei" pitchFamily="34" charset="-120"/>
              </a:rPr>
              <a:t>整个过程在「工作区」面板里透明呈现；可以软／硬暂停、恢复或取消任务。</a:t>
            </a:r>
            <a:endParaRPr lang="en-US" sz="1400" dirty="0"/>
          </a:p>
        </p:txBody>
      </p:sp>
      <p:sp>
        <p:nvSpPr>
          <p:cNvPr id="41" name="Text 28"/>
          <p:cNvSpPr/>
          <p:nvPr/>
        </p:nvSpPr>
        <p:spPr>
          <a:xfrm>
            <a:off x="640080" y="5285232"/>
            <a:ext cx="10972800" cy="457200"/>
          </a:xfrm>
          <a:prstGeom prst="rect">
            <a:avLst/>
          </a:prstGeom>
          <a:noFill/>
          <a:ln/>
        </p:spPr>
        <p:txBody>
          <a:bodyPr wrap="square" rtlCol="0" anchor="ctr"/>
          <a:lstStyle/>
          <a:p>
            <a:pPr algn="ctr" indent="0" marL="0">
              <a:buNone/>
            </a:pPr>
            <a:r>
              <a:rPr lang="en-US" sz="1300" i="1" dirty="0">
                <a:solidFill>
                  <a:srgbClr val="5B6079"/>
                </a:solidFill>
                <a:latin typeface="Microsoft YaHei" pitchFamily="34" charset="0"/>
                <a:ea typeface="Microsoft YaHei" pitchFamily="34" charset="-122"/>
                <a:cs typeface="Microsoft YaHei" pitchFamily="34" charset="-120"/>
              </a:rPr>
              <a:t>启动方式不只是聊天下指令：也能设置「收到指定邮件／被 @提及时」自动触发（事件驱动任务），一样走相同的自检和审批流程。</a:t>
            </a:r>
            <a:endParaRPr lang="en-US" sz="1300" dirty="0"/>
          </a:p>
        </p:txBody>
      </p:sp>
      <p:sp>
        <p:nvSpPr>
          <p:cNvPr id="42" name="Text 2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43" name="Text 3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YaHei" pitchFamily="34" charset="0"/>
                <a:ea typeface="Microsoft YaHei" pitchFamily="34" charset="-122"/>
                <a:cs typeface="Microsoft YaHei" pitchFamily="34" charset="-120"/>
              </a:rPr>
              <a:t>BEFORE YOU START</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练习环境准备</a:t>
            </a:r>
            <a:endParaRPr lang="en-US" sz="3000" dirty="0"/>
          </a:p>
        </p:txBody>
      </p:sp>
      <p:sp>
        <p:nvSpPr>
          <p:cNvPr id="5" name="Text 3"/>
          <p:cNvSpPr/>
          <p:nvPr/>
        </p:nvSpPr>
        <p:spPr>
          <a:xfrm>
            <a:off x="640080" y="1481328"/>
            <a:ext cx="10972800" cy="329184"/>
          </a:xfrm>
          <a:prstGeom prst="rect">
            <a:avLst/>
          </a:prstGeom>
          <a:noFill/>
          <a:ln/>
        </p:spPr>
        <p:txBody>
          <a:bodyPr wrap="square" rtlCol="0" anchor="ctr"/>
          <a:lstStyle/>
          <a:p>
            <a:pPr indent="0" marL="0">
              <a:buNone/>
            </a:pPr>
            <a:r>
              <a:rPr lang="en-US" sz="1300" dirty="0">
                <a:solidFill>
                  <a:srgbClr val="5B6079"/>
                </a:solidFill>
                <a:latin typeface="Microsoft YaHei" pitchFamily="34" charset="0"/>
                <a:ea typeface="Microsoft YaHei" pitchFamily="34" charset="-122"/>
                <a:cs typeface="Microsoft YaHei" pitchFamily="34" charset="-120"/>
              </a:rPr>
              <a:t>素材课前先放进 OneDrive 的 文件/Cowork_Lab/公共服务/，练习时 Cowork 自己去找 · 准备时间 约 25 分钟</a:t>
            </a:r>
            <a:endParaRPr lang="en-US" sz="1300" dirty="0"/>
          </a:p>
        </p:txBody>
      </p:sp>
      <p:sp>
        <p:nvSpPr>
          <p:cNvPr id="6" name="Shape 4"/>
          <p:cNvSpPr/>
          <p:nvPr/>
        </p:nvSpPr>
        <p:spPr>
          <a:xfrm>
            <a:off x="640080" y="1874520"/>
            <a:ext cx="5272888" cy="777240"/>
          </a:xfrm>
          <a:prstGeom prst="rect">
            <a:avLst/>
          </a:prstGeom>
          <a:solidFill>
            <a:srgbClr val="FFFFFF"/>
          </a:solidFill>
          <a:ln w="12700">
            <a:solidFill>
              <a:srgbClr val="E4E7F2"/>
            </a:solidFill>
            <a:prstDash val="solid"/>
          </a:ln>
        </p:spPr>
      </p:sp>
      <p:sp>
        <p:nvSpPr>
          <p:cNvPr id="7" name="Shape 5"/>
          <p:cNvSpPr/>
          <p:nvPr/>
        </p:nvSpPr>
        <p:spPr>
          <a:xfrm>
            <a:off x="640080" y="1874520"/>
            <a:ext cx="68580" cy="777240"/>
          </a:xfrm>
          <a:prstGeom prst="rect">
            <a:avLst/>
          </a:prstGeom>
          <a:solidFill>
            <a:srgbClr val="6366F1"/>
          </a:solidFill>
          <a:ln/>
        </p:spPr>
      </p:sp>
      <p:sp>
        <p:nvSpPr>
          <p:cNvPr id="8" name="Text 6"/>
          <p:cNvSpPr/>
          <p:nvPr/>
        </p:nvSpPr>
        <p:spPr>
          <a:xfrm>
            <a:off x="804672" y="1929384"/>
            <a:ext cx="411480" cy="329184"/>
          </a:xfrm>
          <a:prstGeom prst="rect">
            <a:avLst/>
          </a:prstGeom>
          <a:noFill/>
          <a:ln/>
        </p:spPr>
        <p:txBody>
          <a:bodyPr wrap="square" rtlCol="0" anchor="ctr"/>
          <a:lstStyle/>
          <a:p>
            <a:pPr algn="ctr" indent="0" marL="0">
              <a:buNone/>
            </a:pPr>
            <a:r>
              <a:rPr lang="en-US" sz="1500" dirty="0">
                <a:solidFill>
                  <a:srgbClr val="000000"/>
                </a:solidFill>
                <a:latin typeface="Microsoft YaHei" pitchFamily="34" charset="0"/>
                <a:ea typeface="Microsoft YaHei" pitchFamily="34" charset="-122"/>
                <a:cs typeface="Microsoft YaHei" pitchFamily="34" charset="-120"/>
              </a:rPr>
              <a:t>📅</a:t>
            </a:r>
            <a:endParaRPr lang="en-US" sz="1500" dirty="0"/>
          </a:p>
        </p:txBody>
      </p:sp>
      <p:sp>
        <p:nvSpPr>
          <p:cNvPr id="9" name="Text 7"/>
          <p:cNvSpPr/>
          <p:nvPr/>
        </p:nvSpPr>
        <p:spPr>
          <a:xfrm>
            <a:off x="1243584" y="1920240"/>
            <a:ext cx="4495648" cy="292608"/>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 先看懂这份教材的日期设定</a:t>
            </a:r>
            <a:endParaRPr lang="en-US" sz="1250" dirty="0"/>
          </a:p>
        </p:txBody>
      </p:sp>
      <p:sp>
        <p:nvSpPr>
          <p:cNvPr id="10" name="Text 8"/>
          <p:cNvSpPr/>
          <p:nvPr/>
        </p:nvSpPr>
        <p:spPr>
          <a:xfrm>
            <a:off x="1243584"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YaHei" pitchFamily="34" charset="0"/>
                <a:ea typeface="Microsoft YaHei" pitchFamily="34" charset="-122"/>
                <a:cs typeface="Microsoft YaHei" pitchFamily="34" charset="-120"/>
              </a:rPr>
              <a:t>素材里的日期是固定写死的模拟日期：各场景各自有自己的数据截止日，gov4 的服务日是2026-11-06。</a:t>
            </a:r>
            <a:endParaRPr lang="en-US" sz="1050" dirty="0"/>
          </a:p>
        </p:txBody>
      </p:sp>
      <p:sp>
        <p:nvSpPr>
          <p:cNvPr id="11" name="Shape 9"/>
          <p:cNvSpPr/>
          <p:nvPr/>
        </p:nvSpPr>
        <p:spPr>
          <a:xfrm>
            <a:off x="6278728" y="1874520"/>
            <a:ext cx="5272888" cy="777240"/>
          </a:xfrm>
          <a:prstGeom prst="rect">
            <a:avLst/>
          </a:prstGeom>
          <a:solidFill>
            <a:srgbClr val="FFFFFF"/>
          </a:solidFill>
          <a:ln w="12700">
            <a:solidFill>
              <a:srgbClr val="E4E7F2"/>
            </a:solidFill>
            <a:prstDash val="solid"/>
          </a:ln>
        </p:spPr>
      </p:sp>
      <p:sp>
        <p:nvSpPr>
          <p:cNvPr id="12" name="Shape 10"/>
          <p:cNvSpPr/>
          <p:nvPr/>
        </p:nvSpPr>
        <p:spPr>
          <a:xfrm>
            <a:off x="6278728" y="1874520"/>
            <a:ext cx="68580" cy="777240"/>
          </a:xfrm>
          <a:prstGeom prst="rect">
            <a:avLst/>
          </a:prstGeom>
          <a:solidFill>
            <a:srgbClr val="6366F1"/>
          </a:solidFill>
          <a:ln/>
        </p:spPr>
      </p:sp>
      <p:sp>
        <p:nvSpPr>
          <p:cNvPr id="13" name="Text 11"/>
          <p:cNvSpPr/>
          <p:nvPr/>
        </p:nvSpPr>
        <p:spPr>
          <a:xfrm>
            <a:off x="6443320" y="1929384"/>
            <a:ext cx="411480" cy="329184"/>
          </a:xfrm>
          <a:prstGeom prst="rect">
            <a:avLst/>
          </a:prstGeom>
          <a:noFill/>
          <a:ln/>
        </p:spPr>
        <p:txBody>
          <a:bodyPr wrap="square" rtlCol="0" anchor="ctr"/>
          <a:lstStyle/>
          <a:p>
            <a:pPr algn="ctr" indent="0" marL="0">
              <a:buNone/>
            </a:pPr>
            <a:r>
              <a:rPr lang="en-US" sz="1500" dirty="0">
                <a:solidFill>
                  <a:srgbClr val="000000"/>
                </a:solidFill>
                <a:latin typeface="Microsoft YaHei" pitchFamily="34" charset="0"/>
                <a:ea typeface="Microsoft YaHei" pitchFamily="34" charset="-122"/>
                <a:cs typeface="Microsoft YaHei" pitchFamily="34" charset="-120"/>
              </a:rPr>
              <a:t>📁</a:t>
            </a:r>
            <a:endParaRPr lang="en-US" sz="1500" dirty="0"/>
          </a:p>
        </p:txBody>
      </p:sp>
      <p:sp>
        <p:nvSpPr>
          <p:cNvPr id="14" name="Text 12"/>
          <p:cNvSpPr/>
          <p:nvPr/>
        </p:nvSpPr>
        <p:spPr>
          <a:xfrm>
            <a:off x="6882232" y="1920240"/>
            <a:ext cx="4495648" cy="292608"/>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建立 OneDrive 文件夹，把七个场景的素材放进去</a:t>
            </a:r>
            <a:endParaRPr lang="en-US" sz="1250" dirty="0"/>
          </a:p>
        </p:txBody>
      </p:sp>
      <p:sp>
        <p:nvSpPr>
          <p:cNvPr id="15" name="Text 13"/>
          <p:cNvSpPr/>
          <p:nvPr/>
        </p:nvSpPr>
        <p:spPr>
          <a:xfrm>
            <a:off x="6882232" y="2194560"/>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YaHei" pitchFamily="34" charset="0"/>
                <a:ea typeface="Microsoft YaHei" pitchFamily="34" charset="-122"/>
                <a:cs typeface="Microsoft YaHei" pitchFamily="34" charset="-120"/>
              </a:rPr>
              <a:t>在 OneDrive 建立 文件/Cowork_Lab/公共服务/…</a:t>
            </a:r>
            <a:endParaRPr lang="en-US" sz="1050" dirty="0"/>
          </a:p>
        </p:txBody>
      </p:sp>
      <p:sp>
        <p:nvSpPr>
          <p:cNvPr id="16" name="Shape 14"/>
          <p:cNvSpPr/>
          <p:nvPr/>
        </p:nvSpPr>
        <p:spPr>
          <a:xfrm>
            <a:off x="640080" y="2779776"/>
            <a:ext cx="5272888" cy="777240"/>
          </a:xfrm>
          <a:prstGeom prst="rect">
            <a:avLst/>
          </a:prstGeom>
          <a:solidFill>
            <a:srgbClr val="FFFFFF"/>
          </a:solidFill>
          <a:ln w="12700">
            <a:solidFill>
              <a:srgbClr val="E4E7F2"/>
            </a:solidFill>
            <a:prstDash val="solid"/>
          </a:ln>
        </p:spPr>
      </p:sp>
      <p:sp>
        <p:nvSpPr>
          <p:cNvPr id="17" name="Shape 15"/>
          <p:cNvSpPr/>
          <p:nvPr/>
        </p:nvSpPr>
        <p:spPr>
          <a:xfrm>
            <a:off x="640080" y="2779776"/>
            <a:ext cx="68580" cy="777240"/>
          </a:xfrm>
          <a:prstGeom prst="rect">
            <a:avLst/>
          </a:prstGeom>
          <a:solidFill>
            <a:srgbClr val="6366F1"/>
          </a:solidFill>
          <a:ln/>
        </p:spPr>
      </p:sp>
      <p:sp>
        <p:nvSpPr>
          <p:cNvPr id="18" name="Text 16"/>
          <p:cNvSpPr/>
          <p:nvPr/>
        </p:nvSpPr>
        <p:spPr>
          <a:xfrm>
            <a:off x="804672" y="2834640"/>
            <a:ext cx="411480" cy="329184"/>
          </a:xfrm>
          <a:prstGeom prst="rect">
            <a:avLst/>
          </a:prstGeom>
          <a:noFill/>
          <a:ln/>
        </p:spPr>
        <p:txBody>
          <a:bodyPr wrap="square" rtlCol="0" anchor="ctr"/>
          <a:lstStyle/>
          <a:p>
            <a:pPr algn="ctr" indent="0" marL="0">
              <a:buNone/>
            </a:pPr>
            <a:r>
              <a:rPr lang="en-US" sz="1500" dirty="0">
                <a:solidFill>
                  <a:srgbClr val="000000"/>
                </a:solidFill>
                <a:latin typeface="Microsoft YaHei" pitchFamily="34" charset="0"/>
                <a:ea typeface="Microsoft YaHei" pitchFamily="34" charset="-122"/>
                <a:cs typeface="Microsoft YaHei" pitchFamily="34" charset="-120"/>
              </a:rPr>
              <a:t>📇</a:t>
            </a:r>
            <a:endParaRPr lang="en-US" sz="1500" dirty="0"/>
          </a:p>
        </p:txBody>
      </p:sp>
      <p:sp>
        <p:nvSpPr>
          <p:cNvPr id="19" name="Text 17"/>
          <p:cNvSpPr/>
          <p:nvPr/>
        </p:nvSpPr>
        <p:spPr>
          <a:xfrm>
            <a:off x="1243584" y="2825496"/>
            <a:ext cx="4495648" cy="292608"/>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把服务窗口清单的邮箱栏填上真的收得到信的账号（gov1 会用到）</a:t>
            </a:r>
            <a:endParaRPr lang="en-US" sz="1250" dirty="0"/>
          </a:p>
        </p:txBody>
      </p:sp>
      <p:sp>
        <p:nvSpPr>
          <p:cNvPr id="20" name="Text 18"/>
          <p:cNvSpPr/>
          <p:nvPr/>
        </p:nvSpPr>
        <p:spPr>
          <a:xfrm>
            <a:off x="1243584"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YaHei" pitchFamily="34" charset="0"/>
                <a:ea typeface="Microsoft YaHei" pitchFamily="34" charset="-122"/>
                <a:cs typeface="Microsoft YaHei" pitchFamily="34" charset="-120"/>
              </a:rPr>
              <a:t>GOV1_服务窗口清单.md 在 GOV1_服务邮箱分流 子文件夹里，里面每个服务项目的邮箱栏目前是占位符。</a:t>
            </a:r>
            <a:endParaRPr lang="en-US" sz="1050" dirty="0"/>
          </a:p>
        </p:txBody>
      </p:sp>
      <p:sp>
        <p:nvSpPr>
          <p:cNvPr id="21" name="Shape 19"/>
          <p:cNvSpPr/>
          <p:nvPr/>
        </p:nvSpPr>
        <p:spPr>
          <a:xfrm>
            <a:off x="6278728" y="2779776"/>
            <a:ext cx="5272888" cy="777240"/>
          </a:xfrm>
          <a:prstGeom prst="rect">
            <a:avLst/>
          </a:prstGeom>
          <a:solidFill>
            <a:srgbClr val="FFFFFF"/>
          </a:solidFill>
          <a:ln w="12700">
            <a:solidFill>
              <a:srgbClr val="E4E7F2"/>
            </a:solidFill>
            <a:prstDash val="solid"/>
          </a:ln>
        </p:spPr>
      </p:sp>
      <p:sp>
        <p:nvSpPr>
          <p:cNvPr id="22" name="Shape 20"/>
          <p:cNvSpPr/>
          <p:nvPr/>
        </p:nvSpPr>
        <p:spPr>
          <a:xfrm>
            <a:off x="6278728" y="2779776"/>
            <a:ext cx="68580" cy="777240"/>
          </a:xfrm>
          <a:prstGeom prst="rect">
            <a:avLst/>
          </a:prstGeom>
          <a:solidFill>
            <a:srgbClr val="6366F1"/>
          </a:solidFill>
          <a:ln/>
        </p:spPr>
      </p:sp>
      <p:sp>
        <p:nvSpPr>
          <p:cNvPr id="23" name="Text 21"/>
          <p:cNvSpPr/>
          <p:nvPr/>
        </p:nvSpPr>
        <p:spPr>
          <a:xfrm>
            <a:off x="6443320" y="2834640"/>
            <a:ext cx="411480" cy="329184"/>
          </a:xfrm>
          <a:prstGeom prst="rect">
            <a:avLst/>
          </a:prstGeom>
          <a:noFill/>
          <a:ln/>
        </p:spPr>
        <p:txBody>
          <a:bodyPr wrap="square" rtlCol="0" anchor="ctr"/>
          <a:lstStyle/>
          <a:p>
            <a:pPr algn="ctr" indent="0" marL="0">
              <a:buNone/>
            </a:pPr>
            <a:r>
              <a:rPr lang="en-US" sz="1500" dirty="0">
                <a:solidFill>
                  <a:srgbClr val="000000"/>
                </a:solidFill>
                <a:latin typeface="Microsoft YaHei" pitchFamily="34" charset="0"/>
                <a:ea typeface="Microsoft YaHei" pitchFamily="34" charset="-122"/>
                <a:cs typeface="Microsoft YaHei" pitchFamily="34" charset="-120"/>
              </a:rPr>
              <a:t>📬</a:t>
            </a:r>
            <a:endParaRPr lang="en-US" sz="1500" dirty="0"/>
          </a:p>
        </p:txBody>
      </p:sp>
      <p:sp>
        <p:nvSpPr>
          <p:cNvPr id="24" name="Text 22"/>
          <p:cNvSpPr/>
          <p:nvPr/>
        </p:nvSpPr>
        <p:spPr>
          <a:xfrm>
            <a:off x="6882232" y="2825496"/>
            <a:ext cx="4495648" cy="292608"/>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建好共用服务邮箱，贴好队列与路由指南（gov1 会用到）</a:t>
            </a:r>
            <a:endParaRPr lang="en-US" sz="1250" dirty="0"/>
          </a:p>
        </p:txBody>
      </p:sp>
      <p:sp>
        <p:nvSpPr>
          <p:cNvPr id="25" name="Text 23"/>
          <p:cNvSpPr/>
          <p:nvPr/>
        </p:nvSpPr>
        <p:spPr>
          <a:xfrm>
            <a:off x="6882232" y="3099816"/>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YaHei" pitchFamily="34" charset="0"/>
                <a:ea typeface="Microsoft YaHei" pitchFamily="34" charset="-122"/>
                <a:cs typeface="Microsoft YaHei" pitchFamily="34" charset="-120"/>
              </a:rPr>
              <a:t>确认你有一个共用的服务邮箱（或指定一个测试账号当作它）…</a:t>
            </a:r>
            <a:endParaRPr lang="en-US" sz="1050" dirty="0"/>
          </a:p>
        </p:txBody>
      </p:sp>
      <p:sp>
        <p:nvSpPr>
          <p:cNvPr id="26" name="Shape 24"/>
          <p:cNvSpPr/>
          <p:nvPr/>
        </p:nvSpPr>
        <p:spPr>
          <a:xfrm>
            <a:off x="640080" y="3685032"/>
            <a:ext cx="5272888" cy="777240"/>
          </a:xfrm>
          <a:prstGeom prst="rect">
            <a:avLst/>
          </a:prstGeom>
          <a:solidFill>
            <a:srgbClr val="FFFFFF"/>
          </a:solidFill>
          <a:ln w="12700">
            <a:solidFill>
              <a:srgbClr val="E4E7F2"/>
            </a:solidFill>
            <a:prstDash val="solid"/>
          </a:ln>
        </p:spPr>
      </p:sp>
      <p:sp>
        <p:nvSpPr>
          <p:cNvPr id="27" name="Shape 25"/>
          <p:cNvSpPr/>
          <p:nvPr/>
        </p:nvSpPr>
        <p:spPr>
          <a:xfrm>
            <a:off x="640080" y="3685032"/>
            <a:ext cx="68580" cy="777240"/>
          </a:xfrm>
          <a:prstGeom prst="rect">
            <a:avLst/>
          </a:prstGeom>
          <a:solidFill>
            <a:srgbClr val="6366F1"/>
          </a:solidFill>
          <a:ln/>
        </p:spPr>
      </p:sp>
      <p:sp>
        <p:nvSpPr>
          <p:cNvPr id="28" name="Text 26"/>
          <p:cNvSpPr/>
          <p:nvPr/>
        </p:nvSpPr>
        <p:spPr>
          <a:xfrm>
            <a:off x="804672" y="3739896"/>
            <a:ext cx="411480" cy="329184"/>
          </a:xfrm>
          <a:prstGeom prst="rect">
            <a:avLst/>
          </a:prstGeom>
          <a:noFill/>
          <a:ln/>
        </p:spPr>
        <p:txBody>
          <a:bodyPr wrap="square" rtlCol="0" anchor="ctr"/>
          <a:lstStyle/>
          <a:p>
            <a:pPr algn="ctr" indent="0" marL="0">
              <a:buNone/>
            </a:pPr>
            <a:r>
              <a:rPr lang="en-US" sz="1500" dirty="0">
                <a:solidFill>
                  <a:srgbClr val="000000"/>
                </a:solidFill>
                <a:latin typeface="Microsoft YaHei" pitchFamily="34" charset="0"/>
                <a:ea typeface="Microsoft YaHei" pitchFamily="34" charset="-122"/>
                <a:cs typeface="Microsoft YaHei" pitchFamily="34" charset="-120"/>
              </a:rPr>
              <a:t>📧</a:t>
            </a:r>
            <a:endParaRPr lang="en-US" sz="1500" dirty="0"/>
          </a:p>
        </p:txBody>
      </p:sp>
      <p:sp>
        <p:nvSpPr>
          <p:cNvPr id="29" name="Text 27"/>
          <p:cNvSpPr/>
          <p:nvPr/>
        </p:nvSpPr>
        <p:spPr>
          <a:xfrm>
            <a:off x="1243584" y="3730752"/>
            <a:ext cx="4495648" cy="292608"/>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gov1 的触发邮件课前不要发</a:t>
            </a:r>
            <a:endParaRPr lang="en-US" sz="1250" dirty="0"/>
          </a:p>
        </p:txBody>
      </p:sp>
      <p:sp>
        <p:nvSpPr>
          <p:cNvPr id="30" name="Text 28"/>
          <p:cNvSpPr/>
          <p:nvPr/>
        </p:nvSpPr>
        <p:spPr>
          <a:xfrm>
            <a:off x="1243584"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YaHei" pitchFamily="34" charset="0"/>
                <a:ea typeface="Microsoft YaHei" pitchFamily="34" charset="-122"/>
                <a:cs typeface="Microsoft YaHei" pitchFamily="34" charset="-120"/>
              </a:rPr>
              <a:t>信箱_种入用/GOV1_触发测试邮件.md 是 gov1 事件触发设好之后，才由另一个真实账号发进服务邮箱…</a:t>
            </a:r>
            <a:endParaRPr lang="en-US" sz="1050" dirty="0"/>
          </a:p>
        </p:txBody>
      </p:sp>
      <p:sp>
        <p:nvSpPr>
          <p:cNvPr id="31" name="Shape 29"/>
          <p:cNvSpPr/>
          <p:nvPr/>
        </p:nvSpPr>
        <p:spPr>
          <a:xfrm>
            <a:off x="6278728" y="3685032"/>
            <a:ext cx="5272888" cy="777240"/>
          </a:xfrm>
          <a:prstGeom prst="rect">
            <a:avLst/>
          </a:prstGeom>
          <a:solidFill>
            <a:srgbClr val="FFFFFF"/>
          </a:solidFill>
          <a:ln w="12700">
            <a:solidFill>
              <a:srgbClr val="E4E7F2"/>
            </a:solidFill>
            <a:prstDash val="solid"/>
          </a:ln>
        </p:spPr>
      </p:sp>
      <p:sp>
        <p:nvSpPr>
          <p:cNvPr id="32" name="Shape 30"/>
          <p:cNvSpPr/>
          <p:nvPr/>
        </p:nvSpPr>
        <p:spPr>
          <a:xfrm>
            <a:off x="6278728" y="3685032"/>
            <a:ext cx="68580" cy="777240"/>
          </a:xfrm>
          <a:prstGeom prst="rect">
            <a:avLst/>
          </a:prstGeom>
          <a:solidFill>
            <a:srgbClr val="6366F1"/>
          </a:solidFill>
          <a:ln/>
        </p:spPr>
      </p:sp>
      <p:sp>
        <p:nvSpPr>
          <p:cNvPr id="33" name="Text 31"/>
          <p:cNvSpPr/>
          <p:nvPr/>
        </p:nvSpPr>
        <p:spPr>
          <a:xfrm>
            <a:off x="6443320" y="3739896"/>
            <a:ext cx="411480" cy="329184"/>
          </a:xfrm>
          <a:prstGeom prst="rect">
            <a:avLst/>
          </a:prstGeom>
          <a:noFill/>
          <a:ln/>
        </p:spPr>
        <p:txBody>
          <a:bodyPr wrap="square" rtlCol="0" anchor="ctr"/>
          <a:lstStyle/>
          <a:p>
            <a:pPr algn="ctr" indent="0" marL="0">
              <a:buNone/>
            </a:pPr>
            <a:r>
              <a:rPr lang="en-US" sz="1500" dirty="0">
                <a:solidFill>
                  <a:srgbClr val="000000"/>
                </a:solidFill>
                <a:latin typeface="Microsoft YaHei" pitchFamily="34" charset="0"/>
                <a:ea typeface="Microsoft YaHei" pitchFamily="34" charset="-122"/>
                <a:cs typeface="Microsoft YaHei" pitchFamily="34" charset="-120"/>
              </a:rPr>
              <a:t>📆</a:t>
            </a:r>
            <a:endParaRPr lang="en-US" sz="1500" dirty="0"/>
          </a:p>
        </p:txBody>
      </p:sp>
      <p:sp>
        <p:nvSpPr>
          <p:cNvPr id="34" name="Text 32"/>
          <p:cNvSpPr/>
          <p:nvPr/>
        </p:nvSpPr>
        <p:spPr>
          <a:xfrm>
            <a:off x="6882232" y="3730752"/>
            <a:ext cx="4495648" cy="292608"/>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在日历建一个不加出席者的事件（gov4 会用到）</a:t>
            </a:r>
            <a:endParaRPr lang="en-US" sz="1250" dirty="0"/>
          </a:p>
        </p:txBody>
      </p:sp>
      <p:sp>
        <p:nvSpPr>
          <p:cNvPr id="35" name="Text 33"/>
          <p:cNvSpPr/>
          <p:nvPr/>
        </p:nvSpPr>
        <p:spPr>
          <a:xfrm>
            <a:off x="6882232" y="4005072"/>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YaHei" pitchFamily="34" charset="0"/>
                <a:ea typeface="Microsoft YaHei" pitchFamily="34" charset="-122"/>
                <a:cs typeface="Microsoft YaHei" pitchFamily="34" charset="-120"/>
              </a:rPr>
              <a:t>用 Outlook 或 OWA 在服务日当天建一个占位的现有日历事件（例如“设施维护窗口”），不要加出席者…</a:t>
            </a:r>
            <a:endParaRPr lang="en-US" sz="1050" dirty="0"/>
          </a:p>
        </p:txBody>
      </p:sp>
      <p:sp>
        <p:nvSpPr>
          <p:cNvPr id="36" name="Shape 34"/>
          <p:cNvSpPr/>
          <p:nvPr/>
        </p:nvSpPr>
        <p:spPr>
          <a:xfrm>
            <a:off x="640080" y="4590288"/>
            <a:ext cx="5272888" cy="777240"/>
          </a:xfrm>
          <a:prstGeom prst="rect">
            <a:avLst/>
          </a:prstGeom>
          <a:solidFill>
            <a:srgbClr val="FFFFFF"/>
          </a:solidFill>
          <a:ln w="12700">
            <a:solidFill>
              <a:srgbClr val="E4E7F2"/>
            </a:solidFill>
            <a:prstDash val="solid"/>
          </a:ln>
        </p:spPr>
      </p:sp>
      <p:sp>
        <p:nvSpPr>
          <p:cNvPr id="37" name="Shape 35"/>
          <p:cNvSpPr/>
          <p:nvPr/>
        </p:nvSpPr>
        <p:spPr>
          <a:xfrm>
            <a:off x="640080" y="4590288"/>
            <a:ext cx="68580" cy="777240"/>
          </a:xfrm>
          <a:prstGeom prst="rect">
            <a:avLst/>
          </a:prstGeom>
          <a:solidFill>
            <a:srgbClr val="6366F1"/>
          </a:solidFill>
          <a:ln/>
        </p:spPr>
      </p:sp>
      <p:sp>
        <p:nvSpPr>
          <p:cNvPr id="38" name="Text 36"/>
          <p:cNvSpPr/>
          <p:nvPr/>
        </p:nvSpPr>
        <p:spPr>
          <a:xfrm>
            <a:off x="804672" y="4645152"/>
            <a:ext cx="411480" cy="329184"/>
          </a:xfrm>
          <a:prstGeom prst="rect">
            <a:avLst/>
          </a:prstGeom>
          <a:noFill/>
          <a:ln/>
        </p:spPr>
        <p:txBody>
          <a:bodyPr wrap="square" rtlCol="0" anchor="ctr"/>
          <a:lstStyle/>
          <a:p>
            <a:pPr algn="ctr" indent="0" marL="0">
              <a:buNone/>
            </a:pPr>
            <a:r>
              <a:rPr lang="en-US" sz="1500" dirty="0">
                <a:solidFill>
                  <a:srgbClr val="000000"/>
                </a:solidFill>
                <a:latin typeface="Microsoft YaHei" pitchFamily="34" charset="0"/>
                <a:ea typeface="Microsoft YaHei" pitchFamily="34" charset="-122"/>
                <a:cs typeface="Microsoft YaHei" pitchFamily="34" charset="-120"/>
              </a:rPr>
              <a:t>💾</a:t>
            </a:r>
            <a:endParaRPr lang="en-US" sz="1500" dirty="0"/>
          </a:p>
        </p:txBody>
      </p:sp>
      <p:sp>
        <p:nvSpPr>
          <p:cNvPr id="39" name="Text 37"/>
          <p:cNvSpPr/>
          <p:nvPr/>
        </p:nvSpPr>
        <p:spPr>
          <a:xfrm>
            <a:off x="1243584" y="4636008"/>
            <a:ext cx="4495648" cy="292608"/>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把三个“练习中才上传”的文件放进 OneDrive 的 _上传用</a:t>
            </a:r>
            <a:endParaRPr lang="en-US" sz="1250" dirty="0"/>
          </a:p>
        </p:txBody>
      </p:sp>
      <p:sp>
        <p:nvSpPr>
          <p:cNvPr id="40" name="Text 38"/>
          <p:cNvSpPr/>
          <p:nvPr/>
        </p:nvSpPr>
        <p:spPr>
          <a:xfrm>
            <a:off x="1243584"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YaHei" pitchFamily="34" charset="0"/>
                <a:ea typeface="Microsoft YaHei" pitchFamily="34" charset="-122"/>
                <a:cs typeface="Microsoft YaHei" pitchFamily="34" charset="-120"/>
              </a:rPr>
              <a:t>GOV2_服务中断记录.xlsx（gov2）、GOV5_现场复查报告.pdf…</a:t>
            </a:r>
            <a:endParaRPr lang="en-US" sz="1050" dirty="0"/>
          </a:p>
        </p:txBody>
      </p:sp>
      <p:sp>
        <p:nvSpPr>
          <p:cNvPr id="41" name="Shape 39"/>
          <p:cNvSpPr/>
          <p:nvPr/>
        </p:nvSpPr>
        <p:spPr>
          <a:xfrm>
            <a:off x="6278728" y="4590288"/>
            <a:ext cx="5272888" cy="777240"/>
          </a:xfrm>
          <a:prstGeom prst="rect">
            <a:avLst/>
          </a:prstGeom>
          <a:solidFill>
            <a:srgbClr val="FFFFFF"/>
          </a:solidFill>
          <a:ln w="12700">
            <a:solidFill>
              <a:srgbClr val="E4E7F2"/>
            </a:solidFill>
            <a:prstDash val="solid"/>
          </a:ln>
        </p:spPr>
      </p:sp>
      <p:sp>
        <p:nvSpPr>
          <p:cNvPr id="42" name="Shape 40"/>
          <p:cNvSpPr/>
          <p:nvPr/>
        </p:nvSpPr>
        <p:spPr>
          <a:xfrm>
            <a:off x="6278728" y="4590288"/>
            <a:ext cx="68580" cy="777240"/>
          </a:xfrm>
          <a:prstGeom prst="rect">
            <a:avLst/>
          </a:prstGeom>
          <a:solidFill>
            <a:srgbClr val="6366F1"/>
          </a:solidFill>
          <a:ln/>
        </p:spPr>
      </p:sp>
      <p:sp>
        <p:nvSpPr>
          <p:cNvPr id="43" name="Text 41"/>
          <p:cNvSpPr/>
          <p:nvPr/>
        </p:nvSpPr>
        <p:spPr>
          <a:xfrm>
            <a:off x="6443320" y="4645152"/>
            <a:ext cx="411480" cy="329184"/>
          </a:xfrm>
          <a:prstGeom prst="rect">
            <a:avLst/>
          </a:prstGeom>
          <a:noFill/>
          <a:ln/>
        </p:spPr>
        <p:txBody>
          <a:bodyPr wrap="square" rtlCol="0" anchor="ctr"/>
          <a:lstStyle/>
          <a:p>
            <a:pPr algn="ctr" indent="0" marL="0">
              <a:buNone/>
            </a:pPr>
            <a:r>
              <a:rPr lang="en-US" sz="1500" dirty="0">
                <a:solidFill>
                  <a:srgbClr val="000000"/>
                </a:solidFill>
                <a:latin typeface="Microsoft YaHei" pitchFamily="34" charset="0"/>
                <a:ea typeface="Microsoft YaHei" pitchFamily="34" charset="-122"/>
                <a:cs typeface="Microsoft YaHei" pitchFamily="34" charset="-120"/>
              </a:rPr>
              <a:t>🗓️</a:t>
            </a:r>
            <a:endParaRPr lang="en-US" sz="1500" dirty="0"/>
          </a:p>
        </p:txBody>
      </p:sp>
      <p:sp>
        <p:nvSpPr>
          <p:cNvPr id="44" name="Text 42"/>
          <p:cNvSpPr/>
          <p:nvPr/>
        </p:nvSpPr>
        <p:spPr>
          <a:xfrm>
            <a:off x="6882232" y="4636008"/>
            <a:ext cx="4495648" cy="292608"/>
          </a:xfrm>
          <a:prstGeom prst="rect">
            <a:avLst/>
          </a:prstGeom>
          <a:noFill/>
          <a:ln/>
        </p:spPr>
        <p:txBody>
          <a:bodyPr wrap="square" rtlCol="0" anchor="ctr"/>
          <a:lstStyle/>
          <a:p>
            <a:pPr indent="0" marL="0">
              <a:buNone/>
            </a:pPr>
            <a:r>
              <a:rPr lang="en-US" sz="1250" b="1" dirty="0">
                <a:solidFill>
                  <a:srgbClr val="1E2235"/>
                </a:solidFill>
                <a:latin typeface="Microsoft YaHei" pitchFamily="34" charset="0"/>
                <a:ea typeface="Microsoft YaHei" pitchFamily="34" charset="-122"/>
                <a:cs typeface="Microsoft YaHei" pitchFamily="34" charset="-120"/>
              </a:rPr>
              <a:t>gov3 需要一场真实开过的运营会议，课前先排好</a:t>
            </a:r>
            <a:endParaRPr lang="en-US" sz="1250" dirty="0"/>
          </a:p>
        </p:txBody>
      </p:sp>
      <p:sp>
        <p:nvSpPr>
          <p:cNvPr id="45" name="Text 43"/>
          <p:cNvSpPr/>
          <p:nvPr/>
        </p:nvSpPr>
        <p:spPr>
          <a:xfrm>
            <a:off x="6882232" y="4910328"/>
            <a:ext cx="4495648" cy="411480"/>
          </a:xfrm>
          <a:prstGeom prst="rect">
            <a:avLst/>
          </a:prstGeom>
          <a:noFill/>
          <a:ln/>
        </p:spPr>
        <p:txBody>
          <a:bodyPr wrap="square" rtlCol="0" anchor="ctr"/>
          <a:lstStyle/>
          <a:p>
            <a:pPr indent="0" marL="0">
              <a:lnSpc>
                <a:spcPct val="112000"/>
              </a:lnSpc>
              <a:buNone/>
            </a:pPr>
            <a:r>
              <a:rPr lang="en-US" sz="1050" dirty="0">
                <a:solidFill>
                  <a:srgbClr val="5B6079"/>
                </a:solidFill>
                <a:latin typeface="Microsoft YaHei" pitchFamily="34" charset="0"/>
                <a:ea typeface="Microsoft YaHei" pitchFamily="34" charset="-122"/>
                <a:cs typeface="Microsoft YaHei" pitchFamily="34" charset="-120"/>
              </a:rPr>
              <a:t>gov3 的核心是真实会议的笔记或转录，不可用虚构截图或编造内容代替。</a:t>
            </a:r>
            <a:endParaRPr lang="en-US" sz="1050" dirty="0"/>
          </a:p>
        </p:txBody>
      </p:sp>
      <p:sp>
        <p:nvSpPr>
          <p:cNvPr id="46" name="Shape 44"/>
          <p:cNvSpPr/>
          <p:nvPr/>
        </p:nvSpPr>
        <p:spPr>
          <a:xfrm>
            <a:off x="640080" y="5532120"/>
            <a:ext cx="10911535" cy="749808"/>
          </a:xfrm>
          <a:prstGeom prst="rect">
            <a:avLst/>
          </a:prstGeom>
          <a:solidFill>
            <a:srgbClr val="FFFFFF"/>
          </a:solidFill>
          <a:ln w="12700">
            <a:solidFill>
              <a:srgbClr val="E4E7F2"/>
            </a:solidFill>
            <a:prstDash val="solid"/>
          </a:ln>
        </p:spPr>
      </p:sp>
      <p:sp>
        <p:nvSpPr>
          <p:cNvPr id="47" name="Shape 45"/>
          <p:cNvSpPr/>
          <p:nvPr/>
        </p:nvSpPr>
        <p:spPr>
          <a:xfrm>
            <a:off x="640080" y="5532120"/>
            <a:ext cx="91440" cy="749808"/>
          </a:xfrm>
          <a:prstGeom prst="rect">
            <a:avLst/>
          </a:prstGeom>
          <a:solidFill>
            <a:srgbClr val="6366F1"/>
          </a:solidFill>
          <a:ln/>
        </p:spPr>
      </p:sp>
      <p:sp>
        <p:nvSpPr>
          <p:cNvPr id="48" name="Text 46"/>
          <p:cNvSpPr/>
          <p:nvPr/>
        </p:nvSpPr>
        <p:spPr>
          <a:xfrm>
            <a:off x="914400" y="5614416"/>
            <a:ext cx="1828800" cy="274320"/>
          </a:xfrm>
          <a:prstGeom prst="rect">
            <a:avLst/>
          </a:prstGeom>
          <a:noFill/>
          <a:ln/>
        </p:spPr>
        <p:txBody>
          <a:bodyPr wrap="square" rtlCol="0" anchor="ctr"/>
          <a:lstStyle/>
          <a:p>
            <a:pPr indent="0" marL="0">
              <a:buNone/>
            </a:pPr>
            <a:r>
              <a:rPr lang="en-US" sz="1200" b="1" dirty="0">
                <a:solidFill>
                  <a:srgbClr val="1E2235"/>
                </a:solidFill>
                <a:latin typeface="Microsoft YaHei" pitchFamily="34" charset="0"/>
                <a:ea typeface="Microsoft YaHei" pitchFamily="34" charset="-122"/>
                <a:cs typeface="Microsoft YaHei" pitchFamily="34" charset="-120"/>
              </a:rPr>
              <a:t>开课前最后检查</a:t>
            </a:r>
            <a:endParaRPr lang="en-US" sz="1200" dirty="0"/>
          </a:p>
        </p:txBody>
      </p:sp>
      <p:pic>
        <p:nvPicPr>
          <p:cNvPr id="49" name="Image 0" descr="preencoded.png">    </p:cNvPr>
          <p:cNvPicPr>
            <a:picLocks noChangeAspect="1"/>
          </p:cNvPicPr>
          <p:nvPr/>
        </p:nvPicPr>
        <p:blipFill>
          <a:blip r:embed="rId1"/>
          <a:stretch>
            <a:fillRect/>
          </a:stretch>
        </p:blipFill>
        <p:spPr>
          <a:xfrm>
            <a:off x="2743200" y="5641848"/>
            <a:ext cx="155448" cy="155448"/>
          </a:xfrm>
          <a:prstGeom prst="rect">
            <a:avLst/>
          </a:prstGeom>
        </p:spPr>
      </p:pic>
      <p:sp>
        <p:nvSpPr>
          <p:cNvPr id="50" name="Text 47"/>
          <p:cNvSpPr/>
          <p:nvPr/>
        </p:nvSpPr>
        <p:spPr>
          <a:xfrm>
            <a:off x="2999232" y="5586984"/>
            <a:ext cx="8259775" cy="237744"/>
          </a:xfrm>
          <a:prstGeom prst="rect">
            <a:avLst/>
          </a:prstGeom>
          <a:noFill/>
          <a:ln/>
        </p:spPr>
        <p:txBody>
          <a:bodyPr wrap="square" rtlCol="0" anchor="ctr"/>
          <a:lstStyle/>
          <a:p>
            <a:pPr indent="0" marL="0">
              <a:buNone/>
            </a:pPr>
            <a:r>
              <a:rPr lang="en-US" sz="1050" dirty="0">
                <a:solidFill>
                  <a:srgbClr val="1E2235"/>
                </a:solidFill>
                <a:latin typeface="Microsoft YaHei" pitchFamily="34" charset="0"/>
                <a:ea typeface="Microsoft YaHei" pitchFamily="34" charset="-122"/>
                <a:cs typeface="Microsoft YaHei" pitchFamily="34" charset="-120"/>
              </a:rPr>
              <a:t>OneDrive 的“公共服务”底下七个子文件夹都看得到，文件打得开</a:t>
            </a:r>
            <a:endParaRPr lang="en-US" sz="1050" dirty="0"/>
          </a:p>
        </p:txBody>
      </p:sp>
      <p:pic>
        <p:nvPicPr>
          <p:cNvPr id="51" name="Image 1" descr="preencoded.png">    </p:cNvPr>
          <p:cNvPicPr>
            <a:picLocks noChangeAspect="1"/>
          </p:cNvPicPr>
          <p:nvPr/>
        </p:nvPicPr>
        <p:blipFill>
          <a:blip r:embed="rId2"/>
          <a:stretch>
            <a:fillRect/>
          </a:stretch>
        </p:blipFill>
        <p:spPr>
          <a:xfrm>
            <a:off x="2743200" y="5852160"/>
            <a:ext cx="155448" cy="155448"/>
          </a:xfrm>
          <a:prstGeom prst="rect">
            <a:avLst/>
          </a:prstGeom>
        </p:spPr>
      </p:pic>
      <p:sp>
        <p:nvSpPr>
          <p:cNvPr id="52" name="Text 48"/>
          <p:cNvSpPr/>
          <p:nvPr/>
        </p:nvSpPr>
        <p:spPr>
          <a:xfrm>
            <a:off x="2999232" y="5797296"/>
            <a:ext cx="8259775" cy="237744"/>
          </a:xfrm>
          <a:prstGeom prst="rect">
            <a:avLst/>
          </a:prstGeom>
          <a:noFill/>
          <a:ln/>
        </p:spPr>
        <p:txBody>
          <a:bodyPr wrap="square" rtlCol="0" anchor="ctr"/>
          <a:lstStyle/>
          <a:p>
            <a:pPr indent="0" marL="0">
              <a:buNone/>
            </a:pPr>
            <a:r>
              <a:rPr lang="en-US" sz="1050" dirty="0">
                <a:solidFill>
                  <a:srgbClr val="1E2235"/>
                </a:solidFill>
                <a:latin typeface="Microsoft YaHei" pitchFamily="34" charset="0"/>
                <a:ea typeface="Microsoft YaHei" pitchFamily="34" charset="-122"/>
                <a:cs typeface="Microsoft YaHei" pitchFamily="34" charset="-120"/>
              </a:rPr>
              <a:t>_上传用 里有三个练习中才用的文件（或你打算练到那步再手动拖进对话框）</a:t>
            </a:r>
            <a:endParaRPr lang="en-US" sz="1050" dirty="0"/>
          </a:p>
        </p:txBody>
      </p:sp>
      <p:pic>
        <p:nvPicPr>
          <p:cNvPr id="53" name="Image 2" descr="preencoded.png">    </p:cNvPr>
          <p:cNvPicPr>
            <a:picLocks noChangeAspect="1"/>
          </p:cNvPicPr>
          <p:nvPr/>
        </p:nvPicPr>
        <p:blipFill>
          <a:blip r:embed="rId3"/>
          <a:stretch>
            <a:fillRect/>
          </a:stretch>
        </p:blipFill>
        <p:spPr>
          <a:xfrm>
            <a:off x="2743200" y="6062472"/>
            <a:ext cx="155448" cy="155448"/>
          </a:xfrm>
          <a:prstGeom prst="rect">
            <a:avLst/>
          </a:prstGeom>
        </p:spPr>
      </p:pic>
      <p:sp>
        <p:nvSpPr>
          <p:cNvPr id="54" name="Text 49"/>
          <p:cNvSpPr/>
          <p:nvPr/>
        </p:nvSpPr>
        <p:spPr>
          <a:xfrm>
            <a:off x="2999232" y="6007608"/>
            <a:ext cx="8259775" cy="237744"/>
          </a:xfrm>
          <a:prstGeom prst="rect">
            <a:avLst/>
          </a:prstGeom>
          <a:noFill/>
          <a:ln/>
        </p:spPr>
        <p:txBody>
          <a:bodyPr wrap="square" rtlCol="0" anchor="ctr"/>
          <a:lstStyle/>
          <a:p>
            <a:pPr indent="0" marL="0">
              <a:buNone/>
            </a:pPr>
            <a:r>
              <a:rPr lang="en-US" sz="1050" dirty="0">
                <a:solidFill>
                  <a:srgbClr val="1E2235"/>
                </a:solidFill>
                <a:latin typeface="Microsoft YaHei" pitchFamily="34" charset="0"/>
                <a:ea typeface="Microsoft YaHei" pitchFamily="34" charset="-122"/>
                <a:cs typeface="Microsoft YaHei" pitchFamily="34" charset="-120"/>
              </a:rPr>
              <a:t>服务窗口清单在 GOV1 子文件夹里，邮箱栏已经填了收得到信的账号，不是占位符</a:t>
            </a:r>
            <a:endParaRPr lang="en-US" sz="1050" dirty="0"/>
          </a:p>
        </p:txBody>
      </p:sp>
      <p:sp>
        <p:nvSpPr>
          <p:cNvPr id="55" name="Text 5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56" name="Text 5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YaHei" pitchFamily="34" charset="0"/>
                <a:ea typeface="Microsoft YaHei" pitchFamily="34" charset="-122"/>
                <a:cs typeface="Microsoft YaHei" pitchFamily="34" charset="-120"/>
              </a:rPr>
              <a:t>7 SCENARIOS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七大实战场景</a:t>
            </a:r>
            <a:endParaRPr lang="en-US" sz="3000" dirty="0"/>
          </a:p>
        </p:txBody>
      </p:sp>
      <p:sp>
        <p:nvSpPr>
          <p:cNvPr id="5" name="Shape 3"/>
          <p:cNvSpPr/>
          <p:nvPr/>
        </p:nvSpPr>
        <p:spPr>
          <a:xfrm>
            <a:off x="640080"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6" name="Shape 4"/>
          <p:cNvSpPr/>
          <p:nvPr/>
        </p:nvSpPr>
        <p:spPr>
          <a:xfrm>
            <a:off x="640080" y="1828800"/>
            <a:ext cx="1355010" cy="109728"/>
          </a:xfrm>
          <a:prstGeom prst="rect">
            <a:avLst/>
          </a:prstGeom>
          <a:solidFill>
            <a:srgbClr val="14324D"/>
          </a:solidFill>
          <a:ln/>
        </p:spPr>
      </p:sp>
      <p:sp>
        <p:nvSpPr>
          <p:cNvPr id="7" name="Shape 5"/>
          <p:cNvSpPr/>
          <p:nvPr/>
        </p:nvSpPr>
        <p:spPr>
          <a:xfrm>
            <a:off x="860385" y="2194560"/>
            <a:ext cx="914400" cy="914400"/>
          </a:xfrm>
          <a:prstGeom prst="ellipse">
            <a:avLst/>
          </a:prstGeom>
          <a:solidFill>
            <a:srgbClr val="14324D"/>
          </a:solidFill>
          <a:ln/>
        </p:spPr>
      </p:sp>
      <p:pic>
        <p:nvPicPr>
          <p:cNvPr id="8" name="Image 0" descr="preencoded.png">    </p:cNvPr>
          <p:cNvPicPr>
            <a:picLocks noChangeAspect="1"/>
          </p:cNvPicPr>
          <p:nvPr/>
        </p:nvPicPr>
        <p:blipFill>
          <a:blip r:embed="rId1"/>
          <a:stretch>
            <a:fillRect/>
          </a:stretch>
        </p:blipFill>
        <p:spPr>
          <a:xfrm>
            <a:off x="1061553" y="2395728"/>
            <a:ext cx="512064" cy="512064"/>
          </a:xfrm>
          <a:prstGeom prst="rect">
            <a:avLst/>
          </a:prstGeom>
        </p:spPr>
      </p:pic>
      <p:sp>
        <p:nvSpPr>
          <p:cNvPr id="9" name="Text 6"/>
          <p:cNvSpPr/>
          <p:nvPr/>
        </p:nvSpPr>
        <p:spPr>
          <a:xfrm>
            <a:off x="731520" y="3163824"/>
            <a:ext cx="1172130" cy="136703"/>
          </a:xfrm>
          <a:prstGeom prst="rect">
            <a:avLst/>
          </a:prstGeom>
          <a:noFill/>
          <a:ln/>
        </p:spPr>
        <p:txBody>
          <a:bodyPr wrap="square" rtlCol="0" anchor="t"/>
          <a:lstStyle/>
          <a:p>
            <a:pPr algn="ctr" indent="0" marL="0">
              <a:buNone/>
            </a:pPr>
            <a:r>
              <a:rPr lang="en-US" sz="828" b="1" dirty="0">
                <a:solidFill>
                  <a:srgbClr val="14324D"/>
                </a:solidFill>
                <a:latin typeface="Microsoft YaHei" pitchFamily="34" charset="0"/>
                <a:ea typeface="Microsoft YaHei" pitchFamily="34" charset="-122"/>
                <a:cs typeface="Microsoft YaHei" pitchFamily="34" charset="-120"/>
              </a:rPr>
              <a:t>公共服务 · 民众服务</a:t>
            </a:r>
            <a:endParaRPr lang="en-US" sz="828" dirty="0"/>
          </a:p>
        </p:txBody>
      </p:sp>
      <p:sp>
        <p:nvSpPr>
          <p:cNvPr id="10" name="Text 7"/>
          <p:cNvSpPr/>
          <p:nvPr/>
        </p:nvSpPr>
        <p:spPr>
          <a:xfrm>
            <a:off x="731520" y="3355391"/>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YaHei" pitchFamily="34" charset="0"/>
                <a:ea typeface="Microsoft YaHei" pitchFamily="34" charset="-122"/>
                <a:cs typeface="Microsoft YaHei" pitchFamily="34" charset="-120"/>
              </a:rPr>
              <a:t>服务邮箱分流：语气最急的，真的最接近逾期吗？</a:t>
            </a:r>
            <a:endParaRPr lang="en-US" sz="1080" dirty="0"/>
          </a:p>
        </p:txBody>
      </p:sp>
      <p:sp>
        <p:nvSpPr>
          <p:cNvPr id="11" name="Text 8"/>
          <p:cNvSpPr/>
          <p:nvPr/>
        </p:nvSpPr>
        <p:spPr>
          <a:xfrm>
            <a:off x="731520" y="4150919"/>
            <a:ext cx="1172130" cy="855878"/>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YaHei" pitchFamily="34" charset="0"/>
                <a:ea typeface="Microsoft YaHei" pitchFamily="34" charset="-122"/>
                <a:cs typeface="Microsoft YaHei" pitchFamily="34" charset="-120"/>
              </a:rPr>
              <a:t>Email · Enterprise Search · Communications · Adaptive Cards · 事件触发 Event trigger</a:t>
            </a:r>
            <a:endParaRPr lang="en-US" sz="864" dirty="0"/>
          </a:p>
        </p:txBody>
      </p:sp>
      <p:sp>
        <p:nvSpPr>
          <p:cNvPr id="12" name="Text 9"/>
          <p:cNvSpPr/>
          <p:nvPr/>
        </p:nvSpPr>
        <p:spPr>
          <a:xfrm>
            <a:off x="731520" y="5089093"/>
            <a:ext cx="1172130" cy="261518"/>
          </a:xfrm>
          <a:prstGeom prst="rect">
            <a:avLst/>
          </a:prstGeom>
          <a:noFill/>
          <a:ln/>
        </p:spPr>
        <p:txBody>
          <a:bodyPr wrap="square" rtlCol="0" anchor="t"/>
          <a:lstStyle/>
          <a:p>
            <a:pPr algn="ctr" indent="0" marL="0">
              <a:buNone/>
            </a:pPr>
            <a:r>
              <a:rPr lang="en-US" sz="792" dirty="0">
                <a:solidFill>
                  <a:srgbClr val="9AA0C0"/>
                </a:solidFill>
                <a:latin typeface="Microsoft YaHei" pitchFamily="34" charset="0"/>
                <a:ea typeface="Microsoft YaHei" pitchFamily="34" charset="-122"/>
                <a:cs typeface="Microsoft YaHei" pitchFamily="34" charset="-120"/>
              </a:rPr>
              <a:t>约 15 分钟</a:t>
            </a:r>
            <a:endParaRPr lang="en-US" sz="792" dirty="0"/>
          </a:p>
          <a:p>
            <a:pPr algn="ctr" indent="0" marL="0">
              <a:buNone/>
            </a:pPr>
            <a:r>
              <a:rPr lang="en-US" sz="792" dirty="0">
                <a:solidFill>
                  <a:srgbClr val="9AA0C0"/>
                </a:solidFill>
                <a:latin typeface="Microsoft YaHei" pitchFamily="34" charset="0"/>
                <a:ea typeface="Microsoft YaHei" pitchFamily="34" charset="-122"/>
                <a:cs typeface="Microsoft YaHei" pitchFamily="34" charset="-120"/>
              </a:rPr>
              <a:t> ★★☆</a:t>
            </a:r>
            <a:endParaRPr lang="en-US" sz="792" dirty="0"/>
          </a:p>
        </p:txBody>
      </p:sp>
      <p:sp>
        <p:nvSpPr>
          <p:cNvPr id="13" name="Shape 10"/>
          <p:cNvSpPr/>
          <p:nvPr/>
        </p:nvSpPr>
        <p:spPr>
          <a:xfrm>
            <a:off x="2232834"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14" name="Shape 11"/>
          <p:cNvSpPr/>
          <p:nvPr/>
        </p:nvSpPr>
        <p:spPr>
          <a:xfrm>
            <a:off x="2232834" y="1828800"/>
            <a:ext cx="1355010" cy="109728"/>
          </a:xfrm>
          <a:prstGeom prst="rect">
            <a:avLst/>
          </a:prstGeom>
          <a:solidFill>
            <a:srgbClr val="0B7285"/>
          </a:solidFill>
          <a:ln/>
        </p:spPr>
      </p:sp>
      <p:sp>
        <p:nvSpPr>
          <p:cNvPr id="15" name="Shape 12"/>
          <p:cNvSpPr/>
          <p:nvPr/>
        </p:nvSpPr>
        <p:spPr>
          <a:xfrm>
            <a:off x="2453139" y="2194560"/>
            <a:ext cx="914400" cy="914400"/>
          </a:xfrm>
          <a:prstGeom prst="ellipse">
            <a:avLst/>
          </a:prstGeom>
          <a:solidFill>
            <a:srgbClr val="0B7285"/>
          </a:solidFill>
          <a:ln/>
        </p:spPr>
      </p:sp>
      <p:pic>
        <p:nvPicPr>
          <p:cNvPr id="16" name="Image 1" descr="preencoded.png">    </p:cNvPr>
          <p:cNvPicPr>
            <a:picLocks noChangeAspect="1"/>
          </p:cNvPicPr>
          <p:nvPr/>
        </p:nvPicPr>
        <p:blipFill>
          <a:blip r:embed="rId2"/>
          <a:stretch>
            <a:fillRect/>
          </a:stretch>
        </p:blipFill>
        <p:spPr>
          <a:xfrm>
            <a:off x="2654307" y="2395728"/>
            <a:ext cx="512064" cy="512064"/>
          </a:xfrm>
          <a:prstGeom prst="rect">
            <a:avLst/>
          </a:prstGeom>
        </p:spPr>
      </p:pic>
      <p:sp>
        <p:nvSpPr>
          <p:cNvPr id="17" name="Text 13"/>
          <p:cNvSpPr/>
          <p:nvPr/>
        </p:nvSpPr>
        <p:spPr>
          <a:xfrm>
            <a:off x="2324274" y="3163824"/>
            <a:ext cx="1172130" cy="273406"/>
          </a:xfrm>
          <a:prstGeom prst="rect">
            <a:avLst/>
          </a:prstGeom>
          <a:noFill/>
          <a:ln/>
        </p:spPr>
        <p:txBody>
          <a:bodyPr wrap="square" rtlCol="0" anchor="t"/>
          <a:lstStyle/>
          <a:p>
            <a:pPr algn="ctr" indent="0" marL="0">
              <a:buNone/>
            </a:pPr>
            <a:r>
              <a:rPr lang="en-US" sz="828" b="1" dirty="0">
                <a:solidFill>
                  <a:srgbClr val="0B7285"/>
                </a:solidFill>
                <a:latin typeface="Microsoft YaHei" pitchFamily="34" charset="0"/>
                <a:ea typeface="Microsoft YaHei" pitchFamily="34" charset="-122"/>
                <a:cs typeface="Microsoft YaHei" pitchFamily="34" charset="-120"/>
              </a:rPr>
              <a:t>公共服务 · 服务连续性</a:t>
            </a:r>
            <a:endParaRPr lang="en-US" sz="828" dirty="0"/>
          </a:p>
        </p:txBody>
      </p:sp>
      <p:sp>
        <p:nvSpPr>
          <p:cNvPr id="18" name="Text 14"/>
          <p:cNvSpPr/>
          <p:nvPr/>
        </p:nvSpPr>
        <p:spPr>
          <a:xfrm>
            <a:off x="2324274" y="3492094"/>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YaHei" pitchFamily="34" charset="0"/>
                <a:ea typeface="Microsoft YaHei" pitchFamily="34" charset="-122"/>
                <a:cs typeface="Microsoft YaHei" pitchFamily="34" charset="-120"/>
              </a:rPr>
              <a:t>服务连续性简报：事故最多的管道，就是最大的续运风险吗？</a:t>
            </a:r>
            <a:endParaRPr lang="en-US" sz="1080" dirty="0"/>
          </a:p>
        </p:txBody>
      </p:sp>
      <p:sp>
        <p:nvSpPr>
          <p:cNvPr id="19" name="Text 15"/>
          <p:cNvSpPr/>
          <p:nvPr/>
        </p:nvSpPr>
        <p:spPr>
          <a:xfrm>
            <a:off x="2324274" y="4287622"/>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YaHei" pitchFamily="34" charset="0"/>
                <a:ea typeface="Microsoft YaHei" pitchFamily="34" charset="-122"/>
                <a:cs typeface="Microsoft YaHei" pitchFamily="34" charset="-120"/>
              </a:rPr>
              <a:t>PowerPoint · Word · Enterprise Search</a:t>
            </a:r>
            <a:endParaRPr lang="en-US" sz="864" dirty="0"/>
          </a:p>
        </p:txBody>
      </p:sp>
      <p:sp>
        <p:nvSpPr>
          <p:cNvPr id="20" name="Text 16"/>
          <p:cNvSpPr/>
          <p:nvPr/>
        </p:nvSpPr>
        <p:spPr>
          <a:xfrm>
            <a:off x="2324274" y="4797857"/>
            <a:ext cx="1172130" cy="261518"/>
          </a:xfrm>
          <a:prstGeom prst="rect">
            <a:avLst/>
          </a:prstGeom>
          <a:noFill/>
          <a:ln/>
        </p:spPr>
        <p:txBody>
          <a:bodyPr wrap="square" rtlCol="0" anchor="t"/>
          <a:lstStyle/>
          <a:p>
            <a:pPr algn="ctr" indent="0" marL="0">
              <a:buNone/>
            </a:pPr>
            <a:r>
              <a:rPr lang="en-US" sz="792" dirty="0">
                <a:solidFill>
                  <a:srgbClr val="9AA0C0"/>
                </a:solidFill>
                <a:latin typeface="Microsoft YaHei" pitchFamily="34" charset="0"/>
                <a:ea typeface="Microsoft YaHei" pitchFamily="34" charset="-122"/>
                <a:cs typeface="Microsoft YaHei" pitchFamily="34" charset="-120"/>
              </a:rPr>
              <a:t>约 18 分钟</a:t>
            </a:r>
            <a:endParaRPr lang="en-US" sz="792" dirty="0"/>
          </a:p>
          <a:p>
            <a:pPr algn="ctr" indent="0" marL="0">
              <a:buNone/>
            </a:pPr>
            <a:r>
              <a:rPr lang="en-US" sz="792" dirty="0">
                <a:solidFill>
                  <a:srgbClr val="9AA0C0"/>
                </a:solidFill>
                <a:latin typeface="Microsoft YaHei" pitchFamily="34" charset="0"/>
                <a:ea typeface="Microsoft YaHei" pitchFamily="34" charset="-122"/>
                <a:cs typeface="Microsoft YaHei" pitchFamily="34" charset="-120"/>
              </a:rPr>
              <a:t> ★★☆</a:t>
            </a:r>
            <a:endParaRPr lang="en-US" sz="792" dirty="0"/>
          </a:p>
        </p:txBody>
      </p:sp>
      <p:sp>
        <p:nvSpPr>
          <p:cNvPr id="21" name="Shape 17"/>
          <p:cNvSpPr/>
          <p:nvPr/>
        </p:nvSpPr>
        <p:spPr>
          <a:xfrm>
            <a:off x="3825588"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22" name="Shape 18"/>
          <p:cNvSpPr/>
          <p:nvPr/>
        </p:nvSpPr>
        <p:spPr>
          <a:xfrm>
            <a:off x="3825588" y="1828800"/>
            <a:ext cx="1355010" cy="109728"/>
          </a:xfrm>
          <a:prstGeom prst="rect">
            <a:avLst/>
          </a:prstGeom>
          <a:solidFill>
            <a:srgbClr val="5C4A9C"/>
          </a:solidFill>
          <a:ln/>
        </p:spPr>
      </p:sp>
      <p:sp>
        <p:nvSpPr>
          <p:cNvPr id="23" name="Shape 19"/>
          <p:cNvSpPr/>
          <p:nvPr/>
        </p:nvSpPr>
        <p:spPr>
          <a:xfrm>
            <a:off x="4045893" y="2194560"/>
            <a:ext cx="914400" cy="914400"/>
          </a:xfrm>
          <a:prstGeom prst="ellipse">
            <a:avLst/>
          </a:prstGeom>
          <a:solidFill>
            <a:srgbClr val="5C4A9C"/>
          </a:solidFill>
          <a:ln/>
        </p:spPr>
      </p:sp>
      <p:pic>
        <p:nvPicPr>
          <p:cNvPr id="24" name="Image 2" descr="preencoded.png">    </p:cNvPr>
          <p:cNvPicPr>
            <a:picLocks noChangeAspect="1"/>
          </p:cNvPicPr>
          <p:nvPr/>
        </p:nvPicPr>
        <p:blipFill>
          <a:blip r:embed="rId3"/>
          <a:stretch>
            <a:fillRect/>
          </a:stretch>
        </p:blipFill>
        <p:spPr>
          <a:xfrm>
            <a:off x="4247061" y="2395728"/>
            <a:ext cx="512064" cy="512064"/>
          </a:xfrm>
          <a:prstGeom prst="rect">
            <a:avLst/>
          </a:prstGeom>
        </p:spPr>
      </p:pic>
      <p:sp>
        <p:nvSpPr>
          <p:cNvPr id="25" name="Text 20"/>
          <p:cNvSpPr/>
          <p:nvPr/>
        </p:nvSpPr>
        <p:spPr>
          <a:xfrm>
            <a:off x="3917028" y="3163824"/>
            <a:ext cx="1172130" cy="296189"/>
          </a:xfrm>
          <a:prstGeom prst="rect">
            <a:avLst/>
          </a:prstGeom>
          <a:noFill/>
          <a:ln/>
        </p:spPr>
        <p:txBody>
          <a:bodyPr wrap="square" rtlCol="0" anchor="t"/>
          <a:lstStyle/>
          <a:p>
            <a:pPr algn="ctr" indent="0" marL="0">
              <a:buNone/>
            </a:pPr>
            <a:r>
              <a:rPr lang="en-US" sz="897" b="1" dirty="0">
                <a:solidFill>
                  <a:srgbClr val="5C4A9C"/>
                </a:solidFill>
                <a:latin typeface="Microsoft YaHei" pitchFamily="34" charset="0"/>
                <a:ea typeface="Microsoft YaHei" pitchFamily="34" charset="-122"/>
                <a:cs typeface="Microsoft YaHei" pitchFamily="34" charset="-120"/>
              </a:rPr>
              <a:t>公共服务 · 运营管理</a:t>
            </a:r>
            <a:endParaRPr lang="en-US" sz="897" dirty="0"/>
          </a:p>
        </p:txBody>
      </p:sp>
      <p:sp>
        <p:nvSpPr>
          <p:cNvPr id="26" name="Text 21"/>
          <p:cNvSpPr/>
          <p:nvPr/>
        </p:nvSpPr>
        <p:spPr>
          <a:xfrm>
            <a:off x="3917028" y="3514877"/>
            <a:ext cx="1172130" cy="772668"/>
          </a:xfrm>
          <a:prstGeom prst="rect">
            <a:avLst/>
          </a:prstGeom>
          <a:noFill/>
          <a:ln/>
        </p:spPr>
        <p:txBody>
          <a:bodyPr wrap="square" rtlCol="0" anchor="t"/>
          <a:lstStyle/>
          <a:p>
            <a:pPr algn="ctr" indent="0" marL="0">
              <a:buNone/>
            </a:pPr>
            <a:r>
              <a:rPr lang="en-US" sz="1170" b="1" dirty="0">
                <a:solidFill>
                  <a:srgbClr val="1E2235"/>
                </a:solidFill>
                <a:latin typeface="Microsoft YaHei" pitchFamily="34" charset="0"/>
                <a:ea typeface="Microsoft YaHei" pitchFamily="34" charset="-122"/>
                <a:cs typeface="Microsoft YaHei" pitchFamily="34" charset="-120"/>
              </a:rPr>
              <a:t>运营会议跟进：标记“完成”的待办，真的验收过了吗？</a:t>
            </a:r>
            <a:endParaRPr lang="en-US" sz="1170" dirty="0"/>
          </a:p>
        </p:txBody>
      </p:sp>
      <p:sp>
        <p:nvSpPr>
          <p:cNvPr id="27" name="Text 22"/>
          <p:cNvSpPr/>
          <p:nvPr/>
        </p:nvSpPr>
        <p:spPr>
          <a:xfrm>
            <a:off x="3917028" y="4369841"/>
            <a:ext cx="1172130" cy="618134"/>
          </a:xfrm>
          <a:prstGeom prst="rect">
            <a:avLst/>
          </a:prstGeom>
          <a:noFill/>
          <a:ln/>
        </p:spPr>
        <p:txBody>
          <a:bodyPr wrap="square" rtlCol="0" anchor="t"/>
          <a:lstStyle/>
          <a:p>
            <a:pPr algn="ctr" indent="0" marL="0">
              <a:lnSpc>
                <a:spcPct val="105000"/>
              </a:lnSpc>
              <a:buNone/>
            </a:pPr>
            <a:r>
              <a:rPr lang="en-US" sz="936" dirty="0">
                <a:solidFill>
                  <a:srgbClr val="5B6079"/>
                </a:solidFill>
                <a:latin typeface="Microsoft YaHei" pitchFamily="34" charset="0"/>
                <a:ea typeface="Microsoft YaHei" pitchFamily="34" charset="-122"/>
                <a:cs typeface="Microsoft YaHei" pitchFamily="34" charset="-120"/>
              </a:rPr>
              <a:t>Meetings · Enterprise Search · Word · Communications</a:t>
            </a:r>
            <a:endParaRPr lang="en-US" sz="936" dirty="0"/>
          </a:p>
        </p:txBody>
      </p:sp>
      <p:sp>
        <p:nvSpPr>
          <p:cNvPr id="28" name="Text 23"/>
          <p:cNvSpPr/>
          <p:nvPr/>
        </p:nvSpPr>
        <p:spPr>
          <a:xfrm>
            <a:off x="3917028" y="5070272"/>
            <a:ext cx="1172130" cy="283312"/>
          </a:xfrm>
          <a:prstGeom prst="rect">
            <a:avLst/>
          </a:prstGeom>
          <a:noFill/>
          <a:ln/>
        </p:spPr>
        <p:txBody>
          <a:bodyPr wrap="square" rtlCol="0" anchor="t"/>
          <a:lstStyle/>
          <a:p>
            <a:pPr algn="ctr" indent="0" marL="0">
              <a:buNone/>
            </a:pPr>
            <a:r>
              <a:rPr lang="en-US" sz="858" dirty="0">
                <a:solidFill>
                  <a:srgbClr val="9AA0C0"/>
                </a:solidFill>
                <a:latin typeface="Microsoft YaHei" pitchFamily="34" charset="0"/>
                <a:ea typeface="Microsoft YaHei" pitchFamily="34" charset="-122"/>
                <a:cs typeface="Microsoft YaHei" pitchFamily="34" charset="-120"/>
              </a:rPr>
              <a:t>约 20 分钟</a:t>
            </a:r>
            <a:endParaRPr lang="en-US" sz="858" dirty="0"/>
          </a:p>
          <a:p>
            <a:pPr algn="ctr" indent="0" marL="0">
              <a:buNone/>
            </a:pPr>
            <a:r>
              <a:rPr lang="en-US" sz="858" dirty="0">
                <a:solidFill>
                  <a:srgbClr val="9AA0C0"/>
                </a:solidFill>
                <a:latin typeface="Microsoft YaHei" pitchFamily="34" charset="0"/>
                <a:ea typeface="Microsoft YaHei" pitchFamily="34" charset="-122"/>
                <a:cs typeface="Microsoft YaHei" pitchFamily="34" charset="-120"/>
              </a:rPr>
              <a:t> ★★★</a:t>
            </a:r>
            <a:endParaRPr lang="en-US" sz="858" dirty="0"/>
          </a:p>
        </p:txBody>
      </p:sp>
      <p:sp>
        <p:nvSpPr>
          <p:cNvPr id="29" name="Shape 24"/>
          <p:cNvSpPr/>
          <p:nvPr/>
        </p:nvSpPr>
        <p:spPr>
          <a:xfrm>
            <a:off x="5418343"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0" name="Shape 25"/>
          <p:cNvSpPr/>
          <p:nvPr/>
        </p:nvSpPr>
        <p:spPr>
          <a:xfrm>
            <a:off x="5418343" y="1828800"/>
            <a:ext cx="1355010" cy="109728"/>
          </a:xfrm>
          <a:prstGeom prst="rect">
            <a:avLst/>
          </a:prstGeom>
          <a:solidFill>
            <a:srgbClr val="8A5A00"/>
          </a:solidFill>
          <a:ln/>
        </p:spPr>
      </p:sp>
      <p:sp>
        <p:nvSpPr>
          <p:cNvPr id="31" name="Shape 26"/>
          <p:cNvSpPr/>
          <p:nvPr/>
        </p:nvSpPr>
        <p:spPr>
          <a:xfrm>
            <a:off x="5638648" y="2194560"/>
            <a:ext cx="914400" cy="914400"/>
          </a:xfrm>
          <a:prstGeom prst="ellipse">
            <a:avLst/>
          </a:prstGeom>
          <a:solidFill>
            <a:srgbClr val="8A5A00"/>
          </a:solidFill>
          <a:ln/>
        </p:spPr>
      </p:sp>
      <p:pic>
        <p:nvPicPr>
          <p:cNvPr id="32" name="Image 3" descr="preencoded.png">    </p:cNvPr>
          <p:cNvPicPr>
            <a:picLocks noChangeAspect="1"/>
          </p:cNvPicPr>
          <p:nvPr/>
        </p:nvPicPr>
        <p:blipFill>
          <a:blip r:embed="rId4"/>
          <a:stretch>
            <a:fillRect/>
          </a:stretch>
        </p:blipFill>
        <p:spPr>
          <a:xfrm>
            <a:off x="5839816" y="2395728"/>
            <a:ext cx="512064" cy="512064"/>
          </a:xfrm>
          <a:prstGeom prst="rect">
            <a:avLst/>
          </a:prstGeom>
        </p:spPr>
      </p:pic>
      <p:sp>
        <p:nvSpPr>
          <p:cNvPr id="33" name="Text 27"/>
          <p:cNvSpPr/>
          <p:nvPr/>
        </p:nvSpPr>
        <p:spPr>
          <a:xfrm>
            <a:off x="5509783" y="3163824"/>
            <a:ext cx="1172130" cy="136703"/>
          </a:xfrm>
          <a:prstGeom prst="rect">
            <a:avLst/>
          </a:prstGeom>
          <a:noFill/>
          <a:ln/>
        </p:spPr>
        <p:txBody>
          <a:bodyPr wrap="square" rtlCol="0" anchor="t"/>
          <a:lstStyle/>
          <a:p>
            <a:pPr algn="ctr" indent="0" marL="0">
              <a:buNone/>
            </a:pPr>
            <a:r>
              <a:rPr lang="en-US" sz="828" b="1" dirty="0">
                <a:solidFill>
                  <a:srgbClr val="8A5A00"/>
                </a:solidFill>
                <a:latin typeface="Microsoft YaHei" pitchFamily="34" charset="0"/>
                <a:ea typeface="Microsoft YaHei" pitchFamily="34" charset="-122"/>
                <a:cs typeface="Microsoft YaHei" pitchFamily="34" charset="-120"/>
              </a:rPr>
              <a:t>公共服务 · 容量规划</a:t>
            </a:r>
            <a:endParaRPr lang="en-US" sz="828" dirty="0"/>
          </a:p>
        </p:txBody>
      </p:sp>
      <p:sp>
        <p:nvSpPr>
          <p:cNvPr id="34" name="Text 28"/>
          <p:cNvSpPr/>
          <p:nvPr/>
        </p:nvSpPr>
        <p:spPr>
          <a:xfrm>
            <a:off x="5509783" y="3355391"/>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YaHei" pitchFamily="34" charset="0"/>
                <a:ea typeface="Microsoft YaHei" pitchFamily="34" charset="-122"/>
                <a:cs typeface="Microsoft YaHei" pitchFamily="34" charset="-120"/>
              </a:rPr>
              <a:t>容量与预约规划：资格工时总量打平，代表每个时段都够人吗？</a:t>
            </a:r>
            <a:endParaRPr lang="en-US" sz="1080" dirty="0"/>
          </a:p>
        </p:txBody>
      </p:sp>
      <p:sp>
        <p:nvSpPr>
          <p:cNvPr id="35" name="Text 29"/>
          <p:cNvSpPr/>
          <p:nvPr/>
        </p:nvSpPr>
        <p:spPr>
          <a:xfrm>
            <a:off x="5509783" y="4150919"/>
            <a:ext cx="1172130" cy="570586"/>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YaHei" pitchFamily="34" charset="0"/>
                <a:ea typeface="Microsoft YaHei" pitchFamily="34" charset="-122"/>
                <a:cs typeface="Microsoft YaHei" pitchFamily="34" charset="-120"/>
              </a:rPr>
              <a:t>Excel · Scheduling · Calendar Management</a:t>
            </a:r>
            <a:endParaRPr lang="en-US" sz="864" dirty="0"/>
          </a:p>
        </p:txBody>
      </p:sp>
      <p:sp>
        <p:nvSpPr>
          <p:cNvPr id="36" name="Text 30"/>
          <p:cNvSpPr/>
          <p:nvPr/>
        </p:nvSpPr>
        <p:spPr>
          <a:xfrm>
            <a:off x="5509783" y="4803800"/>
            <a:ext cx="1172130" cy="261518"/>
          </a:xfrm>
          <a:prstGeom prst="rect">
            <a:avLst/>
          </a:prstGeom>
          <a:noFill/>
          <a:ln/>
        </p:spPr>
        <p:txBody>
          <a:bodyPr wrap="square" rtlCol="0" anchor="t"/>
          <a:lstStyle/>
          <a:p>
            <a:pPr algn="ctr" indent="0" marL="0">
              <a:buNone/>
            </a:pPr>
            <a:r>
              <a:rPr lang="en-US" sz="792" dirty="0">
                <a:solidFill>
                  <a:srgbClr val="9AA0C0"/>
                </a:solidFill>
                <a:latin typeface="Microsoft YaHei" pitchFamily="34" charset="0"/>
                <a:ea typeface="Microsoft YaHei" pitchFamily="34" charset="-122"/>
                <a:cs typeface="Microsoft YaHei" pitchFamily="34" charset="-120"/>
              </a:rPr>
              <a:t>约 18 分钟</a:t>
            </a:r>
            <a:endParaRPr lang="en-US" sz="792" dirty="0"/>
          </a:p>
          <a:p>
            <a:pPr algn="ctr" indent="0" marL="0">
              <a:buNone/>
            </a:pPr>
            <a:r>
              <a:rPr lang="en-US" sz="792" dirty="0">
                <a:solidFill>
                  <a:srgbClr val="9AA0C0"/>
                </a:solidFill>
                <a:latin typeface="Microsoft YaHei" pitchFamily="34" charset="0"/>
                <a:ea typeface="Microsoft YaHei" pitchFamily="34" charset="-122"/>
                <a:cs typeface="Microsoft YaHei" pitchFamily="34" charset="-120"/>
              </a:rPr>
              <a:t> ★★☆</a:t>
            </a:r>
            <a:endParaRPr lang="en-US" sz="792" dirty="0"/>
          </a:p>
        </p:txBody>
      </p:sp>
      <p:sp>
        <p:nvSpPr>
          <p:cNvPr id="37" name="Shape 31"/>
          <p:cNvSpPr/>
          <p:nvPr/>
        </p:nvSpPr>
        <p:spPr>
          <a:xfrm>
            <a:off x="7011097"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8" name="Shape 32"/>
          <p:cNvSpPr/>
          <p:nvPr/>
        </p:nvSpPr>
        <p:spPr>
          <a:xfrm>
            <a:off x="7011097" y="1828800"/>
            <a:ext cx="1355010" cy="109728"/>
          </a:xfrm>
          <a:prstGeom prst="rect">
            <a:avLst/>
          </a:prstGeom>
          <a:solidFill>
            <a:srgbClr val="1F6F3F"/>
          </a:solidFill>
          <a:ln/>
        </p:spPr>
      </p:sp>
      <p:sp>
        <p:nvSpPr>
          <p:cNvPr id="39" name="Shape 33"/>
          <p:cNvSpPr/>
          <p:nvPr/>
        </p:nvSpPr>
        <p:spPr>
          <a:xfrm>
            <a:off x="7231402" y="2194560"/>
            <a:ext cx="914400" cy="914400"/>
          </a:xfrm>
          <a:prstGeom prst="ellipse">
            <a:avLst/>
          </a:prstGeom>
          <a:solidFill>
            <a:srgbClr val="1F6F3F"/>
          </a:solidFill>
          <a:ln/>
        </p:spPr>
      </p:sp>
      <p:pic>
        <p:nvPicPr>
          <p:cNvPr id="40" name="Image 4" descr="preencoded.png">    </p:cNvPr>
          <p:cNvPicPr>
            <a:picLocks noChangeAspect="1"/>
          </p:cNvPicPr>
          <p:nvPr/>
        </p:nvPicPr>
        <p:blipFill>
          <a:blip r:embed="rId5"/>
          <a:stretch>
            <a:fillRect/>
          </a:stretch>
        </p:blipFill>
        <p:spPr>
          <a:xfrm>
            <a:off x="7432570" y="2395728"/>
            <a:ext cx="512064" cy="512064"/>
          </a:xfrm>
          <a:prstGeom prst="rect">
            <a:avLst/>
          </a:prstGeom>
        </p:spPr>
      </p:pic>
      <p:sp>
        <p:nvSpPr>
          <p:cNvPr id="41" name="Text 34"/>
          <p:cNvSpPr/>
          <p:nvPr/>
        </p:nvSpPr>
        <p:spPr>
          <a:xfrm>
            <a:off x="7102537" y="3163824"/>
            <a:ext cx="1172130" cy="296189"/>
          </a:xfrm>
          <a:prstGeom prst="rect">
            <a:avLst/>
          </a:prstGeom>
          <a:noFill/>
          <a:ln/>
        </p:spPr>
        <p:txBody>
          <a:bodyPr wrap="square" rtlCol="0" anchor="t"/>
          <a:lstStyle/>
          <a:p>
            <a:pPr algn="ctr" indent="0" marL="0">
              <a:buNone/>
            </a:pPr>
            <a:r>
              <a:rPr lang="en-US" sz="897" b="1" dirty="0">
                <a:solidFill>
                  <a:srgbClr val="1F6F3F"/>
                </a:solidFill>
                <a:latin typeface="Microsoft YaHei" pitchFamily="34" charset="0"/>
                <a:ea typeface="Microsoft YaHei" pitchFamily="34" charset="-122"/>
                <a:cs typeface="Microsoft YaHei" pitchFamily="34" charset="-120"/>
              </a:rPr>
              <a:t>公共服务 · 现场巡查</a:t>
            </a:r>
            <a:endParaRPr lang="en-US" sz="897" dirty="0"/>
          </a:p>
        </p:txBody>
      </p:sp>
      <p:sp>
        <p:nvSpPr>
          <p:cNvPr id="42" name="Text 35"/>
          <p:cNvSpPr/>
          <p:nvPr/>
        </p:nvSpPr>
        <p:spPr>
          <a:xfrm>
            <a:off x="7102537" y="3514877"/>
            <a:ext cx="1172130" cy="965835"/>
          </a:xfrm>
          <a:prstGeom prst="rect">
            <a:avLst/>
          </a:prstGeom>
          <a:noFill/>
          <a:ln/>
        </p:spPr>
        <p:txBody>
          <a:bodyPr wrap="square" rtlCol="0" anchor="t"/>
          <a:lstStyle/>
          <a:p>
            <a:pPr algn="ctr" indent="0" marL="0">
              <a:buNone/>
            </a:pPr>
            <a:r>
              <a:rPr lang="en-US" sz="1170" b="1" dirty="0">
                <a:solidFill>
                  <a:srgbClr val="1E2235"/>
                </a:solidFill>
                <a:latin typeface="Microsoft YaHei" pitchFamily="34" charset="0"/>
                <a:ea typeface="Microsoft YaHei" pitchFamily="34" charset="-122"/>
                <a:cs typeface="Microsoft YaHei" pitchFamily="34" charset="-120"/>
              </a:rPr>
              <a:t>现场证据核对：同一场所的两次访查，可以合并成一条吗？</a:t>
            </a:r>
            <a:endParaRPr lang="en-US" sz="1170" dirty="0"/>
          </a:p>
        </p:txBody>
      </p:sp>
      <p:sp>
        <p:nvSpPr>
          <p:cNvPr id="43" name="Text 36"/>
          <p:cNvSpPr/>
          <p:nvPr/>
        </p:nvSpPr>
        <p:spPr>
          <a:xfrm>
            <a:off x="7102537" y="4563008"/>
            <a:ext cx="1172130"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Microsoft YaHei" pitchFamily="34" charset="0"/>
                <a:ea typeface="Microsoft YaHei" pitchFamily="34" charset="-122"/>
                <a:cs typeface="Microsoft YaHei" pitchFamily="34" charset="-120"/>
              </a:rPr>
              <a:t>PDF · Excel · Enterprise Search</a:t>
            </a:r>
            <a:endParaRPr lang="en-US" sz="936" dirty="0"/>
          </a:p>
        </p:txBody>
      </p:sp>
      <p:sp>
        <p:nvSpPr>
          <p:cNvPr id="44" name="Text 37"/>
          <p:cNvSpPr/>
          <p:nvPr/>
        </p:nvSpPr>
        <p:spPr>
          <a:xfrm>
            <a:off x="7102537" y="5108905"/>
            <a:ext cx="1172130" cy="283312"/>
          </a:xfrm>
          <a:prstGeom prst="rect">
            <a:avLst/>
          </a:prstGeom>
          <a:noFill/>
          <a:ln/>
        </p:spPr>
        <p:txBody>
          <a:bodyPr wrap="square" rtlCol="0" anchor="t"/>
          <a:lstStyle/>
          <a:p>
            <a:pPr algn="ctr" indent="0" marL="0">
              <a:buNone/>
            </a:pPr>
            <a:r>
              <a:rPr lang="en-US" sz="858" dirty="0">
                <a:solidFill>
                  <a:srgbClr val="9AA0C0"/>
                </a:solidFill>
                <a:latin typeface="Microsoft YaHei" pitchFamily="34" charset="0"/>
                <a:ea typeface="Microsoft YaHei" pitchFamily="34" charset="-122"/>
                <a:cs typeface="Microsoft YaHei" pitchFamily="34" charset="-120"/>
              </a:rPr>
              <a:t>约 16 分钟</a:t>
            </a:r>
            <a:endParaRPr lang="en-US" sz="858" dirty="0"/>
          </a:p>
          <a:p>
            <a:pPr algn="ctr" indent="0" marL="0">
              <a:buNone/>
            </a:pPr>
            <a:r>
              <a:rPr lang="en-US" sz="858" dirty="0">
                <a:solidFill>
                  <a:srgbClr val="9AA0C0"/>
                </a:solidFill>
                <a:latin typeface="Microsoft YaHei" pitchFamily="34" charset="0"/>
                <a:ea typeface="Microsoft YaHei" pitchFamily="34" charset="-122"/>
                <a:cs typeface="Microsoft YaHei" pitchFamily="34" charset="-120"/>
              </a:rPr>
              <a:t> ★★☆</a:t>
            </a:r>
            <a:endParaRPr lang="en-US" sz="858" dirty="0"/>
          </a:p>
        </p:txBody>
      </p:sp>
      <p:sp>
        <p:nvSpPr>
          <p:cNvPr id="45" name="Shape 38"/>
          <p:cNvSpPr/>
          <p:nvPr/>
        </p:nvSpPr>
        <p:spPr>
          <a:xfrm>
            <a:off x="8603851"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46" name="Shape 39"/>
          <p:cNvSpPr/>
          <p:nvPr/>
        </p:nvSpPr>
        <p:spPr>
          <a:xfrm>
            <a:off x="8603851" y="1828800"/>
            <a:ext cx="1355010" cy="109728"/>
          </a:xfrm>
          <a:prstGeom prst="rect">
            <a:avLst/>
          </a:prstGeom>
          <a:solidFill>
            <a:srgbClr val="8E2F5B"/>
          </a:solidFill>
          <a:ln/>
        </p:spPr>
      </p:sp>
      <p:sp>
        <p:nvSpPr>
          <p:cNvPr id="47" name="Shape 40"/>
          <p:cNvSpPr/>
          <p:nvPr/>
        </p:nvSpPr>
        <p:spPr>
          <a:xfrm>
            <a:off x="8824156" y="2194560"/>
            <a:ext cx="914400" cy="914400"/>
          </a:xfrm>
          <a:prstGeom prst="ellipse">
            <a:avLst/>
          </a:prstGeom>
          <a:solidFill>
            <a:srgbClr val="8E2F5B"/>
          </a:solidFill>
          <a:ln/>
        </p:spPr>
      </p:sp>
      <p:pic>
        <p:nvPicPr>
          <p:cNvPr id="48" name="Image 5" descr="preencoded.png">    </p:cNvPr>
          <p:cNvPicPr>
            <a:picLocks noChangeAspect="1"/>
          </p:cNvPicPr>
          <p:nvPr/>
        </p:nvPicPr>
        <p:blipFill>
          <a:blip r:embed="rId6"/>
          <a:stretch>
            <a:fillRect/>
          </a:stretch>
        </p:blipFill>
        <p:spPr>
          <a:xfrm>
            <a:off x="9025324" y="2395728"/>
            <a:ext cx="512064" cy="512064"/>
          </a:xfrm>
          <a:prstGeom prst="rect">
            <a:avLst/>
          </a:prstGeom>
        </p:spPr>
      </p:pic>
      <p:sp>
        <p:nvSpPr>
          <p:cNvPr id="49" name="Text 41"/>
          <p:cNvSpPr/>
          <p:nvPr/>
        </p:nvSpPr>
        <p:spPr>
          <a:xfrm>
            <a:off x="8695291" y="3163824"/>
            <a:ext cx="1172130" cy="296189"/>
          </a:xfrm>
          <a:prstGeom prst="rect">
            <a:avLst/>
          </a:prstGeom>
          <a:noFill/>
          <a:ln/>
        </p:spPr>
        <p:txBody>
          <a:bodyPr wrap="square" rtlCol="0" anchor="t"/>
          <a:lstStyle/>
          <a:p>
            <a:pPr algn="ctr" indent="0" marL="0">
              <a:buNone/>
            </a:pPr>
            <a:r>
              <a:rPr lang="en-US" sz="897" b="1" dirty="0">
                <a:solidFill>
                  <a:srgbClr val="8E2F5B"/>
                </a:solidFill>
                <a:latin typeface="Microsoft YaHei" pitchFamily="34" charset="0"/>
                <a:ea typeface="Microsoft YaHei" pitchFamily="34" charset="-122"/>
                <a:cs typeface="Microsoft YaHei" pitchFamily="34" charset="-120"/>
              </a:rPr>
              <a:t>公共服务 · 服务设计</a:t>
            </a:r>
            <a:endParaRPr lang="en-US" sz="897" dirty="0"/>
          </a:p>
        </p:txBody>
      </p:sp>
      <p:sp>
        <p:nvSpPr>
          <p:cNvPr id="50" name="Text 42"/>
          <p:cNvSpPr/>
          <p:nvPr/>
        </p:nvSpPr>
        <p:spPr>
          <a:xfrm>
            <a:off x="8695291" y="3514877"/>
            <a:ext cx="1172130" cy="965835"/>
          </a:xfrm>
          <a:prstGeom prst="rect">
            <a:avLst/>
          </a:prstGeom>
          <a:noFill/>
          <a:ln/>
        </p:spPr>
        <p:txBody>
          <a:bodyPr wrap="square" rtlCol="0" anchor="t"/>
          <a:lstStyle/>
          <a:p>
            <a:pPr algn="ctr" indent="0" marL="0">
              <a:buNone/>
            </a:pPr>
            <a:r>
              <a:rPr lang="en-US" sz="1170" b="1" dirty="0">
                <a:solidFill>
                  <a:srgbClr val="1E2235"/>
                </a:solidFill>
                <a:latin typeface="Microsoft YaHei" pitchFamily="34" charset="0"/>
                <a:ea typeface="Microsoft YaHei" pitchFamily="34" charset="-122"/>
                <a:cs typeface="Microsoft YaHei" pitchFamily="34" charset="-120"/>
              </a:rPr>
              <a:t>无障碍服务流程：柜台修好了，服务就整体无障碍了吗？</a:t>
            </a:r>
            <a:endParaRPr lang="en-US" sz="1170" dirty="0"/>
          </a:p>
        </p:txBody>
      </p:sp>
      <p:sp>
        <p:nvSpPr>
          <p:cNvPr id="51" name="Text 43"/>
          <p:cNvSpPr/>
          <p:nvPr/>
        </p:nvSpPr>
        <p:spPr>
          <a:xfrm>
            <a:off x="8695291" y="4563008"/>
            <a:ext cx="1172130"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Microsoft YaHei" pitchFamily="34" charset="0"/>
                <a:ea typeface="Microsoft YaHei" pitchFamily="34" charset="-122"/>
                <a:cs typeface="Microsoft YaHei" pitchFamily="34" charset="-120"/>
              </a:rPr>
              <a:t>Word · PDF · Communications · Email</a:t>
            </a:r>
            <a:endParaRPr lang="en-US" sz="936" dirty="0"/>
          </a:p>
        </p:txBody>
      </p:sp>
      <p:sp>
        <p:nvSpPr>
          <p:cNvPr id="52" name="Text 44"/>
          <p:cNvSpPr/>
          <p:nvPr/>
        </p:nvSpPr>
        <p:spPr>
          <a:xfrm>
            <a:off x="8695291" y="5108905"/>
            <a:ext cx="1172130" cy="283312"/>
          </a:xfrm>
          <a:prstGeom prst="rect">
            <a:avLst/>
          </a:prstGeom>
          <a:noFill/>
          <a:ln/>
        </p:spPr>
        <p:txBody>
          <a:bodyPr wrap="square" rtlCol="0" anchor="t"/>
          <a:lstStyle/>
          <a:p>
            <a:pPr algn="ctr" indent="0" marL="0">
              <a:buNone/>
            </a:pPr>
            <a:r>
              <a:rPr lang="en-US" sz="858" dirty="0">
                <a:solidFill>
                  <a:srgbClr val="9AA0C0"/>
                </a:solidFill>
                <a:latin typeface="Microsoft YaHei" pitchFamily="34" charset="0"/>
                <a:ea typeface="Microsoft YaHei" pitchFamily="34" charset="-122"/>
                <a:cs typeface="Microsoft YaHei" pitchFamily="34" charset="-120"/>
              </a:rPr>
              <a:t>约 18 分钟</a:t>
            </a:r>
            <a:endParaRPr lang="en-US" sz="858" dirty="0"/>
          </a:p>
          <a:p>
            <a:pPr algn="ctr" indent="0" marL="0">
              <a:buNone/>
            </a:pPr>
            <a:r>
              <a:rPr lang="en-US" sz="858" dirty="0">
                <a:solidFill>
                  <a:srgbClr val="9AA0C0"/>
                </a:solidFill>
                <a:latin typeface="Microsoft YaHei" pitchFamily="34" charset="0"/>
                <a:ea typeface="Microsoft YaHei" pitchFamily="34" charset="-122"/>
                <a:cs typeface="Microsoft YaHei" pitchFamily="34" charset="-120"/>
              </a:rPr>
              <a:t> ★★☆</a:t>
            </a:r>
            <a:endParaRPr lang="en-US" sz="858" dirty="0"/>
          </a:p>
        </p:txBody>
      </p:sp>
      <p:sp>
        <p:nvSpPr>
          <p:cNvPr id="53" name="Shape 45"/>
          <p:cNvSpPr/>
          <p:nvPr/>
        </p:nvSpPr>
        <p:spPr>
          <a:xfrm>
            <a:off x="10196605"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54" name="Shape 46"/>
          <p:cNvSpPr/>
          <p:nvPr/>
        </p:nvSpPr>
        <p:spPr>
          <a:xfrm>
            <a:off x="10196605" y="1828800"/>
            <a:ext cx="1355010" cy="109728"/>
          </a:xfrm>
          <a:prstGeom prst="rect">
            <a:avLst/>
          </a:prstGeom>
          <a:solidFill>
            <a:srgbClr val="2C5F8A"/>
          </a:solidFill>
          <a:ln/>
        </p:spPr>
      </p:sp>
      <p:sp>
        <p:nvSpPr>
          <p:cNvPr id="55" name="Shape 47"/>
          <p:cNvSpPr/>
          <p:nvPr/>
        </p:nvSpPr>
        <p:spPr>
          <a:xfrm>
            <a:off x="10416910" y="2194560"/>
            <a:ext cx="914400" cy="914400"/>
          </a:xfrm>
          <a:prstGeom prst="ellipse">
            <a:avLst/>
          </a:prstGeom>
          <a:solidFill>
            <a:srgbClr val="2C5F8A"/>
          </a:solidFill>
          <a:ln/>
        </p:spPr>
      </p:sp>
      <p:pic>
        <p:nvPicPr>
          <p:cNvPr id="56" name="Image 6" descr="preencoded.png">    </p:cNvPr>
          <p:cNvPicPr>
            <a:picLocks noChangeAspect="1"/>
          </p:cNvPicPr>
          <p:nvPr/>
        </p:nvPicPr>
        <p:blipFill>
          <a:blip r:embed="rId7"/>
          <a:stretch>
            <a:fillRect/>
          </a:stretch>
        </p:blipFill>
        <p:spPr>
          <a:xfrm>
            <a:off x="10618078" y="2395728"/>
            <a:ext cx="512064" cy="512064"/>
          </a:xfrm>
          <a:prstGeom prst="rect">
            <a:avLst/>
          </a:prstGeom>
        </p:spPr>
      </p:pic>
      <p:sp>
        <p:nvSpPr>
          <p:cNvPr id="57" name="Text 48"/>
          <p:cNvSpPr/>
          <p:nvPr/>
        </p:nvSpPr>
        <p:spPr>
          <a:xfrm>
            <a:off x="10288045" y="3163824"/>
            <a:ext cx="1172130" cy="273406"/>
          </a:xfrm>
          <a:prstGeom prst="rect">
            <a:avLst/>
          </a:prstGeom>
          <a:noFill/>
          <a:ln/>
        </p:spPr>
        <p:txBody>
          <a:bodyPr wrap="square" rtlCol="0" anchor="t"/>
          <a:lstStyle/>
          <a:p>
            <a:pPr algn="ctr" indent="0" marL="0">
              <a:buNone/>
            </a:pPr>
            <a:r>
              <a:rPr lang="en-US" sz="828" b="1" dirty="0">
                <a:solidFill>
                  <a:srgbClr val="2C5F8A"/>
                </a:solidFill>
                <a:latin typeface="Microsoft YaHei" pitchFamily="34" charset="0"/>
                <a:ea typeface="Microsoft YaHei" pitchFamily="34" charset="-122"/>
                <a:cs typeface="Microsoft YaHei" pitchFamily="34" charset="-120"/>
              </a:rPr>
              <a:t>公共服务 · 准备度管理</a:t>
            </a:r>
            <a:endParaRPr lang="en-US" sz="828" dirty="0"/>
          </a:p>
        </p:txBody>
      </p:sp>
      <p:sp>
        <p:nvSpPr>
          <p:cNvPr id="58" name="Text 49"/>
          <p:cNvSpPr/>
          <p:nvPr/>
        </p:nvSpPr>
        <p:spPr>
          <a:xfrm>
            <a:off x="10288045" y="3492094"/>
            <a:ext cx="1172130" cy="713232"/>
          </a:xfrm>
          <a:prstGeom prst="rect">
            <a:avLst/>
          </a:prstGeom>
          <a:noFill/>
          <a:ln/>
        </p:spPr>
        <p:txBody>
          <a:bodyPr wrap="square" rtlCol="0" anchor="t"/>
          <a:lstStyle/>
          <a:p>
            <a:pPr algn="ctr" indent="0" marL="0">
              <a:buNone/>
            </a:pPr>
            <a:r>
              <a:rPr lang="en-US" sz="1080" b="1" dirty="0">
                <a:solidFill>
                  <a:srgbClr val="1E2235"/>
                </a:solidFill>
                <a:latin typeface="Microsoft YaHei" pitchFamily="34" charset="0"/>
                <a:ea typeface="Microsoft YaHei" pitchFamily="34" charset="-122"/>
                <a:cs typeface="Microsoft YaHei" pitchFamily="34" charset="-120"/>
              </a:rPr>
              <a:t>服务准备度简报：全署达标，是不是每个据点都没问题？</a:t>
            </a:r>
            <a:endParaRPr lang="en-US" sz="1080" dirty="0"/>
          </a:p>
        </p:txBody>
      </p:sp>
      <p:sp>
        <p:nvSpPr>
          <p:cNvPr id="59" name="Text 50"/>
          <p:cNvSpPr/>
          <p:nvPr/>
        </p:nvSpPr>
        <p:spPr>
          <a:xfrm>
            <a:off x="10288045" y="4287622"/>
            <a:ext cx="1172130" cy="713232"/>
          </a:xfrm>
          <a:prstGeom prst="rect">
            <a:avLst/>
          </a:prstGeom>
          <a:noFill/>
          <a:ln/>
        </p:spPr>
        <p:txBody>
          <a:bodyPr wrap="square" rtlCol="0" anchor="t"/>
          <a:lstStyle/>
          <a:p>
            <a:pPr algn="ctr" indent="0" marL="0">
              <a:lnSpc>
                <a:spcPct val="105000"/>
              </a:lnSpc>
              <a:buNone/>
            </a:pPr>
            <a:r>
              <a:rPr lang="en-US" sz="864" dirty="0">
                <a:solidFill>
                  <a:srgbClr val="5B6079"/>
                </a:solidFill>
                <a:latin typeface="Microsoft YaHei" pitchFamily="34" charset="0"/>
                <a:ea typeface="Microsoft YaHei" pitchFamily="34" charset="-122"/>
                <a:cs typeface="Microsoft YaHei" pitchFamily="34" charset="-120"/>
              </a:rPr>
              <a:t>Daily Briefing · Excel · Enterprise Search · 自定义技能 Custom skill</a:t>
            </a:r>
            <a:endParaRPr lang="en-US" sz="864" dirty="0"/>
          </a:p>
        </p:txBody>
      </p:sp>
      <p:sp>
        <p:nvSpPr>
          <p:cNvPr id="60" name="Text 51"/>
          <p:cNvSpPr/>
          <p:nvPr/>
        </p:nvSpPr>
        <p:spPr>
          <a:xfrm>
            <a:off x="10288045" y="5083150"/>
            <a:ext cx="1172130" cy="261518"/>
          </a:xfrm>
          <a:prstGeom prst="rect">
            <a:avLst/>
          </a:prstGeom>
          <a:noFill/>
          <a:ln/>
        </p:spPr>
        <p:txBody>
          <a:bodyPr wrap="square" rtlCol="0" anchor="t"/>
          <a:lstStyle/>
          <a:p>
            <a:pPr algn="ctr" indent="0" marL="0">
              <a:buNone/>
            </a:pPr>
            <a:r>
              <a:rPr lang="en-US" sz="792" dirty="0">
                <a:solidFill>
                  <a:srgbClr val="9AA0C0"/>
                </a:solidFill>
                <a:latin typeface="Microsoft YaHei" pitchFamily="34" charset="0"/>
                <a:ea typeface="Microsoft YaHei" pitchFamily="34" charset="-122"/>
                <a:cs typeface="Microsoft YaHei" pitchFamily="34" charset="-120"/>
              </a:rPr>
              <a:t>约 20 分钟</a:t>
            </a:r>
            <a:endParaRPr lang="en-US" sz="792" dirty="0"/>
          </a:p>
          <a:p>
            <a:pPr algn="ctr" indent="0" marL="0">
              <a:buNone/>
            </a:pPr>
            <a:r>
              <a:rPr lang="en-US" sz="792" dirty="0">
                <a:solidFill>
                  <a:srgbClr val="9AA0C0"/>
                </a:solidFill>
                <a:latin typeface="Microsoft YaHei" pitchFamily="34" charset="0"/>
                <a:ea typeface="Microsoft YaHei" pitchFamily="34" charset="-122"/>
                <a:cs typeface="Microsoft YaHei" pitchFamily="34" charset="-120"/>
              </a:rPr>
              <a:t> ★★★</a:t>
            </a:r>
            <a:endParaRPr lang="en-US" sz="792" dirty="0"/>
          </a:p>
        </p:txBody>
      </p:sp>
      <p:sp>
        <p:nvSpPr>
          <p:cNvPr id="61" name="Text 5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62" name="Text 5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4324D"/>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4324D"/>
                </a:solidFill>
                <a:latin typeface="Microsoft YaHei" pitchFamily="34" charset="0"/>
                <a:ea typeface="Microsoft YaHei" pitchFamily="34" charset="-122"/>
                <a:cs typeface="Microsoft YaHei" pitchFamily="34" charset="-120"/>
              </a:rPr>
              <a:t>场景 01</a:t>
            </a:r>
            <a:endParaRPr lang="en-US" sz="1400" dirty="0"/>
          </a:p>
        </p:txBody>
      </p:sp>
      <p:sp>
        <p:nvSpPr>
          <p:cNvPr id="5" name="Shape 3"/>
          <p:cNvSpPr/>
          <p:nvPr/>
        </p:nvSpPr>
        <p:spPr>
          <a:xfrm>
            <a:off x="502920" y="1143000"/>
            <a:ext cx="1097280" cy="1097280"/>
          </a:xfrm>
          <a:prstGeom prst="ellipse">
            <a:avLst/>
          </a:prstGeom>
          <a:solidFill>
            <a:srgbClr val="14324D"/>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YaHei" pitchFamily="34" charset="0"/>
                <a:ea typeface="Microsoft YaHei" pitchFamily="34" charset="-122"/>
                <a:cs typeface="Microsoft YaHei" pitchFamily="34" charset="-120"/>
              </a:rPr>
              <a:t>公共服务 · 民众服务</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服务邮箱分流：语气最急的，真的最接近逾期吗？</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YaHei" pitchFamily="34" charset="0"/>
                <a:ea typeface="Microsoft YaHei" pitchFamily="34" charset="-122"/>
                <a:cs typeface="Microsoft YaHei" pitchFamily="34" charset="-120"/>
              </a:rPr>
              <a:t>⏱ 约 15 分钟 · 难度 ★★☆</a:t>
            </a:r>
            <a:endParaRPr lang="en-US" sz="1300" dirty="0"/>
          </a:p>
        </p:txBody>
      </p:sp>
      <p:sp>
        <p:nvSpPr>
          <p:cNvPr id="10" name="Shape 7"/>
          <p:cNvSpPr/>
          <p:nvPr/>
        </p:nvSpPr>
        <p:spPr>
          <a:xfrm>
            <a:off x="502920" y="4572000"/>
            <a:ext cx="813816" cy="329184"/>
          </a:xfrm>
          <a:prstGeom prst="roundRect">
            <a:avLst>
              <a:gd name="adj" fmla="val 50000"/>
            </a:avLst>
          </a:prstGeom>
          <a:solidFill>
            <a:srgbClr val="6366F1"/>
          </a:solidFill>
          <a:ln/>
        </p:spPr>
      </p:sp>
      <p:sp>
        <p:nvSpPr>
          <p:cNvPr id="11" name="Text 8"/>
          <p:cNvSpPr/>
          <p:nvPr/>
        </p:nvSpPr>
        <p:spPr>
          <a:xfrm>
            <a:off x="502920" y="4572000"/>
            <a:ext cx="813816" cy="329184"/>
          </a:xfrm>
          <a:prstGeom prst="rect">
            <a:avLst/>
          </a:prstGeom>
          <a:noFill/>
          <a:ln/>
        </p:spPr>
        <p:txBody>
          <a:bodyPr wrap="square"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Email</a:t>
            </a:r>
            <a:endParaRPr lang="en-US" sz="1050" dirty="0"/>
          </a:p>
        </p:txBody>
      </p:sp>
      <p:sp>
        <p:nvSpPr>
          <p:cNvPr id="12" name="Shape 9"/>
          <p:cNvSpPr/>
          <p:nvPr/>
        </p:nvSpPr>
        <p:spPr>
          <a:xfrm>
            <a:off x="1499616" y="4572000"/>
            <a:ext cx="2020824" cy="329184"/>
          </a:xfrm>
          <a:prstGeom prst="roundRect">
            <a:avLst>
              <a:gd name="adj" fmla="val 50000"/>
            </a:avLst>
          </a:prstGeom>
          <a:solidFill>
            <a:srgbClr val="6366F1"/>
          </a:solidFill>
          <a:ln/>
        </p:spPr>
      </p:sp>
      <p:sp>
        <p:nvSpPr>
          <p:cNvPr id="13" name="Text 10"/>
          <p:cNvSpPr/>
          <p:nvPr/>
        </p:nvSpPr>
        <p:spPr>
          <a:xfrm>
            <a:off x="1499616" y="4572000"/>
            <a:ext cx="2020824" cy="329184"/>
          </a:xfrm>
          <a:prstGeom prst="rect">
            <a:avLst/>
          </a:prstGeom>
          <a:noFill/>
          <a:ln/>
        </p:spPr>
        <p:txBody>
          <a:bodyPr wrap="square"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Enterprise Search</a:t>
            </a:r>
            <a:endParaRPr lang="en-US" sz="1050" dirty="0"/>
          </a:p>
        </p:txBody>
      </p:sp>
      <p:sp>
        <p:nvSpPr>
          <p:cNvPr id="14" name="Shape 11"/>
          <p:cNvSpPr/>
          <p:nvPr/>
        </p:nvSpPr>
        <p:spPr>
          <a:xfrm>
            <a:off x="502920" y="4956048"/>
            <a:ext cx="1719072" cy="329184"/>
          </a:xfrm>
          <a:prstGeom prst="roundRect">
            <a:avLst>
              <a:gd name="adj" fmla="val 50000"/>
            </a:avLst>
          </a:prstGeom>
          <a:solidFill>
            <a:srgbClr val="6366F1"/>
          </a:solidFill>
          <a:ln/>
        </p:spPr>
      </p:sp>
      <p:sp>
        <p:nvSpPr>
          <p:cNvPr id="15" name="Text 12"/>
          <p:cNvSpPr/>
          <p:nvPr/>
        </p:nvSpPr>
        <p:spPr>
          <a:xfrm>
            <a:off x="502920" y="4956048"/>
            <a:ext cx="1719072" cy="329184"/>
          </a:xfrm>
          <a:prstGeom prst="rect">
            <a:avLst/>
          </a:prstGeom>
          <a:noFill/>
          <a:ln/>
        </p:spPr>
        <p:txBody>
          <a:bodyPr wrap="square"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Communications</a:t>
            </a:r>
            <a:endParaRPr lang="en-US" sz="1050" dirty="0"/>
          </a:p>
        </p:txBody>
      </p:sp>
      <p:sp>
        <p:nvSpPr>
          <p:cNvPr id="16" name="Shape 13"/>
          <p:cNvSpPr/>
          <p:nvPr/>
        </p:nvSpPr>
        <p:spPr>
          <a:xfrm>
            <a:off x="502920" y="5340096"/>
            <a:ext cx="1719072" cy="329184"/>
          </a:xfrm>
          <a:prstGeom prst="roundRect">
            <a:avLst>
              <a:gd name="adj" fmla="val 50000"/>
            </a:avLst>
          </a:prstGeom>
          <a:solidFill>
            <a:srgbClr val="6366F1"/>
          </a:solidFill>
          <a:ln/>
        </p:spPr>
      </p:sp>
      <p:sp>
        <p:nvSpPr>
          <p:cNvPr id="17" name="Text 14"/>
          <p:cNvSpPr/>
          <p:nvPr/>
        </p:nvSpPr>
        <p:spPr>
          <a:xfrm>
            <a:off x="502920" y="5340096"/>
            <a:ext cx="1719072" cy="329184"/>
          </a:xfrm>
          <a:prstGeom prst="rect">
            <a:avLst/>
          </a:prstGeom>
          <a:noFill/>
          <a:ln/>
        </p:spPr>
        <p:txBody>
          <a:bodyPr wrap="square"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Adaptive Cards</a:t>
            </a:r>
            <a:endParaRPr lang="en-US" sz="1050" dirty="0"/>
          </a:p>
        </p:txBody>
      </p:sp>
      <p:sp>
        <p:nvSpPr>
          <p:cNvPr id="18" name="Shape 15"/>
          <p:cNvSpPr/>
          <p:nvPr/>
        </p:nvSpPr>
        <p:spPr>
          <a:xfrm>
            <a:off x="502920" y="5724144"/>
            <a:ext cx="2450592" cy="329184"/>
          </a:xfrm>
          <a:prstGeom prst="roundRect">
            <a:avLst>
              <a:gd name="adj" fmla="val 50000"/>
            </a:avLst>
          </a:prstGeom>
          <a:solidFill>
            <a:srgbClr val="6366F1"/>
          </a:solidFill>
          <a:ln/>
        </p:spPr>
      </p:sp>
      <p:sp>
        <p:nvSpPr>
          <p:cNvPr id="19" name="Text 16"/>
          <p:cNvSpPr/>
          <p:nvPr/>
        </p:nvSpPr>
        <p:spPr>
          <a:xfrm>
            <a:off x="502920" y="5724144"/>
            <a:ext cx="2450592" cy="329184"/>
          </a:xfrm>
          <a:prstGeom prst="rect">
            <a:avLst/>
          </a:prstGeom>
          <a:noFill/>
          <a:ln/>
        </p:spPr>
        <p:txBody>
          <a:bodyPr wrap="square"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事件触发 Event trigger</a:t>
            </a:r>
            <a:endParaRPr lang="en-US" sz="1050" dirty="0"/>
          </a:p>
        </p:txBody>
      </p:sp>
      <p:sp>
        <p:nvSpPr>
          <p:cNvPr id="20" name="Text 17"/>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Microsoft YaHei" pitchFamily="34" charset="0"/>
                <a:ea typeface="Microsoft YaHei" pitchFamily="34" charset="-122"/>
                <a:cs typeface="Microsoft YaHei" pitchFamily="34" charset="-120"/>
              </a:rPr>
              <a:t>共用服务邮箱一夜进了好几封请求，发件人自己标“紧急”的邮件最显眼，但各服务项目的时效承诺长短不一，自标紧急和真正逼近时效是两回事。更麻烦的是，刚进来一封语气急迫却连服务项目都没说清楚的邮件——连时效都算不出来，在查清楚之前，不能先假设它是哪个服务。</a:t>
            </a:r>
            <a:endParaRPr lang="en-US" sz="1500" dirty="0"/>
          </a:p>
        </p:txBody>
      </p:sp>
      <p:sp>
        <p:nvSpPr>
          <p:cNvPr id="21" name="Text 18"/>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14324D"/>
                </a:solidFill>
                <a:latin typeface="Microsoft YaHei" pitchFamily="34" charset="0"/>
                <a:ea typeface="Microsoft YaHei" pitchFamily="34" charset="-122"/>
                <a:cs typeface="Microsoft YaHei" pitchFamily="34" charset="-120"/>
              </a:rPr>
              <a:t>代理式工作流</a:t>
            </a:r>
            <a:endParaRPr lang="en-US" sz="1500" dirty="0"/>
          </a:p>
        </p:txBody>
      </p:sp>
      <p:sp>
        <p:nvSpPr>
          <p:cNvPr id="22" name="Shape 19"/>
          <p:cNvSpPr/>
          <p:nvPr/>
        </p:nvSpPr>
        <p:spPr>
          <a:xfrm>
            <a:off x="4526280" y="2249424"/>
            <a:ext cx="457200" cy="457200"/>
          </a:xfrm>
          <a:prstGeom prst="ellipse">
            <a:avLst/>
          </a:prstGeom>
          <a:solidFill>
            <a:srgbClr val="FFFFFF">
              <a:alpha val="12000"/>
            </a:srgbClr>
          </a:solidFill>
          <a:ln w="19050">
            <a:solidFill>
              <a:srgbClr val="14324D"/>
            </a:solidFill>
            <a:prstDash val="solid"/>
          </a:ln>
        </p:spPr>
      </p:sp>
      <p:sp>
        <p:nvSpPr>
          <p:cNvPr id="23" name="Text 20"/>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14324D"/>
                </a:solidFill>
                <a:latin typeface="Microsoft YaHei" pitchFamily="34" charset="0"/>
                <a:ea typeface="Microsoft YaHei" pitchFamily="34" charset="-122"/>
                <a:cs typeface="Microsoft YaHei" pitchFamily="34" charset="-120"/>
              </a:rPr>
              <a:t>1</a:t>
            </a:r>
            <a:endParaRPr lang="en-US" sz="1600" dirty="0"/>
          </a:p>
        </p:txBody>
      </p:sp>
      <p:sp>
        <p:nvSpPr>
          <p:cNvPr id="24" name="Text 21"/>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先把现有队列按剩余时效排序</a:t>
            </a:r>
            <a:endParaRPr lang="en-US" sz="1600" dirty="0"/>
          </a:p>
        </p:txBody>
      </p:sp>
      <p:sp>
        <p:nvSpPr>
          <p:cNvPr id="25" name="Text 22"/>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不用上传任何文件，素材都在 OneDrive。</a:t>
            </a:r>
            <a:endParaRPr lang="en-US" sz="1300" dirty="0"/>
          </a:p>
        </p:txBody>
      </p:sp>
      <p:sp>
        <p:nvSpPr>
          <p:cNvPr id="26" name="Shape 23"/>
          <p:cNvSpPr/>
          <p:nvPr/>
        </p:nvSpPr>
        <p:spPr>
          <a:xfrm>
            <a:off x="4526280" y="3273552"/>
            <a:ext cx="457200" cy="457200"/>
          </a:xfrm>
          <a:prstGeom prst="ellipse">
            <a:avLst/>
          </a:prstGeom>
          <a:solidFill>
            <a:srgbClr val="FFFFFF">
              <a:alpha val="12000"/>
            </a:srgbClr>
          </a:solidFill>
          <a:ln w="19050">
            <a:solidFill>
              <a:srgbClr val="14324D"/>
            </a:solidFill>
            <a:prstDash val="solid"/>
          </a:ln>
        </p:spPr>
      </p:sp>
      <p:sp>
        <p:nvSpPr>
          <p:cNvPr id="27" name="Text 24"/>
          <p:cNvSpPr/>
          <p:nvPr/>
        </p:nvSpPr>
        <p:spPr>
          <a:xfrm>
            <a:off x="4526280" y="3273552"/>
            <a:ext cx="457200" cy="457200"/>
          </a:xfrm>
          <a:prstGeom prst="rect">
            <a:avLst/>
          </a:prstGeom>
          <a:noFill/>
          <a:ln/>
        </p:spPr>
        <p:txBody>
          <a:bodyPr wrap="square" rtlCol="0" anchor="ctr"/>
          <a:lstStyle/>
          <a:p>
            <a:pPr algn="ctr" indent="0" marL="0">
              <a:buNone/>
            </a:pPr>
            <a:r>
              <a:rPr lang="en-US" sz="1600" b="1" dirty="0">
                <a:solidFill>
                  <a:srgbClr val="14324D"/>
                </a:solidFill>
                <a:latin typeface="Microsoft YaHei" pitchFamily="34" charset="0"/>
                <a:ea typeface="Microsoft YaHei" pitchFamily="34" charset="-122"/>
                <a:cs typeface="Microsoft YaHei" pitchFamily="34" charset="-120"/>
              </a:rPr>
              <a:t>2</a:t>
            </a:r>
            <a:endParaRPr lang="en-US" sz="1600" dirty="0"/>
          </a:p>
        </p:txBody>
      </p:sp>
      <p:sp>
        <p:nvSpPr>
          <p:cNvPr id="28" name="Text 25"/>
          <p:cNvSpPr/>
          <p:nvPr/>
        </p:nvSpPr>
        <p:spPr>
          <a:xfrm>
            <a:off x="5166360" y="3255264"/>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真实触发邮件进来：缺识别码，不能假设服务项目</a:t>
            </a:r>
            <a:endParaRPr lang="en-US" sz="1600" dirty="0"/>
          </a:p>
        </p:txBody>
      </p:sp>
      <p:sp>
        <p:nvSpPr>
          <p:cNvPr id="29" name="Text 26"/>
          <p:cNvSpPr/>
          <p:nvPr/>
        </p:nvSpPr>
        <p:spPr>
          <a:xfrm>
            <a:off x="5166360" y="36210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课堂示范：讲师此时从另一个真实账号发出一封新请求到服务邮箱，事件触发自动启动 Cowork 任务。</a:t>
            </a:r>
            <a:endParaRPr lang="en-US" sz="1300" dirty="0"/>
          </a:p>
        </p:txBody>
      </p:sp>
      <p:sp>
        <p:nvSpPr>
          <p:cNvPr id="30" name="Shape 27"/>
          <p:cNvSpPr/>
          <p:nvPr/>
        </p:nvSpPr>
        <p:spPr>
          <a:xfrm>
            <a:off x="4526280" y="5440680"/>
            <a:ext cx="7132320" cy="777240"/>
          </a:xfrm>
          <a:prstGeom prst="rect">
            <a:avLst/>
          </a:prstGeom>
          <a:solidFill>
            <a:srgbClr val="FFFFFF">
              <a:alpha val="10000"/>
            </a:srgbClr>
          </a:solidFill>
          <a:ln w="12700">
            <a:solidFill>
              <a:srgbClr val="14324D">
                <a:alpha val="65000"/>
              </a:srgbClr>
            </a:solidFill>
            <a:prstDash val="solid"/>
          </a:ln>
        </p:spPr>
      </p:sp>
      <p:sp>
        <p:nvSpPr>
          <p:cNvPr id="31" name="Shape 28"/>
          <p:cNvSpPr/>
          <p:nvPr/>
        </p:nvSpPr>
        <p:spPr>
          <a:xfrm>
            <a:off x="4526280" y="5440680"/>
            <a:ext cx="73152" cy="777240"/>
          </a:xfrm>
          <a:prstGeom prst="rect">
            <a:avLst/>
          </a:prstGeom>
          <a:solidFill>
            <a:srgbClr val="14324D"/>
          </a:solidFill>
          <a:ln/>
        </p:spPr>
      </p:sp>
      <p:pic>
        <p:nvPicPr>
          <p:cNvPr id="32"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3" name="Text 29"/>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YaHei" pitchFamily="34" charset="0"/>
                <a:ea typeface="Microsoft YaHei" pitchFamily="34" charset="-122"/>
                <a:cs typeface="Microsoft YaHei" pitchFamily="34" charset="-120"/>
              </a:rPr>
              <a:t>把关重点　</a:t>
            </a:r>
            <a:pPr indent="0" marL="0">
              <a:lnSpc>
                <a:spcPct val="115000"/>
              </a:lnSpc>
              <a:buNone/>
            </a:pPr>
            <a:r>
              <a:rPr lang="en-US" sz="1250" dirty="0">
                <a:solidFill>
                  <a:srgbClr val="C7CAEC"/>
                </a:solidFill>
                <a:latin typeface="Microsoft YaHei" pitchFamily="34" charset="0"/>
                <a:ea typeface="Microsoft YaHei" pitchFamily="34" charset="-122"/>
                <a:cs typeface="Microsoft YaHei" pitchFamily="34" charset="-120"/>
              </a:rPr>
              <a:t>读取路由指南、负责窗口清单与现有队列属于只读汇总，不会触发核准卡；但一旦要求转交或回复新进的请求…</a:t>
            </a:r>
            <a:endParaRPr lang="en-US" sz="1250" dirty="0"/>
          </a:p>
        </p:txBody>
      </p:sp>
      <p:sp>
        <p:nvSpPr>
          <p:cNvPr id="34" name="Text 3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35" name="Text 3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YaHei" pitchFamily="34" charset="0"/>
                <a:ea typeface="Microsoft YaHei" pitchFamily="34" charset="-122"/>
                <a:cs typeface="Microsoft YaHe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4324D"/>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4324D"/>
                </a:solidFill>
                <a:latin typeface="Microsoft YaHei" pitchFamily="34" charset="0"/>
                <a:ea typeface="Microsoft YaHei" pitchFamily="34" charset="-122"/>
                <a:cs typeface="Microsoft YaHei" pitchFamily="34" charset="-120"/>
              </a:rPr>
              <a:t>场景 01 · 实机演示</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看 Cowork 怎么做、产出什么</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1_01_prompt.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4324D"/>
                </a:solidFill>
                <a:latin typeface="Microsoft YaHei" pitchFamily="34" charset="0"/>
                <a:ea typeface="Microsoft YaHei" pitchFamily="34" charset="-122"/>
                <a:cs typeface="Microsoft YaHei" pitchFamily="34" charset="-120"/>
              </a:rPr>
              <a:t>① 你的输入与指令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1_02b_clarify.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4324D"/>
                </a:solidFill>
                <a:latin typeface="Microsoft YaHei" pitchFamily="34" charset="0"/>
                <a:ea typeface="Microsoft YaHei" pitchFamily="34" charset="-122"/>
                <a:cs typeface="Microsoft YaHei" pitchFamily="34" charset="-120"/>
              </a:rPr>
              <a:t>② 产出成果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4324D"/>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YaHei" pitchFamily="34" charset="0"/>
                <a:ea typeface="Microsoft YaHei" pitchFamily="34" charset="-122"/>
                <a:cs typeface="Microsoft YaHei" pitchFamily="34" charset="-120"/>
              </a:rPr>
              <a:t>产出验收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剩余时效排序有算对（目标时数减已经过时数），不是只看发件人标的紧急</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真正最接近逾期的 ACC 请求被正确找出，而不是两条自标紧急的那两条</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新进的触发邮件没有被按语气直接转交，而是先被要求澄清缺少的识别码</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B7285"/>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B7285"/>
                </a:solidFill>
                <a:latin typeface="Microsoft YaHei" pitchFamily="34" charset="0"/>
                <a:ea typeface="Microsoft YaHei" pitchFamily="34" charset="-122"/>
                <a:cs typeface="Microsoft YaHei" pitchFamily="34" charset="-120"/>
              </a:rPr>
              <a:t>场景 02</a:t>
            </a:r>
            <a:endParaRPr lang="en-US" sz="1400" dirty="0"/>
          </a:p>
        </p:txBody>
      </p:sp>
      <p:sp>
        <p:nvSpPr>
          <p:cNvPr id="5" name="Shape 3"/>
          <p:cNvSpPr/>
          <p:nvPr/>
        </p:nvSpPr>
        <p:spPr>
          <a:xfrm>
            <a:off x="502920" y="1143000"/>
            <a:ext cx="1097280" cy="1097280"/>
          </a:xfrm>
          <a:prstGeom prst="ellipse">
            <a:avLst/>
          </a:prstGeom>
          <a:solidFill>
            <a:srgbClr val="0B7285"/>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YaHei" pitchFamily="34" charset="0"/>
                <a:ea typeface="Microsoft YaHei" pitchFamily="34" charset="-122"/>
                <a:cs typeface="Microsoft YaHei" pitchFamily="34" charset="-120"/>
              </a:rPr>
              <a:t>公共服务 · 服务连续性</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服务连续性简报：事故最多的管道，就是最大的续运风险吗？</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YaHei" pitchFamily="34" charset="0"/>
                <a:ea typeface="Microsoft YaHei" pitchFamily="34" charset="-122"/>
                <a:cs typeface="Microsoft YaHei" pitchFamily="34" charset="-120"/>
              </a:rPr>
              <a:t>⏱ 约 18 分钟 · 难度 ★★☆</a:t>
            </a:r>
            <a:endParaRPr lang="en-US" sz="1300" dirty="0"/>
          </a:p>
        </p:txBody>
      </p:sp>
      <p:sp>
        <p:nvSpPr>
          <p:cNvPr id="10" name="Shape 7"/>
          <p:cNvSpPr/>
          <p:nvPr/>
        </p:nvSpPr>
        <p:spPr>
          <a:xfrm>
            <a:off x="502920" y="4572000"/>
            <a:ext cx="1316736" cy="402336"/>
          </a:xfrm>
          <a:prstGeom prst="roundRect">
            <a:avLst>
              <a:gd name="adj" fmla="val 50000"/>
            </a:avLst>
          </a:prstGeom>
          <a:solidFill>
            <a:srgbClr val="C43E1C"/>
          </a:solidFill>
          <a:ln/>
        </p:spPr>
      </p:sp>
      <p:sp>
        <p:nvSpPr>
          <p:cNvPr id="11" name="Text 8"/>
          <p:cNvSpPr/>
          <p:nvPr/>
        </p:nvSpPr>
        <p:spPr>
          <a:xfrm>
            <a:off x="502920" y="4572000"/>
            <a:ext cx="1316736"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PowerPoint</a:t>
            </a:r>
            <a:endParaRPr lang="en-US" sz="1200" dirty="0"/>
          </a:p>
        </p:txBody>
      </p:sp>
      <p:sp>
        <p:nvSpPr>
          <p:cNvPr id="12" name="Shape 9"/>
          <p:cNvSpPr/>
          <p:nvPr/>
        </p:nvSpPr>
        <p:spPr>
          <a:xfrm>
            <a:off x="2002536" y="4572000"/>
            <a:ext cx="713232" cy="402336"/>
          </a:xfrm>
          <a:prstGeom prst="roundRect">
            <a:avLst>
              <a:gd name="adj" fmla="val 50000"/>
            </a:avLst>
          </a:prstGeom>
          <a:solidFill>
            <a:srgbClr val="2B579A"/>
          </a:solidFill>
          <a:ln/>
        </p:spPr>
      </p:sp>
      <p:sp>
        <p:nvSpPr>
          <p:cNvPr id="13" name="Text 10"/>
          <p:cNvSpPr/>
          <p:nvPr/>
        </p:nvSpPr>
        <p:spPr>
          <a:xfrm>
            <a:off x="2002536" y="4572000"/>
            <a:ext cx="713232"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Word</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Enterprise Search</a:t>
            </a:r>
            <a:endParaRPr lang="en-US" sz="1200" dirty="0"/>
          </a:p>
        </p:txBody>
      </p:sp>
      <p:sp>
        <p:nvSpPr>
          <p:cNvPr id="16" name="Text 13"/>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Microsoft YaHei" pitchFamily="34" charset="0"/>
                <a:ea typeface="Microsoft YaHei" pitchFamily="34" charset="-122"/>
                <a:cs typeface="Microsoft YaHei" pitchFamily="34" charset="-120"/>
              </a:rPr>
              <a:t>本季度四个服务管道（柜台、电话、线上门户、现场外展服务车）都发生过中断事故，电话管道事故数最多，看起来最该优先投资续运方案。但事故数不等于没有替代方案时的冲击——有三个管道彼此互为备援，唯一完全没有备援、且专门服务“无其他管道可用”居民的管道，事故数反而是四个里最少的。</a:t>
            </a:r>
            <a:endParaRPr lang="en-US" sz="1500" dirty="0"/>
          </a:p>
        </p:txBody>
      </p:sp>
      <p:sp>
        <p:nvSpPr>
          <p:cNvPr id="17" name="Text 14"/>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0B7285"/>
                </a:solidFill>
                <a:latin typeface="Microsoft YaHei" pitchFamily="34" charset="0"/>
                <a:ea typeface="Microsoft YaHei" pitchFamily="34" charset="-122"/>
                <a:cs typeface="Microsoft YaHei" pitchFamily="34" charset="-120"/>
              </a:rPr>
              <a:t>代理式工作流</a:t>
            </a:r>
            <a:endParaRPr lang="en-US" sz="1500" dirty="0"/>
          </a:p>
        </p:txBody>
      </p:sp>
      <p:sp>
        <p:nvSpPr>
          <p:cNvPr id="18" name="Shape 15"/>
          <p:cNvSpPr/>
          <p:nvPr/>
        </p:nvSpPr>
        <p:spPr>
          <a:xfrm>
            <a:off x="4526280" y="2523744"/>
            <a:ext cx="457200" cy="457200"/>
          </a:xfrm>
          <a:prstGeom prst="ellipse">
            <a:avLst/>
          </a:prstGeom>
          <a:solidFill>
            <a:srgbClr val="FFFFFF">
              <a:alpha val="12000"/>
            </a:srgbClr>
          </a:solidFill>
          <a:ln w="19050">
            <a:solidFill>
              <a:srgbClr val="0B7285"/>
            </a:solidFill>
            <a:prstDash val="solid"/>
          </a:ln>
        </p:spPr>
      </p:sp>
      <p:sp>
        <p:nvSpPr>
          <p:cNvPr id="19" name="Text 16"/>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0B7285"/>
                </a:solidFill>
                <a:latin typeface="Microsoft YaHei" pitchFamily="34" charset="0"/>
                <a:ea typeface="Microsoft YaHei" pitchFamily="34" charset="-122"/>
                <a:cs typeface="Microsoft YaHei" pitchFamily="34" charset="-120"/>
              </a:rPr>
              <a:t>1</a:t>
            </a:r>
            <a:endParaRPr lang="en-US" sz="1600" dirty="0"/>
          </a:p>
        </p:txBody>
      </p:sp>
      <p:sp>
        <p:nvSpPr>
          <p:cNvPr id="20" name="Text 17"/>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上传本季度事故记录，请它先核对续运检查清单</a:t>
            </a:r>
            <a:endParaRPr lang="en-US" sz="1600" dirty="0"/>
          </a:p>
        </p:txBody>
      </p:sp>
      <p:sp>
        <p:nvSpPr>
          <p:cNvPr id="21" name="Text 18"/>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把 GOV2_服务中断记录.xlsx 上传到聊天框，发送下面的提示词。</a:t>
            </a:r>
            <a:endParaRPr lang="en-US" sz="1300" dirty="0"/>
          </a:p>
        </p:txBody>
      </p:sp>
      <p:sp>
        <p:nvSpPr>
          <p:cNvPr id="22" name="Shape 19"/>
          <p:cNvSpPr/>
          <p:nvPr/>
        </p:nvSpPr>
        <p:spPr>
          <a:xfrm>
            <a:off x="4526280" y="3547872"/>
            <a:ext cx="457200" cy="457200"/>
          </a:xfrm>
          <a:prstGeom prst="ellipse">
            <a:avLst/>
          </a:prstGeom>
          <a:solidFill>
            <a:srgbClr val="FFFFFF">
              <a:alpha val="12000"/>
            </a:srgbClr>
          </a:solidFill>
          <a:ln w="19050">
            <a:solidFill>
              <a:srgbClr val="0B7285"/>
            </a:solidFill>
            <a:prstDash val="solid"/>
          </a:ln>
        </p:spPr>
      </p:sp>
      <p:sp>
        <p:nvSpPr>
          <p:cNvPr id="23" name="Text 20"/>
          <p:cNvSpPr/>
          <p:nvPr/>
        </p:nvSpPr>
        <p:spPr>
          <a:xfrm>
            <a:off x="4526280" y="3547872"/>
            <a:ext cx="457200" cy="457200"/>
          </a:xfrm>
          <a:prstGeom prst="rect">
            <a:avLst/>
          </a:prstGeom>
          <a:noFill/>
          <a:ln/>
        </p:spPr>
        <p:txBody>
          <a:bodyPr wrap="square" rtlCol="0" anchor="ctr"/>
          <a:lstStyle/>
          <a:p>
            <a:pPr algn="ctr" indent="0" marL="0">
              <a:buNone/>
            </a:pPr>
            <a:r>
              <a:rPr lang="en-US" sz="1600" b="1" dirty="0">
                <a:solidFill>
                  <a:srgbClr val="0B7285"/>
                </a:solidFill>
                <a:latin typeface="Microsoft YaHei" pitchFamily="34" charset="0"/>
                <a:ea typeface="Microsoft YaHei" pitchFamily="34" charset="-122"/>
                <a:cs typeface="Microsoft YaHei" pitchFamily="34" charset="-120"/>
              </a:rPr>
              <a:t>2</a:t>
            </a:r>
            <a:endParaRPr lang="en-US" sz="1600" dirty="0"/>
          </a:p>
        </p:txBody>
      </p:sp>
      <p:sp>
        <p:nvSpPr>
          <p:cNvPr id="24" name="Text 21"/>
          <p:cNvSpPr/>
          <p:nvPr/>
        </p:nvSpPr>
        <p:spPr>
          <a:xfrm>
            <a:off x="5166360" y="3529584"/>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把结论做成前线简报，决策页要放对优先顺序</a:t>
            </a:r>
            <a:endParaRPr lang="en-US" sz="1600" dirty="0"/>
          </a:p>
        </p:txBody>
      </p:sp>
      <p:sp>
        <p:nvSpPr>
          <p:cNvPr id="25" name="Text 22"/>
          <p:cNvSpPr/>
          <p:nvPr/>
        </p:nvSpPr>
        <p:spPr>
          <a:xfrm>
            <a:off x="5166360" y="3895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看完缺口分析后，发送下面的提示词，请它做成简报。</a:t>
            </a:r>
            <a:endParaRPr lang="en-US" sz="1300" dirty="0"/>
          </a:p>
        </p:txBody>
      </p:sp>
      <p:sp>
        <p:nvSpPr>
          <p:cNvPr id="26" name="Shape 23"/>
          <p:cNvSpPr/>
          <p:nvPr/>
        </p:nvSpPr>
        <p:spPr>
          <a:xfrm>
            <a:off x="4526280" y="5440680"/>
            <a:ext cx="7132320" cy="777240"/>
          </a:xfrm>
          <a:prstGeom prst="rect">
            <a:avLst/>
          </a:prstGeom>
          <a:solidFill>
            <a:srgbClr val="FFFFFF">
              <a:alpha val="10000"/>
            </a:srgbClr>
          </a:solidFill>
          <a:ln w="12700">
            <a:solidFill>
              <a:srgbClr val="0B7285">
                <a:alpha val="65000"/>
              </a:srgbClr>
            </a:solidFill>
            <a:prstDash val="solid"/>
          </a:ln>
        </p:spPr>
      </p:sp>
      <p:sp>
        <p:nvSpPr>
          <p:cNvPr id="27" name="Shape 24"/>
          <p:cNvSpPr/>
          <p:nvPr/>
        </p:nvSpPr>
        <p:spPr>
          <a:xfrm>
            <a:off x="4526280" y="5440680"/>
            <a:ext cx="73152" cy="777240"/>
          </a:xfrm>
          <a:prstGeom prst="rect">
            <a:avLst/>
          </a:prstGeom>
          <a:solidFill>
            <a:srgbClr val="0B7285"/>
          </a:solidFill>
          <a:ln/>
        </p:spPr>
      </p:sp>
      <p:pic>
        <p:nvPicPr>
          <p:cNvPr id="28"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29" name="Text 25"/>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YaHei" pitchFamily="34" charset="0"/>
                <a:ea typeface="Microsoft YaHei" pitchFamily="34" charset="-122"/>
                <a:cs typeface="Microsoft YaHei" pitchFamily="34" charset="-120"/>
              </a:rPr>
              <a:t>把关重点　</a:t>
            </a:r>
            <a:pPr indent="0" marL="0">
              <a:lnSpc>
                <a:spcPct val="115000"/>
              </a:lnSpc>
              <a:buNone/>
            </a:pPr>
            <a:r>
              <a:rPr lang="en-US" sz="1250" dirty="0">
                <a:solidFill>
                  <a:srgbClr val="C7CAEC"/>
                </a:solidFill>
                <a:latin typeface="Microsoft YaHei" pitchFamily="34" charset="0"/>
                <a:ea typeface="Microsoft YaHei" pitchFamily="34" charset="-122"/>
                <a:cs typeface="Microsoft YaHei" pitchFamily="34" charset="-120"/>
              </a:rPr>
              <a:t>读取检查清单与上季度记录属于只读汇总，不会触发核准卡；简报只存在你的工作区，发布或转发给其他单位前…</a:t>
            </a:r>
            <a:endParaRPr lang="en-US" sz="1250" dirty="0"/>
          </a:p>
        </p:txBody>
      </p:sp>
      <p:sp>
        <p:nvSpPr>
          <p:cNvPr id="30" name="Text 26"/>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31" name="Text 27"/>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YaHei" pitchFamily="34" charset="0"/>
                <a:ea typeface="Microsoft YaHei" pitchFamily="34" charset="-122"/>
                <a:cs typeface="Microsoft YaHe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B7285"/>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B7285"/>
                </a:solidFill>
                <a:latin typeface="Microsoft YaHei" pitchFamily="34" charset="0"/>
                <a:ea typeface="Microsoft YaHei" pitchFamily="34" charset="-122"/>
                <a:cs typeface="Microsoft YaHei" pitchFamily="34" charset="-120"/>
              </a:rPr>
              <a:t>场景 02 · 实机演示</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看 Cowork 怎么做、产出什么</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2_01_upload_c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B7285"/>
                </a:solidFill>
                <a:latin typeface="Microsoft YaHei" pitchFamily="34" charset="0"/>
                <a:ea typeface="Microsoft YaHei" pitchFamily="34" charset="-122"/>
                <a:cs typeface="Microsoft YaHei" pitchFamily="34" charset="-120"/>
              </a:rPr>
              <a:t>① 你的输入与指令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2_02_deck_c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B7285"/>
                </a:solidFill>
                <a:latin typeface="Microsoft YaHei" pitchFamily="34" charset="0"/>
                <a:ea typeface="Microsoft YaHei" pitchFamily="34" charset="-122"/>
                <a:cs typeface="Microsoft YaHei" pitchFamily="34" charset="-120"/>
              </a:rPr>
              <a:t>② 产出成果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B7285"/>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YaHei" pitchFamily="34" charset="0"/>
                <a:ea typeface="Microsoft YaHei" pitchFamily="34" charset="-122"/>
                <a:cs typeface="Microsoft YaHei" pitchFamily="34" charset="-120"/>
              </a:rPr>
              <a:t>产出验收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正确找出没有记录在案备援方案的管道（mobile，不是 phone）</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正确找出事故数最多但已有备援的管道（phone）不是续运优先</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简报决策页的优先顺序依“有无备援＋无替代对象人数”排定，不是依事故数</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5C4A9C"/>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5C4A9C"/>
                </a:solidFill>
                <a:latin typeface="Microsoft YaHei" pitchFamily="34" charset="0"/>
                <a:ea typeface="Microsoft YaHei" pitchFamily="34" charset="-122"/>
                <a:cs typeface="Microsoft YaHei" pitchFamily="34" charset="-120"/>
              </a:rPr>
              <a:t>场景 03</a:t>
            </a:r>
            <a:endParaRPr lang="en-US" sz="1400" dirty="0"/>
          </a:p>
        </p:txBody>
      </p:sp>
      <p:sp>
        <p:nvSpPr>
          <p:cNvPr id="5" name="Shape 3"/>
          <p:cNvSpPr/>
          <p:nvPr/>
        </p:nvSpPr>
        <p:spPr>
          <a:xfrm>
            <a:off x="502920" y="1143000"/>
            <a:ext cx="1097280" cy="1097280"/>
          </a:xfrm>
          <a:prstGeom prst="ellipse">
            <a:avLst/>
          </a:prstGeom>
          <a:solidFill>
            <a:srgbClr val="5C4A9C"/>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YaHei" pitchFamily="34" charset="0"/>
                <a:ea typeface="Microsoft YaHei" pitchFamily="34" charset="-122"/>
                <a:cs typeface="Microsoft YaHei" pitchFamily="34" charset="-120"/>
              </a:rPr>
              <a:t>公共服务 · 运营管理</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运营会议跟进：标记“完成”的待办，真的验收过了吗？</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YaHei" pitchFamily="34" charset="0"/>
                <a:ea typeface="Microsoft YaHei" pitchFamily="34" charset="-122"/>
                <a:cs typeface="Microsoft YaHei" pitchFamily="34" charset="-120"/>
              </a:rPr>
              <a:t>⏱ 约 20 分钟 · 难度 ★★★</a:t>
            </a:r>
            <a:endParaRPr lang="en-US" sz="1300" dirty="0"/>
          </a:p>
        </p:txBody>
      </p:sp>
      <p:sp>
        <p:nvSpPr>
          <p:cNvPr id="10" name="Shape 7"/>
          <p:cNvSpPr/>
          <p:nvPr/>
        </p:nvSpPr>
        <p:spPr>
          <a:xfrm>
            <a:off x="502920" y="4572000"/>
            <a:ext cx="1115568" cy="402336"/>
          </a:xfrm>
          <a:prstGeom prst="roundRect">
            <a:avLst>
              <a:gd name="adj" fmla="val 50000"/>
            </a:avLst>
          </a:prstGeom>
          <a:solidFill>
            <a:srgbClr val="6366F1"/>
          </a:solidFill>
          <a:ln/>
        </p:spPr>
      </p:sp>
      <p:sp>
        <p:nvSpPr>
          <p:cNvPr id="11" name="Text 8"/>
          <p:cNvSpPr/>
          <p:nvPr/>
        </p:nvSpPr>
        <p:spPr>
          <a:xfrm>
            <a:off x="502920" y="4572000"/>
            <a:ext cx="1115568"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Meetings</a:t>
            </a:r>
            <a:endParaRPr lang="en-US" sz="1200" dirty="0"/>
          </a:p>
        </p:txBody>
      </p:sp>
      <p:sp>
        <p:nvSpPr>
          <p:cNvPr id="12" name="Shape 9"/>
          <p:cNvSpPr/>
          <p:nvPr/>
        </p:nvSpPr>
        <p:spPr>
          <a:xfrm>
            <a:off x="502920" y="5074920"/>
            <a:ext cx="2020824" cy="402336"/>
          </a:xfrm>
          <a:prstGeom prst="roundRect">
            <a:avLst>
              <a:gd name="adj" fmla="val 50000"/>
            </a:avLst>
          </a:prstGeom>
          <a:solidFill>
            <a:srgbClr val="6366F1"/>
          </a:solidFill>
          <a:ln/>
        </p:spPr>
      </p:sp>
      <p:sp>
        <p:nvSpPr>
          <p:cNvPr id="13" name="Text 10"/>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Enterprise Search</a:t>
            </a:r>
            <a:endParaRPr lang="en-US" sz="1200" dirty="0"/>
          </a:p>
        </p:txBody>
      </p:sp>
      <p:sp>
        <p:nvSpPr>
          <p:cNvPr id="14" name="Shape 11"/>
          <p:cNvSpPr/>
          <p:nvPr/>
        </p:nvSpPr>
        <p:spPr>
          <a:xfrm>
            <a:off x="2706624" y="5074920"/>
            <a:ext cx="713232" cy="402336"/>
          </a:xfrm>
          <a:prstGeom prst="roundRect">
            <a:avLst>
              <a:gd name="adj" fmla="val 50000"/>
            </a:avLst>
          </a:prstGeom>
          <a:solidFill>
            <a:srgbClr val="2B579A"/>
          </a:solidFill>
          <a:ln/>
        </p:spPr>
      </p:sp>
      <p:sp>
        <p:nvSpPr>
          <p:cNvPr id="15" name="Text 12"/>
          <p:cNvSpPr/>
          <p:nvPr/>
        </p:nvSpPr>
        <p:spPr>
          <a:xfrm>
            <a:off x="2706624" y="5074920"/>
            <a:ext cx="713232"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Word</a:t>
            </a:r>
            <a:endParaRPr lang="en-US" sz="1200" dirty="0"/>
          </a:p>
        </p:txBody>
      </p:sp>
      <p:sp>
        <p:nvSpPr>
          <p:cNvPr id="16" name="Shape 13"/>
          <p:cNvSpPr/>
          <p:nvPr/>
        </p:nvSpPr>
        <p:spPr>
          <a:xfrm>
            <a:off x="502920" y="5577840"/>
            <a:ext cx="1719072" cy="402336"/>
          </a:xfrm>
          <a:prstGeom prst="roundRect">
            <a:avLst>
              <a:gd name="adj" fmla="val 50000"/>
            </a:avLst>
          </a:prstGeom>
          <a:solidFill>
            <a:srgbClr val="6366F1"/>
          </a:solidFill>
          <a:ln/>
        </p:spPr>
      </p:sp>
      <p:sp>
        <p:nvSpPr>
          <p:cNvPr id="17" name="Text 14"/>
          <p:cNvSpPr/>
          <p:nvPr/>
        </p:nvSpPr>
        <p:spPr>
          <a:xfrm>
            <a:off x="502920" y="5577840"/>
            <a:ext cx="1719072"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Communications</a:t>
            </a:r>
            <a:endParaRPr lang="en-US" sz="1200" dirty="0"/>
          </a:p>
        </p:txBody>
      </p:sp>
      <p:sp>
        <p:nvSpPr>
          <p:cNvPr id="18" name="Text 15"/>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Microsoft YaHei" pitchFamily="34" charset="0"/>
                <a:ea typeface="Microsoft YaHei" pitchFamily="34" charset="-122"/>
                <a:cs typeface="Microsoft YaHei" pitchFamily="34" charset="-120"/>
              </a:rPr>
              <a:t>上次运营会议的四项待办里，三项被负责人标记“完成”，看起来可以直接结案。但流程要求不同类别的待办要有不同的验收证据——实体安装类要有安装完成证明，系统变更类要有变更后截图。其中一项“完成”待办附的却是采购单，不是安装完成证明，标记完成不等于验收通过。</a:t>
            </a:r>
            <a:endParaRPr lang="en-US" sz="1500" dirty="0"/>
          </a:p>
        </p:txBody>
      </p:sp>
      <p:sp>
        <p:nvSpPr>
          <p:cNvPr id="19" name="Text 16"/>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5C4A9C"/>
                </a:solidFill>
                <a:latin typeface="Microsoft YaHei" pitchFamily="34" charset="0"/>
                <a:ea typeface="Microsoft YaHei" pitchFamily="34" charset="-122"/>
                <a:cs typeface="Microsoft YaHei" pitchFamily="34" charset="-120"/>
              </a:rPr>
              <a:t>代理式工作流</a:t>
            </a:r>
            <a:endParaRPr lang="en-US" sz="1500" dirty="0"/>
          </a:p>
        </p:txBody>
      </p:sp>
      <p:sp>
        <p:nvSpPr>
          <p:cNvPr id="20" name="Shape 17"/>
          <p:cNvSpPr/>
          <p:nvPr/>
        </p:nvSpPr>
        <p:spPr>
          <a:xfrm>
            <a:off x="4526280" y="2249424"/>
            <a:ext cx="457200" cy="457200"/>
          </a:xfrm>
          <a:prstGeom prst="ellipse">
            <a:avLst/>
          </a:prstGeom>
          <a:solidFill>
            <a:srgbClr val="FFFFFF">
              <a:alpha val="12000"/>
            </a:srgbClr>
          </a:solidFill>
          <a:ln w="19050">
            <a:solidFill>
              <a:srgbClr val="5C4A9C"/>
            </a:solidFill>
            <a:prstDash val="solid"/>
          </a:ln>
        </p:spPr>
      </p:sp>
      <p:sp>
        <p:nvSpPr>
          <p:cNvPr id="21" name="Text 18"/>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5C4A9C"/>
                </a:solidFill>
                <a:latin typeface="Microsoft YaHei" pitchFamily="34" charset="0"/>
                <a:ea typeface="Microsoft YaHei" pitchFamily="34" charset="-122"/>
                <a:cs typeface="Microsoft YaHei" pitchFamily="34" charset="-120"/>
              </a:rPr>
              <a:t>1</a:t>
            </a:r>
            <a:endParaRPr lang="en-US" sz="1600" dirty="0"/>
          </a:p>
        </p:txBody>
      </p:sp>
      <p:sp>
        <p:nvSpPr>
          <p:cNvPr id="22" name="Text 19"/>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读真实会议内容，先分出决议与待讨论项</a:t>
            </a:r>
            <a:endParaRPr lang="en-US" sz="1600" dirty="0"/>
          </a:p>
        </p:txBody>
      </p:sp>
      <p:sp>
        <p:nvSpPr>
          <p:cNvPr id="23" name="Text 20"/>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不用上传文件，Cowork 会从你日历上真实发生过的那场运营会议获取记录。</a:t>
            </a:r>
            <a:endParaRPr lang="en-US" sz="1300" dirty="0"/>
          </a:p>
        </p:txBody>
      </p:sp>
      <p:sp>
        <p:nvSpPr>
          <p:cNvPr id="24" name="Shape 21"/>
          <p:cNvSpPr/>
          <p:nvPr/>
        </p:nvSpPr>
        <p:spPr>
          <a:xfrm>
            <a:off x="4526280" y="3273552"/>
            <a:ext cx="457200" cy="457200"/>
          </a:xfrm>
          <a:prstGeom prst="ellipse">
            <a:avLst/>
          </a:prstGeom>
          <a:solidFill>
            <a:srgbClr val="FFFFFF">
              <a:alpha val="12000"/>
            </a:srgbClr>
          </a:solidFill>
          <a:ln w="19050">
            <a:solidFill>
              <a:srgbClr val="5C4A9C"/>
            </a:solidFill>
            <a:prstDash val="solid"/>
          </a:ln>
        </p:spPr>
      </p:sp>
      <p:sp>
        <p:nvSpPr>
          <p:cNvPr id="25" name="Text 22"/>
          <p:cNvSpPr/>
          <p:nvPr/>
        </p:nvSpPr>
        <p:spPr>
          <a:xfrm>
            <a:off x="4526280" y="3273552"/>
            <a:ext cx="457200" cy="457200"/>
          </a:xfrm>
          <a:prstGeom prst="rect">
            <a:avLst/>
          </a:prstGeom>
          <a:noFill/>
          <a:ln/>
        </p:spPr>
        <p:txBody>
          <a:bodyPr wrap="square" rtlCol="0" anchor="ctr"/>
          <a:lstStyle/>
          <a:p>
            <a:pPr algn="ctr" indent="0" marL="0">
              <a:buNone/>
            </a:pPr>
            <a:r>
              <a:rPr lang="en-US" sz="1600" b="1" dirty="0">
                <a:solidFill>
                  <a:srgbClr val="5C4A9C"/>
                </a:solidFill>
                <a:latin typeface="Microsoft YaHei" pitchFamily="34" charset="0"/>
                <a:ea typeface="Microsoft YaHei" pitchFamily="34" charset="-122"/>
                <a:cs typeface="Microsoft YaHei" pitchFamily="34" charset="-120"/>
              </a:rPr>
              <a:t>2</a:t>
            </a:r>
            <a:endParaRPr lang="en-US" sz="1600" dirty="0"/>
          </a:p>
        </p:txBody>
      </p:sp>
      <p:sp>
        <p:nvSpPr>
          <p:cNvPr id="26" name="Text 23"/>
          <p:cNvSpPr/>
          <p:nvPr/>
        </p:nvSpPr>
        <p:spPr>
          <a:xfrm>
            <a:off x="5166360" y="3255264"/>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核对验收证据，写出证据不符的那一项</a:t>
            </a:r>
            <a:endParaRPr lang="en-US" sz="1600" dirty="0"/>
          </a:p>
        </p:txBody>
      </p:sp>
      <p:sp>
        <p:nvSpPr>
          <p:cNvPr id="27" name="Text 24"/>
          <p:cNvSpPr/>
          <p:nvPr/>
        </p:nvSpPr>
        <p:spPr>
          <a:xfrm>
            <a:off x="5166360" y="36210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发送下面的提示词，请它比对追踪表与流程的验收要求。</a:t>
            </a:r>
            <a:endParaRPr lang="en-US" sz="1300" dirty="0"/>
          </a:p>
        </p:txBody>
      </p:sp>
      <p:sp>
        <p:nvSpPr>
          <p:cNvPr id="28" name="Shape 25"/>
          <p:cNvSpPr/>
          <p:nvPr/>
        </p:nvSpPr>
        <p:spPr>
          <a:xfrm>
            <a:off x="4526280" y="4297680"/>
            <a:ext cx="457200" cy="457200"/>
          </a:xfrm>
          <a:prstGeom prst="ellipse">
            <a:avLst/>
          </a:prstGeom>
          <a:solidFill>
            <a:srgbClr val="FFFFFF">
              <a:alpha val="12000"/>
            </a:srgbClr>
          </a:solidFill>
          <a:ln w="19050">
            <a:solidFill>
              <a:srgbClr val="5C4A9C"/>
            </a:solidFill>
            <a:prstDash val="solid"/>
          </a:ln>
        </p:spPr>
      </p:sp>
      <p:sp>
        <p:nvSpPr>
          <p:cNvPr id="29" name="Text 26"/>
          <p:cNvSpPr/>
          <p:nvPr/>
        </p:nvSpPr>
        <p:spPr>
          <a:xfrm>
            <a:off x="4526280" y="4297680"/>
            <a:ext cx="457200" cy="457200"/>
          </a:xfrm>
          <a:prstGeom prst="rect">
            <a:avLst/>
          </a:prstGeom>
          <a:noFill/>
          <a:ln/>
        </p:spPr>
        <p:txBody>
          <a:bodyPr wrap="square" rtlCol="0" anchor="ctr"/>
          <a:lstStyle/>
          <a:p>
            <a:pPr algn="ctr" indent="0" marL="0">
              <a:buNone/>
            </a:pPr>
            <a:r>
              <a:rPr lang="en-US" sz="1600" b="1" dirty="0">
                <a:solidFill>
                  <a:srgbClr val="5C4A9C"/>
                </a:solidFill>
                <a:latin typeface="Microsoft YaHei" pitchFamily="34" charset="0"/>
                <a:ea typeface="Microsoft YaHei" pitchFamily="34" charset="-122"/>
                <a:cs typeface="Microsoft YaHei" pitchFamily="34" charset="-120"/>
              </a:rPr>
              <a:t>3</a:t>
            </a:r>
            <a:endParaRPr lang="en-US" sz="1600" dirty="0"/>
          </a:p>
        </p:txBody>
      </p:sp>
      <p:sp>
        <p:nvSpPr>
          <p:cNvPr id="30" name="Text 27"/>
          <p:cNvSpPr/>
          <p:nvPr/>
        </p:nvSpPr>
        <p:spPr>
          <a:xfrm>
            <a:off x="5166360" y="4279392"/>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核准后更新追踪表，并准备跟进沟通</a:t>
            </a:r>
            <a:endParaRPr lang="en-US" sz="1600" dirty="0"/>
          </a:p>
        </p:txBody>
      </p:sp>
      <p:sp>
        <p:nvSpPr>
          <p:cNvPr id="31" name="Text 28"/>
          <p:cNvSpPr/>
          <p:nvPr/>
        </p:nvSpPr>
        <p:spPr>
          <a:xfrm>
            <a:off x="5166360" y="464515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确认判断无误后，发送下面的提示词请它更新追踪表并起草跟进消息。</a:t>
            </a:r>
            <a:endParaRPr lang="en-US" sz="1300" dirty="0"/>
          </a:p>
        </p:txBody>
      </p:sp>
      <p:sp>
        <p:nvSpPr>
          <p:cNvPr id="32" name="Shape 29"/>
          <p:cNvSpPr/>
          <p:nvPr/>
        </p:nvSpPr>
        <p:spPr>
          <a:xfrm>
            <a:off x="4526280" y="5440680"/>
            <a:ext cx="7132320" cy="777240"/>
          </a:xfrm>
          <a:prstGeom prst="rect">
            <a:avLst/>
          </a:prstGeom>
          <a:solidFill>
            <a:srgbClr val="FFFFFF">
              <a:alpha val="10000"/>
            </a:srgbClr>
          </a:solidFill>
          <a:ln w="12700">
            <a:solidFill>
              <a:srgbClr val="5C4A9C">
                <a:alpha val="65000"/>
              </a:srgbClr>
            </a:solidFill>
            <a:prstDash val="solid"/>
          </a:ln>
        </p:spPr>
      </p:sp>
      <p:sp>
        <p:nvSpPr>
          <p:cNvPr id="33" name="Shape 30"/>
          <p:cNvSpPr/>
          <p:nvPr/>
        </p:nvSpPr>
        <p:spPr>
          <a:xfrm>
            <a:off x="4526280" y="5440680"/>
            <a:ext cx="73152" cy="777240"/>
          </a:xfrm>
          <a:prstGeom prst="rect">
            <a:avLst/>
          </a:prstGeom>
          <a:solidFill>
            <a:srgbClr val="5C4A9C"/>
          </a:solidFill>
          <a:ln/>
        </p:spPr>
      </p:sp>
      <p:pic>
        <p:nvPicPr>
          <p:cNvPr id="34"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5" name="Text 31"/>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YaHei" pitchFamily="34" charset="0"/>
                <a:ea typeface="Microsoft YaHei" pitchFamily="34" charset="-122"/>
                <a:cs typeface="Microsoft YaHei" pitchFamily="34" charset="-120"/>
              </a:rPr>
              <a:t>把关重点　</a:t>
            </a:r>
            <a:pPr indent="0" marL="0">
              <a:lnSpc>
                <a:spcPct val="115000"/>
              </a:lnSpc>
              <a:buNone/>
            </a:pPr>
            <a:r>
              <a:rPr lang="en-US" sz="1250" dirty="0">
                <a:solidFill>
                  <a:srgbClr val="C7CAEC"/>
                </a:solidFill>
                <a:latin typeface="Microsoft YaHei" pitchFamily="34" charset="0"/>
                <a:ea typeface="Microsoft YaHei" pitchFamily="34" charset="-122"/>
                <a:cs typeface="Microsoft YaHei" pitchFamily="34" charset="-120"/>
              </a:rPr>
              <a:t>读取会议记录、流程与追踪表属于只读汇总，不会触发核准卡；一旦要求更新追踪表状态或发送跟进消息…</a:t>
            </a:r>
            <a:endParaRPr lang="en-US" sz="1250" dirty="0"/>
          </a:p>
        </p:txBody>
      </p:sp>
      <p:sp>
        <p:nvSpPr>
          <p:cNvPr id="36" name="Text 3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37" name="Text 3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YaHei" pitchFamily="34" charset="0"/>
                <a:ea typeface="Microsoft YaHei" pitchFamily="34" charset="-122"/>
                <a:cs typeface="Microsoft YaHe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5C4A9C"/>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5C4A9C"/>
                </a:solidFill>
                <a:latin typeface="Microsoft YaHei" pitchFamily="34" charset="0"/>
                <a:ea typeface="Microsoft YaHei" pitchFamily="34" charset="-122"/>
                <a:cs typeface="Microsoft YaHei" pitchFamily="34" charset="-120"/>
              </a:rPr>
              <a:t>场景 03 · 实机演示</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看 Cowork 怎么做、产出什么</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3_01_meeting_c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5C4A9C"/>
                </a:solidFill>
                <a:latin typeface="Microsoft YaHei" pitchFamily="34" charset="0"/>
                <a:ea typeface="Microsoft YaHei" pitchFamily="34" charset="-122"/>
                <a:cs typeface="Microsoft YaHei" pitchFamily="34" charset="-120"/>
              </a:rPr>
              <a:t>① 你的输入与指令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3_03_approval_c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5C4A9C"/>
                </a:solidFill>
                <a:latin typeface="Microsoft YaHei" pitchFamily="34" charset="0"/>
                <a:ea typeface="Microsoft YaHei" pitchFamily="34" charset="-122"/>
                <a:cs typeface="Microsoft YaHei" pitchFamily="34" charset="-120"/>
              </a:rPr>
              <a:t>② 产出成果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5C4A9C"/>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YaHei" pitchFamily="34" charset="0"/>
                <a:ea typeface="Microsoft YaHei" pitchFamily="34" charset="-122"/>
                <a:cs typeface="Microsoft YaHei" pitchFamily="34" charset="-120"/>
              </a:rPr>
              <a:t>产出验收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正确找出 A1 是唯一验收证据不符的“完成”待办</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判断依据是证据类型与类别要求是否相符，不是看待办有没有附件</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另外两项“完成”待办没有被一并误判为需要重开</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8A5A00"/>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8A5A00"/>
                </a:solidFill>
                <a:latin typeface="Microsoft YaHei" pitchFamily="34" charset="0"/>
                <a:ea typeface="Microsoft YaHei" pitchFamily="34" charset="-122"/>
                <a:cs typeface="Microsoft YaHei" pitchFamily="34" charset="-120"/>
              </a:rPr>
              <a:t>场景 04</a:t>
            </a:r>
            <a:endParaRPr lang="en-US" sz="1400" dirty="0"/>
          </a:p>
        </p:txBody>
      </p:sp>
      <p:sp>
        <p:nvSpPr>
          <p:cNvPr id="5" name="Shape 3"/>
          <p:cNvSpPr/>
          <p:nvPr/>
        </p:nvSpPr>
        <p:spPr>
          <a:xfrm>
            <a:off x="502920" y="1143000"/>
            <a:ext cx="1097280" cy="1097280"/>
          </a:xfrm>
          <a:prstGeom prst="ellipse">
            <a:avLst/>
          </a:prstGeom>
          <a:solidFill>
            <a:srgbClr val="8A5A00"/>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YaHei" pitchFamily="34" charset="0"/>
                <a:ea typeface="Microsoft YaHei" pitchFamily="34" charset="-122"/>
                <a:cs typeface="Microsoft YaHei" pitchFamily="34" charset="-120"/>
              </a:rPr>
              <a:t>公共服务 · 容量规划</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容量与预约规划：资格工时总量打平，代表每个时段都够人吗？</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YaHei" pitchFamily="34" charset="0"/>
                <a:ea typeface="Microsoft YaHei" pitchFamily="34" charset="-122"/>
                <a:cs typeface="Microsoft YaHei" pitchFamily="34" charset="-120"/>
              </a:rPr>
              <a:t>⏱ 约 18 分钟 · 难度 ★★☆</a:t>
            </a:r>
            <a:endParaRPr lang="en-US" sz="1300" dirty="0"/>
          </a:p>
        </p:txBody>
      </p:sp>
      <p:sp>
        <p:nvSpPr>
          <p:cNvPr id="10" name="Shape 7"/>
          <p:cNvSpPr/>
          <p:nvPr/>
        </p:nvSpPr>
        <p:spPr>
          <a:xfrm>
            <a:off x="502920" y="4572000"/>
            <a:ext cx="813816" cy="402336"/>
          </a:xfrm>
          <a:prstGeom prst="roundRect">
            <a:avLst>
              <a:gd name="adj" fmla="val 50000"/>
            </a:avLst>
          </a:prstGeom>
          <a:solidFill>
            <a:srgbClr val="217346"/>
          </a:solidFill>
          <a:ln/>
        </p:spPr>
      </p:sp>
      <p:sp>
        <p:nvSpPr>
          <p:cNvPr id="11" name="Text 8"/>
          <p:cNvSpPr/>
          <p:nvPr/>
        </p:nvSpPr>
        <p:spPr>
          <a:xfrm>
            <a:off x="5029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Excel</a:t>
            </a:r>
            <a:endParaRPr lang="en-US" sz="1200" dirty="0"/>
          </a:p>
        </p:txBody>
      </p:sp>
      <p:sp>
        <p:nvSpPr>
          <p:cNvPr id="12" name="Shape 9"/>
          <p:cNvSpPr/>
          <p:nvPr/>
        </p:nvSpPr>
        <p:spPr>
          <a:xfrm>
            <a:off x="1499616" y="4572000"/>
            <a:ext cx="1316736" cy="402336"/>
          </a:xfrm>
          <a:prstGeom prst="roundRect">
            <a:avLst>
              <a:gd name="adj" fmla="val 50000"/>
            </a:avLst>
          </a:prstGeom>
          <a:solidFill>
            <a:srgbClr val="6366F1"/>
          </a:solidFill>
          <a:ln/>
        </p:spPr>
      </p:sp>
      <p:sp>
        <p:nvSpPr>
          <p:cNvPr id="13" name="Text 10"/>
          <p:cNvSpPr/>
          <p:nvPr/>
        </p:nvSpPr>
        <p:spPr>
          <a:xfrm>
            <a:off x="1499616" y="4572000"/>
            <a:ext cx="1316736"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Scheduling</a:t>
            </a:r>
            <a:endParaRPr lang="en-US" sz="1200" dirty="0"/>
          </a:p>
        </p:txBody>
      </p:sp>
      <p:sp>
        <p:nvSpPr>
          <p:cNvPr id="14" name="Shape 11"/>
          <p:cNvSpPr/>
          <p:nvPr/>
        </p:nvSpPr>
        <p:spPr>
          <a:xfrm>
            <a:off x="502920" y="5074920"/>
            <a:ext cx="2221992" cy="402336"/>
          </a:xfrm>
          <a:prstGeom prst="roundRect">
            <a:avLst>
              <a:gd name="adj" fmla="val 50000"/>
            </a:avLst>
          </a:prstGeom>
          <a:solidFill>
            <a:srgbClr val="6366F1"/>
          </a:solidFill>
          <a:ln/>
        </p:spPr>
      </p:sp>
      <p:sp>
        <p:nvSpPr>
          <p:cNvPr id="15" name="Text 12"/>
          <p:cNvSpPr/>
          <p:nvPr/>
        </p:nvSpPr>
        <p:spPr>
          <a:xfrm>
            <a:off x="502920" y="5074920"/>
            <a:ext cx="2221992"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Calendar Management</a:t>
            </a:r>
            <a:endParaRPr lang="en-US" sz="1200" dirty="0"/>
          </a:p>
        </p:txBody>
      </p:sp>
      <p:sp>
        <p:nvSpPr>
          <p:cNvPr id="16" name="Text 13"/>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Microsoft YaHei" pitchFamily="34" charset="0"/>
                <a:ea typeface="Microsoft YaHei" pitchFamily="34" charset="-122"/>
                <a:cs typeface="Microsoft YaHei" pitchFamily="34" charset="-120"/>
              </a:rPr>
              <a:t>身份核验服务当天，具资格人员的全天排班工时（7.5 小时）刚好与需求工时（7.5 小时）打平，看起来人力已经足够。但总量打平不代表每个时段都有人——交接空档那半小时，资格人力正好挂零，而那个时段恰好有两条预约需要资格人员在场。</a:t>
            </a:r>
            <a:endParaRPr lang="en-US" sz="1500" dirty="0"/>
          </a:p>
        </p:txBody>
      </p:sp>
      <p:sp>
        <p:nvSpPr>
          <p:cNvPr id="17" name="Text 14"/>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8A5A00"/>
                </a:solidFill>
                <a:latin typeface="Microsoft YaHei" pitchFamily="34" charset="0"/>
                <a:ea typeface="Microsoft YaHei" pitchFamily="34" charset="-122"/>
                <a:cs typeface="Microsoft YaHei" pitchFamily="34" charset="-120"/>
              </a:rPr>
              <a:t>代理式工作流</a:t>
            </a:r>
            <a:endParaRPr lang="en-US" sz="1500" dirty="0"/>
          </a:p>
        </p:txBody>
      </p:sp>
      <p:sp>
        <p:nvSpPr>
          <p:cNvPr id="18" name="Shape 15"/>
          <p:cNvSpPr/>
          <p:nvPr/>
        </p:nvSpPr>
        <p:spPr>
          <a:xfrm>
            <a:off x="4526280" y="2249424"/>
            <a:ext cx="457200" cy="457200"/>
          </a:xfrm>
          <a:prstGeom prst="ellipse">
            <a:avLst/>
          </a:prstGeom>
          <a:solidFill>
            <a:srgbClr val="FFFFFF">
              <a:alpha val="12000"/>
            </a:srgbClr>
          </a:solidFill>
          <a:ln w="19050">
            <a:solidFill>
              <a:srgbClr val="8A5A00"/>
            </a:solidFill>
            <a:prstDash val="solid"/>
          </a:ln>
        </p:spPr>
      </p:sp>
      <p:sp>
        <p:nvSpPr>
          <p:cNvPr id="19" name="Text 16"/>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8A5A00"/>
                </a:solidFill>
                <a:latin typeface="Microsoft YaHei" pitchFamily="34" charset="0"/>
                <a:ea typeface="Microsoft YaHei" pitchFamily="34" charset="-122"/>
                <a:cs typeface="Microsoft YaHei" pitchFamily="34" charset="-120"/>
              </a:rPr>
              <a:t>1</a:t>
            </a:r>
            <a:endParaRPr lang="en-US" sz="1600" dirty="0"/>
          </a:p>
        </p:txBody>
      </p:sp>
      <p:sp>
        <p:nvSpPr>
          <p:cNvPr id="20" name="Text 17"/>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读现有工作表，先算总量是否打平</a:t>
            </a:r>
            <a:endParaRPr lang="en-US" sz="1600" dirty="0"/>
          </a:p>
        </p:txBody>
      </p:sp>
      <p:sp>
        <p:nvSpPr>
          <p:cNvPr id="21" name="Text 18"/>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不用上传文件，素材已经在 OneDrive。</a:t>
            </a:r>
            <a:endParaRPr lang="en-US" sz="1300" dirty="0"/>
          </a:p>
        </p:txBody>
      </p:sp>
      <p:sp>
        <p:nvSpPr>
          <p:cNvPr id="22" name="Shape 19"/>
          <p:cNvSpPr/>
          <p:nvPr/>
        </p:nvSpPr>
        <p:spPr>
          <a:xfrm>
            <a:off x="4526280" y="3273552"/>
            <a:ext cx="457200" cy="457200"/>
          </a:xfrm>
          <a:prstGeom prst="ellipse">
            <a:avLst/>
          </a:prstGeom>
          <a:solidFill>
            <a:srgbClr val="FFFFFF">
              <a:alpha val="12000"/>
            </a:srgbClr>
          </a:solidFill>
          <a:ln w="19050">
            <a:solidFill>
              <a:srgbClr val="8A5A00"/>
            </a:solidFill>
            <a:prstDash val="solid"/>
          </a:ln>
        </p:spPr>
      </p:sp>
      <p:sp>
        <p:nvSpPr>
          <p:cNvPr id="23" name="Text 20"/>
          <p:cNvSpPr/>
          <p:nvPr/>
        </p:nvSpPr>
        <p:spPr>
          <a:xfrm>
            <a:off x="4526280" y="3273552"/>
            <a:ext cx="457200" cy="457200"/>
          </a:xfrm>
          <a:prstGeom prst="rect">
            <a:avLst/>
          </a:prstGeom>
          <a:noFill/>
          <a:ln/>
        </p:spPr>
        <p:txBody>
          <a:bodyPr wrap="square" rtlCol="0" anchor="ctr"/>
          <a:lstStyle/>
          <a:p>
            <a:pPr algn="ctr" indent="0" marL="0">
              <a:buNone/>
            </a:pPr>
            <a:r>
              <a:rPr lang="en-US" sz="1600" b="1" dirty="0">
                <a:solidFill>
                  <a:srgbClr val="8A5A00"/>
                </a:solidFill>
                <a:latin typeface="Microsoft YaHei" pitchFamily="34" charset="0"/>
                <a:ea typeface="Microsoft YaHei" pitchFamily="34" charset="-122"/>
                <a:cs typeface="Microsoft YaHei" pitchFamily="34" charset="-120"/>
              </a:rPr>
              <a:t>2</a:t>
            </a:r>
            <a:endParaRPr lang="en-US" sz="1600" dirty="0"/>
          </a:p>
        </p:txBody>
      </p:sp>
      <p:sp>
        <p:nvSpPr>
          <p:cNvPr id="24" name="Text 21"/>
          <p:cNvSpPr/>
          <p:nvPr/>
        </p:nvSpPr>
        <p:spPr>
          <a:xfrm>
            <a:off x="5166360" y="3255264"/>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逐时段核对，就地编辑工作表标出缺口</a:t>
            </a:r>
            <a:endParaRPr lang="en-US" sz="1600" dirty="0"/>
          </a:p>
        </p:txBody>
      </p:sp>
      <p:sp>
        <p:nvSpPr>
          <p:cNvPr id="25" name="Text 22"/>
          <p:cNvSpPr/>
          <p:nvPr/>
        </p:nvSpPr>
        <p:spPr>
          <a:xfrm>
            <a:off x="5166360" y="36210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发送下面的提示词，请它逐时段核对资格人力是否挂零。</a:t>
            </a:r>
            <a:endParaRPr lang="en-US" sz="1300" dirty="0"/>
          </a:p>
        </p:txBody>
      </p:sp>
      <p:sp>
        <p:nvSpPr>
          <p:cNvPr id="26" name="Shape 23"/>
          <p:cNvSpPr/>
          <p:nvPr/>
        </p:nvSpPr>
        <p:spPr>
          <a:xfrm>
            <a:off x="4526280" y="4297680"/>
            <a:ext cx="457200" cy="457200"/>
          </a:xfrm>
          <a:prstGeom prst="ellipse">
            <a:avLst/>
          </a:prstGeom>
          <a:solidFill>
            <a:srgbClr val="FFFFFF">
              <a:alpha val="12000"/>
            </a:srgbClr>
          </a:solidFill>
          <a:ln w="19050">
            <a:solidFill>
              <a:srgbClr val="8A5A00"/>
            </a:solidFill>
            <a:prstDash val="solid"/>
          </a:ln>
        </p:spPr>
      </p:sp>
      <p:sp>
        <p:nvSpPr>
          <p:cNvPr id="27" name="Text 24"/>
          <p:cNvSpPr/>
          <p:nvPr/>
        </p:nvSpPr>
        <p:spPr>
          <a:xfrm>
            <a:off x="4526280" y="4297680"/>
            <a:ext cx="457200" cy="457200"/>
          </a:xfrm>
          <a:prstGeom prst="rect">
            <a:avLst/>
          </a:prstGeom>
          <a:noFill/>
          <a:ln/>
        </p:spPr>
        <p:txBody>
          <a:bodyPr wrap="square" rtlCol="0" anchor="ctr"/>
          <a:lstStyle/>
          <a:p>
            <a:pPr algn="ctr" indent="0" marL="0">
              <a:buNone/>
            </a:pPr>
            <a:r>
              <a:rPr lang="en-US" sz="1600" b="1" dirty="0">
                <a:solidFill>
                  <a:srgbClr val="8A5A00"/>
                </a:solidFill>
                <a:latin typeface="Microsoft YaHei" pitchFamily="34" charset="0"/>
                <a:ea typeface="Microsoft YaHei" pitchFamily="34" charset="-122"/>
                <a:cs typeface="Microsoft YaHei" pitchFamily="34" charset="-120"/>
              </a:rPr>
              <a:t>3</a:t>
            </a:r>
            <a:endParaRPr lang="en-US" sz="1600" dirty="0"/>
          </a:p>
        </p:txBody>
      </p:sp>
      <p:sp>
        <p:nvSpPr>
          <p:cNvPr id="28" name="Text 25"/>
          <p:cNvSpPr/>
          <p:nvPr/>
        </p:nvSpPr>
        <p:spPr>
          <a:xfrm>
            <a:off x="5166360" y="4279392"/>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找可行调整时段，核准后建立协调会议</a:t>
            </a:r>
            <a:endParaRPr lang="en-US" sz="1600" dirty="0"/>
          </a:p>
        </p:txBody>
      </p:sp>
      <p:sp>
        <p:nvSpPr>
          <p:cNvPr id="29" name="Text 26"/>
          <p:cNvSpPr/>
          <p:nvPr/>
        </p:nvSpPr>
        <p:spPr>
          <a:xfrm>
            <a:off x="5166360" y="464515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确认缺口后，发送下面的提示词，请它找一个三方都有空的时段并建立会议。</a:t>
            </a:r>
            <a:endParaRPr lang="en-US" sz="1300" dirty="0"/>
          </a:p>
        </p:txBody>
      </p:sp>
      <p:sp>
        <p:nvSpPr>
          <p:cNvPr id="30" name="Shape 27"/>
          <p:cNvSpPr/>
          <p:nvPr/>
        </p:nvSpPr>
        <p:spPr>
          <a:xfrm>
            <a:off x="4526280" y="5440680"/>
            <a:ext cx="7132320" cy="777240"/>
          </a:xfrm>
          <a:prstGeom prst="rect">
            <a:avLst/>
          </a:prstGeom>
          <a:solidFill>
            <a:srgbClr val="FFFFFF">
              <a:alpha val="10000"/>
            </a:srgbClr>
          </a:solidFill>
          <a:ln w="12700">
            <a:solidFill>
              <a:srgbClr val="8A5A00">
                <a:alpha val="65000"/>
              </a:srgbClr>
            </a:solidFill>
            <a:prstDash val="solid"/>
          </a:ln>
        </p:spPr>
      </p:sp>
      <p:sp>
        <p:nvSpPr>
          <p:cNvPr id="31" name="Shape 28"/>
          <p:cNvSpPr/>
          <p:nvPr/>
        </p:nvSpPr>
        <p:spPr>
          <a:xfrm>
            <a:off x="4526280" y="5440680"/>
            <a:ext cx="73152" cy="777240"/>
          </a:xfrm>
          <a:prstGeom prst="rect">
            <a:avLst/>
          </a:prstGeom>
          <a:solidFill>
            <a:srgbClr val="8A5A00"/>
          </a:solidFill>
          <a:ln/>
        </p:spPr>
      </p:sp>
      <p:pic>
        <p:nvPicPr>
          <p:cNvPr id="32"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3" name="Text 29"/>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YaHei" pitchFamily="34" charset="0"/>
                <a:ea typeface="Microsoft YaHei" pitchFamily="34" charset="-122"/>
                <a:cs typeface="Microsoft YaHei" pitchFamily="34" charset="-120"/>
              </a:rPr>
              <a:t>把关重点　</a:t>
            </a:r>
            <a:pPr indent="0" marL="0">
              <a:lnSpc>
                <a:spcPct val="115000"/>
              </a:lnSpc>
              <a:buNone/>
            </a:pPr>
            <a:r>
              <a:rPr lang="en-US" sz="1250" dirty="0">
                <a:solidFill>
                  <a:srgbClr val="C7CAEC"/>
                </a:solidFill>
                <a:latin typeface="Microsoft YaHei" pitchFamily="34" charset="0"/>
                <a:ea typeface="Microsoft YaHei" pitchFamily="34" charset="-122"/>
                <a:cs typeface="Microsoft YaHei" pitchFamily="34" charset="-120"/>
              </a:rPr>
              <a:t>读取工作表与规范属于只读汇总，不会触发核准卡；就地编辑工作表与创建日历事件都会改动现有数据或对外发出邀请…</a:t>
            </a:r>
            <a:endParaRPr lang="en-US" sz="1250" dirty="0"/>
          </a:p>
        </p:txBody>
      </p:sp>
      <p:sp>
        <p:nvSpPr>
          <p:cNvPr id="34" name="Text 3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35" name="Text 3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YaHei" pitchFamily="34" charset="0"/>
                <a:ea typeface="Microsoft YaHei" pitchFamily="34" charset="-122"/>
                <a:cs typeface="Microsoft YaHe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8A5A00"/>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8A5A00"/>
                </a:solidFill>
                <a:latin typeface="Microsoft YaHei" pitchFamily="34" charset="0"/>
                <a:ea typeface="Microsoft YaHei" pitchFamily="34" charset="-122"/>
                <a:cs typeface="Microsoft YaHei" pitchFamily="34" charset="-120"/>
              </a:rPr>
              <a:t>场景 04 · 实机演示</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看 Cowork 怎么做、产出什么</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4_01_totals_c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8A5A00"/>
                </a:solidFill>
                <a:latin typeface="Microsoft YaHei" pitchFamily="34" charset="0"/>
                <a:ea typeface="Microsoft YaHei" pitchFamily="34" charset="-122"/>
                <a:cs typeface="Microsoft YaHei" pitchFamily="34" charset="-120"/>
              </a:rPr>
              <a:t>① 你的输入与指令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4_03_schedule_approval_c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8A5A00"/>
                </a:solidFill>
                <a:latin typeface="Microsoft YaHei" pitchFamily="34" charset="0"/>
                <a:ea typeface="Microsoft YaHei" pitchFamily="34" charset="-122"/>
                <a:cs typeface="Microsoft YaHei" pitchFamily="34" charset="-120"/>
              </a:rPr>
              <a:t>② 产出成果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8A5A00"/>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YaHei" pitchFamily="34" charset="0"/>
                <a:ea typeface="Microsoft YaHei" pitchFamily="34" charset="-122"/>
                <a:cs typeface="Microsoft YaHei" pitchFamily="34" charset="-120"/>
              </a:rPr>
              <a:t>产出验收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正确算出全天资格工时与需求工时打平（7.5h = 7.5h）</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正确找出 13:00–13:30 资格人力挂零但有 2 条预约的缺口，而不是因总量打平而忽略</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工作表是就地编辑现有文件，原始数据没有丢失</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F6F3F"/>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F6F3F"/>
                </a:solidFill>
                <a:latin typeface="Microsoft YaHei" pitchFamily="34" charset="0"/>
                <a:ea typeface="Microsoft YaHei" pitchFamily="34" charset="-122"/>
                <a:cs typeface="Microsoft YaHei" pitchFamily="34" charset="-120"/>
              </a:rPr>
              <a:t>场景 05</a:t>
            </a:r>
            <a:endParaRPr lang="en-US" sz="1400" dirty="0"/>
          </a:p>
        </p:txBody>
      </p:sp>
      <p:sp>
        <p:nvSpPr>
          <p:cNvPr id="5" name="Shape 3"/>
          <p:cNvSpPr/>
          <p:nvPr/>
        </p:nvSpPr>
        <p:spPr>
          <a:xfrm>
            <a:off x="502920" y="1143000"/>
            <a:ext cx="1097280" cy="1097280"/>
          </a:xfrm>
          <a:prstGeom prst="ellipse">
            <a:avLst/>
          </a:prstGeom>
          <a:solidFill>
            <a:srgbClr val="1F6F3F"/>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YaHei" pitchFamily="34" charset="0"/>
                <a:ea typeface="Microsoft YaHei" pitchFamily="34" charset="-122"/>
                <a:cs typeface="Microsoft YaHei" pitchFamily="34" charset="-120"/>
              </a:rPr>
              <a:t>公共服务 · 现场巡查</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现场证据核对：同一场所的两次访查，可以合并成一条吗？</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YaHei" pitchFamily="34" charset="0"/>
                <a:ea typeface="Microsoft YaHei" pitchFamily="34" charset="-122"/>
                <a:cs typeface="Microsoft YaHei" pitchFamily="34" charset="-120"/>
              </a:rPr>
              <a:t>⏱ 约 16 分钟 · 难度 ★★☆</a:t>
            </a:r>
            <a:endParaRPr lang="en-US" sz="1300" dirty="0"/>
          </a:p>
        </p:txBody>
      </p:sp>
      <p:sp>
        <p:nvSpPr>
          <p:cNvPr id="10" name="Shape 7"/>
          <p:cNvSpPr/>
          <p:nvPr/>
        </p:nvSpPr>
        <p:spPr>
          <a:xfrm>
            <a:off x="502920" y="4572000"/>
            <a:ext cx="612648" cy="402336"/>
          </a:xfrm>
          <a:prstGeom prst="roundRect">
            <a:avLst>
              <a:gd name="adj" fmla="val 50000"/>
            </a:avLst>
          </a:prstGeom>
          <a:solidFill>
            <a:srgbClr val="6366F1"/>
          </a:solidFill>
          <a:ln/>
        </p:spPr>
      </p:sp>
      <p:sp>
        <p:nvSpPr>
          <p:cNvPr id="11" name="Text 8"/>
          <p:cNvSpPr/>
          <p:nvPr/>
        </p:nvSpPr>
        <p:spPr>
          <a:xfrm>
            <a:off x="502920" y="4572000"/>
            <a:ext cx="612648"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PDF</a:t>
            </a:r>
            <a:endParaRPr lang="en-US" sz="1200" dirty="0"/>
          </a:p>
        </p:txBody>
      </p:sp>
      <p:sp>
        <p:nvSpPr>
          <p:cNvPr id="12" name="Shape 9"/>
          <p:cNvSpPr/>
          <p:nvPr/>
        </p:nvSpPr>
        <p:spPr>
          <a:xfrm>
            <a:off x="1298448" y="4572000"/>
            <a:ext cx="813816" cy="402336"/>
          </a:xfrm>
          <a:prstGeom prst="roundRect">
            <a:avLst>
              <a:gd name="adj" fmla="val 50000"/>
            </a:avLst>
          </a:prstGeom>
          <a:solidFill>
            <a:srgbClr val="217346"/>
          </a:solidFill>
          <a:ln/>
        </p:spPr>
      </p:sp>
      <p:sp>
        <p:nvSpPr>
          <p:cNvPr id="13" name="Text 10"/>
          <p:cNvSpPr/>
          <p:nvPr/>
        </p:nvSpPr>
        <p:spPr>
          <a:xfrm>
            <a:off x="1298448"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Excel</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Enterprise Search</a:t>
            </a:r>
            <a:endParaRPr lang="en-US" sz="1200" dirty="0"/>
          </a:p>
        </p:txBody>
      </p:sp>
      <p:sp>
        <p:nvSpPr>
          <p:cNvPr id="16" name="Text 13"/>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Microsoft YaHei" pitchFamily="34" charset="0"/>
                <a:ea typeface="Microsoft YaHei" pitchFamily="34" charset="-122"/>
                <a:cs typeface="Microsoft YaHei" pitchFamily="34" charset="-120"/>
              </a:rPr>
              <a:t>同一个社区中心前后被访查两次，登记表里已经有第一次的开案记录，现在要把第二次的复查报告（PDF）核对进去。两次的地点、附近描述都很像，看起来像同一件事的重复记录，但第二次不只是复查第一次的发现，还另外发现一个全新的问题，有自己独立的复查期限——合并成一条会把这个新问题的追踪排期一起抹掉。</a:t>
            </a:r>
            <a:endParaRPr lang="en-US" sz="1500" dirty="0"/>
          </a:p>
        </p:txBody>
      </p:sp>
      <p:sp>
        <p:nvSpPr>
          <p:cNvPr id="17" name="Text 14"/>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1F6F3F"/>
                </a:solidFill>
                <a:latin typeface="Microsoft YaHei" pitchFamily="34" charset="0"/>
                <a:ea typeface="Microsoft YaHei" pitchFamily="34" charset="-122"/>
                <a:cs typeface="Microsoft YaHei" pitchFamily="34" charset="-120"/>
              </a:rPr>
              <a:t>代理式工作流</a:t>
            </a:r>
            <a:endParaRPr lang="en-US" sz="1500" dirty="0"/>
          </a:p>
        </p:txBody>
      </p:sp>
      <p:sp>
        <p:nvSpPr>
          <p:cNvPr id="18" name="Shape 15"/>
          <p:cNvSpPr/>
          <p:nvPr/>
        </p:nvSpPr>
        <p:spPr>
          <a:xfrm>
            <a:off x="4526280" y="2523744"/>
            <a:ext cx="457200" cy="457200"/>
          </a:xfrm>
          <a:prstGeom prst="ellipse">
            <a:avLst/>
          </a:prstGeom>
          <a:solidFill>
            <a:srgbClr val="FFFFFF">
              <a:alpha val="12000"/>
            </a:srgbClr>
          </a:solidFill>
          <a:ln w="19050">
            <a:solidFill>
              <a:srgbClr val="1F6F3F"/>
            </a:solidFill>
            <a:prstDash val="solid"/>
          </a:ln>
        </p:spPr>
      </p:sp>
      <p:sp>
        <p:nvSpPr>
          <p:cNvPr id="19" name="Text 16"/>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1F6F3F"/>
                </a:solidFill>
                <a:latin typeface="Microsoft YaHei" pitchFamily="34" charset="0"/>
                <a:ea typeface="Microsoft YaHei" pitchFamily="34" charset="-122"/>
                <a:cs typeface="Microsoft YaHei" pitchFamily="34" charset="-120"/>
              </a:rPr>
              <a:t>1</a:t>
            </a:r>
            <a:endParaRPr lang="en-US" sz="1600" dirty="0"/>
          </a:p>
        </p:txBody>
      </p:sp>
      <p:sp>
        <p:nvSpPr>
          <p:cNvPr id="20" name="Text 17"/>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上传复查报告，请它先核对访查历史再决定怎么登记</a:t>
            </a:r>
            <a:endParaRPr lang="en-US" sz="1600" dirty="0"/>
          </a:p>
        </p:txBody>
      </p:sp>
      <p:sp>
        <p:nvSpPr>
          <p:cNvPr id="21" name="Text 18"/>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把 GOV5_现场复查报告.pdf 上传到聊天框，发送下面的提示词。</a:t>
            </a:r>
            <a:endParaRPr lang="en-US" sz="1300" dirty="0"/>
          </a:p>
        </p:txBody>
      </p:sp>
      <p:sp>
        <p:nvSpPr>
          <p:cNvPr id="22" name="Shape 19"/>
          <p:cNvSpPr/>
          <p:nvPr/>
        </p:nvSpPr>
        <p:spPr>
          <a:xfrm>
            <a:off x="4526280" y="3547872"/>
            <a:ext cx="457200" cy="457200"/>
          </a:xfrm>
          <a:prstGeom prst="ellipse">
            <a:avLst/>
          </a:prstGeom>
          <a:solidFill>
            <a:srgbClr val="FFFFFF">
              <a:alpha val="12000"/>
            </a:srgbClr>
          </a:solidFill>
          <a:ln w="19050">
            <a:solidFill>
              <a:srgbClr val="1F6F3F"/>
            </a:solidFill>
            <a:prstDash val="solid"/>
          </a:ln>
        </p:spPr>
      </p:sp>
      <p:sp>
        <p:nvSpPr>
          <p:cNvPr id="23" name="Text 20"/>
          <p:cNvSpPr/>
          <p:nvPr/>
        </p:nvSpPr>
        <p:spPr>
          <a:xfrm>
            <a:off x="4526280" y="3547872"/>
            <a:ext cx="457200" cy="457200"/>
          </a:xfrm>
          <a:prstGeom prst="rect">
            <a:avLst/>
          </a:prstGeom>
          <a:noFill/>
          <a:ln/>
        </p:spPr>
        <p:txBody>
          <a:bodyPr wrap="square" rtlCol="0" anchor="ctr"/>
          <a:lstStyle/>
          <a:p>
            <a:pPr algn="ctr" indent="0" marL="0">
              <a:buNone/>
            </a:pPr>
            <a:r>
              <a:rPr lang="en-US" sz="1600" b="1" dirty="0">
                <a:solidFill>
                  <a:srgbClr val="1F6F3F"/>
                </a:solidFill>
                <a:latin typeface="Microsoft YaHei" pitchFamily="34" charset="0"/>
                <a:ea typeface="Microsoft YaHei" pitchFamily="34" charset="-122"/>
                <a:cs typeface="Microsoft YaHei" pitchFamily="34" charset="-120"/>
              </a:rPr>
              <a:t>2</a:t>
            </a:r>
            <a:endParaRPr lang="en-US" sz="1600" dirty="0"/>
          </a:p>
        </p:txBody>
      </p:sp>
      <p:sp>
        <p:nvSpPr>
          <p:cNvPr id="24" name="Text 21"/>
          <p:cNvSpPr/>
          <p:nvPr/>
        </p:nvSpPr>
        <p:spPr>
          <a:xfrm>
            <a:off x="5166360" y="3529584"/>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核准后更新登记表：结案一条、新开一条</a:t>
            </a:r>
            <a:endParaRPr lang="en-US" sz="1600" dirty="0"/>
          </a:p>
        </p:txBody>
      </p:sp>
      <p:sp>
        <p:nvSpPr>
          <p:cNvPr id="25" name="Text 22"/>
          <p:cNvSpPr/>
          <p:nvPr/>
        </p:nvSpPr>
        <p:spPr>
          <a:xfrm>
            <a:off x="5166360" y="3895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确认判断无误后，发送下面的提示词请它更新登记表。</a:t>
            </a:r>
            <a:endParaRPr lang="en-US" sz="1300" dirty="0"/>
          </a:p>
        </p:txBody>
      </p:sp>
      <p:sp>
        <p:nvSpPr>
          <p:cNvPr id="26" name="Shape 23"/>
          <p:cNvSpPr/>
          <p:nvPr/>
        </p:nvSpPr>
        <p:spPr>
          <a:xfrm>
            <a:off x="4526280" y="5440680"/>
            <a:ext cx="7132320" cy="777240"/>
          </a:xfrm>
          <a:prstGeom prst="rect">
            <a:avLst/>
          </a:prstGeom>
          <a:solidFill>
            <a:srgbClr val="FFFFFF">
              <a:alpha val="10000"/>
            </a:srgbClr>
          </a:solidFill>
          <a:ln w="12700">
            <a:solidFill>
              <a:srgbClr val="1F6F3F">
                <a:alpha val="65000"/>
              </a:srgbClr>
            </a:solidFill>
            <a:prstDash val="solid"/>
          </a:ln>
        </p:spPr>
      </p:sp>
      <p:sp>
        <p:nvSpPr>
          <p:cNvPr id="27" name="Shape 24"/>
          <p:cNvSpPr/>
          <p:nvPr/>
        </p:nvSpPr>
        <p:spPr>
          <a:xfrm>
            <a:off x="4526280" y="5440680"/>
            <a:ext cx="73152" cy="777240"/>
          </a:xfrm>
          <a:prstGeom prst="rect">
            <a:avLst/>
          </a:prstGeom>
          <a:solidFill>
            <a:srgbClr val="1F6F3F"/>
          </a:solidFill>
          <a:ln/>
        </p:spPr>
      </p:sp>
      <p:pic>
        <p:nvPicPr>
          <p:cNvPr id="28"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29" name="Text 25"/>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YaHei" pitchFamily="34" charset="0"/>
                <a:ea typeface="Microsoft YaHei" pitchFamily="34" charset="-122"/>
                <a:cs typeface="Microsoft YaHei" pitchFamily="34" charset="-120"/>
              </a:rPr>
              <a:t>把关重点　</a:t>
            </a:r>
            <a:pPr indent="0" marL="0">
              <a:lnSpc>
                <a:spcPct val="115000"/>
              </a:lnSpc>
              <a:buNone/>
            </a:pPr>
            <a:r>
              <a:rPr lang="en-US" sz="1250" dirty="0">
                <a:solidFill>
                  <a:srgbClr val="C7CAEC"/>
                </a:solidFill>
                <a:latin typeface="Microsoft YaHei" pitchFamily="34" charset="0"/>
                <a:ea typeface="Microsoft YaHei" pitchFamily="34" charset="-122"/>
                <a:cs typeface="Microsoft YaHei" pitchFamily="34" charset="-120"/>
              </a:rPr>
              <a:t>读取访查历史与比对报告属于只读汇总，不会触发核准卡；更新登记表会改动现有记录…</a:t>
            </a:r>
            <a:endParaRPr lang="en-US" sz="1250" dirty="0"/>
          </a:p>
        </p:txBody>
      </p:sp>
      <p:sp>
        <p:nvSpPr>
          <p:cNvPr id="30" name="Text 26"/>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31" name="Text 27"/>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YaHei" pitchFamily="34" charset="0"/>
                <a:ea typeface="Microsoft YaHei" pitchFamily="34" charset="-122"/>
                <a:cs typeface="Microsoft YaHe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F6F3F"/>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F6F3F"/>
                </a:solidFill>
                <a:latin typeface="Microsoft YaHei" pitchFamily="34" charset="0"/>
                <a:ea typeface="Microsoft YaHei" pitchFamily="34" charset="-122"/>
                <a:cs typeface="Microsoft YaHei" pitchFamily="34" charset="-120"/>
              </a:rPr>
              <a:t>场景 05 · 实机演示</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看 Cowork 怎么做、产出什么</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5_01_upload_c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F6F3F"/>
                </a:solidFill>
                <a:latin typeface="Microsoft YaHei" pitchFamily="34" charset="0"/>
                <a:ea typeface="Microsoft YaHei" pitchFamily="34" charset="-122"/>
                <a:cs typeface="Microsoft YaHei" pitchFamily="34" charset="-120"/>
              </a:rPr>
              <a:t>① 你的输入与指令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5_02_register_approval_c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F6F3F"/>
                </a:solidFill>
                <a:latin typeface="Microsoft YaHei" pitchFamily="34" charset="0"/>
                <a:ea typeface="Microsoft YaHei" pitchFamily="34" charset="-122"/>
                <a:cs typeface="Microsoft YaHei" pitchFamily="34" charset="-120"/>
              </a:rPr>
              <a:t>② 产出成果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F6F3F"/>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YaHei" pitchFamily="34" charset="0"/>
                <a:ea typeface="Microsoft YaHei" pitchFamily="34" charset="-122"/>
                <a:cs typeface="Microsoft YaHei" pitchFamily="34" charset="-120"/>
              </a:rPr>
              <a:t>产出验收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正确判断两次访查是独立事件（F-1001 ≠ F-1050），而不是同一条重复记录</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正确确认第二次访查已解决第一次的发现（F-1001）</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新发现有自己独立的复查期限，没有被并入旧发现的期限</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8E2F5B"/>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8E2F5B"/>
                </a:solidFill>
                <a:latin typeface="Microsoft YaHei" pitchFamily="34" charset="0"/>
                <a:ea typeface="Microsoft YaHei" pitchFamily="34" charset="-122"/>
                <a:cs typeface="Microsoft YaHei" pitchFamily="34" charset="-120"/>
              </a:rPr>
              <a:t>场景 06</a:t>
            </a:r>
            <a:endParaRPr lang="en-US" sz="1400" dirty="0"/>
          </a:p>
        </p:txBody>
      </p:sp>
      <p:sp>
        <p:nvSpPr>
          <p:cNvPr id="5" name="Shape 3"/>
          <p:cNvSpPr/>
          <p:nvPr/>
        </p:nvSpPr>
        <p:spPr>
          <a:xfrm>
            <a:off x="502920" y="1143000"/>
            <a:ext cx="1097280" cy="1097280"/>
          </a:xfrm>
          <a:prstGeom prst="ellipse">
            <a:avLst/>
          </a:prstGeom>
          <a:solidFill>
            <a:srgbClr val="8E2F5B"/>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YaHei" pitchFamily="34" charset="0"/>
                <a:ea typeface="Microsoft YaHei" pitchFamily="34" charset="-122"/>
                <a:cs typeface="Microsoft YaHei" pitchFamily="34" charset="-120"/>
              </a:rPr>
              <a:t>公共服务 · 服务设计</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无障碍服务流程：柜台修好了，服务就整体无障碍了吗？</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YaHei" pitchFamily="34" charset="0"/>
                <a:ea typeface="Microsoft YaHei" pitchFamily="34" charset="-122"/>
                <a:cs typeface="Microsoft YaHei" pitchFamily="34" charset="-120"/>
              </a:rPr>
              <a:t>⏱ 约 18 分钟 · 难度 ★★☆</a:t>
            </a:r>
            <a:endParaRPr lang="en-US" sz="1300" dirty="0"/>
          </a:p>
        </p:txBody>
      </p:sp>
      <p:sp>
        <p:nvSpPr>
          <p:cNvPr id="10" name="Shape 7"/>
          <p:cNvSpPr/>
          <p:nvPr/>
        </p:nvSpPr>
        <p:spPr>
          <a:xfrm>
            <a:off x="502920" y="4572000"/>
            <a:ext cx="713232" cy="402336"/>
          </a:xfrm>
          <a:prstGeom prst="roundRect">
            <a:avLst>
              <a:gd name="adj" fmla="val 50000"/>
            </a:avLst>
          </a:prstGeom>
          <a:solidFill>
            <a:srgbClr val="2B579A"/>
          </a:solidFill>
          <a:ln/>
        </p:spPr>
      </p:sp>
      <p:sp>
        <p:nvSpPr>
          <p:cNvPr id="11" name="Text 8"/>
          <p:cNvSpPr/>
          <p:nvPr/>
        </p:nvSpPr>
        <p:spPr>
          <a:xfrm>
            <a:off x="502920" y="4572000"/>
            <a:ext cx="713232"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Word</a:t>
            </a:r>
            <a:endParaRPr lang="en-US" sz="1200" dirty="0"/>
          </a:p>
        </p:txBody>
      </p:sp>
      <p:sp>
        <p:nvSpPr>
          <p:cNvPr id="12" name="Shape 9"/>
          <p:cNvSpPr/>
          <p:nvPr/>
        </p:nvSpPr>
        <p:spPr>
          <a:xfrm>
            <a:off x="1399032" y="4572000"/>
            <a:ext cx="612648" cy="402336"/>
          </a:xfrm>
          <a:prstGeom prst="roundRect">
            <a:avLst>
              <a:gd name="adj" fmla="val 50000"/>
            </a:avLst>
          </a:prstGeom>
          <a:solidFill>
            <a:srgbClr val="6366F1"/>
          </a:solidFill>
          <a:ln/>
        </p:spPr>
      </p:sp>
      <p:sp>
        <p:nvSpPr>
          <p:cNvPr id="13" name="Text 10"/>
          <p:cNvSpPr/>
          <p:nvPr/>
        </p:nvSpPr>
        <p:spPr>
          <a:xfrm>
            <a:off x="1399032" y="4572000"/>
            <a:ext cx="612648"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PDF</a:t>
            </a:r>
            <a:endParaRPr lang="en-US" sz="1200" dirty="0"/>
          </a:p>
        </p:txBody>
      </p:sp>
      <p:sp>
        <p:nvSpPr>
          <p:cNvPr id="14" name="Shape 11"/>
          <p:cNvSpPr/>
          <p:nvPr/>
        </p:nvSpPr>
        <p:spPr>
          <a:xfrm>
            <a:off x="502920" y="5074920"/>
            <a:ext cx="1719072" cy="402336"/>
          </a:xfrm>
          <a:prstGeom prst="roundRect">
            <a:avLst>
              <a:gd name="adj" fmla="val 50000"/>
            </a:avLst>
          </a:prstGeom>
          <a:solidFill>
            <a:srgbClr val="6366F1"/>
          </a:solidFill>
          <a:ln/>
        </p:spPr>
      </p:sp>
      <p:sp>
        <p:nvSpPr>
          <p:cNvPr id="15" name="Text 12"/>
          <p:cNvSpPr/>
          <p:nvPr/>
        </p:nvSpPr>
        <p:spPr>
          <a:xfrm>
            <a:off x="502920" y="5074920"/>
            <a:ext cx="1719072"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Communications</a:t>
            </a:r>
            <a:endParaRPr lang="en-US" sz="1200" dirty="0"/>
          </a:p>
        </p:txBody>
      </p:sp>
      <p:sp>
        <p:nvSpPr>
          <p:cNvPr id="16" name="Shape 13"/>
          <p:cNvSpPr/>
          <p:nvPr/>
        </p:nvSpPr>
        <p:spPr>
          <a:xfrm>
            <a:off x="2404872" y="5074920"/>
            <a:ext cx="813816" cy="402336"/>
          </a:xfrm>
          <a:prstGeom prst="roundRect">
            <a:avLst>
              <a:gd name="adj" fmla="val 50000"/>
            </a:avLst>
          </a:prstGeom>
          <a:solidFill>
            <a:srgbClr val="6366F1"/>
          </a:solidFill>
          <a:ln/>
        </p:spPr>
      </p:sp>
      <p:sp>
        <p:nvSpPr>
          <p:cNvPr id="17" name="Text 14"/>
          <p:cNvSpPr/>
          <p:nvPr/>
        </p:nvSpPr>
        <p:spPr>
          <a:xfrm>
            <a:off x="2404872"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Email</a:t>
            </a:r>
            <a:endParaRPr lang="en-US" sz="1200" dirty="0"/>
          </a:p>
        </p:txBody>
      </p:sp>
      <p:sp>
        <p:nvSpPr>
          <p:cNvPr id="18" name="Text 15"/>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Microsoft YaHei" pitchFamily="34" charset="0"/>
                <a:ea typeface="Microsoft YaHei" pitchFamily="34" charset="-122"/>
                <a:cs typeface="Microsoft YaHei" pitchFamily="34" charset="-120"/>
              </a:rPr>
              <a:t>无障碍评估报告确认柜台流程已经达标，标题看起来像是“服务已无障碍”的好消息。但报告正文另外指出线上门户有两个独立的缺口：身份核验视频没有字幕或手语选项、证件上传按钮没有屏幕阅读器可用的替代文本。修好柜台不等于整体服务无障碍，两个线上缺口各需要独立的控制措施，不是同一个修法。</a:t>
            </a:r>
            <a:endParaRPr lang="en-US" sz="1500" dirty="0"/>
          </a:p>
        </p:txBody>
      </p:sp>
      <p:sp>
        <p:nvSpPr>
          <p:cNvPr id="19" name="Text 16"/>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8E2F5B"/>
                </a:solidFill>
                <a:latin typeface="Microsoft YaHei" pitchFamily="34" charset="0"/>
                <a:ea typeface="Microsoft YaHei" pitchFamily="34" charset="-122"/>
                <a:cs typeface="Microsoft YaHei" pitchFamily="34" charset="-120"/>
              </a:rPr>
              <a:t>代理式工作流</a:t>
            </a:r>
            <a:endParaRPr lang="en-US" sz="1500" dirty="0"/>
          </a:p>
        </p:txBody>
      </p:sp>
      <p:sp>
        <p:nvSpPr>
          <p:cNvPr id="20" name="Shape 17"/>
          <p:cNvSpPr/>
          <p:nvPr/>
        </p:nvSpPr>
        <p:spPr>
          <a:xfrm>
            <a:off x="4526280" y="2523744"/>
            <a:ext cx="457200" cy="457200"/>
          </a:xfrm>
          <a:prstGeom prst="ellipse">
            <a:avLst/>
          </a:prstGeom>
          <a:solidFill>
            <a:srgbClr val="FFFFFF">
              <a:alpha val="12000"/>
            </a:srgbClr>
          </a:solidFill>
          <a:ln w="19050">
            <a:solidFill>
              <a:srgbClr val="8E2F5B"/>
            </a:solidFill>
            <a:prstDash val="solid"/>
          </a:ln>
        </p:spPr>
      </p:sp>
      <p:sp>
        <p:nvSpPr>
          <p:cNvPr id="21" name="Text 18"/>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8E2F5B"/>
                </a:solidFill>
                <a:latin typeface="Microsoft YaHei" pitchFamily="34" charset="0"/>
                <a:ea typeface="Microsoft YaHei" pitchFamily="34" charset="-122"/>
                <a:cs typeface="Microsoft YaHei" pitchFamily="34" charset="-120"/>
              </a:rPr>
              <a:t>1</a:t>
            </a:r>
            <a:endParaRPr lang="en-US" sz="1600" dirty="0"/>
          </a:p>
        </p:txBody>
      </p:sp>
      <p:sp>
        <p:nvSpPr>
          <p:cNvPr id="22" name="Text 19"/>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上传评估报告，请它先说结论是不是“整体都无障碍”</a:t>
            </a:r>
            <a:endParaRPr lang="en-US" sz="1600" dirty="0"/>
          </a:p>
        </p:txBody>
      </p:sp>
      <p:sp>
        <p:nvSpPr>
          <p:cNvPr id="23" name="Text 20"/>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把 GOV6_无障碍评估报告.pdf 上传到聊天框，发送下面的提示词。</a:t>
            </a:r>
            <a:endParaRPr lang="en-US" sz="1300" dirty="0"/>
          </a:p>
        </p:txBody>
      </p:sp>
      <p:sp>
        <p:nvSpPr>
          <p:cNvPr id="24" name="Shape 21"/>
          <p:cNvSpPr/>
          <p:nvPr/>
        </p:nvSpPr>
        <p:spPr>
          <a:xfrm>
            <a:off x="4526280" y="3534156"/>
            <a:ext cx="457200" cy="457200"/>
          </a:xfrm>
          <a:prstGeom prst="ellipse">
            <a:avLst/>
          </a:prstGeom>
          <a:solidFill>
            <a:srgbClr val="FFFFFF">
              <a:alpha val="12000"/>
            </a:srgbClr>
          </a:solidFill>
          <a:ln w="19050">
            <a:solidFill>
              <a:srgbClr val="8E2F5B"/>
            </a:solidFill>
            <a:prstDash val="solid"/>
          </a:ln>
        </p:spPr>
      </p:sp>
      <p:sp>
        <p:nvSpPr>
          <p:cNvPr id="25" name="Text 22"/>
          <p:cNvSpPr/>
          <p:nvPr/>
        </p:nvSpPr>
        <p:spPr>
          <a:xfrm>
            <a:off x="4526280" y="3534156"/>
            <a:ext cx="457200" cy="457200"/>
          </a:xfrm>
          <a:prstGeom prst="rect">
            <a:avLst/>
          </a:prstGeom>
          <a:noFill/>
          <a:ln/>
        </p:spPr>
        <p:txBody>
          <a:bodyPr wrap="square" rtlCol="0" anchor="ctr"/>
          <a:lstStyle/>
          <a:p>
            <a:pPr algn="ctr" indent="0" marL="0">
              <a:buNone/>
            </a:pPr>
            <a:r>
              <a:rPr lang="en-US" sz="1600" b="1" dirty="0">
                <a:solidFill>
                  <a:srgbClr val="8E2F5B"/>
                </a:solidFill>
                <a:latin typeface="Microsoft YaHei" pitchFamily="34" charset="0"/>
                <a:ea typeface="Microsoft YaHei" pitchFamily="34" charset="-122"/>
                <a:cs typeface="Microsoft YaHei" pitchFamily="34" charset="-120"/>
              </a:rPr>
              <a:t>2</a:t>
            </a:r>
            <a:endParaRPr lang="en-US" sz="1600" dirty="0"/>
          </a:p>
        </p:txBody>
      </p:sp>
      <p:sp>
        <p:nvSpPr>
          <p:cNvPr id="26" name="Text 23"/>
          <p:cNvSpPr/>
          <p:nvPr/>
        </p:nvSpPr>
        <p:spPr>
          <a:xfrm>
            <a:off x="5166360" y="3515868"/>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写出线上门户的两个独立控制措施，更新流程</a:t>
            </a:r>
            <a:endParaRPr lang="en-US" sz="1600" dirty="0"/>
          </a:p>
        </p:txBody>
      </p:sp>
      <p:sp>
        <p:nvSpPr>
          <p:cNvPr id="27" name="Text 24"/>
          <p:cNvSpPr/>
          <p:nvPr/>
        </p:nvSpPr>
        <p:spPr>
          <a:xfrm>
            <a:off x="5166360" y="388162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发送下面的提示词，请它把线上门户的两个缺口写成流程里的独立条文。</a:t>
            </a:r>
            <a:endParaRPr lang="en-US" sz="1300" dirty="0"/>
          </a:p>
        </p:txBody>
      </p:sp>
      <p:sp>
        <p:nvSpPr>
          <p:cNvPr id="28" name="Shape 25"/>
          <p:cNvSpPr/>
          <p:nvPr/>
        </p:nvSpPr>
        <p:spPr>
          <a:xfrm>
            <a:off x="4526280" y="4544568"/>
            <a:ext cx="457200" cy="457200"/>
          </a:xfrm>
          <a:prstGeom prst="ellipse">
            <a:avLst/>
          </a:prstGeom>
          <a:solidFill>
            <a:srgbClr val="FFFFFF">
              <a:alpha val="12000"/>
            </a:srgbClr>
          </a:solidFill>
          <a:ln w="19050">
            <a:solidFill>
              <a:srgbClr val="8E2F5B"/>
            </a:solidFill>
            <a:prstDash val="solid"/>
          </a:ln>
        </p:spPr>
      </p:sp>
      <p:sp>
        <p:nvSpPr>
          <p:cNvPr id="29" name="Text 26"/>
          <p:cNvSpPr/>
          <p:nvPr/>
        </p:nvSpPr>
        <p:spPr>
          <a:xfrm>
            <a:off x="4526280" y="4544568"/>
            <a:ext cx="457200" cy="457200"/>
          </a:xfrm>
          <a:prstGeom prst="rect">
            <a:avLst/>
          </a:prstGeom>
          <a:noFill/>
          <a:ln/>
        </p:spPr>
        <p:txBody>
          <a:bodyPr wrap="square" rtlCol="0" anchor="ctr"/>
          <a:lstStyle/>
          <a:p>
            <a:pPr algn="ctr" indent="0" marL="0">
              <a:buNone/>
            </a:pPr>
            <a:r>
              <a:rPr lang="en-US" sz="1600" b="1" dirty="0">
                <a:solidFill>
                  <a:srgbClr val="8E2F5B"/>
                </a:solidFill>
                <a:latin typeface="Microsoft YaHei" pitchFamily="34" charset="0"/>
                <a:ea typeface="Microsoft YaHei" pitchFamily="34" charset="-122"/>
                <a:cs typeface="Microsoft YaHei" pitchFamily="34" charset="-120"/>
              </a:rPr>
              <a:t>3</a:t>
            </a:r>
            <a:endParaRPr lang="en-US" sz="1600" dirty="0"/>
          </a:p>
        </p:txBody>
      </p:sp>
      <p:sp>
        <p:nvSpPr>
          <p:cNvPr id="30" name="Text 27"/>
          <p:cNvSpPr/>
          <p:nvPr/>
        </p:nvSpPr>
        <p:spPr>
          <a:xfrm>
            <a:off x="5166360" y="4526280"/>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核准后起草两份对象不同的沟通稿</a:t>
            </a:r>
            <a:endParaRPr lang="en-US" sz="1600" dirty="0"/>
          </a:p>
        </p:txBody>
      </p:sp>
      <p:sp>
        <p:nvSpPr>
          <p:cNvPr id="31" name="Text 28"/>
          <p:cNvSpPr/>
          <p:nvPr/>
        </p:nvSpPr>
        <p:spPr>
          <a:xfrm>
            <a:off x="5166360" y="489204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确认流程更新无误后，发送下面的提示词，请它准备对内与对外各一份沟通稿。</a:t>
            </a:r>
            <a:endParaRPr lang="en-US" sz="1300" dirty="0"/>
          </a:p>
        </p:txBody>
      </p:sp>
      <p:sp>
        <p:nvSpPr>
          <p:cNvPr id="32" name="Shape 29"/>
          <p:cNvSpPr/>
          <p:nvPr/>
        </p:nvSpPr>
        <p:spPr>
          <a:xfrm>
            <a:off x="4526280" y="5440680"/>
            <a:ext cx="7132320" cy="777240"/>
          </a:xfrm>
          <a:prstGeom prst="rect">
            <a:avLst/>
          </a:prstGeom>
          <a:solidFill>
            <a:srgbClr val="FFFFFF">
              <a:alpha val="10000"/>
            </a:srgbClr>
          </a:solidFill>
          <a:ln w="12700">
            <a:solidFill>
              <a:srgbClr val="8E2F5B">
                <a:alpha val="65000"/>
              </a:srgbClr>
            </a:solidFill>
            <a:prstDash val="solid"/>
          </a:ln>
        </p:spPr>
      </p:sp>
      <p:sp>
        <p:nvSpPr>
          <p:cNvPr id="33" name="Shape 30"/>
          <p:cNvSpPr/>
          <p:nvPr/>
        </p:nvSpPr>
        <p:spPr>
          <a:xfrm>
            <a:off x="4526280" y="5440680"/>
            <a:ext cx="73152" cy="777240"/>
          </a:xfrm>
          <a:prstGeom prst="rect">
            <a:avLst/>
          </a:prstGeom>
          <a:solidFill>
            <a:srgbClr val="8E2F5B"/>
          </a:solidFill>
          <a:ln/>
        </p:spPr>
      </p:sp>
      <p:pic>
        <p:nvPicPr>
          <p:cNvPr id="34"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5" name="Text 31"/>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YaHei" pitchFamily="34" charset="0"/>
                <a:ea typeface="Microsoft YaHei" pitchFamily="34" charset="-122"/>
                <a:cs typeface="Microsoft YaHei" pitchFamily="34" charset="-120"/>
              </a:rPr>
              <a:t>把关重点　</a:t>
            </a:r>
            <a:pPr indent="0" marL="0">
              <a:lnSpc>
                <a:spcPct val="115000"/>
              </a:lnSpc>
              <a:buNone/>
            </a:pPr>
            <a:r>
              <a:rPr lang="en-US" sz="1250" dirty="0">
                <a:solidFill>
                  <a:srgbClr val="C7CAEC"/>
                </a:solidFill>
                <a:latin typeface="Microsoft YaHei" pitchFamily="34" charset="0"/>
                <a:ea typeface="Microsoft YaHei" pitchFamily="34" charset="-122"/>
                <a:cs typeface="Microsoft YaHei" pitchFamily="34" charset="-120"/>
              </a:rPr>
              <a:t>读取评估报告属于只读汇总，不会触发核准卡；更新流程文件与发送或发布沟通稿都会改动现有文档或对外发布消息…</a:t>
            </a:r>
            <a:endParaRPr lang="en-US" sz="1250" dirty="0"/>
          </a:p>
        </p:txBody>
      </p:sp>
      <p:sp>
        <p:nvSpPr>
          <p:cNvPr id="36" name="Text 3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37" name="Text 3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YaHei" pitchFamily="34" charset="0"/>
                <a:ea typeface="Microsoft YaHei" pitchFamily="34" charset="-122"/>
                <a:cs typeface="Microsoft YaHe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8E2F5B"/>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8E2F5B"/>
                </a:solidFill>
                <a:latin typeface="Microsoft YaHei" pitchFamily="34" charset="0"/>
                <a:ea typeface="Microsoft YaHei" pitchFamily="34" charset="-122"/>
                <a:cs typeface="Microsoft YaHei" pitchFamily="34" charset="-120"/>
              </a:rPr>
              <a:t>场景 06 · 实机演示</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看 Cowork 怎么做、产出什么</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6_01_upload_c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8E2F5B"/>
                </a:solidFill>
                <a:latin typeface="Microsoft YaHei" pitchFamily="34" charset="0"/>
                <a:ea typeface="Microsoft YaHei" pitchFamily="34" charset="-122"/>
                <a:cs typeface="Microsoft YaHei" pitchFamily="34" charset="-120"/>
              </a:rPr>
              <a:t>① 你的输入与指令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6_03_comms_approval_c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8E2F5B"/>
                </a:solidFill>
                <a:latin typeface="Microsoft YaHei" pitchFamily="34" charset="0"/>
                <a:ea typeface="Microsoft YaHei" pitchFamily="34" charset="-122"/>
                <a:cs typeface="Microsoft YaHei" pitchFamily="34" charset="-120"/>
              </a:rPr>
              <a:t>② 产出成果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8E2F5B"/>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YaHei" pitchFamily="34" charset="0"/>
                <a:ea typeface="Microsoft YaHei" pitchFamily="34" charset="-122"/>
                <a:cs typeface="Microsoft YaHei" pitchFamily="34" charset="-120"/>
              </a:rPr>
              <a:t>产出验收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正确区分柜台已达标与整体服务尚未达标，不被报告标题误导</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正确列出线上门户的两个独立缺口，没有合并成一句概括陈述</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流程更新包含两条各自独立的控制措施，各有责任单位与时程</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2C5F8A"/>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2C5F8A"/>
                </a:solidFill>
                <a:latin typeface="Microsoft YaHei" pitchFamily="34" charset="0"/>
                <a:ea typeface="Microsoft YaHei" pitchFamily="34" charset="-122"/>
                <a:cs typeface="Microsoft YaHei" pitchFamily="34" charset="-120"/>
              </a:rPr>
              <a:t>场景 07</a:t>
            </a:r>
            <a:endParaRPr lang="en-US" sz="1400" dirty="0"/>
          </a:p>
        </p:txBody>
      </p:sp>
      <p:sp>
        <p:nvSpPr>
          <p:cNvPr id="5" name="Shape 3"/>
          <p:cNvSpPr/>
          <p:nvPr/>
        </p:nvSpPr>
        <p:spPr>
          <a:xfrm>
            <a:off x="502920" y="1143000"/>
            <a:ext cx="1097280" cy="1097280"/>
          </a:xfrm>
          <a:prstGeom prst="ellipse">
            <a:avLst/>
          </a:prstGeom>
          <a:solidFill>
            <a:srgbClr val="2C5F8A"/>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Microsoft YaHei" pitchFamily="34" charset="0"/>
                <a:ea typeface="Microsoft YaHei" pitchFamily="34" charset="-122"/>
                <a:cs typeface="Microsoft YaHei" pitchFamily="34" charset="-120"/>
              </a:rPr>
              <a:t>公共服务 · 准备度管理</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服务准备度简报：全署达标，是不是每个据点都没问题？</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Microsoft YaHei" pitchFamily="34" charset="0"/>
                <a:ea typeface="Microsoft YaHei" pitchFamily="34" charset="-122"/>
                <a:cs typeface="Microsoft YaHei" pitchFamily="34" charset="-120"/>
              </a:rPr>
              <a:t>⏱ 约 20 分钟 · 难度 ★★★</a:t>
            </a:r>
            <a:endParaRPr lang="en-US" sz="1300" dirty="0"/>
          </a:p>
        </p:txBody>
      </p:sp>
      <p:sp>
        <p:nvSpPr>
          <p:cNvPr id="10" name="Shape 7"/>
          <p:cNvSpPr/>
          <p:nvPr/>
        </p:nvSpPr>
        <p:spPr>
          <a:xfrm>
            <a:off x="502920" y="4572000"/>
            <a:ext cx="1719072" cy="402336"/>
          </a:xfrm>
          <a:prstGeom prst="roundRect">
            <a:avLst>
              <a:gd name="adj" fmla="val 50000"/>
            </a:avLst>
          </a:prstGeom>
          <a:solidFill>
            <a:srgbClr val="6366F1"/>
          </a:solidFill>
          <a:ln/>
        </p:spPr>
      </p:sp>
      <p:sp>
        <p:nvSpPr>
          <p:cNvPr id="11" name="Text 8"/>
          <p:cNvSpPr/>
          <p:nvPr/>
        </p:nvSpPr>
        <p:spPr>
          <a:xfrm>
            <a:off x="502920" y="4572000"/>
            <a:ext cx="1719072"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Daily Briefing</a:t>
            </a:r>
            <a:endParaRPr lang="en-US" sz="1200" dirty="0"/>
          </a:p>
        </p:txBody>
      </p:sp>
      <p:sp>
        <p:nvSpPr>
          <p:cNvPr id="12" name="Shape 9"/>
          <p:cNvSpPr/>
          <p:nvPr/>
        </p:nvSpPr>
        <p:spPr>
          <a:xfrm>
            <a:off x="2404872" y="4572000"/>
            <a:ext cx="813816" cy="402336"/>
          </a:xfrm>
          <a:prstGeom prst="roundRect">
            <a:avLst>
              <a:gd name="adj" fmla="val 50000"/>
            </a:avLst>
          </a:prstGeom>
          <a:solidFill>
            <a:srgbClr val="217346"/>
          </a:solidFill>
          <a:ln/>
        </p:spPr>
      </p:sp>
      <p:sp>
        <p:nvSpPr>
          <p:cNvPr id="13" name="Text 10"/>
          <p:cNvSpPr/>
          <p:nvPr/>
        </p:nvSpPr>
        <p:spPr>
          <a:xfrm>
            <a:off x="2404872"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Excel</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Enterprise Search</a:t>
            </a:r>
            <a:endParaRPr lang="en-US" sz="1200" dirty="0"/>
          </a:p>
        </p:txBody>
      </p:sp>
      <p:sp>
        <p:nvSpPr>
          <p:cNvPr id="16" name="Shape 13"/>
          <p:cNvSpPr/>
          <p:nvPr/>
        </p:nvSpPr>
        <p:spPr>
          <a:xfrm>
            <a:off x="502920" y="5577840"/>
            <a:ext cx="2532888" cy="402336"/>
          </a:xfrm>
          <a:prstGeom prst="roundRect">
            <a:avLst>
              <a:gd name="adj" fmla="val 50000"/>
            </a:avLst>
          </a:prstGeom>
          <a:solidFill>
            <a:srgbClr val="6366F1"/>
          </a:solidFill>
          <a:ln/>
        </p:spPr>
      </p:sp>
      <p:sp>
        <p:nvSpPr>
          <p:cNvPr id="17" name="Text 14"/>
          <p:cNvSpPr/>
          <p:nvPr/>
        </p:nvSpPr>
        <p:spPr>
          <a:xfrm>
            <a:off x="502920" y="5577840"/>
            <a:ext cx="2532888" cy="402336"/>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自定义技能 Custom skill</a:t>
            </a:r>
            <a:endParaRPr lang="en-US" sz="1200" dirty="0"/>
          </a:p>
        </p:txBody>
      </p:sp>
      <p:sp>
        <p:nvSpPr>
          <p:cNvPr id="18" name="Text 15"/>
          <p:cNvSpPr/>
          <p:nvPr/>
        </p:nvSpPr>
        <p:spPr>
          <a:xfrm>
            <a:off x="4526280" y="566928"/>
            <a:ext cx="7132320" cy="1097280"/>
          </a:xfrm>
          <a:prstGeom prst="rect">
            <a:avLst/>
          </a:prstGeom>
          <a:noFill/>
          <a:ln/>
        </p:spPr>
        <p:txBody>
          <a:bodyPr wrap="square" rtlCol="0" anchor="t"/>
          <a:lstStyle/>
          <a:p>
            <a:pPr indent="0" marL="0">
              <a:lnSpc>
                <a:spcPct val="130000"/>
              </a:lnSpc>
              <a:buNone/>
            </a:pPr>
            <a:r>
              <a:rPr lang="en-US" sz="1500" dirty="0">
                <a:solidFill>
                  <a:srgbClr val="D7D9F0"/>
                </a:solidFill>
                <a:latin typeface="Microsoft YaHei" pitchFamily="34" charset="0"/>
                <a:ea typeface="Microsoft YaHei" pitchFamily="34" charset="-122"/>
                <a:cs typeface="Microsoft YaHei" pitchFamily="34" charset="-120"/>
              </a:rPr>
              <a:t>五个据点的加权平均准备度是 93.4%，高于全署门槛 90%，看起来一切正常。但逐据点核对会发现D 据点只有 81%，两天都低于据点门槛 85%，是持续性问题；B 据点只有某一天因为一次性系统中断降到 70%，是暂时性问题。加权平均达标会把持续性问题盖掉，简报不能只报一个数字。</a:t>
            </a:r>
            <a:endParaRPr lang="en-US" sz="1500" dirty="0"/>
          </a:p>
        </p:txBody>
      </p:sp>
      <p:sp>
        <p:nvSpPr>
          <p:cNvPr id="19" name="Text 16"/>
          <p:cNvSpPr/>
          <p:nvPr/>
        </p:nvSpPr>
        <p:spPr>
          <a:xfrm>
            <a:off x="4526280" y="1792224"/>
            <a:ext cx="7132320" cy="365760"/>
          </a:xfrm>
          <a:prstGeom prst="rect">
            <a:avLst/>
          </a:prstGeom>
          <a:noFill/>
          <a:ln/>
        </p:spPr>
        <p:txBody>
          <a:bodyPr wrap="square" rtlCol="0" anchor="ctr"/>
          <a:lstStyle/>
          <a:p>
            <a:pPr indent="0" marL="0">
              <a:buNone/>
            </a:pPr>
            <a:r>
              <a:rPr lang="en-US" sz="1500" b="1" dirty="0">
                <a:solidFill>
                  <a:srgbClr val="2C5F8A"/>
                </a:solidFill>
                <a:latin typeface="Microsoft YaHei" pitchFamily="34" charset="0"/>
                <a:ea typeface="Microsoft YaHei" pitchFamily="34" charset="-122"/>
                <a:cs typeface="Microsoft YaHei" pitchFamily="34" charset="-120"/>
              </a:rPr>
              <a:t>代理式工作流</a:t>
            </a:r>
            <a:endParaRPr lang="en-US" sz="1500" dirty="0"/>
          </a:p>
        </p:txBody>
      </p:sp>
      <p:sp>
        <p:nvSpPr>
          <p:cNvPr id="20" name="Shape 17"/>
          <p:cNvSpPr/>
          <p:nvPr/>
        </p:nvSpPr>
        <p:spPr>
          <a:xfrm>
            <a:off x="4526280" y="2249424"/>
            <a:ext cx="457200" cy="457200"/>
          </a:xfrm>
          <a:prstGeom prst="ellipse">
            <a:avLst/>
          </a:prstGeom>
          <a:solidFill>
            <a:srgbClr val="FFFFFF">
              <a:alpha val="12000"/>
            </a:srgbClr>
          </a:solidFill>
          <a:ln w="19050">
            <a:solidFill>
              <a:srgbClr val="2C5F8A"/>
            </a:solidFill>
            <a:prstDash val="solid"/>
          </a:ln>
        </p:spPr>
      </p:sp>
      <p:sp>
        <p:nvSpPr>
          <p:cNvPr id="21" name="Text 18"/>
          <p:cNvSpPr/>
          <p:nvPr/>
        </p:nvSpPr>
        <p:spPr>
          <a:xfrm>
            <a:off x="4526280" y="2249424"/>
            <a:ext cx="457200" cy="457200"/>
          </a:xfrm>
          <a:prstGeom prst="rect">
            <a:avLst/>
          </a:prstGeom>
          <a:noFill/>
          <a:ln/>
        </p:spPr>
        <p:txBody>
          <a:bodyPr wrap="square" rtlCol="0" anchor="ctr"/>
          <a:lstStyle/>
          <a:p>
            <a:pPr algn="ctr" indent="0" marL="0">
              <a:buNone/>
            </a:pPr>
            <a:r>
              <a:rPr lang="en-US" sz="1600" b="1" dirty="0">
                <a:solidFill>
                  <a:srgbClr val="2C5F8A"/>
                </a:solidFill>
                <a:latin typeface="Microsoft YaHei" pitchFamily="34" charset="0"/>
                <a:ea typeface="Microsoft YaHei" pitchFamily="34" charset="-122"/>
                <a:cs typeface="Microsoft YaHei" pitchFamily="34" charset="-120"/>
              </a:rPr>
              <a:t>1</a:t>
            </a:r>
            <a:endParaRPr lang="en-US" sz="1600" dirty="0"/>
          </a:p>
        </p:txBody>
      </p:sp>
      <p:sp>
        <p:nvSpPr>
          <p:cNvPr id="22" name="Text 19"/>
          <p:cNvSpPr/>
          <p:nvPr/>
        </p:nvSpPr>
        <p:spPr>
          <a:xfrm>
            <a:off x="5166360" y="2231136"/>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先手动核对两天数据，确认持续性与暂时性问题的区别</a:t>
            </a:r>
            <a:endParaRPr lang="en-US" sz="1600" dirty="0"/>
          </a:p>
        </p:txBody>
      </p:sp>
      <p:sp>
        <p:nvSpPr>
          <p:cNvPr id="23" name="Text 20"/>
          <p:cNvSpPr/>
          <p:nvPr/>
        </p:nvSpPr>
        <p:spPr>
          <a:xfrm>
            <a:off x="5166360" y="259689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不用上传文件，素材都在 OneDrive。</a:t>
            </a:r>
            <a:endParaRPr lang="en-US" sz="1300" dirty="0"/>
          </a:p>
        </p:txBody>
      </p:sp>
      <p:sp>
        <p:nvSpPr>
          <p:cNvPr id="24" name="Shape 21"/>
          <p:cNvSpPr/>
          <p:nvPr/>
        </p:nvSpPr>
        <p:spPr>
          <a:xfrm>
            <a:off x="4526280" y="3273552"/>
            <a:ext cx="457200" cy="457200"/>
          </a:xfrm>
          <a:prstGeom prst="ellipse">
            <a:avLst/>
          </a:prstGeom>
          <a:solidFill>
            <a:srgbClr val="FFFFFF">
              <a:alpha val="12000"/>
            </a:srgbClr>
          </a:solidFill>
          <a:ln w="19050">
            <a:solidFill>
              <a:srgbClr val="2C5F8A"/>
            </a:solidFill>
            <a:prstDash val="solid"/>
          </a:ln>
        </p:spPr>
      </p:sp>
      <p:sp>
        <p:nvSpPr>
          <p:cNvPr id="25" name="Text 22"/>
          <p:cNvSpPr/>
          <p:nvPr/>
        </p:nvSpPr>
        <p:spPr>
          <a:xfrm>
            <a:off x="4526280" y="3273552"/>
            <a:ext cx="457200" cy="457200"/>
          </a:xfrm>
          <a:prstGeom prst="rect">
            <a:avLst/>
          </a:prstGeom>
          <a:noFill/>
          <a:ln/>
        </p:spPr>
        <p:txBody>
          <a:bodyPr wrap="square" rtlCol="0" anchor="ctr"/>
          <a:lstStyle/>
          <a:p>
            <a:pPr algn="ctr" indent="0" marL="0">
              <a:buNone/>
            </a:pPr>
            <a:r>
              <a:rPr lang="en-US" sz="1600" b="1" dirty="0">
                <a:solidFill>
                  <a:srgbClr val="2C5F8A"/>
                </a:solidFill>
                <a:latin typeface="Microsoft YaHei" pitchFamily="34" charset="0"/>
                <a:ea typeface="Microsoft YaHei" pitchFamily="34" charset="-122"/>
                <a:cs typeface="Microsoft YaHei" pitchFamily="34" charset="-120"/>
              </a:rPr>
              <a:t>2</a:t>
            </a:r>
            <a:endParaRPr lang="en-US" sz="1600" dirty="0"/>
          </a:p>
        </p:txBody>
      </p:sp>
      <p:sp>
        <p:nvSpPr>
          <p:cNvPr id="26" name="Text 23"/>
          <p:cNvSpPr/>
          <p:nvPr/>
        </p:nvSpPr>
        <p:spPr>
          <a:xfrm>
            <a:off x="5166360" y="3255264"/>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把判断方法做成自定义技能，用两天数据各测一次</a:t>
            </a:r>
            <a:endParaRPr lang="en-US" sz="1600" dirty="0"/>
          </a:p>
        </p:txBody>
      </p:sp>
      <p:sp>
        <p:nvSpPr>
          <p:cNvPr id="27" name="Text 24"/>
          <p:cNvSpPr/>
          <p:nvPr/>
        </p:nvSpPr>
        <p:spPr>
          <a:xfrm>
            <a:off x="5166360" y="362102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发送下面的提示词，请它把刚才的判断逻辑做成一个可重复使用的自定义技能。</a:t>
            </a:r>
            <a:endParaRPr lang="en-US" sz="1300" dirty="0"/>
          </a:p>
        </p:txBody>
      </p:sp>
      <p:sp>
        <p:nvSpPr>
          <p:cNvPr id="28" name="Shape 25"/>
          <p:cNvSpPr/>
          <p:nvPr/>
        </p:nvSpPr>
        <p:spPr>
          <a:xfrm>
            <a:off x="4526280" y="4297680"/>
            <a:ext cx="457200" cy="457200"/>
          </a:xfrm>
          <a:prstGeom prst="ellipse">
            <a:avLst/>
          </a:prstGeom>
          <a:solidFill>
            <a:srgbClr val="FFFFFF">
              <a:alpha val="12000"/>
            </a:srgbClr>
          </a:solidFill>
          <a:ln w="19050">
            <a:solidFill>
              <a:srgbClr val="2C5F8A"/>
            </a:solidFill>
            <a:prstDash val="solid"/>
          </a:ln>
        </p:spPr>
      </p:sp>
      <p:sp>
        <p:nvSpPr>
          <p:cNvPr id="29" name="Text 26"/>
          <p:cNvSpPr/>
          <p:nvPr/>
        </p:nvSpPr>
        <p:spPr>
          <a:xfrm>
            <a:off x="4526280" y="4297680"/>
            <a:ext cx="457200" cy="457200"/>
          </a:xfrm>
          <a:prstGeom prst="rect">
            <a:avLst/>
          </a:prstGeom>
          <a:noFill/>
          <a:ln/>
        </p:spPr>
        <p:txBody>
          <a:bodyPr wrap="square" rtlCol="0" anchor="ctr"/>
          <a:lstStyle/>
          <a:p>
            <a:pPr algn="ctr" indent="0" marL="0">
              <a:buNone/>
            </a:pPr>
            <a:r>
              <a:rPr lang="en-US" sz="1600" b="1" dirty="0">
                <a:solidFill>
                  <a:srgbClr val="2C5F8A"/>
                </a:solidFill>
                <a:latin typeface="Microsoft YaHei" pitchFamily="34" charset="0"/>
                <a:ea typeface="Microsoft YaHei" pitchFamily="34" charset="-122"/>
                <a:cs typeface="Microsoft YaHei" pitchFamily="34" charset="-120"/>
              </a:rPr>
              <a:t>3</a:t>
            </a:r>
            <a:endParaRPr lang="en-US" sz="1600" dirty="0"/>
          </a:p>
        </p:txBody>
      </p:sp>
      <p:sp>
        <p:nvSpPr>
          <p:cNvPr id="30" name="Text 27"/>
          <p:cNvSpPr/>
          <p:nvPr/>
        </p:nvSpPr>
        <p:spPr>
          <a:xfrm>
            <a:off x="5166360" y="4279392"/>
            <a:ext cx="64922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排期每日自动执行，并查看一次实际执行记录</a:t>
            </a:r>
            <a:endParaRPr lang="en-US" sz="1600" dirty="0"/>
          </a:p>
        </p:txBody>
      </p:sp>
      <p:sp>
        <p:nvSpPr>
          <p:cNvPr id="31" name="Text 28"/>
          <p:cNvSpPr/>
          <p:nvPr/>
        </p:nvSpPr>
        <p:spPr>
          <a:xfrm>
            <a:off x="5166360" y="464515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Microsoft YaHei" pitchFamily="34" charset="0"/>
                <a:ea typeface="Microsoft YaHei" pitchFamily="34" charset="-122"/>
                <a:cs typeface="Microsoft YaHei" pitchFamily="34" charset="-120"/>
              </a:rPr>
              <a:t>确认技能测试无误后，发送下面的提示词，请它排程并立即执行一次。</a:t>
            </a:r>
            <a:endParaRPr lang="en-US" sz="1300" dirty="0"/>
          </a:p>
        </p:txBody>
      </p:sp>
      <p:sp>
        <p:nvSpPr>
          <p:cNvPr id="32" name="Shape 29"/>
          <p:cNvSpPr/>
          <p:nvPr/>
        </p:nvSpPr>
        <p:spPr>
          <a:xfrm>
            <a:off x="4526280" y="5440680"/>
            <a:ext cx="7132320" cy="777240"/>
          </a:xfrm>
          <a:prstGeom prst="rect">
            <a:avLst/>
          </a:prstGeom>
          <a:solidFill>
            <a:srgbClr val="FFFFFF">
              <a:alpha val="10000"/>
            </a:srgbClr>
          </a:solidFill>
          <a:ln w="12700">
            <a:solidFill>
              <a:srgbClr val="2C5F8A">
                <a:alpha val="65000"/>
              </a:srgbClr>
            </a:solidFill>
            <a:prstDash val="solid"/>
          </a:ln>
        </p:spPr>
      </p:sp>
      <p:sp>
        <p:nvSpPr>
          <p:cNvPr id="33" name="Shape 30"/>
          <p:cNvSpPr/>
          <p:nvPr/>
        </p:nvSpPr>
        <p:spPr>
          <a:xfrm>
            <a:off x="4526280" y="5440680"/>
            <a:ext cx="73152" cy="777240"/>
          </a:xfrm>
          <a:prstGeom prst="rect">
            <a:avLst/>
          </a:prstGeom>
          <a:solidFill>
            <a:srgbClr val="2C5F8A"/>
          </a:solidFill>
          <a:ln/>
        </p:spPr>
      </p:sp>
      <p:pic>
        <p:nvPicPr>
          <p:cNvPr id="34" name="Image 1" descr="preencoded.png">    </p:cNvPr>
          <p:cNvPicPr>
            <a:picLocks noChangeAspect="1"/>
          </p:cNvPicPr>
          <p:nvPr/>
        </p:nvPicPr>
        <p:blipFill>
          <a:blip r:embed="rId2"/>
          <a:stretch>
            <a:fillRect/>
          </a:stretch>
        </p:blipFill>
        <p:spPr>
          <a:xfrm>
            <a:off x="4782312" y="5687568"/>
            <a:ext cx="292608" cy="292608"/>
          </a:xfrm>
          <a:prstGeom prst="rect">
            <a:avLst/>
          </a:prstGeom>
        </p:spPr>
      </p:pic>
      <p:sp>
        <p:nvSpPr>
          <p:cNvPr id="35" name="Text 31"/>
          <p:cNvSpPr/>
          <p:nvPr/>
        </p:nvSpPr>
        <p:spPr>
          <a:xfrm>
            <a:off x="5239512" y="5440680"/>
            <a:ext cx="6309360" cy="777240"/>
          </a:xfrm>
          <a:prstGeom prst="rect">
            <a:avLst/>
          </a:prstGeom>
          <a:noFill/>
          <a:ln/>
        </p:spPr>
        <p:txBody>
          <a:bodyPr wrap="square" rtlCol="0" anchor="ctr"/>
          <a:lstStyle/>
          <a:p>
            <a:pPr indent="0" marL="0">
              <a:lnSpc>
                <a:spcPct val="115000"/>
              </a:lnSpc>
              <a:buNone/>
            </a:pPr>
            <a:r>
              <a:rPr lang="en-US" sz="1250" b="1" dirty="0">
                <a:solidFill>
                  <a:srgbClr val="FFFFFF"/>
                </a:solidFill>
                <a:latin typeface="Microsoft YaHei" pitchFamily="34" charset="0"/>
                <a:ea typeface="Microsoft YaHei" pitchFamily="34" charset="-122"/>
                <a:cs typeface="Microsoft YaHei" pitchFamily="34" charset="-120"/>
              </a:rPr>
              <a:t>把关重点　</a:t>
            </a:r>
            <a:pPr indent="0" marL="0">
              <a:lnSpc>
                <a:spcPct val="115000"/>
              </a:lnSpc>
              <a:buNone/>
            </a:pPr>
            <a:r>
              <a:rPr lang="en-US" sz="1250" dirty="0">
                <a:solidFill>
                  <a:srgbClr val="C7CAEC"/>
                </a:solidFill>
                <a:latin typeface="Microsoft YaHei" pitchFamily="34" charset="0"/>
                <a:ea typeface="Microsoft YaHei" pitchFamily="34" charset="-122"/>
                <a:cs typeface="Microsoft YaHei" pitchFamily="34" charset="-120"/>
              </a:rPr>
              <a:t>读取两天准备度文件属于只读汇总，不会触发核准卡；建立自定义技能是在你的工作区新增一项资产…</a:t>
            </a:r>
            <a:endParaRPr lang="en-US" sz="1250" dirty="0"/>
          </a:p>
        </p:txBody>
      </p:sp>
      <p:sp>
        <p:nvSpPr>
          <p:cNvPr id="36" name="Text 3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37" name="Text 3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YaHei" pitchFamily="34" charset="0"/>
                <a:ea typeface="Microsoft YaHei" pitchFamily="34" charset="-122"/>
                <a:cs typeface="Microsoft YaHe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C5F8A"/>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C5F8A"/>
                </a:solidFill>
                <a:latin typeface="Microsoft YaHei" pitchFamily="34" charset="0"/>
                <a:ea typeface="Microsoft YaHei" pitchFamily="34" charset="-122"/>
                <a:cs typeface="Microsoft YaHei" pitchFamily="34" charset="-120"/>
              </a:rPr>
              <a:t>场景 07 · 实机演示</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看 Cowork 怎么做、产出什么</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gov7_01_two_days_c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2C5F8A"/>
                </a:solidFill>
                <a:latin typeface="Microsoft YaHei" pitchFamily="34" charset="0"/>
                <a:ea typeface="Microsoft YaHei" pitchFamily="34" charset="-122"/>
                <a:cs typeface="Microsoft YaHei" pitchFamily="34" charset="-120"/>
              </a:rPr>
              <a:t>① 你的输入与指令</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gov7_03b_run_c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2C5F8A"/>
                </a:solidFill>
                <a:latin typeface="Microsoft YaHei" pitchFamily="34" charset="0"/>
                <a:ea typeface="Microsoft YaHei" pitchFamily="34" charset="-122"/>
                <a:cs typeface="Microsoft YaHei" pitchFamily="34" charset="-120"/>
              </a:rPr>
              <a:t>② 产出成果</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2C5F8A"/>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Microsoft YaHei" pitchFamily="34" charset="0"/>
                <a:ea typeface="Microsoft YaHei" pitchFamily="34" charset="-122"/>
                <a:cs typeface="Microsoft YaHei" pitchFamily="34" charset="-120"/>
              </a:rPr>
              <a:t>产出验收</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正确算出第一天加权平均 93.4%（高于 90% 门槛）</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正确找出 D 据点两天皆低于 85% 门槛，属持续性问题</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Microsoft YaHei" pitchFamily="34" charset="0"/>
                <a:ea typeface="Microsoft YaHei" pitchFamily="34" charset="-122"/>
                <a:cs typeface="Microsoft YaHei" pitchFamily="34" charset="-120"/>
              </a:rPr>
              <a:t>正确找出 B 据点仅第二天低于门槛，属暂时性问题，与 D 不同类</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Microsoft YaHei" pitchFamily="34" charset="0"/>
                <a:ea typeface="Microsoft YaHei" pitchFamily="34" charset="-122"/>
                <a:cs typeface="Microsoft YaHei" pitchFamily="34" charset="-120"/>
              </a:rPr>
              <a:t>MAKE IT YOURS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Microsoft YaHei" pitchFamily="34" charset="0"/>
                <a:ea typeface="Microsoft YaHei" pitchFamily="34" charset="-122"/>
                <a:cs typeface="Microsoft YaHei" pitchFamily="34" charset="-120"/>
              </a:rPr>
              <a:t>把场景延伸到你的日常</a:t>
            </a:r>
            <a:endParaRPr lang="en-US" sz="3000" dirty="0"/>
          </a:p>
        </p:txBody>
      </p:sp>
      <p:sp>
        <p:nvSpPr>
          <p:cNvPr id="5" name="Shape 3"/>
          <p:cNvSpPr/>
          <p:nvPr/>
        </p:nvSpPr>
        <p:spPr>
          <a:xfrm>
            <a:off x="640080" y="1783080"/>
            <a:ext cx="10911535" cy="549946"/>
          </a:xfrm>
          <a:prstGeom prst="rect">
            <a:avLst/>
          </a:prstGeom>
          <a:solidFill>
            <a:srgbClr val="FFFFFF"/>
          </a:solidFill>
          <a:ln w="12700">
            <a:solidFill>
              <a:srgbClr val="E4E7F2"/>
            </a:solidFill>
            <a:prstDash val="solid"/>
          </a:ln>
        </p:spPr>
      </p:sp>
      <p:sp>
        <p:nvSpPr>
          <p:cNvPr id="6" name="Shape 4"/>
          <p:cNvSpPr/>
          <p:nvPr/>
        </p:nvSpPr>
        <p:spPr>
          <a:xfrm>
            <a:off x="868680" y="1811165"/>
            <a:ext cx="493776" cy="493776"/>
          </a:xfrm>
          <a:prstGeom prst="ellipse">
            <a:avLst/>
          </a:prstGeom>
          <a:solidFill>
            <a:srgbClr val="14324D"/>
          </a:solidFill>
          <a:ln/>
        </p:spPr>
      </p:sp>
      <p:pic>
        <p:nvPicPr>
          <p:cNvPr id="7" name="Image 0" descr="preencoded.png">    </p:cNvPr>
          <p:cNvPicPr>
            <a:picLocks noChangeAspect="1"/>
          </p:cNvPicPr>
          <p:nvPr/>
        </p:nvPicPr>
        <p:blipFill>
          <a:blip r:embed="rId1"/>
          <a:stretch>
            <a:fillRect/>
          </a:stretch>
        </p:blipFill>
        <p:spPr>
          <a:xfrm>
            <a:off x="996696" y="1939181"/>
            <a:ext cx="237744" cy="237744"/>
          </a:xfrm>
          <a:prstGeom prst="rect">
            <a:avLst/>
          </a:prstGeom>
        </p:spPr>
      </p:pic>
      <p:sp>
        <p:nvSpPr>
          <p:cNvPr id="8" name="Text 5"/>
          <p:cNvSpPr/>
          <p:nvPr/>
        </p:nvSpPr>
        <p:spPr>
          <a:xfrm>
            <a:off x="1554480" y="1819656"/>
            <a:ext cx="2286000" cy="476794"/>
          </a:xfrm>
          <a:prstGeom prst="rect">
            <a:avLst/>
          </a:prstGeom>
          <a:noFill/>
          <a:ln/>
        </p:spPr>
        <p:txBody>
          <a:bodyPr wrap="square" rtlCol="0" anchor="ctr"/>
          <a:lstStyle/>
          <a:p>
            <a:pPr indent="0" marL="0">
              <a:buNone/>
            </a:pPr>
            <a:r>
              <a:rPr lang="en-US" sz="1300" b="1" dirty="0">
                <a:solidFill>
                  <a:srgbClr val="14324D"/>
                </a:solidFill>
                <a:latin typeface="Microsoft YaHei" pitchFamily="34" charset="0"/>
                <a:ea typeface="Microsoft YaHei" pitchFamily="34" charset="-122"/>
                <a:cs typeface="Microsoft YaHei" pitchFamily="34" charset="-120"/>
              </a:rPr>
              <a:t>公共服务 · 民众服务</a:t>
            </a:r>
            <a:endParaRPr lang="en-US" sz="1300" dirty="0"/>
          </a:p>
        </p:txBody>
      </p:sp>
      <p:sp>
        <p:nvSpPr>
          <p:cNvPr id="9" name="Text 6"/>
          <p:cNvSpPr/>
          <p:nvPr/>
        </p:nvSpPr>
        <p:spPr>
          <a:xfrm>
            <a:off x="3749040" y="1819656"/>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YaHei" pitchFamily="34" charset="0"/>
                <a:ea typeface="Microsoft YaHei" pitchFamily="34" charset="-122"/>
                <a:cs typeface="Microsoft YaHei" pitchFamily="34" charset="-120"/>
              </a:rPr>
              <a:t>💡 换成你机关真正的服务项目与时效承诺，重新排一次队列。</a:t>
            </a:r>
            <a:endParaRPr lang="en-US" sz="1250" dirty="0"/>
          </a:p>
        </p:txBody>
      </p:sp>
      <p:sp>
        <p:nvSpPr>
          <p:cNvPr id="10" name="Shape 7"/>
          <p:cNvSpPr/>
          <p:nvPr/>
        </p:nvSpPr>
        <p:spPr>
          <a:xfrm>
            <a:off x="640080" y="2442754"/>
            <a:ext cx="10911535" cy="549946"/>
          </a:xfrm>
          <a:prstGeom prst="rect">
            <a:avLst/>
          </a:prstGeom>
          <a:solidFill>
            <a:srgbClr val="FFFFFF"/>
          </a:solidFill>
          <a:ln w="12700">
            <a:solidFill>
              <a:srgbClr val="E4E7F2"/>
            </a:solidFill>
            <a:prstDash val="solid"/>
          </a:ln>
        </p:spPr>
      </p:sp>
      <p:sp>
        <p:nvSpPr>
          <p:cNvPr id="11" name="Shape 8"/>
          <p:cNvSpPr/>
          <p:nvPr/>
        </p:nvSpPr>
        <p:spPr>
          <a:xfrm>
            <a:off x="868680" y="2470839"/>
            <a:ext cx="493776" cy="493776"/>
          </a:xfrm>
          <a:prstGeom prst="ellipse">
            <a:avLst/>
          </a:prstGeom>
          <a:solidFill>
            <a:srgbClr val="0B7285"/>
          </a:solidFill>
          <a:ln/>
        </p:spPr>
      </p:sp>
      <p:pic>
        <p:nvPicPr>
          <p:cNvPr id="12" name="Image 1" descr="preencoded.png">    </p:cNvPr>
          <p:cNvPicPr>
            <a:picLocks noChangeAspect="1"/>
          </p:cNvPicPr>
          <p:nvPr/>
        </p:nvPicPr>
        <p:blipFill>
          <a:blip r:embed="rId2"/>
          <a:stretch>
            <a:fillRect/>
          </a:stretch>
        </p:blipFill>
        <p:spPr>
          <a:xfrm>
            <a:off x="996696" y="2598855"/>
            <a:ext cx="237744" cy="237744"/>
          </a:xfrm>
          <a:prstGeom prst="rect">
            <a:avLst/>
          </a:prstGeom>
        </p:spPr>
      </p:pic>
      <p:sp>
        <p:nvSpPr>
          <p:cNvPr id="13" name="Text 9"/>
          <p:cNvSpPr/>
          <p:nvPr/>
        </p:nvSpPr>
        <p:spPr>
          <a:xfrm>
            <a:off x="1554480" y="2479330"/>
            <a:ext cx="2286000" cy="476794"/>
          </a:xfrm>
          <a:prstGeom prst="rect">
            <a:avLst/>
          </a:prstGeom>
          <a:noFill/>
          <a:ln/>
        </p:spPr>
        <p:txBody>
          <a:bodyPr wrap="square" rtlCol="0" anchor="ctr"/>
          <a:lstStyle/>
          <a:p>
            <a:pPr indent="0" marL="0">
              <a:buNone/>
            </a:pPr>
            <a:r>
              <a:rPr lang="en-US" sz="1300" b="1" dirty="0">
                <a:solidFill>
                  <a:srgbClr val="0B7285"/>
                </a:solidFill>
                <a:latin typeface="Microsoft YaHei" pitchFamily="34" charset="0"/>
                <a:ea typeface="Microsoft YaHei" pitchFamily="34" charset="-122"/>
                <a:cs typeface="Microsoft YaHei" pitchFamily="34" charset="-120"/>
              </a:rPr>
              <a:t>公共服务 · 服务连续性</a:t>
            </a:r>
            <a:endParaRPr lang="en-US" sz="1300" dirty="0"/>
          </a:p>
        </p:txBody>
      </p:sp>
      <p:sp>
        <p:nvSpPr>
          <p:cNvPr id="14" name="Text 10"/>
          <p:cNvSpPr/>
          <p:nvPr/>
        </p:nvSpPr>
        <p:spPr>
          <a:xfrm>
            <a:off x="3749040" y="2479330"/>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YaHei" pitchFamily="34" charset="0"/>
                <a:ea typeface="Microsoft YaHei" pitchFamily="34" charset="-122"/>
                <a:cs typeface="Microsoft YaHei" pitchFamily="34" charset="-120"/>
              </a:rPr>
              <a:t>💡 换成你机关真正的服务管道清单，重新找一次没有备援的那一个。</a:t>
            </a:r>
            <a:endParaRPr lang="en-US" sz="1250" dirty="0"/>
          </a:p>
        </p:txBody>
      </p:sp>
      <p:sp>
        <p:nvSpPr>
          <p:cNvPr id="15" name="Shape 11"/>
          <p:cNvSpPr/>
          <p:nvPr/>
        </p:nvSpPr>
        <p:spPr>
          <a:xfrm>
            <a:off x="640080" y="3102429"/>
            <a:ext cx="10911535" cy="549946"/>
          </a:xfrm>
          <a:prstGeom prst="rect">
            <a:avLst/>
          </a:prstGeom>
          <a:solidFill>
            <a:srgbClr val="FFFFFF"/>
          </a:solidFill>
          <a:ln w="12700">
            <a:solidFill>
              <a:srgbClr val="E4E7F2"/>
            </a:solidFill>
            <a:prstDash val="solid"/>
          </a:ln>
        </p:spPr>
      </p:sp>
      <p:sp>
        <p:nvSpPr>
          <p:cNvPr id="16" name="Shape 12"/>
          <p:cNvSpPr/>
          <p:nvPr/>
        </p:nvSpPr>
        <p:spPr>
          <a:xfrm>
            <a:off x="868680" y="3130514"/>
            <a:ext cx="493776" cy="493776"/>
          </a:xfrm>
          <a:prstGeom prst="ellipse">
            <a:avLst/>
          </a:prstGeom>
          <a:solidFill>
            <a:srgbClr val="5C4A9C"/>
          </a:solidFill>
          <a:ln/>
        </p:spPr>
      </p:sp>
      <p:pic>
        <p:nvPicPr>
          <p:cNvPr id="17" name="Image 2" descr="preencoded.png">    </p:cNvPr>
          <p:cNvPicPr>
            <a:picLocks noChangeAspect="1"/>
          </p:cNvPicPr>
          <p:nvPr/>
        </p:nvPicPr>
        <p:blipFill>
          <a:blip r:embed="rId3"/>
          <a:stretch>
            <a:fillRect/>
          </a:stretch>
        </p:blipFill>
        <p:spPr>
          <a:xfrm>
            <a:off x="996696" y="3258530"/>
            <a:ext cx="237744" cy="237744"/>
          </a:xfrm>
          <a:prstGeom prst="rect">
            <a:avLst/>
          </a:prstGeom>
        </p:spPr>
      </p:pic>
      <p:sp>
        <p:nvSpPr>
          <p:cNvPr id="18" name="Text 13"/>
          <p:cNvSpPr/>
          <p:nvPr/>
        </p:nvSpPr>
        <p:spPr>
          <a:xfrm>
            <a:off x="1554480" y="3139005"/>
            <a:ext cx="2286000" cy="476794"/>
          </a:xfrm>
          <a:prstGeom prst="rect">
            <a:avLst/>
          </a:prstGeom>
          <a:noFill/>
          <a:ln/>
        </p:spPr>
        <p:txBody>
          <a:bodyPr wrap="square" rtlCol="0" anchor="ctr"/>
          <a:lstStyle/>
          <a:p>
            <a:pPr indent="0" marL="0">
              <a:buNone/>
            </a:pPr>
            <a:r>
              <a:rPr lang="en-US" sz="1300" b="1" dirty="0">
                <a:solidFill>
                  <a:srgbClr val="5C4A9C"/>
                </a:solidFill>
                <a:latin typeface="Microsoft YaHei" pitchFamily="34" charset="0"/>
                <a:ea typeface="Microsoft YaHei" pitchFamily="34" charset="-122"/>
                <a:cs typeface="Microsoft YaHei" pitchFamily="34" charset="-120"/>
              </a:rPr>
              <a:t>公共服务 · 运营管理</a:t>
            </a:r>
            <a:endParaRPr lang="en-US" sz="1300" dirty="0"/>
          </a:p>
        </p:txBody>
      </p:sp>
      <p:sp>
        <p:nvSpPr>
          <p:cNvPr id="19" name="Text 14"/>
          <p:cNvSpPr/>
          <p:nvPr/>
        </p:nvSpPr>
        <p:spPr>
          <a:xfrm>
            <a:off x="3749040" y="3139005"/>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YaHei" pitchFamily="34" charset="0"/>
                <a:ea typeface="Microsoft YaHei" pitchFamily="34" charset="-122"/>
                <a:cs typeface="Microsoft YaHei" pitchFamily="34" charset="-120"/>
              </a:rPr>
              <a:t>💡 换一场你机关真正开过的运营会议再做一次，核对待办状态与附件类型。</a:t>
            </a:r>
            <a:endParaRPr lang="en-US" sz="1250" dirty="0"/>
          </a:p>
        </p:txBody>
      </p:sp>
      <p:sp>
        <p:nvSpPr>
          <p:cNvPr id="20" name="Shape 15"/>
          <p:cNvSpPr/>
          <p:nvPr/>
        </p:nvSpPr>
        <p:spPr>
          <a:xfrm>
            <a:off x="640080" y="3762103"/>
            <a:ext cx="10911535" cy="549946"/>
          </a:xfrm>
          <a:prstGeom prst="rect">
            <a:avLst/>
          </a:prstGeom>
          <a:solidFill>
            <a:srgbClr val="FFFFFF"/>
          </a:solidFill>
          <a:ln w="12700">
            <a:solidFill>
              <a:srgbClr val="E4E7F2"/>
            </a:solidFill>
            <a:prstDash val="solid"/>
          </a:ln>
        </p:spPr>
      </p:sp>
      <p:sp>
        <p:nvSpPr>
          <p:cNvPr id="21" name="Shape 16"/>
          <p:cNvSpPr/>
          <p:nvPr/>
        </p:nvSpPr>
        <p:spPr>
          <a:xfrm>
            <a:off x="868680" y="3790188"/>
            <a:ext cx="493776" cy="493776"/>
          </a:xfrm>
          <a:prstGeom prst="ellipse">
            <a:avLst/>
          </a:prstGeom>
          <a:solidFill>
            <a:srgbClr val="8A5A00"/>
          </a:solidFill>
          <a:ln/>
        </p:spPr>
      </p:sp>
      <p:pic>
        <p:nvPicPr>
          <p:cNvPr id="22" name="Image 3" descr="preencoded.png">    </p:cNvPr>
          <p:cNvPicPr>
            <a:picLocks noChangeAspect="1"/>
          </p:cNvPicPr>
          <p:nvPr/>
        </p:nvPicPr>
        <p:blipFill>
          <a:blip r:embed="rId4"/>
          <a:stretch>
            <a:fillRect/>
          </a:stretch>
        </p:blipFill>
        <p:spPr>
          <a:xfrm>
            <a:off x="996696" y="3918204"/>
            <a:ext cx="237744" cy="237744"/>
          </a:xfrm>
          <a:prstGeom prst="rect">
            <a:avLst/>
          </a:prstGeom>
        </p:spPr>
      </p:pic>
      <p:sp>
        <p:nvSpPr>
          <p:cNvPr id="23" name="Text 17"/>
          <p:cNvSpPr/>
          <p:nvPr/>
        </p:nvSpPr>
        <p:spPr>
          <a:xfrm>
            <a:off x="1554480" y="3798679"/>
            <a:ext cx="2286000" cy="476794"/>
          </a:xfrm>
          <a:prstGeom prst="rect">
            <a:avLst/>
          </a:prstGeom>
          <a:noFill/>
          <a:ln/>
        </p:spPr>
        <p:txBody>
          <a:bodyPr wrap="square" rtlCol="0" anchor="ctr"/>
          <a:lstStyle/>
          <a:p>
            <a:pPr indent="0" marL="0">
              <a:buNone/>
            </a:pPr>
            <a:r>
              <a:rPr lang="en-US" sz="1300" b="1" dirty="0">
                <a:solidFill>
                  <a:srgbClr val="8A5A00"/>
                </a:solidFill>
                <a:latin typeface="Microsoft YaHei" pitchFamily="34" charset="0"/>
                <a:ea typeface="Microsoft YaHei" pitchFamily="34" charset="-122"/>
                <a:cs typeface="Microsoft YaHei" pitchFamily="34" charset="-120"/>
              </a:rPr>
              <a:t>公共服务 · 容量规划</a:t>
            </a:r>
            <a:endParaRPr lang="en-US" sz="1300" dirty="0"/>
          </a:p>
        </p:txBody>
      </p:sp>
      <p:sp>
        <p:nvSpPr>
          <p:cNvPr id="24" name="Text 18"/>
          <p:cNvSpPr/>
          <p:nvPr/>
        </p:nvSpPr>
        <p:spPr>
          <a:xfrm>
            <a:off x="3749040" y="3798679"/>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YaHei" pitchFamily="34" charset="0"/>
                <a:ea typeface="Microsoft YaHei" pitchFamily="34" charset="-122"/>
                <a:cs typeface="Microsoft YaHei" pitchFamily="34" charset="-120"/>
              </a:rPr>
              <a:t>💡 换成你机关真正的服务日排班，重新找一次资格人力缺口。</a:t>
            </a:r>
            <a:endParaRPr lang="en-US" sz="1250" dirty="0"/>
          </a:p>
        </p:txBody>
      </p:sp>
      <p:sp>
        <p:nvSpPr>
          <p:cNvPr id="25" name="Shape 19"/>
          <p:cNvSpPr/>
          <p:nvPr/>
        </p:nvSpPr>
        <p:spPr>
          <a:xfrm>
            <a:off x="640080" y="4421777"/>
            <a:ext cx="10911535" cy="549946"/>
          </a:xfrm>
          <a:prstGeom prst="rect">
            <a:avLst/>
          </a:prstGeom>
          <a:solidFill>
            <a:srgbClr val="FFFFFF"/>
          </a:solidFill>
          <a:ln w="12700">
            <a:solidFill>
              <a:srgbClr val="E4E7F2"/>
            </a:solidFill>
            <a:prstDash val="solid"/>
          </a:ln>
        </p:spPr>
      </p:sp>
      <p:sp>
        <p:nvSpPr>
          <p:cNvPr id="26" name="Shape 20"/>
          <p:cNvSpPr/>
          <p:nvPr/>
        </p:nvSpPr>
        <p:spPr>
          <a:xfrm>
            <a:off x="868680" y="4449862"/>
            <a:ext cx="493776" cy="493776"/>
          </a:xfrm>
          <a:prstGeom prst="ellipse">
            <a:avLst/>
          </a:prstGeom>
          <a:solidFill>
            <a:srgbClr val="1F6F3F"/>
          </a:solidFill>
          <a:ln/>
        </p:spPr>
      </p:sp>
      <p:pic>
        <p:nvPicPr>
          <p:cNvPr id="27" name="Image 4" descr="preencoded.png">    </p:cNvPr>
          <p:cNvPicPr>
            <a:picLocks noChangeAspect="1"/>
          </p:cNvPicPr>
          <p:nvPr/>
        </p:nvPicPr>
        <p:blipFill>
          <a:blip r:embed="rId5"/>
          <a:stretch>
            <a:fillRect/>
          </a:stretch>
        </p:blipFill>
        <p:spPr>
          <a:xfrm>
            <a:off x="996696" y="4577878"/>
            <a:ext cx="237744" cy="237744"/>
          </a:xfrm>
          <a:prstGeom prst="rect">
            <a:avLst/>
          </a:prstGeom>
        </p:spPr>
      </p:pic>
      <p:sp>
        <p:nvSpPr>
          <p:cNvPr id="28" name="Text 21"/>
          <p:cNvSpPr/>
          <p:nvPr/>
        </p:nvSpPr>
        <p:spPr>
          <a:xfrm>
            <a:off x="1554480" y="4458353"/>
            <a:ext cx="2286000" cy="476794"/>
          </a:xfrm>
          <a:prstGeom prst="rect">
            <a:avLst/>
          </a:prstGeom>
          <a:noFill/>
          <a:ln/>
        </p:spPr>
        <p:txBody>
          <a:bodyPr wrap="square" rtlCol="0" anchor="ctr"/>
          <a:lstStyle/>
          <a:p>
            <a:pPr indent="0" marL="0">
              <a:buNone/>
            </a:pPr>
            <a:r>
              <a:rPr lang="en-US" sz="1300" b="1" dirty="0">
                <a:solidFill>
                  <a:srgbClr val="1F6F3F"/>
                </a:solidFill>
                <a:latin typeface="Microsoft YaHei" pitchFamily="34" charset="0"/>
                <a:ea typeface="Microsoft YaHei" pitchFamily="34" charset="-122"/>
                <a:cs typeface="Microsoft YaHei" pitchFamily="34" charset="-120"/>
              </a:rPr>
              <a:t>公共服务 · 现场巡查</a:t>
            </a:r>
            <a:endParaRPr lang="en-US" sz="1300" dirty="0"/>
          </a:p>
        </p:txBody>
      </p:sp>
      <p:sp>
        <p:nvSpPr>
          <p:cNvPr id="29" name="Text 22"/>
          <p:cNvSpPr/>
          <p:nvPr/>
        </p:nvSpPr>
        <p:spPr>
          <a:xfrm>
            <a:off x="3749040" y="4458353"/>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YaHei" pitchFamily="34" charset="0"/>
                <a:ea typeface="Microsoft YaHei" pitchFamily="34" charset="-122"/>
                <a:cs typeface="Microsoft YaHei" pitchFamily="34" charset="-120"/>
              </a:rPr>
              <a:t>💡 换成你机关真正的现场巡查数据，重新判断一次是否该合并记录。</a:t>
            </a:r>
            <a:endParaRPr lang="en-US" sz="1250" dirty="0"/>
          </a:p>
        </p:txBody>
      </p:sp>
      <p:sp>
        <p:nvSpPr>
          <p:cNvPr id="30" name="Shape 23"/>
          <p:cNvSpPr/>
          <p:nvPr/>
        </p:nvSpPr>
        <p:spPr>
          <a:xfrm>
            <a:off x="640080" y="5081451"/>
            <a:ext cx="10911535" cy="549946"/>
          </a:xfrm>
          <a:prstGeom prst="rect">
            <a:avLst/>
          </a:prstGeom>
          <a:solidFill>
            <a:srgbClr val="FFFFFF"/>
          </a:solidFill>
          <a:ln w="12700">
            <a:solidFill>
              <a:srgbClr val="E4E7F2"/>
            </a:solidFill>
            <a:prstDash val="solid"/>
          </a:ln>
        </p:spPr>
      </p:sp>
      <p:sp>
        <p:nvSpPr>
          <p:cNvPr id="31" name="Shape 24"/>
          <p:cNvSpPr/>
          <p:nvPr/>
        </p:nvSpPr>
        <p:spPr>
          <a:xfrm>
            <a:off x="868680" y="5109537"/>
            <a:ext cx="493776" cy="493776"/>
          </a:xfrm>
          <a:prstGeom prst="ellipse">
            <a:avLst/>
          </a:prstGeom>
          <a:solidFill>
            <a:srgbClr val="8E2F5B"/>
          </a:solidFill>
          <a:ln/>
        </p:spPr>
      </p:sp>
      <p:pic>
        <p:nvPicPr>
          <p:cNvPr id="32" name="Image 5" descr="preencoded.png">    </p:cNvPr>
          <p:cNvPicPr>
            <a:picLocks noChangeAspect="1"/>
          </p:cNvPicPr>
          <p:nvPr/>
        </p:nvPicPr>
        <p:blipFill>
          <a:blip r:embed="rId6"/>
          <a:stretch>
            <a:fillRect/>
          </a:stretch>
        </p:blipFill>
        <p:spPr>
          <a:xfrm>
            <a:off x="996696" y="5237553"/>
            <a:ext cx="237744" cy="237744"/>
          </a:xfrm>
          <a:prstGeom prst="rect">
            <a:avLst/>
          </a:prstGeom>
        </p:spPr>
      </p:pic>
      <p:sp>
        <p:nvSpPr>
          <p:cNvPr id="33" name="Text 25"/>
          <p:cNvSpPr/>
          <p:nvPr/>
        </p:nvSpPr>
        <p:spPr>
          <a:xfrm>
            <a:off x="1554480" y="5118027"/>
            <a:ext cx="2286000" cy="476794"/>
          </a:xfrm>
          <a:prstGeom prst="rect">
            <a:avLst/>
          </a:prstGeom>
          <a:noFill/>
          <a:ln/>
        </p:spPr>
        <p:txBody>
          <a:bodyPr wrap="square" rtlCol="0" anchor="ctr"/>
          <a:lstStyle/>
          <a:p>
            <a:pPr indent="0" marL="0">
              <a:buNone/>
            </a:pPr>
            <a:r>
              <a:rPr lang="en-US" sz="1300" b="1" dirty="0">
                <a:solidFill>
                  <a:srgbClr val="8E2F5B"/>
                </a:solidFill>
                <a:latin typeface="Microsoft YaHei" pitchFamily="34" charset="0"/>
                <a:ea typeface="Microsoft YaHei" pitchFamily="34" charset="-122"/>
                <a:cs typeface="Microsoft YaHei" pitchFamily="34" charset="-120"/>
              </a:rPr>
              <a:t>公共服务 · 服务设计</a:t>
            </a:r>
            <a:endParaRPr lang="en-US" sz="1300" dirty="0"/>
          </a:p>
        </p:txBody>
      </p:sp>
      <p:sp>
        <p:nvSpPr>
          <p:cNvPr id="34" name="Text 26"/>
          <p:cNvSpPr/>
          <p:nvPr/>
        </p:nvSpPr>
        <p:spPr>
          <a:xfrm>
            <a:off x="3749040" y="5118027"/>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YaHei" pitchFamily="34" charset="0"/>
                <a:ea typeface="Microsoft YaHei" pitchFamily="34" charset="-122"/>
                <a:cs typeface="Microsoft YaHei" pitchFamily="34" charset="-120"/>
              </a:rPr>
              <a:t>💡 换成你机关真正的服务与无障碍评估结果，重新拆分柜台与线上的状态。</a:t>
            </a:r>
            <a:endParaRPr lang="en-US" sz="1250" dirty="0"/>
          </a:p>
        </p:txBody>
      </p:sp>
      <p:sp>
        <p:nvSpPr>
          <p:cNvPr id="35" name="Shape 27"/>
          <p:cNvSpPr/>
          <p:nvPr/>
        </p:nvSpPr>
        <p:spPr>
          <a:xfrm>
            <a:off x="640080" y="5741126"/>
            <a:ext cx="10911535" cy="549946"/>
          </a:xfrm>
          <a:prstGeom prst="rect">
            <a:avLst/>
          </a:prstGeom>
          <a:solidFill>
            <a:srgbClr val="FFFFFF"/>
          </a:solidFill>
          <a:ln w="12700">
            <a:solidFill>
              <a:srgbClr val="E4E7F2"/>
            </a:solidFill>
            <a:prstDash val="solid"/>
          </a:ln>
        </p:spPr>
      </p:sp>
      <p:sp>
        <p:nvSpPr>
          <p:cNvPr id="36" name="Shape 28"/>
          <p:cNvSpPr/>
          <p:nvPr/>
        </p:nvSpPr>
        <p:spPr>
          <a:xfrm>
            <a:off x="868680" y="5769211"/>
            <a:ext cx="493776" cy="493776"/>
          </a:xfrm>
          <a:prstGeom prst="ellipse">
            <a:avLst/>
          </a:prstGeom>
          <a:solidFill>
            <a:srgbClr val="2C5F8A"/>
          </a:solidFill>
          <a:ln/>
        </p:spPr>
      </p:sp>
      <p:pic>
        <p:nvPicPr>
          <p:cNvPr id="37" name="Image 6" descr="preencoded.png">    </p:cNvPr>
          <p:cNvPicPr>
            <a:picLocks noChangeAspect="1"/>
          </p:cNvPicPr>
          <p:nvPr/>
        </p:nvPicPr>
        <p:blipFill>
          <a:blip r:embed="rId7"/>
          <a:stretch>
            <a:fillRect/>
          </a:stretch>
        </p:blipFill>
        <p:spPr>
          <a:xfrm>
            <a:off x="996696" y="5897227"/>
            <a:ext cx="237744" cy="237744"/>
          </a:xfrm>
          <a:prstGeom prst="rect">
            <a:avLst/>
          </a:prstGeom>
        </p:spPr>
      </p:pic>
      <p:sp>
        <p:nvSpPr>
          <p:cNvPr id="38" name="Text 29"/>
          <p:cNvSpPr/>
          <p:nvPr/>
        </p:nvSpPr>
        <p:spPr>
          <a:xfrm>
            <a:off x="1554480" y="5777702"/>
            <a:ext cx="2286000" cy="476794"/>
          </a:xfrm>
          <a:prstGeom prst="rect">
            <a:avLst/>
          </a:prstGeom>
          <a:noFill/>
          <a:ln/>
        </p:spPr>
        <p:txBody>
          <a:bodyPr wrap="square" rtlCol="0" anchor="ctr"/>
          <a:lstStyle/>
          <a:p>
            <a:pPr indent="0" marL="0">
              <a:buNone/>
            </a:pPr>
            <a:r>
              <a:rPr lang="en-US" sz="1300" b="1" dirty="0">
                <a:solidFill>
                  <a:srgbClr val="2C5F8A"/>
                </a:solidFill>
                <a:latin typeface="Microsoft YaHei" pitchFamily="34" charset="0"/>
                <a:ea typeface="Microsoft YaHei" pitchFamily="34" charset="-122"/>
                <a:cs typeface="Microsoft YaHei" pitchFamily="34" charset="-120"/>
              </a:rPr>
              <a:t>公共服务 · 准备度管理</a:t>
            </a:r>
            <a:endParaRPr lang="en-US" sz="1300" dirty="0"/>
          </a:p>
        </p:txBody>
      </p:sp>
      <p:sp>
        <p:nvSpPr>
          <p:cNvPr id="39" name="Text 30"/>
          <p:cNvSpPr/>
          <p:nvPr/>
        </p:nvSpPr>
        <p:spPr>
          <a:xfrm>
            <a:off x="3749040" y="5777702"/>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Microsoft YaHei" pitchFamily="34" charset="0"/>
                <a:ea typeface="Microsoft YaHei" pitchFamily="34" charset="-122"/>
                <a:cs typeface="Microsoft YaHei" pitchFamily="34" charset="-120"/>
              </a:rPr>
              <a:t>💡 换成你机关真正的据点数与门槛，重新跑一次两天比对。</a:t>
            </a:r>
            <a:endParaRPr lang="en-US" sz="1250" dirty="0"/>
          </a:p>
        </p:txBody>
      </p:sp>
      <p:sp>
        <p:nvSpPr>
          <p:cNvPr id="40"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41"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Microsoft YaHei" pitchFamily="34" charset="0"/>
                <a:ea typeface="Microsoft YaHei" pitchFamily="34" charset="-122"/>
                <a:cs typeface="Microsoft YaHe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2D3E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2D3EE"/>
                </a:solidFill>
                <a:latin typeface="Microsoft YaHei" pitchFamily="34" charset="0"/>
                <a:ea typeface="Microsoft YaHei" pitchFamily="34" charset="-122"/>
                <a:cs typeface="Microsoft YaHei" pitchFamily="34" charset="-120"/>
              </a:rPr>
              <a:t>TRUST &amp; CONTROL</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自动化，但你始终是决策者</a:t>
            </a:r>
            <a:endParaRPr lang="en-US" sz="3000" dirty="0"/>
          </a:p>
        </p:txBody>
      </p:sp>
      <p:sp>
        <p:nvSpPr>
          <p:cNvPr id="5" name="Shape 3"/>
          <p:cNvSpPr/>
          <p:nvPr/>
        </p:nvSpPr>
        <p:spPr>
          <a:xfrm>
            <a:off x="640080" y="1874520"/>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6" name="Image 0" descr="preencoded.png">    </p:cNvPr>
          <p:cNvPicPr>
            <a:picLocks noChangeAspect="1"/>
          </p:cNvPicPr>
          <p:nvPr/>
        </p:nvPicPr>
        <p:blipFill>
          <a:blip r:embed="rId2"/>
          <a:stretch>
            <a:fillRect/>
          </a:stretch>
        </p:blipFill>
        <p:spPr>
          <a:xfrm>
            <a:off x="804672" y="2039112"/>
            <a:ext cx="448056" cy="448056"/>
          </a:xfrm>
          <a:prstGeom prst="rect">
            <a:avLst/>
          </a:prstGeom>
        </p:spPr>
      </p:pic>
      <p:sp>
        <p:nvSpPr>
          <p:cNvPr id="7" name="Text 4"/>
          <p:cNvSpPr/>
          <p:nvPr/>
        </p:nvSpPr>
        <p:spPr>
          <a:xfrm>
            <a:off x="1691640" y="1856232"/>
            <a:ext cx="6858000" cy="347472"/>
          </a:xfrm>
          <a:prstGeom prst="rect">
            <a:avLst/>
          </a:prstGeom>
          <a:noFill/>
          <a:ln/>
        </p:spPr>
        <p:txBody>
          <a:bodyPr wrap="square"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操作前审批</a:t>
            </a:r>
            <a:endParaRPr lang="en-US" sz="1700" dirty="0"/>
          </a:p>
        </p:txBody>
      </p:sp>
      <p:sp>
        <p:nvSpPr>
          <p:cNvPr id="8" name="Text 5"/>
          <p:cNvSpPr/>
          <p:nvPr/>
        </p:nvSpPr>
        <p:spPr>
          <a:xfrm>
            <a:off x="1691640" y="2203704"/>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Microsoft YaHei" pitchFamily="34" charset="0"/>
                <a:ea typeface="Microsoft YaHei" pitchFamily="34" charset="-122"/>
                <a:cs typeface="Microsoft YaHei" pitchFamily="34" charset="-120"/>
              </a:rPr>
              <a:t>中高风险操作会显示 RISK-LEVEL；发邮件、发 Teams、创建会议等操作会先摊开成可编辑的预览，批准后才发出。</a:t>
            </a:r>
            <a:endParaRPr lang="en-US" sz="1300" dirty="0"/>
          </a:p>
        </p:txBody>
      </p:sp>
      <p:sp>
        <p:nvSpPr>
          <p:cNvPr id="9" name="Shape 6"/>
          <p:cNvSpPr/>
          <p:nvPr/>
        </p:nvSpPr>
        <p:spPr>
          <a:xfrm>
            <a:off x="640080" y="3044952"/>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0" name="Image 1" descr="preencoded.png">    </p:cNvPr>
          <p:cNvPicPr>
            <a:picLocks noChangeAspect="1"/>
          </p:cNvPicPr>
          <p:nvPr/>
        </p:nvPicPr>
        <p:blipFill>
          <a:blip r:embed="rId3"/>
          <a:stretch>
            <a:fillRect/>
          </a:stretch>
        </p:blipFill>
        <p:spPr>
          <a:xfrm>
            <a:off x="804672" y="3209544"/>
            <a:ext cx="448056" cy="448056"/>
          </a:xfrm>
          <a:prstGeom prst="rect">
            <a:avLst/>
          </a:prstGeom>
        </p:spPr>
      </p:pic>
      <p:sp>
        <p:nvSpPr>
          <p:cNvPr id="11" name="Text 7"/>
          <p:cNvSpPr/>
          <p:nvPr/>
        </p:nvSpPr>
        <p:spPr>
          <a:xfrm>
            <a:off x="1691640" y="3026664"/>
            <a:ext cx="6858000" cy="347472"/>
          </a:xfrm>
          <a:prstGeom prst="rect">
            <a:avLst/>
          </a:prstGeom>
          <a:noFill/>
          <a:ln/>
        </p:spPr>
        <p:txBody>
          <a:bodyPr wrap="square"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控制范围清楚</a:t>
            </a:r>
            <a:endParaRPr lang="en-US" sz="1700" dirty="0"/>
          </a:p>
        </p:txBody>
      </p:sp>
      <p:sp>
        <p:nvSpPr>
          <p:cNvPr id="12" name="Text 8"/>
          <p:cNvSpPr/>
          <p:nvPr/>
        </p:nvSpPr>
        <p:spPr>
          <a:xfrm>
            <a:off x="1691640" y="3374136"/>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Microsoft YaHei" pitchFamily="34" charset="0"/>
                <a:ea typeface="Microsoft YaHei" pitchFamily="34" charset="-122"/>
                <a:cs typeface="Microsoft YaHei" pitchFamily="34" charset="-120"/>
              </a:rPr>
              <a:t>「不再询问」可以限定此收件人、此域名，或者始终允许；任务可以软／硬暂停、恢复或取消。</a:t>
            </a:r>
            <a:endParaRPr lang="en-US" sz="1300" dirty="0"/>
          </a:p>
        </p:txBody>
      </p:sp>
      <p:sp>
        <p:nvSpPr>
          <p:cNvPr id="13" name="Shape 9"/>
          <p:cNvSpPr/>
          <p:nvPr/>
        </p:nvSpPr>
        <p:spPr>
          <a:xfrm>
            <a:off x="640080" y="4215384"/>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4" name="Image 2" descr="preencoded.png">    </p:cNvPr>
          <p:cNvPicPr>
            <a:picLocks noChangeAspect="1"/>
          </p:cNvPicPr>
          <p:nvPr/>
        </p:nvPicPr>
        <p:blipFill>
          <a:blip r:embed="rId4"/>
          <a:stretch>
            <a:fillRect/>
          </a:stretch>
        </p:blipFill>
        <p:spPr>
          <a:xfrm>
            <a:off x="804672" y="4379976"/>
            <a:ext cx="448056" cy="448056"/>
          </a:xfrm>
          <a:prstGeom prst="rect">
            <a:avLst/>
          </a:prstGeom>
        </p:spPr>
      </p:pic>
      <p:sp>
        <p:nvSpPr>
          <p:cNvPr id="15" name="Text 10"/>
          <p:cNvSpPr/>
          <p:nvPr/>
        </p:nvSpPr>
        <p:spPr>
          <a:xfrm>
            <a:off x="1691640" y="4197096"/>
            <a:ext cx="6858000" cy="347472"/>
          </a:xfrm>
          <a:prstGeom prst="rect">
            <a:avLst/>
          </a:prstGeom>
          <a:noFill/>
          <a:ln/>
        </p:spPr>
        <p:txBody>
          <a:bodyPr wrap="square"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自动化任务也有把关</a:t>
            </a:r>
            <a:endParaRPr lang="en-US" sz="1700" dirty="0"/>
          </a:p>
        </p:txBody>
      </p:sp>
      <p:sp>
        <p:nvSpPr>
          <p:cNvPr id="16" name="Text 11"/>
          <p:cNvSpPr/>
          <p:nvPr/>
        </p:nvSpPr>
        <p:spPr>
          <a:xfrm>
            <a:off x="1691640" y="4544568"/>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Microsoft YaHei" pitchFamily="34" charset="0"/>
                <a:ea typeface="Microsoft YaHei" pitchFamily="34" charset="-122"/>
                <a:cs typeface="Microsoft YaHei" pitchFamily="34" charset="-120"/>
              </a:rPr>
              <a:t>计划提示和事件驱动任务有执行频率限制和防循环保护；一律以创建者的权限执行，而且与其他 Cowork 活动一起记录在统一审核日志里，适用 Microsoft Purview 策略。</a:t>
            </a:r>
            <a:endParaRPr lang="en-US" sz="1300" dirty="0"/>
          </a:p>
        </p:txBody>
      </p:sp>
      <p:sp>
        <p:nvSpPr>
          <p:cNvPr id="17" name="Shape 12"/>
          <p:cNvSpPr/>
          <p:nvPr/>
        </p:nvSpPr>
        <p:spPr>
          <a:xfrm>
            <a:off x="640080" y="5385816"/>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8" name="Image 3" descr="preencoded.png">    </p:cNvPr>
          <p:cNvPicPr>
            <a:picLocks noChangeAspect="1"/>
          </p:cNvPicPr>
          <p:nvPr/>
        </p:nvPicPr>
        <p:blipFill>
          <a:blip r:embed="rId5"/>
          <a:stretch>
            <a:fillRect/>
          </a:stretch>
        </p:blipFill>
        <p:spPr>
          <a:xfrm>
            <a:off x="804672" y="5550408"/>
            <a:ext cx="448056" cy="448056"/>
          </a:xfrm>
          <a:prstGeom prst="rect">
            <a:avLst/>
          </a:prstGeom>
        </p:spPr>
      </p:pic>
      <p:sp>
        <p:nvSpPr>
          <p:cNvPr id="19" name="Text 13"/>
          <p:cNvSpPr/>
          <p:nvPr/>
        </p:nvSpPr>
        <p:spPr>
          <a:xfrm>
            <a:off x="1691640" y="5367528"/>
            <a:ext cx="6858000" cy="347472"/>
          </a:xfrm>
          <a:prstGeom prst="rect">
            <a:avLst/>
          </a:prstGeom>
          <a:noFill/>
          <a:ln/>
        </p:spPr>
        <p:txBody>
          <a:bodyPr wrap="square"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限制也要知道</a:t>
            </a:r>
            <a:endParaRPr lang="en-US" sz="1700" dirty="0"/>
          </a:p>
        </p:txBody>
      </p:sp>
      <p:sp>
        <p:nvSpPr>
          <p:cNvPr id="20" name="Text 14"/>
          <p:cNvSpPr/>
          <p:nvPr/>
        </p:nvSpPr>
        <p:spPr>
          <a:xfrm>
            <a:off x="1691640" y="5715000"/>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Microsoft YaHei" pitchFamily="34" charset="0"/>
                <a:ea typeface="Microsoft YaHei" pitchFamily="34" charset="-122"/>
                <a:cs typeface="Microsoft YaHei" pitchFamily="34" charset="-120"/>
              </a:rPr>
              <a:t>不能访问本地文件、删除 OneDrive/SharePoint 文件或读取加密文件；附件 &lt;200MB；自定义技能和第三方 plugin 未经 Microsoft 验证，需要自行审阅。官方明确列出不适用于「免人工审查即需保证正确」的用途。</a:t>
            </a:r>
            <a:endParaRPr lang="en-US" sz="1300" dirty="0"/>
          </a:p>
        </p:txBody>
      </p:sp>
      <p:sp>
        <p:nvSpPr>
          <p:cNvPr id="21" name="Text 1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Microsoft YaHei" pitchFamily="34" charset="0"/>
                <a:ea typeface="Microsoft YaHei" pitchFamily="34" charset="-122"/>
                <a:cs typeface="Microsoft YaHei" pitchFamily="34" charset="-120"/>
              </a:rPr>
              <a:t>Microsoft 365 Copilot Cowork</a:t>
            </a:r>
            <a:endParaRPr lang="en-US" sz="900" dirty="0"/>
          </a:p>
        </p:txBody>
      </p:sp>
      <p:sp>
        <p:nvSpPr>
          <p:cNvPr id="22" name="Text 1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Microsoft YaHei" pitchFamily="34" charset="0"/>
                <a:ea typeface="Microsoft YaHei" pitchFamily="34" charset="-122"/>
                <a:cs typeface="Microsoft YaHe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554480"/>
            <a:ext cx="10058400" cy="822960"/>
          </a:xfrm>
          <a:prstGeom prst="rect">
            <a:avLst/>
          </a:prstGeom>
          <a:noFill/>
          <a:ln/>
        </p:spPr>
        <p:txBody>
          <a:bodyPr wrap="square"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现在就开始练习</a:t>
            </a:r>
            <a:endParaRPr lang="en-US" sz="4000" dirty="0"/>
          </a:p>
        </p:txBody>
      </p:sp>
      <p:sp>
        <p:nvSpPr>
          <p:cNvPr id="3" name="Shape 1"/>
          <p:cNvSpPr/>
          <p:nvPr/>
        </p:nvSpPr>
        <p:spPr>
          <a:xfrm>
            <a:off x="640080" y="2606040"/>
            <a:ext cx="8686800" cy="868680"/>
          </a:xfrm>
          <a:prstGeom prst="roundRect">
            <a:avLst>
              <a:gd name="adj" fmla="val 12632"/>
            </a:avLst>
          </a:prstGeom>
          <a:solidFill>
            <a:srgbClr val="FFFFFF">
              <a:alpha val="10000"/>
            </a:srgbClr>
          </a:solidFill>
          <a:ln w="12700">
            <a:solidFill>
              <a:srgbClr val="FFFFFF">
                <a:alpha val="35000"/>
              </a:srgbClr>
            </a:solidFill>
            <a:prstDash val="solid"/>
          </a:ln>
        </p:spPr>
      </p:sp>
      <p:pic>
        <p:nvPicPr>
          <p:cNvPr id="4" name="Image 0" descr="preencoded.png">    </p:cNvPr>
          <p:cNvPicPr>
            <a:picLocks noChangeAspect="1"/>
          </p:cNvPicPr>
          <p:nvPr/>
        </p:nvPicPr>
        <p:blipFill>
          <a:blip r:embed="rId2"/>
          <a:stretch>
            <a:fillRect/>
          </a:stretch>
        </p:blipFill>
        <p:spPr>
          <a:xfrm>
            <a:off x="914400" y="2880360"/>
            <a:ext cx="329184" cy="329184"/>
          </a:xfrm>
          <a:prstGeom prst="rect">
            <a:avLst/>
          </a:prstGeom>
        </p:spPr>
      </p:pic>
      <p:sp>
        <p:nvSpPr>
          <p:cNvPr id="5" name="Text 2"/>
          <p:cNvSpPr/>
          <p:nvPr/>
        </p:nvSpPr>
        <p:spPr>
          <a:xfrm>
            <a:off x="1417320" y="2715768"/>
            <a:ext cx="7315200" cy="32004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Cowork 练习手册</a:t>
            </a:r>
            <a:endParaRPr lang="en-US" sz="1400" dirty="0"/>
          </a:p>
        </p:txBody>
      </p:sp>
      <p:sp>
        <p:nvSpPr>
          <p:cNvPr id="6" name="Text 3">
            <a:hlinkClick r:id="rId3" tooltip=""/>
          </p:cNvPr>
          <p:cNvSpPr/>
          <p:nvPr/>
        </p:nvSpPr>
        <p:spPr>
          <a:xfrm>
            <a:off x="1417320" y="3008376"/>
            <a:ext cx="7772400" cy="320040"/>
          </a:xfrm>
          <a:prstGeom prst="rect">
            <a:avLst/>
          </a:prstGeom>
          <a:noFill/>
          <a:ln/>
        </p:spPr>
        <p:txBody>
          <a:bodyPr wrap="square" rtlCol="0" anchor="ctr"/>
          <a:lstStyle/>
          <a:p>
            <a:pPr indent="0" marL="0">
              <a:buNone/>
            </a:pPr>
            <a:r>
              <a:rPr lang="en-US" sz="1300" u="sng" dirty="0">
                <a:solidFill>
                  <a:srgbClr val="9FE9FF"/>
                </a:solidFill>
                <a:latin typeface="Microsoft YaHei" pitchFamily="34" charset="0"/>
                <a:ea typeface="Microsoft YaHei" pitchFamily="34" charset="-122"/>
                <a:cs typeface="Microsoft YaHe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aka.ms/CoworkPlaybook</a:t>
            </a:r>
            <a:endParaRPr lang="en-US" sz="1300" dirty="0"/>
          </a:p>
        </p:txBody>
      </p:sp>
      <p:pic>
        <p:nvPicPr>
          <p:cNvPr id="7" name="Image 1" descr="preencoded.png">    </p:cNvPr>
          <p:cNvPicPr>
            <a:picLocks noChangeAspect="1"/>
          </p:cNvPicPr>
          <p:nvPr/>
        </p:nvPicPr>
        <p:blipFill>
          <a:blip r:embed="rId4"/>
          <a:stretch>
            <a:fillRect/>
          </a:stretch>
        </p:blipFill>
        <p:spPr>
          <a:xfrm>
            <a:off x="640080" y="3950208"/>
            <a:ext cx="237744" cy="237744"/>
          </a:xfrm>
          <a:prstGeom prst="rect">
            <a:avLst/>
          </a:prstGeom>
        </p:spPr>
      </p:pic>
      <p:sp>
        <p:nvSpPr>
          <p:cNvPr id="8" name="Text 4"/>
          <p:cNvSpPr/>
          <p:nvPr/>
        </p:nvSpPr>
        <p:spPr>
          <a:xfrm>
            <a:off x="1005840" y="3895344"/>
            <a:ext cx="9144000" cy="365760"/>
          </a:xfrm>
          <a:prstGeom prst="rect">
            <a:avLst/>
          </a:prstGeom>
          <a:noFill/>
          <a:ln/>
        </p:spPr>
        <p:txBody>
          <a:bodyPr wrap="square" rtlCol="0" anchor="ctr"/>
          <a:lstStyle/>
          <a:p>
            <a:pPr indent="0" marL="0">
              <a:buNone/>
            </a:pPr>
            <a:r>
              <a:rPr lang="en-US" sz="1400" dirty="0">
                <a:solidFill>
                  <a:srgbClr val="E3E5F7"/>
                </a:solidFill>
                <a:latin typeface="Microsoft YaHei" pitchFamily="34" charset="0"/>
                <a:ea typeface="Microsoft YaHei" pitchFamily="34" charset="-122"/>
                <a:cs typeface="Microsoft YaHei" pitchFamily="34" charset="-120"/>
              </a:rPr>
              <a:t>挑一个最贴近你工作的场景开始</a:t>
            </a:r>
            <a:endParaRPr lang="en-US" sz="1400" dirty="0"/>
          </a:p>
        </p:txBody>
      </p:sp>
      <p:pic>
        <p:nvPicPr>
          <p:cNvPr id="9" name="Image 2" descr="preencoded.png">    </p:cNvPr>
          <p:cNvPicPr>
            <a:picLocks noChangeAspect="1"/>
          </p:cNvPicPr>
          <p:nvPr/>
        </p:nvPicPr>
        <p:blipFill>
          <a:blip r:embed="rId5"/>
          <a:stretch>
            <a:fillRect/>
          </a:stretch>
        </p:blipFill>
        <p:spPr>
          <a:xfrm>
            <a:off x="640080" y="4425696"/>
            <a:ext cx="237744" cy="237744"/>
          </a:xfrm>
          <a:prstGeom prst="rect">
            <a:avLst/>
          </a:prstGeom>
        </p:spPr>
      </p:pic>
      <p:sp>
        <p:nvSpPr>
          <p:cNvPr id="10" name="Text 5"/>
          <p:cNvSpPr/>
          <p:nvPr/>
        </p:nvSpPr>
        <p:spPr>
          <a:xfrm>
            <a:off x="1005840" y="4370832"/>
            <a:ext cx="9144000" cy="365760"/>
          </a:xfrm>
          <a:prstGeom prst="rect">
            <a:avLst/>
          </a:prstGeom>
          <a:noFill/>
          <a:ln/>
        </p:spPr>
        <p:txBody>
          <a:bodyPr wrap="square" rtlCol="0" anchor="ctr"/>
          <a:lstStyle/>
          <a:p>
            <a:pPr indent="0" marL="0">
              <a:buNone/>
            </a:pPr>
            <a:r>
              <a:rPr lang="en-US" sz="1400" dirty="0">
                <a:solidFill>
                  <a:srgbClr val="E3E5F7"/>
                </a:solidFill>
                <a:latin typeface="Microsoft YaHei" pitchFamily="34" charset="0"/>
                <a:ea typeface="Microsoft YaHei" pitchFamily="34" charset="-122"/>
                <a:cs typeface="Microsoft YaHei" pitchFamily="34" charset="-120"/>
              </a:rPr>
              <a:t>自定义技能放 OneDrive /Documents/Cowork/skills/ 下的 SKILL.md（最多 50 个、每个 1MB）</a:t>
            </a:r>
            <a:endParaRPr lang="en-US" sz="1400" dirty="0"/>
          </a:p>
        </p:txBody>
      </p:sp>
      <p:pic>
        <p:nvPicPr>
          <p:cNvPr id="11" name="Image 3" descr="preencoded.png">    </p:cNvPr>
          <p:cNvPicPr>
            <a:picLocks noChangeAspect="1"/>
          </p:cNvPicPr>
          <p:nvPr/>
        </p:nvPicPr>
        <p:blipFill>
          <a:blip r:embed="rId6"/>
          <a:stretch>
            <a:fillRect/>
          </a:stretch>
        </p:blipFill>
        <p:spPr>
          <a:xfrm>
            <a:off x="640080" y="4901184"/>
            <a:ext cx="237744" cy="237744"/>
          </a:xfrm>
          <a:prstGeom prst="rect">
            <a:avLst/>
          </a:prstGeom>
        </p:spPr>
      </p:pic>
      <p:sp>
        <p:nvSpPr>
          <p:cNvPr id="12" name="Text 6"/>
          <p:cNvSpPr/>
          <p:nvPr/>
        </p:nvSpPr>
        <p:spPr>
          <a:xfrm>
            <a:off x="1005840" y="4846320"/>
            <a:ext cx="9144000" cy="365760"/>
          </a:xfrm>
          <a:prstGeom prst="rect">
            <a:avLst/>
          </a:prstGeom>
          <a:noFill/>
          <a:ln/>
        </p:spPr>
        <p:txBody>
          <a:bodyPr wrap="square" rtlCol="0" anchor="ctr"/>
          <a:lstStyle/>
          <a:p>
            <a:pPr indent="0" marL="0">
              <a:buNone/>
            </a:pPr>
            <a:r>
              <a:rPr lang="en-US" sz="1400" dirty="0">
                <a:solidFill>
                  <a:srgbClr val="E3E5F7"/>
                </a:solidFill>
                <a:latin typeface="Microsoft YaHei" pitchFamily="34" charset="0"/>
                <a:ea typeface="Microsoft YaHei" pitchFamily="34" charset="-122"/>
                <a:cs typeface="Microsoft YaHei" pitchFamily="34" charset="-120"/>
              </a:rPr>
              <a:t>模型选择器：Auto（默认）、GPT 5.5 Frontier、GPT 5.6 Sol／Terra、GPT 6 Astra、Opus 5、Claude Sonnet 5、Claude Fable 5.1</a:t>
            </a:r>
            <a:endParaRPr lang="en-US" sz="1400" dirty="0"/>
          </a:p>
        </p:txBody>
      </p:sp>
      <p:pic>
        <p:nvPicPr>
          <p:cNvPr id="13" name="Image 4" descr="preencoded.png">    </p:cNvPr>
          <p:cNvPicPr>
            <a:picLocks noChangeAspect="1"/>
          </p:cNvPicPr>
          <p:nvPr/>
        </p:nvPicPr>
        <p:blipFill>
          <a:blip r:embed="rId7"/>
          <a:stretch>
            <a:fillRect/>
          </a:stretch>
        </p:blipFill>
        <p:spPr>
          <a:xfrm>
            <a:off x="640080" y="5376672"/>
            <a:ext cx="237744" cy="237744"/>
          </a:xfrm>
          <a:prstGeom prst="rect">
            <a:avLst/>
          </a:prstGeom>
        </p:spPr>
      </p:pic>
      <p:sp>
        <p:nvSpPr>
          <p:cNvPr id="14" name="Text 7"/>
          <p:cNvSpPr/>
          <p:nvPr/>
        </p:nvSpPr>
        <p:spPr>
          <a:xfrm>
            <a:off x="1005840" y="5321808"/>
            <a:ext cx="9144000" cy="365760"/>
          </a:xfrm>
          <a:prstGeom prst="rect">
            <a:avLst/>
          </a:prstGeom>
          <a:noFill/>
          <a:ln/>
        </p:spPr>
        <p:txBody>
          <a:bodyPr wrap="square" rtlCol="0" anchor="ctr"/>
          <a:lstStyle/>
          <a:p>
            <a:pPr indent="0" marL="0">
              <a:buNone/>
            </a:pPr>
            <a:r>
              <a:rPr lang="en-US" sz="1400" dirty="0">
                <a:solidFill>
                  <a:srgbClr val="E3E5F7"/>
                </a:solidFill>
                <a:latin typeface="Microsoft YaHei" pitchFamily="34" charset="0"/>
                <a:ea typeface="Microsoft YaHei" pitchFamily="34" charset="-122"/>
                <a:cs typeface="Microsoft YaHei" pitchFamily="34" charset="-120"/>
              </a:rPr>
              <a:t>工作量级别：Light／Medium（默认）／High／Extra High／Max —— 越高越彻底，但更慢且消耗更多点数</a:t>
            </a:r>
            <a:endParaRPr lang="en-US" sz="1400" dirty="0"/>
          </a:p>
        </p:txBody>
      </p:sp>
      <p:pic>
        <p:nvPicPr>
          <p:cNvPr id="15" name="Image 5" descr="preencoded.png">    </p:cNvPr>
          <p:cNvPicPr>
            <a:picLocks noChangeAspect="1"/>
          </p:cNvPicPr>
          <p:nvPr/>
        </p:nvPicPr>
        <p:blipFill>
          <a:blip r:embed="rId8"/>
          <a:stretch>
            <a:fillRect/>
          </a:stretch>
        </p:blipFill>
        <p:spPr>
          <a:xfrm>
            <a:off x="640080" y="5852160"/>
            <a:ext cx="237744" cy="237744"/>
          </a:xfrm>
          <a:prstGeom prst="rect">
            <a:avLst/>
          </a:prstGeom>
        </p:spPr>
      </p:pic>
      <p:sp>
        <p:nvSpPr>
          <p:cNvPr id="16" name="Text 8"/>
          <p:cNvSpPr/>
          <p:nvPr/>
        </p:nvSpPr>
        <p:spPr>
          <a:xfrm>
            <a:off x="1005840" y="5797296"/>
            <a:ext cx="9144000" cy="365760"/>
          </a:xfrm>
          <a:prstGeom prst="rect">
            <a:avLst/>
          </a:prstGeom>
          <a:noFill/>
          <a:ln/>
        </p:spPr>
        <p:txBody>
          <a:bodyPr wrap="square" rtlCol="0" anchor="ctr"/>
          <a:lstStyle/>
          <a:p>
            <a:pPr indent="0" marL="0">
              <a:buNone/>
            </a:pPr>
            <a:r>
              <a:rPr lang="en-US" sz="1400" dirty="0">
                <a:solidFill>
                  <a:srgbClr val="E3E5F7"/>
                </a:solidFill>
                <a:latin typeface="Microsoft YaHei" pitchFamily="34" charset="0"/>
                <a:ea typeface="Microsoft YaHei" pitchFamily="34" charset="-122"/>
                <a:cs typeface="Microsoft YaHei" pitchFamily="34" charset="-120"/>
              </a:rPr>
              <a:t>想要自动触发？到「自动化」页设置计划提示（上限 25 个）或事件触发任务（收到邮件／被 @提及）</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377440"/>
            <a:ext cx="10058400" cy="1097280"/>
          </a:xfrm>
          <a:prstGeom prst="rect">
            <a:avLst/>
          </a:prstGeom>
          <a:noFill/>
          <a:ln/>
        </p:spPr>
        <p:txBody>
          <a:bodyPr wrap="square"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谢谢</a:t>
            </a:r>
            <a:endParaRPr lang="en-US" sz="6000" dirty="0"/>
          </a:p>
        </p:txBody>
      </p:sp>
      <p:sp>
        <p:nvSpPr>
          <p:cNvPr id="3" name="Text 1"/>
          <p:cNvSpPr/>
          <p:nvPr/>
        </p:nvSpPr>
        <p:spPr>
          <a:xfrm>
            <a:off x="640080" y="3611880"/>
            <a:ext cx="10058400" cy="548640"/>
          </a:xfrm>
          <a:prstGeom prst="rect">
            <a:avLst/>
          </a:prstGeom>
          <a:noFill/>
          <a:ln/>
        </p:spPr>
        <p:txBody>
          <a:bodyPr wrap="square" rtlCol="0" anchor="ctr"/>
          <a:lstStyle/>
          <a:p>
            <a:pPr indent="0" marL="0">
              <a:buNone/>
            </a:pPr>
            <a:r>
              <a:rPr lang="en-US" sz="1800" dirty="0">
                <a:solidFill>
                  <a:srgbClr val="C7CAEC"/>
                </a:solidFill>
                <a:latin typeface="Microsoft YaHei" pitchFamily="34" charset="0"/>
                <a:ea typeface="Microsoft YaHei" pitchFamily="34" charset="-122"/>
                <a:cs typeface="Microsoft YaHei" pitchFamily="34" charset="-120"/>
              </a:rPr>
              <a:t>从提问到交办，标准你决定，执行交给 Cowork。</a:t>
            </a:r>
            <a:endParaRPr lang="en-US" sz="1800" dirty="0"/>
          </a:p>
        </p:txBody>
      </p:sp>
      <p:sp>
        <p:nvSpPr>
          <p:cNvPr id="4" name="Shape 2"/>
          <p:cNvSpPr/>
          <p:nvPr/>
        </p:nvSpPr>
        <p:spPr>
          <a:xfrm>
            <a:off x="640080" y="4389120"/>
            <a:ext cx="3200400" cy="0"/>
          </a:xfrm>
          <a:prstGeom prst="line">
            <a:avLst/>
          </a:prstGeom>
          <a:noFill/>
          <a:ln w="12700">
            <a:solidFill>
              <a:srgbClr val="FFFFFF">
                <a:alpha val="30000"/>
              </a:srgbClr>
            </a:solidFill>
            <a:prstDash val="solid"/>
          </a:ln>
        </p:spPr>
      </p:sp>
      <p:sp>
        <p:nvSpPr>
          <p:cNvPr id="5" name="Text 3"/>
          <p:cNvSpPr/>
          <p:nvPr/>
        </p:nvSpPr>
        <p:spPr>
          <a:xfrm>
            <a:off x="640080" y="4526280"/>
            <a:ext cx="10058400" cy="365760"/>
          </a:xfrm>
          <a:prstGeom prst="rect">
            <a:avLst/>
          </a:prstGeom>
          <a:noFill/>
          <a:ln/>
        </p:spPr>
        <p:txBody>
          <a:bodyPr wrap="square" rtlCol="0" anchor="ctr"/>
          <a:lstStyle/>
          <a:p>
            <a:pPr indent="0" marL="0">
              <a:buNone/>
            </a:pPr>
            <a:r>
              <a:rPr lang="en-US" sz="1200" dirty="0">
                <a:solidFill>
                  <a:srgbClr val="9FA3CC"/>
                </a:solidFill>
                <a:latin typeface="Microsoft YaHei" pitchFamily="34" charset="0"/>
                <a:ea typeface="Microsoft YaHei" pitchFamily="34" charset="-122"/>
                <a:cs typeface="Microsoft YaHei" pitchFamily="34" charset="-120"/>
              </a:rPr>
              <a:t>Microsoft 365 Copilot Cowork · 培训演示文稿</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Cowork 培训</dc:title>
  <dc:subject>PptxGenJS Presentation</dc:subject>
  <dc:creator>Andy Hung</dc:creator>
  <cp:lastModifiedBy>Andy Hung</cp:lastModifiedBy>
  <cp:revision>1</cp:revision>
  <dcterms:created xsi:type="dcterms:W3CDTF">2026-10-18T17:14:33Z</dcterms:created>
  <dcterms:modified xsi:type="dcterms:W3CDTF">2026-10-18T17:14:33Z</dcterms:modified>
</cp:coreProperties>
</file>