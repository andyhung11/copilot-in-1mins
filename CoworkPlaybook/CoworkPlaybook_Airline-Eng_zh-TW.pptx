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CoworkPlaybook" TargetMode="External"/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4" Type="http://schemas.openxmlformats.org/officeDocument/2006/relationships/image" Target="../media/image-25-3.png"/><Relationship Id="rId5" Type="http://schemas.openxmlformats.org/officeDocument/2006/relationships/image" Target="../media/image-25-4.png"/><Relationship Id="rId6" Type="http://schemas.openxmlformats.org/officeDocument/2006/relationships/image" Target="../media/image-25-5.png"/><Relationship Id="rId7" Type="http://schemas.openxmlformats.org/officeDocument/2006/relationships/image" Target="../media/image-25-6.png"/><Relationship Id="rId8" Type="http://schemas.openxmlformats.org/officeDocument/2006/relationships/image" Target="../media/image-25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7 個航空機務工程的真實情境，看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客戶分享版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6642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37360" y="17007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737360" y="21214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737360" y="26151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73736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" y="34930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5295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737360" y="39502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素材課前放進 OneDrive 與信箱，讓 Cowork 自己去找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" y="44074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737360" y="44439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七大實戰情境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737360" y="48646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適航指令到期、保留項目展延、定檢窗口比較、AOG 事件應變、服務通報轉工程指令、可靠度月報、適用性判定技能，逐一拆解工作流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532180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1737360" y="535838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37360" y="57790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14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連外部系統，官方目錄已有 92 個合作夥伴 plugin（D365、SAP、Fabric 等）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29514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Cards、App（Frontier）。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373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0848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29514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214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060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80974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251960"/>
            <a:ext cx="522716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59943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80974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63600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5120640"/>
            <a:ext cx="36269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排程提示（上限 25 個）與事件觸發任務、投入 Effort 五級調節品質與成本、自訂技能建立後自動產生技能報告（0–100 分四維度，另有含 Safety and RAI 掃描的 5 道獨立關卡）、本機 Edge 瀏覽器（2026/8 GA）、影像生成、Plugins／MCP 連外部系統。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BEFORE YOU START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練習環境準備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10972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素材課前先放進 OneDrive 的 文件/Cowork_Lab/航空機務/，練習時 Cowork 自己去找 · 準備時間 約 20 分鐘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43584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先看懂這份教材的日期設定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43584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素材裡的日期是固定寫死的模擬日期：情境當下是 2026-10-08，台帳資料截止日是 2026-10-05…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78728" y="1874520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874520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443320" y="1929384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82232" y="1920240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OneDrive 資料夾，把七個情境的素材放進去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882232" y="2194560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OneDrive 建立 文件/Cowork_Lab/航空機務/，底下再開七個子資料夾：AIR1_適航指令…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📇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43584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把聯絡窗口清單放在母層，並填上真的收得到信的帳號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43584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聯絡窗口清單.md 要放在 航空機務 母資料夾，不要放進任何子資料夾。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78728" y="2779776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8728" y="2779776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443320" y="2834640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📧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82232" y="2825496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寄一封信給自己（情境 4 的背景）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82232" y="3099816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用你自己的帳號寄給自己，主旨請照抄：[MOC] 夜班交班紀錄 2026-10-08 07:00內文照 信箱_種入…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43584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建好「機務異常」頻道，貼第一則（情境 4 專用）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243584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在你有權限的任一團隊底下建立名為 機務異常 的頻道（英文版請用 Maintenance Alerts…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78728" y="3685032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78728" y="3685032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43320" y="3739896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💾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2232" y="3730752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上傳用/ 的兩個檔案下載到電腦，不要放進 OneDrive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882232" y="4005072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AIR5_服務通報_NW350-28-1142.pdf…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590288"/>
            <a:ext cx="527288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90288"/>
            <a:ext cx="685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04672" y="4645152"/>
            <a:ext cx="411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🧩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243584" y="4636008"/>
            <a:ext cx="4495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確認技能路徑可寫入，並用桌機做情境 7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243584" y="4910328"/>
            <a:ext cx="44956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7 會請 Cowork 建立自訂技能，寫到 OneDrive/文件/Cowork/skills/sb-ap…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532120"/>
            <a:ext cx="1091153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532120"/>
            <a:ext cx="91440" cy="749808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5614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開課前最後檢查</a:t>
            </a:r>
            <a:endParaRPr lang="en-US" sz="120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5641848"/>
            <a:ext cx="155448" cy="1554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2999232" y="5586984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的「航空機務」底下七個子資料夾都看得到，檔案打得開</a:t>
            </a:r>
            <a:endParaRPr lang="en-US" sz="105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52160"/>
            <a:ext cx="155448" cy="155448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2999232" y="5797296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聯絡窗口清單在「航空機務」母層，不是在子資料夾裡，而且 Email 欄已經填了收得到信的帳號</a:t>
            </a:r>
            <a:endParaRPr lang="en-US" sz="1050" dirty="0"/>
          </a:p>
        </p:txBody>
      </p:sp>
      <p:pic>
        <p:nvPicPr>
          <p:cNvPr id="4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6062472"/>
            <a:ext cx="155448" cy="155448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2999232" y="6007608"/>
            <a:ext cx="82597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信箱裡有那封 MOC 夜班交班紀錄，在收件匣不在垃圾郵件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355010" cy="10972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Shape 5"/>
          <p:cNvSpPr/>
          <p:nvPr/>
        </p:nvSpPr>
        <p:spPr>
          <a:xfrm>
            <a:off x="860385" y="2194560"/>
            <a:ext cx="914400" cy="91440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1553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897" dirty="0"/>
          </a:p>
        </p:txBody>
      </p:sp>
      <p:sp>
        <p:nvSpPr>
          <p:cNvPr id="10" name="Text 7"/>
          <p:cNvSpPr/>
          <p:nvPr/>
        </p:nvSpPr>
        <p:spPr>
          <a:xfrm>
            <a:off x="731520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適航指令到期雷達：剩餘數字小的不是先到期的</a:t>
            </a:r>
            <a:endParaRPr lang="en-US" sz="1170" dirty="0"/>
          </a:p>
        </p:txBody>
      </p:sp>
      <p:sp>
        <p:nvSpPr>
          <p:cNvPr id="11" name="Text 8"/>
          <p:cNvSpPr/>
          <p:nvPr/>
        </p:nvSpPr>
        <p:spPr>
          <a:xfrm>
            <a:off x="731520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 · Excel · 排程提示 Scheduled prompt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731520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858" dirty="0"/>
          </a:p>
        </p:txBody>
      </p:sp>
      <p:sp>
        <p:nvSpPr>
          <p:cNvPr id="13" name="Shape 10"/>
          <p:cNvSpPr/>
          <p:nvPr/>
        </p:nvSpPr>
        <p:spPr>
          <a:xfrm>
            <a:off x="2232834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232834" y="1828800"/>
            <a:ext cx="1355010" cy="109728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5" name="Shape 12"/>
          <p:cNvSpPr/>
          <p:nvPr/>
        </p:nvSpPr>
        <p:spPr>
          <a:xfrm>
            <a:off x="2453139" y="2194560"/>
            <a:ext cx="914400" cy="91440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7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24274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978" dirty="0"/>
          </a:p>
        </p:txBody>
      </p:sp>
      <p:sp>
        <p:nvSpPr>
          <p:cNvPr id="18" name="Text 14"/>
          <p:cNvSpPr/>
          <p:nvPr/>
        </p:nvSpPr>
        <p:spPr>
          <a:xfrm>
            <a:off x="2324274" y="3541459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保留項目的展延窗口：最嚴的那一項不是最急的</a:t>
            </a:r>
            <a:endParaRPr lang="en-US" sz="1275" dirty="0"/>
          </a:p>
        </p:txBody>
      </p:sp>
      <p:sp>
        <p:nvSpPr>
          <p:cNvPr id="19" name="Text 15"/>
          <p:cNvSpPr/>
          <p:nvPr/>
        </p:nvSpPr>
        <p:spPr>
          <a:xfrm>
            <a:off x="2324274" y="4465765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· 編輯既有檔案 Edit existing file</a:t>
            </a:r>
            <a:endParaRPr lang="en-US" sz="1020" dirty="0"/>
          </a:p>
        </p:txBody>
      </p:sp>
      <p:sp>
        <p:nvSpPr>
          <p:cNvPr id="20" name="Text 16"/>
          <p:cNvSpPr/>
          <p:nvPr/>
        </p:nvSpPr>
        <p:spPr>
          <a:xfrm>
            <a:off x="2324274" y="5053267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18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21" name="Shape 17"/>
          <p:cNvSpPr/>
          <p:nvPr/>
        </p:nvSpPr>
        <p:spPr>
          <a:xfrm>
            <a:off x="3825588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825588" y="1828800"/>
            <a:ext cx="1355010" cy="1097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3" name="Shape 19"/>
          <p:cNvSpPr/>
          <p:nvPr/>
        </p:nvSpPr>
        <p:spPr>
          <a:xfrm>
            <a:off x="4045893" y="2194560"/>
            <a:ext cx="914400" cy="91440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061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917028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978" dirty="0"/>
          </a:p>
        </p:txBody>
      </p:sp>
      <p:sp>
        <p:nvSpPr>
          <p:cNvPr id="26" name="Text 21"/>
          <p:cNvSpPr/>
          <p:nvPr/>
        </p:nvSpPr>
        <p:spPr>
          <a:xfrm>
            <a:off x="3917028" y="3541459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定檢窗口三案比較：取消最少的那一案不可行</a:t>
            </a:r>
            <a:endParaRPr lang="en-US" sz="1275" dirty="0"/>
          </a:p>
        </p:txBody>
      </p:sp>
      <p:sp>
        <p:nvSpPr>
          <p:cNvPr id="27" name="Text 22"/>
          <p:cNvSpPr/>
          <p:nvPr/>
        </p:nvSpPr>
        <p:spPr>
          <a:xfrm>
            <a:off x="3917028" y="4465765"/>
            <a:ext cx="1172130" cy="5052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 · Excel · 會議排程 Scheduling</a:t>
            </a:r>
            <a:endParaRPr lang="en-US" sz="1020" dirty="0"/>
          </a:p>
        </p:txBody>
      </p:sp>
      <p:sp>
        <p:nvSpPr>
          <p:cNvPr id="28" name="Text 23"/>
          <p:cNvSpPr/>
          <p:nvPr/>
        </p:nvSpPr>
        <p:spPr>
          <a:xfrm>
            <a:off x="3917028" y="5053267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935" dirty="0"/>
          </a:p>
        </p:txBody>
      </p:sp>
      <p:sp>
        <p:nvSpPr>
          <p:cNvPr id="29" name="Shape 24"/>
          <p:cNvSpPr/>
          <p:nvPr/>
        </p:nvSpPr>
        <p:spPr>
          <a:xfrm>
            <a:off x="5418343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5418343" y="1828800"/>
            <a:ext cx="1355010" cy="109728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1" name="Shape 26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509783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978" dirty="0"/>
          </a:p>
        </p:txBody>
      </p:sp>
      <p:sp>
        <p:nvSpPr>
          <p:cNvPr id="34" name="Text 28"/>
          <p:cNvSpPr/>
          <p:nvPr/>
        </p:nvSpPr>
        <p:spPr>
          <a:xfrm>
            <a:off x="5509783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AOG 事件應變：四小時本身不是問題</a:t>
            </a:r>
            <a:endParaRPr lang="en-US" sz="1275" dirty="0"/>
          </a:p>
        </p:txBody>
      </p:sp>
      <p:sp>
        <p:nvSpPr>
          <p:cNvPr id="35" name="Text 29"/>
          <p:cNvSpPr/>
          <p:nvPr/>
        </p:nvSpPr>
        <p:spPr>
          <a:xfrm>
            <a:off x="5509783" y="4255262"/>
            <a:ext cx="1172130" cy="842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 · Excel · Email · 企業搜尋 Enterprise Search</a:t>
            </a:r>
            <a:endParaRPr lang="en-US" sz="1020" dirty="0"/>
          </a:p>
        </p:txBody>
      </p:sp>
      <p:sp>
        <p:nvSpPr>
          <p:cNvPr id="36" name="Text 30"/>
          <p:cNvSpPr/>
          <p:nvPr/>
        </p:nvSpPr>
        <p:spPr>
          <a:xfrm>
            <a:off x="5509783" y="5179568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37" name="Shape 31"/>
          <p:cNvSpPr/>
          <p:nvPr/>
        </p:nvSpPr>
        <p:spPr>
          <a:xfrm>
            <a:off x="7011097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7011097" y="1828800"/>
            <a:ext cx="1355010" cy="10972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9" name="Shape 33"/>
          <p:cNvSpPr/>
          <p:nvPr/>
        </p:nvSpPr>
        <p:spPr>
          <a:xfrm>
            <a:off x="7231402" y="2194560"/>
            <a:ext cx="914400" cy="91440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570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102537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897" dirty="0"/>
          </a:p>
        </p:txBody>
      </p:sp>
      <p:sp>
        <p:nvSpPr>
          <p:cNvPr id="42" name="Text 35"/>
          <p:cNvSpPr/>
          <p:nvPr/>
        </p:nvSpPr>
        <p:spPr>
          <a:xfrm>
            <a:off x="7102537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服務通報轉工程指令：判準是部件序號，不是機身序號</a:t>
            </a:r>
            <a:endParaRPr lang="en-US" sz="1170" dirty="0"/>
          </a:p>
        </p:txBody>
      </p:sp>
      <p:sp>
        <p:nvSpPr>
          <p:cNvPr id="43" name="Text 36"/>
          <p:cNvSpPr/>
          <p:nvPr/>
        </p:nvSpPr>
        <p:spPr>
          <a:xfrm>
            <a:off x="7102537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· PDF · 企業搜尋 Enterprise Search · 上傳檔案 File upload</a:t>
            </a:r>
            <a:endParaRPr lang="en-US" sz="936" dirty="0"/>
          </a:p>
        </p:txBody>
      </p:sp>
      <p:sp>
        <p:nvSpPr>
          <p:cNvPr id="44" name="Text 37"/>
          <p:cNvSpPr/>
          <p:nvPr/>
        </p:nvSpPr>
        <p:spPr>
          <a:xfrm>
            <a:off x="7102537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45" name="Shape 38"/>
          <p:cNvSpPr/>
          <p:nvPr/>
        </p:nvSpPr>
        <p:spPr>
          <a:xfrm>
            <a:off x="8603851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8603851" y="1828800"/>
            <a:ext cx="1355010" cy="109728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7" name="Shape 40"/>
          <p:cNvSpPr/>
          <p:nvPr/>
        </p:nvSpPr>
        <p:spPr>
          <a:xfrm>
            <a:off x="8824156" y="2194560"/>
            <a:ext cx="914400" cy="91440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5324" y="2395728"/>
            <a:ext cx="512064" cy="512064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8695291" y="3163824"/>
            <a:ext cx="1172130" cy="322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78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978" dirty="0"/>
          </a:p>
        </p:txBody>
      </p:sp>
      <p:sp>
        <p:nvSpPr>
          <p:cNvPr id="50" name="Text 42"/>
          <p:cNvSpPr/>
          <p:nvPr/>
        </p:nvSpPr>
        <p:spPr>
          <a:xfrm>
            <a:off x="8695291" y="3541459"/>
            <a:ext cx="1172130" cy="6315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月度可靠度報告：改善是因為分母變小了</a:t>
            </a:r>
            <a:endParaRPr lang="en-US" sz="1275" dirty="0"/>
          </a:p>
        </p:txBody>
      </p:sp>
      <p:sp>
        <p:nvSpPr>
          <p:cNvPr id="51" name="Text 43"/>
          <p:cNvSpPr/>
          <p:nvPr/>
        </p:nvSpPr>
        <p:spPr>
          <a:xfrm>
            <a:off x="8695291" y="4255262"/>
            <a:ext cx="1172130" cy="673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2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 · PowerPoint · Excel</a:t>
            </a:r>
            <a:endParaRPr lang="en-US" sz="1020" dirty="0"/>
          </a:p>
        </p:txBody>
      </p:sp>
      <p:sp>
        <p:nvSpPr>
          <p:cNvPr id="52" name="Text 44"/>
          <p:cNvSpPr/>
          <p:nvPr/>
        </p:nvSpPr>
        <p:spPr>
          <a:xfrm>
            <a:off x="8695291" y="5011166"/>
            <a:ext cx="1172130" cy="3087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22 分鐘</a:t>
            </a:r>
            <a:endParaRPr lang="en-US" sz="935" dirty="0"/>
          </a:p>
          <a:p>
            <a:pPr algn="ctr" indent="0" marL="0">
              <a:buNone/>
            </a:pPr>
            <a:r>
              <a:rPr lang="en-US" sz="935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935" dirty="0"/>
          </a:p>
        </p:txBody>
      </p:sp>
      <p:sp>
        <p:nvSpPr>
          <p:cNvPr id="53" name="Shape 45"/>
          <p:cNvSpPr/>
          <p:nvPr/>
        </p:nvSpPr>
        <p:spPr>
          <a:xfrm>
            <a:off x="10196605" y="1828800"/>
            <a:ext cx="135501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54" name="Shape 46"/>
          <p:cNvSpPr/>
          <p:nvPr/>
        </p:nvSpPr>
        <p:spPr>
          <a:xfrm>
            <a:off x="10196605" y="1828800"/>
            <a:ext cx="1355010" cy="109728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55" name="Shape 47"/>
          <p:cNvSpPr/>
          <p:nvPr/>
        </p:nvSpPr>
        <p:spPr>
          <a:xfrm>
            <a:off x="10416910" y="2194560"/>
            <a:ext cx="914400" cy="91440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5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8078" y="2395728"/>
            <a:ext cx="512064" cy="512064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10288045" y="3163824"/>
            <a:ext cx="1172130" cy="2961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97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897" dirty="0"/>
          </a:p>
        </p:txBody>
      </p:sp>
      <p:sp>
        <p:nvSpPr>
          <p:cNvPr id="58" name="Text 49"/>
          <p:cNvSpPr/>
          <p:nvPr/>
        </p:nvSpPr>
        <p:spPr>
          <a:xfrm>
            <a:off x="10288045" y="3514877"/>
            <a:ext cx="1172130" cy="7726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把適用性判定做成技能：重點是它知道什麼時候別答</a:t>
            </a:r>
            <a:endParaRPr lang="en-US" sz="1170" dirty="0"/>
          </a:p>
        </p:txBody>
      </p:sp>
      <p:sp>
        <p:nvSpPr>
          <p:cNvPr id="59" name="Text 50"/>
          <p:cNvSpPr/>
          <p:nvPr/>
        </p:nvSpPr>
        <p:spPr>
          <a:xfrm>
            <a:off x="10288045" y="4369841"/>
            <a:ext cx="1172130" cy="61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6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技能評測 Skill Report · 上傳檔案 File upload</a:t>
            </a:r>
            <a:endParaRPr lang="en-US" sz="936" dirty="0"/>
          </a:p>
        </p:txBody>
      </p:sp>
      <p:sp>
        <p:nvSpPr>
          <p:cNvPr id="60" name="Text 51"/>
          <p:cNvSpPr/>
          <p:nvPr/>
        </p:nvSpPr>
        <p:spPr>
          <a:xfrm>
            <a:off x="10288045" y="5070272"/>
            <a:ext cx="1172130" cy="28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 分鐘</a:t>
            </a:r>
            <a:endParaRPr lang="en-US" sz="858" dirty="0"/>
          </a:p>
          <a:p>
            <a:pPr algn="ctr" indent="0" marL="0">
              <a:buNone/>
            </a:pPr>
            <a:r>
              <a:rPr lang="en-US" sz="858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858" dirty="0"/>
          </a:p>
        </p:txBody>
      </p:sp>
      <p:sp>
        <p:nvSpPr>
          <p:cNvPr id="61" name="Text 5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62" name="Text 53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適航指令到期雷達：剩餘數字小的不是先到期的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每日簡報 Daily Briefing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7523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7523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 Scheduled prompt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適航指令逾期，那架飛機當天就不能飛，沒有展延也沒有替代方案。難的地方在於期限有三種計法 —— 日曆日、飛行小時、起降循環 —— 而三種的剩餘量不能直接比大小。台帳上剩「45 天」看起來最急的那一條，換算之後其實排在第二。這個情境最後把它設成每天早上自己掃一遍。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讓它把三種計期基準換算到同一把尺上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追問同一架飛機上那兩條，為什麼順序跟直覺相反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排序出來後，挑出同時掛兩條適航指令的那一架再問一次。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做成每天早上三秒看完的格式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這份要每天看，格式比內容重要。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E2A4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設成每天早上自己跑一遍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這一步會真的建立一個排程提示，練習結束後記得停用。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1_04b_automa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十二條適航指令都換算出預估剩餘天數，沒有漏掉任何一條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飛行小時制用 FH 日均、起降循環制用 FC 日均，兩者沒有互換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排序第一名不是台帳上剩餘日曆日最少的那一條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保留項目的展延窗口：最嚴的那一項不是最急的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18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324612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3246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編輯既有檔案 Edit existing file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同一架飛機身上掛著三項保留項目，類別從最嚴的 A 到較寬的 C 都有。直覺會先盯 A 類 —— 它期限最短、而且不得展延。但 A 類那項的料件明天就到。真正會讓這架飛機停場的，是那項料件晚兩天、而展延額度已經用掉的 C 類。這個情境的最後一步會直接改 OneDrive 上那份共用台帳，不是另外產一份新的。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把法規給的時間和現實給的時間擺在一起看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追問那架掛了三項的飛機，哪一項才是真的卡住的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有一架飛機同時掛了三項，針對它再問一次。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把判定寫回 OneDrive 上那份共用台帳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這一步會直接改 OneDrive 上那個檔案，不是另存新檔。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513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OneDrive 確認它真的改在同一份檔案上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 OneDrive 上那份台帳看一眼，再回來問它。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2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2_04_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F5132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八項逐項比對過修復期限與料件 ETA，不是只看其中幾項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找出來「料件晚於期限」的項目剛好只有一項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指出該項已經展延過一次，依規定不得再展延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定檢窗口三案比較：取消最少的那一案不可行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7190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7190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Adaptive Cards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404872" y="457200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2404872" y="457200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會議排程 Scheduling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一架飛機的 C check 要排進去，航務處給了三個窗口，各自會取消 14、22、19 個班次。直覺當然選 14。但取消班數只是比較好或比較差，棚廠和適航期限是過或不過。刷掉不過的之後，剩下的只有一案 —— 而且不是最便宜的那一案。這個情境的產出是一張給主管三秒看完的比較卡。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179222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4942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49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3113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先刷掉不滿足硬條件的，再比取消班數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59689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218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218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00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做成主管三秒看完的比較卡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566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卡片是要給人做決定用的，格式比敘述重要。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18795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16966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約一場四方決策會議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53542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這一步會真的送出會議邀請，收件者從聯絡窗口清單查。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1572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1389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檢查這張卡會不會把人帶往錯的方向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5046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這張卡要給別人做決定，送出前自己先挑毛病。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3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3_04_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三案都判定過，而且是先判硬條件再比取消班數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被棚廠擋下的那一案，說得出佔用者是哪一架、重疊哪幾天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被期限擋下的那一案，算得出適航指令的到期日是哪一天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AOG 事件應變：四小時本身不是問題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45059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4505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事件觸發 Event trigger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149961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149961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一架貨機在推出前掛了 AOG，料件有、工時四小時，看起來只是延一班。但這班載了一批 2–8°C 的冷鏈藥品，而溫控貨的允收條件算的是整條鏈路的累計離溫時數。延四小時本身還在窗口內 —— 真正炸掉的，是它讓這批貨錯過了目的地冷鏈卡車當日的收貨截止。這個情境用事件觸發：MOC 的通報信一進來，Cowork 自己接手。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先把事件觸發架起來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這一步只是建立觸發器，還不會有事情發生。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用 Outlook 真的寄一封 AOG 通報信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 Outlook，照 信箱_種入用/AIR4_AOG通報信.md 的主旨與內文寄給你自己。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看它自己把衝擊追到機務報表以外的地方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觸發啟動後，Cowork 會開一個新的工作自己跑完。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請它通知該通知的人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這一步會真的寄信並貼 Teams。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4231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把觸發器停用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練習結束後一定要停用，否則以後每封 [AOG] 開頭的信都會啟動它。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4_01_trigger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4_05_pau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觸發器建立成功，卡片上的觸發條件是「收到主旨開頭 [AOG] 的信」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觸發確實由你從 Outlook 寄出的那封信啟動，不是 Cowork 自己發的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它明確說出只延四小時的話仍在允收窗口內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服務通報轉工程指令：判準是部件序號，不是機身序號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713232" cy="402336"/>
          </a:xfrm>
          <a:prstGeom prst="roundRect">
            <a:avLst>
              <a:gd name="adj" fmla="val 50000"/>
            </a:avLst>
          </a:prstGeom>
          <a:solidFill>
            <a:srgbClr val="2B579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7132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99032" y="4572000"/>
            <a:ext cx="61264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1399032" y="4572000"/>
            <a:ext cx="612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85292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企業搜尋 Enterprise Search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原廠發來一份服務通報，適用性寫得很清楚：機身序號 5001 到 5400。照這個算，六架裡有五架在範圍內，扣掉兩架交機時已經改裝過的，答案是三架。錯了，是四架。因為適用性真正的判準是現在裝在機上的那顆部件的序號 —— 有一架機身序號 5418、明明在範圍外，卻因為七月換過件而仍然適用。這個情境要你上傳那份 PDF，產出一份可以下發的工程指令。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上傳服務通報，讓它先把適用條件拆出來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AIR5_服務通報_NW350-28-1142.pdf 拖進對話框再送出。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對照機隊構型表，逐架判定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構型表在 OneDrive 的 AIR5_服務通報。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追問機身序號在範圍外的那一架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有一架的機身序號不在通報的範圍裡，針對它再問一次。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依撰寫規範產出工程指令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請它照〈工程指令撰寫規範〉的六項要求寫成 Word。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1F4E7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檢查判定依據夠不夠讓稽核看懂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稽核要看的是依據，不是結論。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5_01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5_05_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PDF 裡抓出兩套序號範圍：機身序號範圍與受影響部件序號範圍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六架全部判定過，判定結果是四架需要執行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指出機身序號 5418 那架雖在範圍外，但現裝部件序號在範圍內故仍適用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月度可靠度報告：改善是因為分母變小了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22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5511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5511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溝通撰寫 Communications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C43E1C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PowerPoint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002536" y="5074920"/>
            <a:ext cx="813816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2002536" y="5074920"/>
            <a:ext cx="8138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技術性延誤率從 1.48% 降到 1.31%，看起來是個可以拿去報的好消息。但上個月有一架飛機整月進廠做 C check —— 它不在線，它平常那些難看的數字也跟著不見了。兩個月都把它排除之後重算，方向會翻過來。這個情境要你把這件事講破，而且是用一份簡報和一封信，講給不想聽壞消息的人聽。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26280" y="165506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11226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112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09397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先把表面數字算出來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45973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不用上傳任何檔案。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29718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9535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追問機隊組成有沒有變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3192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計畫摘要裡有一節專門講比較基準，讓它自己去對。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8313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831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8130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看重複故障清單裡有沒有跨機的共同點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1788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清單在同一個 Excel 的第二個工作表。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6908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690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6725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做成 RRB 月會要報的簡報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0383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這一步會產出一份 PowerPoint。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5504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A4B0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26280" y="5550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5166360" y="55321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寫一封把壞消息講清楚的信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66360" y="58978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這一步會真的寄信，收件者從聯絡窗口清單查。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06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6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6_05b_s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8A4B08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兩個月的表面延誤率都算出來了，且與數據表的班次對得起來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發現有一架在其中一個月班次為零，並說得出原因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同口徑重算時，是把那架從兩個月都排除，不是只排除一個月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把適用性判定做成技能：重點是它知道什麼時候別答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074920"/>
            <a:ext cx="235000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5074920"/>
            <a:ext cx="2350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技能評測 Skill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57784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57784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 File upload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566928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5 那套判準每次來服務通報都要走一遍，寫成技能理所當然。但安全相關的技能跟一般技能有個根本差異：一般技能出錯只是產出品質不好，這種技能出錯是把該做的工作判成不用做。所以這個情境的重點不在觸發詞寫得漂不漂亮，而在資料不齊的時候它會不會乖乖閉嘴。最後會拿一架剛從別家航空公司承接、紀錄不完整的飛機去試它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526280" y="20665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5237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5237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5054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請它跟你一起把技能寫出來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8712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這一步會在 OneDrive 的 文件/Cowork/skills/ 底下建立檔案。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49300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4747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看它給這個技能打了幾分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84048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建立技能時 Cowork 會自動跑一次評測，不用另外要求。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4622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462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4439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開一個新工作，拿紀錄不完整的那架去試它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8097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一定要開新的工作 —— 剛建好的技能在同一個對話裡叫不到。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43153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E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431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41324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追問它為什麼不直接判「需執行」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7900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這一問是整個情境的重點，別跳過。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07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37754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3\_working\screenshots\air7_01_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408" y="1828800"/>
            <a:ext cx="4434840" cy="2904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240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9584" y="1773936"/>
            <a:ext cx="4544568" cy="3014011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3\_working\screenshots\air7_04_w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1828800"/>
            <a:ext cx="4434840" cy="29042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4448" y="4824523"/>
            <a:ext cx="4434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226859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226859"/>
            <a:ext cx="91440" cy="1143000"/>
          </a:xfrm>
          <a:prstGeom prst="rect">
            <a:avLst/>
          </a:prstGeom>
          <a:solidFill>
            <a:srgbClr val="0B6E6E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336587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5373163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54680" y="5318299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技能建立成功，存在 OneDrive 的 文件/Cowork/skills/ 底下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5711491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54680" y="5656627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技能內容明確寫出判定順序，而且三個步驟的順序沒有被調換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0360" y="6049819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54680" y="5994955"/>
            <a:ext cx="812261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技能裡寫明判準是現裝部件序號，機身序號不得作為判準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11165"/>
            <a:ext cx="493776" cy="493776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939181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9656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749040" y="1819656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把某一架的日均利用率改成兩倍，看排序會不會整個翻過來。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442754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470839"/>
            <a:ext cx="493776" cy="493776"/>
          </a:xfrm>
          <a:prstGeom prst="ellipse">
            <a:avLst/>
          </a:prstGeom>
          <a:solidFill>
            <a:srgbClr val="0F513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598855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2479330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513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749040" y="2479330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把那項 C 類改成「尚未展延」，看它的結論會不會整個翻過來。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102429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8680" y="3130514"/>
            <a:ext cx="493776" cy="493776"/>
          </a:xfrm>
          <a:prstGeom prst="ellipse">
            <a:avLst/>
          </a:prstGeom>
          <a:solidFill>
            <a:srgbClr val="6B3FA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5853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139005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FA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749040" y="3139005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把棚廠的佔用期間往前挪兩週，看三案的結論會怎麼變。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3762103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68680" y="3790188"/>
            <a:ext cx="493776" cy="493776"/>
          </a:xfrm>
          <a:prstGeom prst="ellipse">
            <a:avLst/>
          </a:prstGeom>
          <a:solidFill>
            <a:srgbClr val="B4231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3918204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3798679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749040" y="3798679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把已消耗離溫時數改小 10 小時，看結論會不會從超限變成不超限。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4421777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68680" y="4449862"/>
            <a:ext cx="493776" cy="493776"/>
          </a:xfrm>
          <a:prstGeom prst="ellipse">
            <a:avLst/>
          </a:prstGeom>
          <a:solidFill>
            <a:srgbClr val="1F4E79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577878"/>
            <a:ext cx="237744" cy="2377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54480" y="4458353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749040" y="4458353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把那架換過件的機的部件序號改到範圍外，看結論會不會變成三架。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40080" y="5081451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68680" y="5109537"/>
            <a:ext cx="493776" cy="493776"/>
          </a:xfrm>
          <a:prstGeom prst="ellipse">
            <a:avLst/>
          </a:prstGeom>
          <a:solidFill>
            <a:srgbClr val="8A4B0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5237553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554480" y="5118027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749040" y="5118027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把那架進廠的飛機 8 月的延誤班次改成 1，看同口徑比較還會不會翻轉。</a:t>
            </a:r>
            <a:endParaRPr lang="en-US" sz="1250" dirty="0"/>
          </a:p>
        </p:txBody>
      </p:sp>
      <p:sp>
        <p:nvSpPr>
          <p:cNvPr id="35" name="Shape 27"/>
          <p:cNvSpPr/>
          <p:nvPr/>
        </p:nvSpPr>
        <p:spPr>
          <a:xfrm>
            <a:off x="640080" y="5741126"/>
            <a:ext cx="10911535" cy="54994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68680" y="5769211"/>
            <a:ext cx="493776" cy="493776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897227"/>
            <a:ext cx="237744" cy="23774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554480" y="5777702"/>
            <a:ext cx="2286000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航空公司 · 機務工程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3749040" y="5777702"/>
            <a:ext cx="7619695" cy="47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把移交紀錄補上一個落在範圍外的部件序號，再跑一次，看判定會不會變成「不需執行」。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260604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80360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27157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6" name="Text 3">
            <a:hlinkClick r:id="rId3" tooltip=""/>
          </p:cNvPr>
          <p:cNvSpPr/>
          <p:nvPr/>
        </p:nvSpPr>
        <p:spPr>
          <a:xfrm>
            <a:off x="1417320" y="300837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aka.ms/CoworkPlaybook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9502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9534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425696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43708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90118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Sol／Terra、GPT 6 Astra、Opus 5、Claude Sonnet 5、Claude Fable 5.1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376672"/>
            <a:ext cx="237744" cy="2377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5321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投入 Effort：Light／Medium（預設）／High／Extra High／Max —— 越高越徹底，但較慢且耗用更多點數</a:t>
            </a:r>
            <a:endParaRPr lang="en-US" sz="14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5852160"/>
            <a:ext cx="237744" cy="237744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579729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25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從提問到交辦，標準你決定，執行交給 Cowork。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</dc:title>
  <dc:subject>PptxGenJS Presentation</dc:subject>
  <dc:creator>Andy Hung</dc:creator>
  <cp:lastModifiedBy>Andy Hung</cp:lastModifiedBy>
  <cp:revision>1</cp:revision>
  <dcterms:created xsi:type="dcterms:W3CDTF">2026-10-03T23:29:42Z</dcterms:created>
  <dcterms:modified xsi:type="dcterms:W3CDTF">2026-10-03T23:29:42Z</dcterms:modified>
</cp:coreProperties>
</file>