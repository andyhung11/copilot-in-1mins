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ndyhung11.github.io/Copilot-in-1mins/CoworkPlaybook/" TargetMode="External"/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4" Type="http://schemas.openxmlformats.org/officeDocument/2006/relationships/image" Target="../media/image-23-3.png"/><Relationship Id="rId5" Type="http://schemas.openxmlformats.org/officeDocument/2006/relationships/image" Target="../media/image-23-4.png"/><Relationship Id="rId6" Type="http://schemas.openxmlformats.org/officeDocument/2006/relationships/image" Target="../media/image-23-5.png"/><Relationship Id="rId7" Type="http://schemas.openxmlformats.org/officeDocument/2006/relationships/image" Target="../media/image-2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813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3504" y="18745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640080" y="3154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FC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 AI 的實戰工作流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6 個零售通路業工作情境，看 Copilot 如何跨 App 多步執行，並在中高風險動作前顯示風險等級、等你核准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384048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教育訓練簡報 · 零售通路版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今天的內容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37360" y="17007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 Cowork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21214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什麼是代理式 AI，和一般 Copilot Chat 有何不同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737360" y="26151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核心能力與運作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3736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技能、工作區、行動前審核、自我驗證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4930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737360" y="3529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練習環境準備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37360" y="39502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範例檔下載後拖進對話，以及哪些情境會動到信箱與行事曆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44074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737360" y="44439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個實戰情境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737360" y="48646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戰情日報排程、檔期啟動包、客訴事件觸發、競品調價建議、合約到期盤點、門市週報技能，逐一拆解工作流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3218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737360" y="53583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套用到你的日常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37360" y="57790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如何把這些情境延伸到自己的工作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IS COWORK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從「對話」到「代理執行」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是 Copilot 的</a:t>
            </a:r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代理式（agentic）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工作模式。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你交付一個目標，它會自己拆解步驟、讀取雲端檔案、載入需要的技能，跨 App 產出成果並自我檢查——中高風險動作會顯示風險等級並停下來請你核准。你從「快速單輪問答」升級為「交付一個可執行的任務」。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611880"/>
            <a:ext cx="3454298" cy="82296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9319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Chat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快速單輪問答；適合立即回答與腦力激盪。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68698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8698" y="3611880"/>
            <a:ext cx="3454298" cy="8229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738" y="39319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88738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代理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88738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你給目標，它跨 App 多步驟自主執行，可運行數分鐘到數小時。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97317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97317" y="3611880"/>
            <a:ext cx="3454298" cy="8229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357" y="39319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7357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你仍是主導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17357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對外或影響他人的動作，一律先暫停等你核准。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與一般 Copilot Chat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solidFill>
            <a:srgbClr val="0F1031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Copilot Chat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Cowork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互動方式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快速單輪問答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2194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交付目標，跨 App 自主多步執行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速度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661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秒～分鐘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89520" y="2651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分鐘～數小時（自主執行）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任務複雜度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6616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單步驟、單一工作階段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89520" y="3108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跨任務與來源的多步驟工作流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檔案處理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6616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貼上片段內容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0" y="3566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讀取雲端附件、產出新檔案；不存取本機檔案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0233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技能運用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56616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單一對話能力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0" y="40233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自動載入 13 個內建技能與自訂技能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4805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6616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聊天視窗的文字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89520" y="4480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OneDrive 中真實的文件、試算表、簡報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937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自動啟動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56616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每次都要你開啟並下指令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589520" y="4937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排程提示／事件觸發：收信或被 @提及時自動執行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53949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外部系統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566160" y="5394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接地於 M365 資料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589520" y="5394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可透過 Plugins／MCP 連 D365、SAP、Fabric 等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5852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56616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你自行判斷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589520" y="5852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中高風險動作顯示風險等級，核准後才執行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四個讓 Cowork 不一樣的能力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30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7A4DD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340864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167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個內建技能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11680" y="2624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Word、Excel、PowerPoint、PDF、Email、Scheduling、Calendar Management、Meetings、Daily Briefing、Enterprise Search、Deep Research、Communications、Adaptive Cards。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24448" y="1783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44488" y="2130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F6CB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800" y="2340864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96048" y="2167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工作區 Workspace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96048" y="2624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右側面板同時呈現進度、輸入檔、輸出檔、已載入技能、排程與已核准權限，過程透明可追。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069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416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A8F5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626864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453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011680" y="4910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中高風險動作顯示 RISK-LEVEL；可核准、取消，或設定 per-recipient／per-domain／always 的 don’t ask again；多筆待審可「Approve All」。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324448" y="4069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44488" y="4416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CA501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800" y="4626864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96048" y="4453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新能力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696048" y="4910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 Edge 瀏覽器（預設停用，需管理員開啟＋Edge 150 以上）、ChatGPT Images 2.0 影像生成、品牌範本自動套用簡報、Plugins／MCP 連外部系統、排程與事件觸發任務。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一次代理式工作流，背後發生什麼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241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86207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接收目標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下達指令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57" y="297180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07833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10169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761" y="286207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07833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規劃拆解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507833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理解任務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拆成步驟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10" y="297180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37558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77923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515" y="286207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7558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載入技能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37558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內建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自訂技能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264" y="2971800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4334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64567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0268" y="2862072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4334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執行產出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24334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建立文件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試算表／信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017" y="2971800"/>
            <a:ext cx="201168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111094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513430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8022" y="2862072"/>
            <a:ext cx="438912" cy="43891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11094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自我驗證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8111094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檢查數字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與一致性</a:t>
            </a:r>
            <a:endParaRPr lang="en-US" sz="12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0770" y="2971800"/>
            <a:ext cx="201168" cy="201168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997884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10381183" y="269748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5775" y="2862072"/>
            <a:ext cx="438912" cy="43891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97884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400" dirty="0"/>
          </a:p>
        </p:txBody>
      </p:sp>
      <p:sp>
        <p:nvSpPr>
          <p:cNvPr id="39" name="Text 26"/>
          <p:cNvSpPr/>
          <p:nvPr/>
        </p:nvSpPr>
        <p:spPr>
          <a:xfrm>
            <a:off x="997884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對外動作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等你核准</a:t>
            </a:r>
            <a:endParaRPr lang="en-US" sz="1200" dirty="0"/>
          </a:p>
        </p:txBody>
      </p:sp>
      <p:sp>
        <p:nvSpPr>
          <p:cNvPr id="40" name="Text 27"/>
          <p:cNvSpPr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整個過程在「工作區」面板透明呈現；可軟／硬暫停、恢復或取消任務。</a:t>
            </a:r>
            <a:endParaRPr lang="en-US" sz="1400" dirty="0"/>
          </a:p>
        </p:txBody>
      </p:sp>
      <p:sp>
        <p:nvSpPr>
          <p:cNvPr id="41" name="Text 28"/>
          <p:cNvSpPr/>
          <p:nvPr/>
        </p:nvSpPr>
        <p:spPr>
          <a:xfrm>
            <a:off x="640080" y="52852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啟動方式不只聊天下指令：也能設定「收到指定信件／被 @提及時」自動觸發（事件驅動任務），一樣走相同的自我驗證與核准流程。</a:t>
            </a:r>
            <a:endParaRPr lang="en-US" sz="1300" dirty="0"/>
          </a:p>
        </p:txBody>
      </p:sp>
      <p:sp>
        <p:nvSpPr>
          <p:cNvPr id="42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練習環境準備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素材下載後拖進對話即可，不需事先放進 OneDrive · 準備時間 約 8 分鐘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43584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下載範例檔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43584" y="219456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每個情境的〈參考檔案〉區都有下載連結，點了就存到你的電腦。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8728" y="1874520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874520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3320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📧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82232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信箱：它會建立草稿，不會擅自寄出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82232" y="219456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有幾個情境會請 Cowork 草擬信件。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779776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779776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283464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📅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43584" y="282549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行事曆：本週留一些空檔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43584" y="3099816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有幾個情境會請 Cowork 排會議或建立提醒，寫進的是你自己的行事曆。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78728" y="2779776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2779776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443320" y="283464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💬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82232" y="282549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Teams：先想好要貼到哪裡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82232" y="3099816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有情境會請 Cowork 張貼 Teams 訊息。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685032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685032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373989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📁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43584" y="373075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產出會存到你的 OneDrive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243584" y="4005072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產生的檔案會存進你自己的 OneDrive，也可以在對話右側的側邊欄直接預覽或下載。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78728" y="3685032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78728" y="3685032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443320" y="373989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⏰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82232" y="373075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自動化頁面：先清掉殘留的任務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882232" y="4005072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有情境會建立排程提示或事件觸發任務。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4590288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4590288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804672" y="4645152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🧩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43584" y="4636008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技能資料夾：現場建立，不要先放進去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243584" y="4910328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有情境會示範現場建立自訂技能。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0080" y="5532120"/>
            <a:ext cx="1091153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" y="5532120"/>
            <a:ext cx="91440" cy="7498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914400" y="5614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開課前最後檢查</a:t>
            </a:r>
            <a:endParaRPr lang="en-US" sz="1200" dirty="0"/>
          </a:p>
        </p:txBody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5641848"/>
            <a:ext cx="155448" cy="155448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2999232" y="5586984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要練的情境，它的參考檔案都已下載到你的電腦</a:t>
            </a:r>
            <a:endParaRPr lang="en-US" sz="1050" dirty="0"/>
          </a:p>
        </p:txBody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5852160"/>
            <a:ext cx="155448" cy="155448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2999232" y="5797296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清楚核准卡出現時要逐格檢查收件者，練習信不會寄給真實對象</a:t>
            </a:r>
            <a:endParaRPr lang="en-US" sz="1050" dirty="0"/>
          </a:p>
        </p:txBody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6062472"/>
            <a:ext cx="155448" cy="155448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2999232" y="6007608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行事曆本週有空檔，可以讓它排入測試會議</a:t>
            </a:r>
            <a:endParaRPr lang="en-US" sz="1050" dirty="0"/>
          </a:p>
        </p:txBody>
      </p:sp>
      <p:sp>
        <p:nvSpPr>
          <p:cNvPr id="50" name="Text 4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SCENARIOS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個實戰情境總覽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58998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589989" cy="91440"/>
          </a:xfrm>
          <a:prstGeom prst="rect">
            <a:avLst/>
          </a:prstGeom>
          <a:solidFill>
            <a:srgbClr val="8A3A62"/>
          </a:solidFill>
          <a:ln/>
        </p:spPr>
      </p:sp>
      <p:sp>
        <p:nvSpPr>
          <p:cNvPr id="7" name="Shape 5"/>
          <p:cNvSpPr/>
          <p:nvPr/>
        </p:nvSpPr>
        <p:spPr>
          <a:xfrm>
            <a:off x="977875" y="2194560"/>
            <a:ext cx="914400" cy="914400"/>
          </a:xfrm>
          <a:prstGeom prst="ellipse">
            <a:avLst/>
          </a:prstGeom>
          <a:solidFill>
            <a:srgbClr val="8A3A6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043" y="239572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3218688"/>
            <a:ext cx="14436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3A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營運督導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13232" y="3493008"/>
            <a:ext cx="144368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全通路戰情日報排程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13232" y="4114800"/>
            <a:ext cx="144368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· Communications · 排程任務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4645152"/>
            <a:ext cx="14071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12–15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★★☆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504389" y="1828800"/>
            <a:ext cx="158998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04389" y="1828800"/>
            <a:ext cx="1589989" cy="91440"/>
          </a:xfrm>
          <a:prstGeom prst="rect">
            <a:avLst/>
          </a:prstGeom>
          <a:solidFill>
            <a:srgbClr val="B4551B"/>
          </a:solidFill>
          <a:ln/>
        </p:spPr>
      </p:sp>
      <p:sp>
        <p:nvSpPr>
          <p:cNvPr id="15" name="Shape 12"/>
          <p:cNvSpPr/>
          <p:nvPr/>
        </p:nvSpPr>
        <p:spPr>
          <a:xfrm>
            <a:off x="2842184" y="2194560"/>
            <a:ext cx="914400" cy="914400"/>
          </a:xfrm>
          <a:prstGeom prst="ellipse">
            <a:avLst/>
          </a:prstGeom>
          <a:solidFill>
            <a:srgbClr val="B4551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352" y="2395728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77541" y="3218688"/>
            <a:ext cx="14436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55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商品企劃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577541" y="3493008"/>
            <a:ext cx="144368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檔期促銷專案啟動包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2577541" y="4114800"/>
            <a:ext cx="144368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 · Excel · PDF · Email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595829" y="4645152"/>
            <a:ext cx="14071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20–30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★★☆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368698" y="1828800"/>
            <a:ext cx="158998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368698" y="1828800"/>
            <a:ext cx="1589989" cy="9144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23" name="Shape 19"/>
          <p:cNvSpPr/>
          <p:nvPr/>
        </p:nvSpPr>
        <p:spPr>
          <a:xfrm>
            <a:off x="4706493" y="2194560"/>
            <a:ext cx="914400" cy="91440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661" y="2395728"/>
            <a:ext cx="512064" cy="5120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441850" y="3218688"/>
            <a:ext cx="14436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客服中心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441850" y="3493008"/>
            <a:ext cx="144368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客訴事件觸發分流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4441850" y="4114800"/>
            <a:ext cx="144368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 · Enterprise Search · 事件觸發任務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460138" y="4645152"/>
            <a:ext cx="14071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15–18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233008" y="1828800"/>
            <a:ext cx="158998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233008" y="1828800"/>
            <a:ext cx="1589989" cy="91440"/>
          </a:xfrm>
          <a:prstGeom prst="rect">
            <a:avLst/>
          </a:prstGeom>
          <a:solidFill>
            <a:srgbClr val="5C2E91"/>
          </a:solidFill>
          <a:ln/>
        </p:spPr>
      </p:sp>
      <p:sp>
        <p:nvSpPr>
          <p:cNvPr id="31" name="Shape 26"/>
          <p:cNvSpPr/>
          <p:nvPr/>
        </p:nvSpPr>
        <p:spPr>
          <a:xfrm>
            <a:off x="6570802" y="2194560"/>
            <a:ext cx="914400" cy="914400"/>
          </a:xfrm>
          <a:prstGeom prst="ellipse">
            <a:avLst/>
          </a:prstGeom>
          <a:solidFill>
            <a:srgbClr val="5C2E91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970" y="2395728"/>
            <a:ext cx="512064" cy="51206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306160" y="3218688"/>
            <a:ext cx="14436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商品定價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6306160" y="3493008"/>
            <a:ext cx="144368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競品情報與調價建議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6306160" y="4114800"/>
            <a:ext cx="144368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Deep Research · Excel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6324448" y="4645152"/>
            <a:ext cx="14071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40–90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8097317" y="1828800"/>
            <a:ext cx="158998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8097317" y="1828800"/>
            <a:ext cx="1589989" cy="91440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39" name="Shape 33"/>
          <p:cNvSpPr/>
          <p:nvPr/>
        </p:nvSpPr>
        <p:spPr>
          <a:xfrm>
            <a:off x="8435111" y="2194560"/>
            <a:ext cx="914400" cy="914400"/>
          </a:xfrm>
          <a:prstGeom prst="ellipse">
            <a:avLst/>
          </a:prstGeom>
          <a:solidFill>
            <a:srgbClr val="0F6CBD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279" y="2395728"/>
            <a:ext cx="512064" cy="5120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8170469" y="3218688"/>
            <a:ext cx="14436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商品採購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8170469" y="3493008"/>
            <a:ext cx="144368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合約到期盤點到會議發出</a:t>
            </a:r>
            <a:endParaRPr lang="en-US" sz="1500" dirty="0"/>
          </a:p>
        </p:txBody>
      </p:sp>
      <p:sp>
        <p:nvSpPr>
          <p:cNvPr id="43" name="Text 36"/>
          <p:cNvSpPr/>
          <p:nvPr/>
        </p:nvSpPr>
        <p:spPr>
          <a:xfrm>
            <a:off x="8170469" y="4114800"/>
            <a:ext cx="144368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 · Calendar Management · Email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8188757" y="4645152"/>
            <a:ext cx="14071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15–18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9961626" y="1828800"/>
            <a:ext cx="158998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9961626" y="1828800"/>
            <a:ext cx="1589989" cy="91440"/>
          </a:xfrm>
          <a:prstGeom prst="rect">
            <a:avLst/>
          </a:prstGeom>
          <a:solidFill>
            <a:srgbClr val="A4373A"/>
          </a:solidFill>
          <a:ln/>
        </p:spPr>
      </p:sp>
      <p:sp>
        <p:nvSpPr>
          <p:cNvPr id="47" name="Shape 40"/>
          <p:cNvSpPr/>
          <p:nvPr/>
        </p:nvSpPr>
        <p:spPr>
          <a:xfrm>
            <a:off x="10299421" y="2194560"/>
            <a:ext cx="914400" cy="914400"/>
          </a:xfrm>
          <a:prstGeom prst="ellipse">
            <a:avLst/>
          </a:prstGeom>
          <a:solidFill>
            <a:srgbClr val="A4373A"/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0589" y="2395728"/>
            <a:ext cx="512064" cy="512064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10034778" y="3218688"/>
            <a:ext cx="14436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437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自動化</a:t>
            </a:r>
            <a:endParaRPr lang="en-US" sz="1150" dirty="0"/>
          </a:p>
        </p:txBody>
      </p:sp>
      <p:sp>
        <p:nvSpPr>
          <p:cNvPr id="50" name="Text 42"/>
          <p:cNvSpPr/>
          <p:nvPr/>
        </p:nvSpPr>
        <p:spPr>
          <a:xfrm>
            <a:off x="10034778" y="3493008"/>
            <a:ext cx="144368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門市週報產生器技能</a:t>
            </a:r>
            <a:endParaRPr lang="en-US" sz="1500" dirty="0"/>
          </a:p>
        </p:txBody>
      </p:sp>
      <p:sp>
        <p:nvSpPr>
          <p:cNvPr id="51" name="Text 43"/>
          <p:cNvSpPr/>
          <p:nvPr/>
        </p:nvSpPr>
        <p:spPr>
          <a:xfrm>
            <a:off x="10034778" y="4114800"/>
            <a:ext cx="144368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 Skill</a:t>
            </a:r>
            <a:endParaRPr lang="en-US" sz="1200" dirty="0"/>
          </a:p>
        </p:txBody>
      </p:sp>
      <p:sp>
        <p:nvSpPr>
          <p:cNvPr id="52" name="Text 44"/>
          <p:cNvSpPr/>
          <p:nvPr/>
        </p:nvSpPr>
        <p:spPr>
          <a:xfrm>
            <a:off x="10053066" y="4645152"/>
            <a:ext cx="14071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20–25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1100" dirty="0"/>
          </a:p>
        </p:txBody>
      </p:sp>
      <p:sp>
        <p:nvSpPr>
          <p:cNvPr id="53" name="Text 4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54" name="Text 4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3A6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3A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8A3A6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營運督導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全通路戰情日報排程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12–15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975104" y="4572000"/>
            <a:ext cx="3017520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1975104" y="457200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Communications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1097280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排程任務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這個情境的重點不是「今天幫我做一份日報」，而是「從明天起，每個上班日早上 8:30，你自己把日報做好貼到 Teams 營運頻道」。先在對話中把一次的產出調到滿意，再把同一段指令設成排程任務 —— 這是 Copilot Chat 結構上做不到的：Chat 每次都要你重新開啟、重新貼資料、重新下指令，而 Cowork 排程任務在你還沒打開電腦前就已經跑完。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3A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3A6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3A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先跑一次：上傳兩份檔案，要求它嚴格套用判讀規則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RET1_全通路日銷售數據.xlsx 與 RET1_門市回報與日報格式.md 上傳到聊天框，送出下面的提示詞。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3A6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3A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抽查它有沒有真的套用門檻，而不是憑感覺挑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收到快報後，對照原始數據與判讀規則，逐一確認下方三件事，再送出提示詞詢問左營店的判讀理由。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3A6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3A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把同一段指令設成每個上班日 08:30 的排程任務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確認對話中的快報品質之後，送出下面的提示詞，把同一段指令轉成排程任務。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35838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3A6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5358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3A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534009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觀察貼文前的核准卡：排程不等於放手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70585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收到核准卡後，請刻意停留、逐項確認卡片中要貼的內容，再送出下面的提示詞，詢問第 3 條規則的欄位來源。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8A3A62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3A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01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ret1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3A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ret1_04_approv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3A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8A3A62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〔計算〕達成率、客單價、退貨率的計算與原始數據一致，桃園中壢店被正確標為嚴重落後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〔判讀〕高雄左營店未被含糊帶過：不論標為臨界觀察或客流結構異動，都要說明來客成長與客單價偏離的具體數字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〔追蹤〕門市回報中的施工、設備、缺貨都被拉進當日追蹤事項並指定負責人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551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455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B4551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商品企劃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檔期促銷專案啟動包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20–30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097280" cy="40233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783080" y="457200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1783080" y="457200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55264" y="4572000"/>
            <a:ext cx="905256" cy="402336"/>
          </a:xfrm>
          <a:prstGeom prst="roundRect">
            <a:avLst>
              <a:gd name="adj" fmla="val 50000"/>
            </a:avLst>
          </a:prstGeom>
          <a:solidFill>
            <a:srgbClr val="D83B01"/>
          </a:solidFill>
          <a:ln/>
        </p:spPr>
      </p:sp>
      <p:sp>
        <p:nvSpPr>
          <p:cNvPr id="15" name="Text 12"/>
          <p:cNvSpPr/>
          <p:nvPr/>
        </p:nvSpPr>
        <p:spPr>
          <a:xfrm>
            <a:off x="3255264" y="4572000"/>
            <a:ext cx="905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507492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106EBE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07492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一句交辦，一次拿到四份不同格式的交付物：企劃書 Word、折扣毛利試算 Excel、門市執行 SOP PDF、供應商通知信草稿 —— 而且四份彼此數字一致。這正是 Cowork 與 Chat 最直觀的差別：Chat 一次給你一段文字，你得自己開四個檔、貼四次、對四次數字；Cowork 在同一個工作階段裡接力四個技能，最後用「全部下載」一次打包給你。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5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B4551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5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一次交辦四份交付物，並明確點名限制條件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RET2_檔期促銷需求單.md 與 RET2_商品與成本清單.xlsx 一起上傳，送出下面的提示詞。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B4551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5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看它怎麼接力：側邊欄的技能與輸出資料夾同步長出來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 Cowork 接力產出四份交付物時，刻意觀察右側工作區的技能欄與輸出資料夾。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B4551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5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抽查毛利紅線與四份文件的數字一致性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收到四份交付物後，打開 Excel 試算表對照原始成本清單逐項驗算，再送出下面的提示詞。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535838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B4551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5358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5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534009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用「全部下載」一次打包，供應商信留在草稿等你決定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70585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四份文件確認無誤後，在側邊欄輸出區點「全部下載」，再送出下面的提示詞讓供應商通知信存為草稿。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B4551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5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02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ret2_01_kick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455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ret2_04_down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455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B4551B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〔產出〕四份交付物都已產出，且格式正確（Word 企劃書、Excel 試算表、PDF 單張 SOP、Email 草稿）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〔計算〕Excel 試算表的整體毛利率確實守住 32%，且逐品項折後售價未低於成本 1.25 倍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〔判定〕庫存低於 300 件的品項（鑄鐵燉鍋 190 件、床頭燈 280 件）未被列為主打品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7D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客服中心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客訴事件觸發分流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15–18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106EBE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975104" y="4572000"/>
            <a:ext cx="3593592" cy="402336"/>
          </a:xfrm>
          <a:prstGeom prst="roundRect">
            <a:avLst>
              <a:gd name="adj" fmla="val 50000"/>
            </a:avLst>
          </a:prstGeom>
          <a:solidFill>
            <a:srgbClr val="B4009E"/>
          </a:solidFill>
          <a:ln/>
        </p:spPr>
      </p:sp>
      <p:sp>
        <p:nvSpPr>
          <p:cNvPr id="13" name="Text 10"/>
          <p:cNvSpPr/>
          <p:nvPr/>
        </p:nvSpPr>
        <p:spPr>
          <a:xfrm>
            <a:off x="1975104" y="4572000"/>
            <a:ext cx="3593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Enterprise Search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事件觸發任務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情境設定的不是排程，而是事件觸發：不是「每天早上跑一次」，而是「只要客服信箱收到符合條件的客訴信，就自動比對退換貨政策、判定案件等級、草擬回覆並等你核准」。你不用盯著信箱，也不用記得政策第幾條 —— 因為在你打開那封信之前，草稿已經準備好躺在那裡了。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先手動跑一次：三封信一起丟，看它的分級與引用對不對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RET3_客訴來信範例.md 與 RET3_退換貨政策與處理原則.md 一起上傳，送出下面的提示詞。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請它依三段結構草擬回覆，並檢查有沒有超出政策承諾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確認判定表正確後，送出下面的提示詞，請 Cowork 逐封草擬回覆。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把驗證過的規則設成事件觸發任務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三封草稿確認沒有超出政策承諾後，送出下面的提示詞，請 Cowork 設定事件觸發任務。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35838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5358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534009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在「自動化」頁確認狀態，並理解它的安全邊界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70585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任務設定完成後，在「自動化」頁確認狀態與執行紀錄，再送出下面的提示詞了解它的安全邊界。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03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ret3_01_tri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7D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ret3_04_automa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7D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〔判定〕第一封（瑕疵且逾 48 小時未回覆）被正確判定為 A 級並要求主管覆核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〔引用〕第二封正確引用 P-04，說明到貨逾期可取消並全額退款，不受鑑賞期限制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〔說明〕第三封誠實說明門市（P-02）與網路通路（P-01）規定不同，未含糊帶過也未責怪客戶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C2E9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5C2E9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商品定價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競品情報與調價建議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40–90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825496" cy="402336"/>
          </a:xfrm>
          <a:prstGeom prst="roundRect">
            <a:avLst>
              <a:gd name="adj" fmla="val 50000"/>
            </a:avLst>
          </a:prstGeom>
          <a:solidFill>
            <a:srgbClr val="8764B8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825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Deep Research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Deep Research 的價值不在「查到很多資料」，而在「查完之後要能落到你自己的數字上」。這個情境刻意把外部情報與內部毛利表接起來：先讓它做一輪有來源的公開市場情報，再要求它把每一條情報換算成「這個品項該不該調價、調多少、調完毛利率剩多少」，而且不准用推估數字填補查不到的空格 —— 查不到就必須誠實寫「查無可靠公開來源」。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C2E9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先做有來源的公開市場情報，明確要求查不到就標註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RET4_調價原則與情報需求.md 與 RET4_主力品項售價與毛利.xlsx 一起上傳，送出下面的提示詞。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C2E9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檢查來源品質：連結是否可點、是否真的支持該結論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收到研究報告後，隨機點開三到五個來源連結，確認連結真的可以打開，再送出下面的提示詞。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C2E9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把情報落到毛利表上，逐項給出守得住紅線的調價建議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確認來源品質後，送出下面的提示詞，請 Cowork 把情報落到毛利表上。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535838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C2E9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5358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534009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讓它自我檢查紅線，並說明哪些品項刻意不動價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570585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收到 Excel 建議表後，送出下面的提示詞，讓 Cowork 自我查核並解釋「刻意不動價」的品項。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5C2E9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04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ret4_01_re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ret4_04_self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5C2E91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〔來源〕每一條外部情報都附有可點擊來源連結，查不到的誠實標示「查無可靠公開來源」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〔查核〕隨機抽查的來源連結真的可以打開，且內容支持它所寫的結論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〔計算〕所有建議調整後的毛利率都不低於 38%，單次調降幅度都未超過 15%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F6CB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商品採購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合約到期盤點到會議發出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15–18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905256" cy="402336"/>
          </a:xfrm>
          <a:prstGeom prst="roundRect">
            <a:avLst>
              <a:gd name="adj" fmla="val 50000"/>
            </a:avLst>
          </a:prstGeom>
          <a:solidFill>
            <a:srgbClr val="D83B0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905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591056" y="4572000"/>
            <a:ext cx="3977640" cy="402336"/>
          </a:xfrm>
          <a:prstGeom prst="roundRect">
            <a:avLst>
              <a:gd name="adj" fmla="val 50000"/>
            </a:avLst>
          </a:prstGeom>
          <a:solidFill>
            <a:srgbClr val="004E8C"/>
          </a:solidFill>
          <a:ln/>
        </p:spPr>
      </p:sp>
      <p:sp>
        <p:nvSpPr>
          <p:cNvPr id="13" name="Text 10"/>
          <p:cNvSpPr/>
          <p:nvPr/>
        </p:nvSpPr>
        <p:spPr>
          <a:xfrm>
            <a:off x="1591056" y="4572000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Calendar Management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106EBE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這個情境要示範的是「一條龍」：從讀 PDF 合約清單、依規則算出誰已經逾期未啟動，到直接開會議邀請、寄提醒信給各採購 —— 三個不同系統（檔案、行事曆、郵件）在同一個任務裡串起來。Chat 能幫你算天數，但算完之後開會議、寄信這兩件事，永遠得你自己再做一次。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6CB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 PDF 並依規則算出誰已經逾期未啟動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RET5_供應商合約清單.pdf 與 RET5_續約評估原則.md 一起上傳，送出下面的提示詞。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6CB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請它依規則安排續約評估會議，觀察行事曆技能接手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確認盤點表無誤後，送出下面的提示詞，請 Cowork 依規則安排續約評估會議。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6CB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核准每一個對外動作：會議邀請與提醒信逐一確認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確認所有會議邀請排程正確後，送出下面的提示詞，請 Cowork 為三位採購各寄一封提醒信。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35838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6CB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5358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534009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回頭確認行事曆與寄件備份，驗證動作真的落地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70585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 Outlook 行事曆與寄件備份，親自確認會議邀請與提醒信是否真的落地。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05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ret5_01_sw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ret5_04_verif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〔盤點〕香語生活（9/18）與綿境紡織（9/30）被正確標示為「應啟動日已過期」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〔分級〕提前啟動天數依年度採購額正確分級（90／60／30 天），未一律套用同一個天數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〔合併〕黃柏翰的兩份到期日相近合約被合併為一場會議，符合合併規則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437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437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A437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自動化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門市週報產生器技能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20–25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7A4DDB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 Skill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前面五個情境每次都要重講一次規則；這一個把規則本身變成資產。做一個自訂技能，一次寫清楚分級門檻、警訊規則、HTML 報表結構與語氣要求，之後每週只要一句「產生本週門市營運週報」，就同時拿到一份可視覺化的 HTML 報表與一份可直接寄出的 Email 版摘要 —— 而且同事也能用同一套標準，週報格式不會因人而異。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437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A437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437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用引導式流程建立技能：先描述你每週在做什麼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在對話中送出下面的提示詞，描述你每週在做的事，請 Cowork 幫你草擬技能的名稱與描述。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26280" y="30906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A437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437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30723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把判讀規則與防護欄寫進去，這才是技能的價值所在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34381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RET6_SKILL.md 上傳，送出下面的提示詞，請 Cowork 把規則寫進技能。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89534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A437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895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437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87705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看它自動評估技能品質，並讀懂那份技能報告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424281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技能發布後，Cowork 會自動回傳一份技能報告，不需要主動要求。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70001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A4373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700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437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68172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開新工作階段實測：一句話換到 HTML 報表與 Email 摘要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504748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開一個全新的工作階段，上傳 RET6_週營運原始數據.xlsx，只送出下面一句提示詞，不要重述任何規則。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50468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A4373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5504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437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548640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檢查兩份產出，決定要不要分享給同事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85216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 HTML 報表確認六個區塊是否齊全、達成率橫條是否對得上數字、桃園中壢店…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A4373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437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06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ret6_01_cre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437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ret6_05_sh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437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A4373A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〔技能〕技能描述包含明確觸發語句，且有「Do NOT use for」排除條款避免與既有技能搶觸發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〔發布〕「複製檔案」核准卡已按下核准，技能確實發布到 OneDrive 的 skills 資料夾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〔測試〕新工作階段中只給數據、不重述規則，仍能正確套用四級分級門檻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MAKE IT YOURS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把情境延伸到你的日常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95748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125980"/>
            <a:ext cx="438912" cy="438912"/>
          </a:xfrm>
          <a:prstGeom prst="ellipse">
            <a:avLst/>
          </a:prstGeom>
          <a:solidFill>
            <a:srgbClr val="8A3A6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3017520"/>
            <a:ext cx="5295748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3360420"/>
            <a:ext cx="438912" cy="438912"/>
          </a:xfrm>
          <a:prstGeom prst="ellipse">
            <a:avLst/>
          </a:prstGeom>
          <a:solidFill>
            <a:srgbClr val="B4551B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4251960"/>
            <a:ext cx="5295748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4594860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1" name="Shape 9"/>
          <p:cNvSpPr/>
          <p:nvPr/>
        </p:nvSpPr>
        <p:spPr>
          <a:xfrm>
            <a:off x="6255868" y="1783080"/>
            <a:ext cx="5295748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57036" y="2125980"/>
            <a:ext cx="438912" cy="438912"/>
          </a:xfrm>
          <a:prstGeom prst="ellipse">
            <a:avLst/>
          </a:prstGeom>
          <a:solidFill>
            <a:srgbClr val="5C2E91"/>
          </a:solidFill>
          <a:ln/>
        </p:spPr>
      </p:sp>
      <p:sp>
        <p:nvSpPr>
          <p:cNvPr id="13" name="Shape 11"/>
          <p:cNvSpPr/>
          <p:nvPr/>
        </p:nvSpPr>
        <p:spPr>
          <a:xfrm>
            <a:off x="6255868" y="3017520"/>
            <a:ext cx="5295748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57036" y="3360420"/>
            <a:ext cx="438912" cy="438912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5" name="Shape 13"/>
          <p:cNvSpPr/>
          <p:nvPr/>
        </p:nvSpPr>
        <p:spPr>
          <a:xfrm>
            <a:off x="6255868" y="4251960"/>
            <a:ext cx="5295748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57036" y="4594860"/>
            <a:ext cx="438912" cy="438912"/>
          </a:xfrm>
          <a:prstGeom prst="ellipse">
            <a:avLst/>
          </a:prstGeom>
          <a:solidFill>
            <a:srgbClr val="A4373A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235708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17320" y="1819656"/>
            <a:ext cx="222421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A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營運督導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076124" y="1819656"/>
            <a:ext cx="275378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把排程改成一週一次的週報，或改成只在達成率低於 90% 時才通知你。</a:t>
            </a:r>
            <a:endParaRPr lang="en-US" sz="11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3470148"/>
            <a:ext cx="219456" cy="2194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417320" y="3054096"/>
            <a:ext cx="222421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5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商品企劃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3076124" y="3054096"/>
            <a:ext cx="275378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改一個條件（例如毛利率紅線改成 35%），請它整組四份文件重出，體驗「一次改、四份同步」。</a:t>
            </a:r>
            <a:endParaRPr lang="en-US" sz="11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704588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417320" y="4288536"/>
            <a:ext cx="222421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客服中心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3076124" y="4288536"/>
            <a:ext cx="275378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把觸發條件縮小到特定寄件網域或特定通路的客服信箱，降低誤觸發。</a:t>
            </a:r>
            <a:endParaRPr lang="en-US" sz="11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6764" y="2235708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33108" y="1819656"/>
            <a:ext cx="222421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商品定價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8691911" y="1819656"/>
            <a:ext cx="275378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把調價紅線換成你們自己的毛利政策，其他步驟完全沿用。</a:t>
            </a:r>
            <a:endParaRPr lang="en-US" sz="115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6764" y="3470148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033108" y="3054096"/>
            <a:ext cx="222421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C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商品採購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8691911" y="3054096"/>
            <a:ext cx="275378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把它設成每月 1 號的排程任務，讓合約盤點變成不需要人記得的例行工作。</a:t>
            </a:r>
            <a:endParaRPr lang="en-US" sz="115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6764" y="4704588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033108" y="4288536"/>
            <a:ext cx="222421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37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自動化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691911" y="4288536"/>
            <a:ext cx="275378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做一個變體技能，專門產生月報或季報，重複使用同一套分級規則。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TRUST &amp;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自動化，但你始終是決策者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3911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203704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中高風險動作會顯示 RISK-LEVEL；寄信、發 Teams、建立會議等動作先攤開可編輯預覽，核准後才送出。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044952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09544"/>
            <a:ext cx="448056" cy="4480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02666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控制範圍清楚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91640" y="3374136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don’t ask again 可限定 per-recipient、per-domain 或 always；任務可軟／硬暫停、恢復或取消。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215384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379976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19709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自動化任務也有把關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691640" y="4544568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排程提示與事件驅動任務有執行頻率限制與防迴圈保護；一律以建立者權限執行，且與其他 Cowork 活動一同記錄在統一稽核日誌，套用 Microsoft Purview 政策。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5385816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550408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3675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限制也要知道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91640" y="571500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不能存取本機檔案、刪除 OneDrive/SharePoint 檔案或讀取加密檔；附件 &lt;200MB；自訂技能與第三方 plugin 未經 Microsoft 驗證，需自行審閱。官方明列不適用於「免人工審查即需保證正確」的用途。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現在就開始練習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開始前請確認：每位使用者一張 M365 Copilot 授權、管理員已啟用用量計費（Copilot Credits，未啟用則無法存取）、租戶位於 Anthropic 支援地區；可在 Web/桌面/行動/Outlook/Teams 使用（本機瀏覽器工作僅限網頁版＋Edge 150 以上，且預設停用需管理員開啟）。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868680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9184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31272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練習手冊</a:t>
            </a:r>
            <a:endParaRPr lang="en-US" sz="1400" dirty="0"/>
          </a:p>
        </p:txBody>
      </p:sp>
      <p:sp>
        <p:nvSpPr>
          <p:cNvPr id="7" name="Text 4">
            <a:hlinkClick r:id="rId3" tooltip=""/>
          </p:cNvPr>
          <p:cNvSpPr/>
          <p:nvPr/>
        </p:nvSpPr>
        <p:spPr>
          <a:xfrm>
            <a:off x="1417320" y="341985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FE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andyhung11.github.io/Copilot-in-1mins/CoworkPlaybook/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1596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426110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挑一個最貼近你工作的情境開始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791456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473659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自訂技能放 OneDrive /Documents/Cowork/skills/ 的 SKILL.md（最多 50 個、每個 1MB）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266944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5212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模型選擇器：Auto（預設）、GPT 5.5 Frontier、GPT 5.6 Sol／Terra、Opus 5、Sonnet 5、Fable 5（預覽・預設關閉）</a:t>
            </a:r>
            <a:endParaRPr lang="en-US" sz="1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742432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05840" y="56875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想要自動觸發？到「Automations」頁設定排程提示（上限 5 個）或事件觸發任務（收信／被 @提及）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把重複、吃時間的工作，交給 Cowork —— 你專注在決策與客戶。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4389120"/>
            <a:ext cx="32004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 · 教育訓練簡報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365 Copilot Cowork 教育訓練 · 零售通路業</dc:title>
  <dc:subject>PptxGenJS Presentation</dc:subject>
  <dc:creator>Andy Hung</dc:creator>
  <cp:lastModifiedBy>Andy Hung</cp:lastModifiedBy>
  <cp:revision>1</cp:revision>
  <dcterms:created xsi:type="dcterms:W3CDTF">2026-09-10T16:44:11Z</dcterms:created>
  <dcterms:modified xsi:type="dcterms:W3CDTF">2026-09-10T16:44:11Z</dcterms:modified>
</cp:coreProperties>
</file>