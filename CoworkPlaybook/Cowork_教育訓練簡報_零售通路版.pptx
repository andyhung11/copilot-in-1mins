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image" Target="../media/image-6-10.png"/><Relationship Id="rId11" Type="http://schemas.openxmlformats.org/officeDocument/2006/relationships/image" Target="../media/image-6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image" Target="../media/image-20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andyhung11.github.io/Copilot-in-1mins/CoworkPlaybook/" TargetMode="External"/><Relationship Id="rId1" Type="http://schemas.openxmlformats.org/officeDocument/2006/relationships/image" Target="../media/Slide-22-image-1.png"/><Relationship Id="rId2" Type="http://schemas.openxmlformats.org/officeDocument/2006/relationships/image" Target="../media/image-22-2.png"/><Relationship Id="rId4" Type="http://schemas.openxmlformats.org/officeDocument/2006/relationships/image" Target="../media/image-22-3.png"/><Relationship Id="rId5" Type="http://schemas.openxmlformats.org/officeDocument/2006/relationships/image" Target="../media/image-22-4.png"/><Relationship Id="rId6" Type="http://schemas.openxmlformats.org/officeDocument/2006/relationships/image" Target="../media/image-22-5.png"/><Relationship Id="rId7" Type="http://schemas.openxmlformats.org/officeDocument/2006/relationships/image" Target="../media/image-22-6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788920" cy="457200"/>
          </a:xfrm>
          <a:prstGeom prst="roundRect">
            <a:avLst>
              <a:gd name="adj" fmla="val 50000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1481328"/>
            <a:ext cx="237744" cy="23774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137160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603504" y="1874520"/>
            <a:ext cx="10058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Cowork</a:t>
            </a:r>
            <a:endParaRPr lang="en-US" sz="8400" dirty="0"/>
          </a:p>
        </p:txBody>
      </p:sp>
      <p:sp>
        <p:nvSpPr>
          <p:cNvPr id="6" name="Text 3"/>
          <p:cNvSpPr/>
          <p:nvPr/>
        </p:nvSpPr>
        <p:spPr>
          <a:xfrm>
            <a:off x="640080" y="31546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FC9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 AI 的實戰工作流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640080" y="3977640"/>
            <a:ext cx="9601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B9BC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 6 個零售通路業工作情境，看 Copilot 如何跨 App 多步執行，並在中高風險動作前顯示風險等級、等你核准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40080" y="5074920"/>
            <a:ext cx="3840480" cy="0"/>
          </a:xfrm>
          <a:prstGeom prst="line">
            <a:avLst/>
          </a:prstGeom>
          <a:noFill/>
          <a:ln w="12700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" y="52120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教育訓練簡報 · 零售通路版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AGENDA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今天的內容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737360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1737360" y="1773936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認識 Cowork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737360" y="2212848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什麼是代理式 AI，和一般 Copilot Chat 有何不同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2816352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3800" dirty="0"/>
          </a:p>
        </p:txBody>
      </p:sp>
      <p:sp>
        <p:nvSpPr>
          <p:cNvPr id="9" name="Text 7"/>
          <p:cNvSpPr/>
          <p:nvPr/>
        </p:nvSpPr>
        <p:spPr>
          <a:xfrm>
            <a:off x="1737360" y="2852928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核心能力與運作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737360" y="329184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技能、工作區、行動前審核、自我驗證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0080" y="3895344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3800" dirty="0"/>
          </a:p>
        </p:txBody>
      </p:sp>
      <p:sp>
        <p:nvSpPr>
          <p:cNvPr id="12" name="Text 10"/>
          <p:cNvSpPr/>
          <p:nvPr/>
        </p:nvSpPr>
        <p:spPr>
          <a:xfrm>
            <a:off x="1737360" y="393192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 個實戰情境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737360" y="4370832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戰情日報排程、檔期啟動包、客訴事件觸發、競品調價建議、合約到期盤點、門市週報技能，逐一拆解工作流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0080" y="4974336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</a:t>
            </a:r>
            <a:endParaRPr lang="en-US" sz="3800" dirty="0"/>
          </a:p>
        </p:txBody>
      </p:sp>
      <p:sp>
        <p:nvSpPr>
          <p:cNvPr id="15" name="Text 13"/>
          <p:cNvSpPr/>
          <p:nvPr/>
        </p:nvSpPr>
        <p:spPr>
          <a:xfrm>
            <a:off x="1737360" y="5010912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套用到你的日常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1737360" y="5449824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如何把這些情境延伸到自己的工作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WHAT IS COWORK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從「對話」到「代理執行」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73736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Cowork 是 Copilot 的</a:t>
            </a:r>
            <a:pPr indent="0" marL="0">
              <a:buNone/>
            </a:pPr>
            <a:r>
              <a:rPr lang="en-US" sz="2200" b="1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代理式（agentic）</a:t>
            </a:r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工作模式。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0080" y="228600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你交付一個目標，它會自己拆解步驟、讀取雲端檔案、載入需要的技能，跨 App 產出成果並自我檢查——中高風險動作會顯示風險等級並停下來請你核准。你從「快速單輪問答」升級為「交付一個可執行的任務」。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611880"/>
            <a:ext cx="3454298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0080" y="3611880"/>
            <a:ext cx="3454298" cy="82296"/>
          </a:xfrm>
          <a:prstGeom prst="rect">
            <a:avLst/>
          </a:prstGeom>
          <a:solidFill>
            <a:srgbClr val="94A3B8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3931920"/>
            <a:ext cx="457200" cy="4572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60120" y="4526280"/>
            <a:ext cx="281421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一般 Chat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960120" y="4937760"/>
            <a:ext cx="281421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快速單輪問答；適合立即回答與腦力激盪。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4368698" y="3611880"/>
            <a:ext cx="3454298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368698" y="3611880"/>
            <a:ext cx="3454298" cy="82296"/>
          </a:xfrm>
          <a:prstGeom prst="rect">
            <a:avLst/>
          </a:prstGeom>
          <a:solidFill>
            <a:srgbClr val="6366F1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8738" y="3931920"/>
            <a:ext cx="457200" cy="45720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4688738" y="4526280"/>
            <a:ext cx="281421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Cowork 代理</a:t>
            </a:r>
            <a:endParaRPr lang="en-US" sz="1700" dirty="0"/>
          </a:p>
        </p:txBody>
      </p:sp>
      <p:sp>
        <p:nvSpPr>
          <p:cNvPr id="16" name="Text 12"/>
          <p:cNvSpPr/>
          <p:nvPr/>
        </p:nvSpPr>
        <p:spPr>
          <a:xfrm>
            <a:off x="4688738" y="4937760"/>
            <a:ext cx="281421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你給目標，它跨 App 多步驟自主執行，可運行數分鐘到數小時。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8097317" y="3611880"/>
            <a:ext cx="3454298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8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8097317" y="3611880"/>
            <a:ext cx="3454298" cy="82296"/>
          </a:xfrm>
          <a:prstGeom prst="rect">
            <a:avLst/>
          </a:prstGeom>
          <a:solidFill>
            <a:srgbClr val="8B5CF6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7357" y="3931920"/>
            <a:ext cx="457200" cy="45720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8417357" y="4526280"/>
            <a:ext cx="281421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你仍是主導</a:t>
            </a:r>
            <a:endParaRPr lang="en-US" sz="1700" dirty="0"/>
          </a:p>
        </p:txBody>
      </p:sp>
      <p:sp>
        <p:nvSpPr>
          <p:cNvPr id="21" name="Text 16"/>
          <p:cNvSpPr/>
          <p:nvPr/>
        </p:nvSpPr>
        <p:spPr>
          <a:xfrm>
            <a:off x="8417357" y="4937760"/>
            <a:ext cx="281421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對外或影響他人的動作，一律先暫停等你核准。</a:t>
            </a:r>
            <a:endParaRPr lang="en-US" sz="1400" dirty="0"/>
          </a:p>
        </p:txBody>
      </p:sp>
      <p:sp>
        <p:nvSpPr>
          <p:cNvPr id="22" name="Text 17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3" name="Text 18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COMPARISON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Cowork 與一般 Copilot Chat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2743200" cy="457200"/>
          </a:xfrm>
          <a:prstGeom prst="rect">
            <a:avLst/>
          </a:prstGeom>
          <a:solidFill>
            <a:srgbClr val="EEF0F8"/>
          </a:solidFill>
          <a:ln/>
        </p:spPr>
      </p:sp>
      <p:sp>
        <p:nvSpPr>
          <p:cNvPr id="6" name="Shape 4"/>
          <p:cNvSpPr/>
          <p:nvPr/>
        </p:nvSpPr>
        <p:spPr>
          <a:xfrm>
            <a:off x="3383280" y="1737360"/>
            <a:ext cx="4023360" cy="457200"/>
          </a:xfrm>
          <a:prstGeom prst="rect">
            <a:avLst/>
          </a:prstGeom>
          <a:solidFill>
            <a:srgbClr val="0F1031"/>
          </a:solidFill>
          <a:ln/>
        </p:spPr>
      </p:sp>
      <p:sp>
        <p:nvSpPr>
          <p:cNvPr id="7" name="Shape 5"/>
          <p:cNvSpPr/>
          <p:nvPr/>
        </p:nvSpPr>
        <p:spPr>
          <a:xfrm>
            <a:off x="7406640" y="1737360"/>
            <a:ext cx="4142232" cy="45720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73736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3383280" y="1737360"/>
            <a:ext cx="4023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一般 Copilot Chat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406640" y="1737360"/>
            <a:ext cx="41422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Copilot Cowork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40080" y="2194560"/>
            <a:ext cx="10908792" cy="457200"/>
          </a:xfrm>
          <a:prstGeom prst="rect">
            <a:avLst/>
          </a:prstGeom>
          <a:solidFill>
            <a:srgbClr val="F2F4FB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21945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互動方式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3566160" y="21945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快速單輪問答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7589520" y="21945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交付目標，跨 App 自主多步執行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2651760"/>
            <a:ext cx="1090879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26517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速度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3566160" y="26517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秒～分鐘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7589520" y="26517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分鐘～數小時（自主執行）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40080" y="3108960"/>
            <a:ext cx="10908792" cy="457200"/>
          </a:xfrm>
          <a:prstGeom prst="rect">
            <a:avLst/>
          </a:prstGeom>
          <a:solidFill>
            <a:srgbClr val="F2F4FB"/>
          </a:solidFill>
          <a:ln/>
        </p:spPr>
      </p:sp>
      <p:sp>
        <p:nvSpPr>
          <p:cNvPr id="20" name="Text 18"/>
          <p:cNvSpPr/>
          <p:nvPr/>
        </p:nvSpPr>
        <p:spPr>
          <a:xfrm>
            <a:off x="822960" y="31089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任務複雜度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3566160" y="31089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單步驟、單一工作階段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7589520" y="31089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跨任務與來源的多步驟工作流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40080" y="3566160"/>
            <a:ext cx="1090879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822960" y="35661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檔案處理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3566160" y="35661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貼上片段內容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7589520" y="35661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讀取雲端附件、產出新檔案；不存取本機檔案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40080" y="4023360"/>
            <a:ext cx="10908792" cy="457200"/>
          </a:xfrm>
          <a:prstGeom prst="rect">
            <a:avLst/>
          </a:prstGeom>
          <a:solidFill>
            <a:srgbClr val="F2F4FB"/>
          </a:solidFill>
          <a:ln/>
        </p:spPr>
      </p:sp>
      <p:sp>
        <p:nvSpPr>
          <p:cNvPr id="28" name="Text 26"/>
          <p:cNvSpPr/>
          <p:nvPr/>
        </p:nvSpPr>
        <p:spPr>
          <a:xfrm>
            <a:off x="822960" y="40233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技能運用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3566160" y="40233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單一對話能力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7589520" y="40233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自動載入 13 個內建技能與自訂技能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640080" y="4480560"/>
            <a:ext cx="1090879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822960" y="44805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3566160" y="44805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聊天視窗的文字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7589520" y="44805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OneDrive 中真實的文件、試算表、簡報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640080" y="4937760"/>
            <a:ext cx="10908792" cy="457200"/>
          </a:xfrm>
          <a:prstGeom prst="rect">
            <a:avLst/>
          </a:prstGeom>
          <a:solidFill>
            <a:srgbClr val="F2F4FB"/>
          </a:solidFill>
          <a:ln/>
        </p:spPr>
      </p:sp>
      <p:sp>
        <p:nvSpPr>
          <p:cNvPr id="36" name="Text 34"/>
          <p:cNvSpPr/>
          <p:nvPr/>
        </p:nvSpPr>
        <p:spPr>
          <a:xfrm>
            <a:off x="822960" y="49377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自動啟動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3566160" y="49377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每次都要你開啟並下指令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7589520" y="49377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排程提示／事件觸發：收信或被 @提及時自動執行</a:t>
            </a:r>
            <a:endParaRPr lang="en-US" sz="1250" dirty="0"/>
          </a:p>
        </p:txBody>
      </p:sp>
      <p:sp>
        <p:nvSpPr>
          <p:cNvPr id="39" name="Shape 37"/>
          <p:cNvSpPr/>
          <p:nvPr/>
        </p:nvSpPr>
        <p:spPr>
          <a:xfrm>
            <a:off x="640080" y="5394960"/>
            <a:ext cx="1090879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0" name="Text 38"/>
          <p:cNvSpPr/>
          <p:nvPr/>
        </p:nvSpPr>
        <p:spPr>
          <a:xfrm>
            <a:off x="822960" y="53949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外部系統</a:t>
            </a:r>
            <a:endParaRPr lang="en-US" sz="1250" dirty="0"/>
          </a:p>
        </p:txBody>
      </p:sp>
      <p:sp>
        <p:nvSpPr>
          <p:cNvPr id="41" name="Text 39"/>
          <p:cNvSpPr/>
          <p:nvPr/>
        </p:nvSpPr>
        <p:spPr>
          <a:xfrm>
            <a:off x="3566160" y="53949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接地於 M365 資料</a:t>
            </a:r>
            <a:endParaRPr lang="en-US" sz="1250" dirty="0"/>
          </a:p>
        </p:txBody>
      </p:sp>
      <p:sp>
        <p:nvSpPr>
          <p:cNvPr id="42" name="Text 40"/>
          <p:cNvSpPr/>
          <p:nvPr/>
        </p:nvSpPr>
        <p:spPr>
          <a:xfrm>
            <a:off x="7589520" y="53949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可透過 Plugins／MCP 連 D365、SAP、Fabric 等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640080" y="5852160"/>
            <a:ext cx="10908792" cy="457200"/>
          </a:xfrm>
          <a:prstGeom prst="rect">
            <a:avLst/>
          </a:prstGeom>
          <a:solidFill>
            <a:srgbClr val="F2F4FB"/>
          </a:solidFill>
          <a:ln/>
        </p:spPr>
      </p:sp>
      <p:sp>
        <p:nvSpPr>
          <p:cNvPr id="44" name="Text 42"/>
          <p:cNvSpPr/>
          <p:nvPr/>
        </p:nvSpPr>
        <p:spPr>
          <a:xfrm>
            <a:off x="822960" y="58521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把關</a:t>
            </a:r>
            <a:endParaRPr lang="en-US" sz="1250" dirty="0"/>
          </a:p>
        </p:txBody>
      </p:sp>
      <p:sp>
        <p:nvSpPr>
          <p:cNvPr id="45" name="Text 43"/>
          <p:cNvSpPr/>
          <p:nvPr/>
        </p:nvSpPr>
        <p:spPr>
          <a:xfrm>
            <a:off x="3566160" y="58521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你自行判斷</a:t>
            </a:r>
            <a:endParaRPr lang="en-US" sz="1250" dirty="0"/>
          </a:p>
        </p:txBody>
      </p:sp>
      <p:sp>
        <p:nvSpPr>
          <p:cNvPr id="46" name="Text 44"/>
          <p:cNvSpPr/>
          <p:nvPr/>
        </p:nvSpPr>
        <p:spPr>
          <a:xfrm>
            <a:off x="7589520" y="58521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中高風險動作顯示風險等級，核准後才執行</a:t>
            </a:r>
            <a:endParaRPr lang="en-US" sz="1250" dirty="0"/>
          </a:p>
        </p:txBody>
      </p:sp>
      <p:sp>
        <p:nvSpPr>
          <p:cNvPr id="47" name="Text 4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CORE CAPABILITIES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四個讓 Cowork 不一樣的能力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5227168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60120" y="2130552"/>
            <a:ext cx="868680" cy="868680"/>
          </a:xfrm>
          <a:prstGeom prst="roundRect">
            <a:avLst>
              <a:gd name="adj" fmla="val 16842"/>
            </a:avLst>
          </a:prstGeom>
          <a:solidFill>
            <a:srgbClr val="7A4DDB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0432" y="2340864"/>
            <a:ext cx="448056" cy="44805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2011680" y="2167128"/>
            <a:ext cx="36726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 個內建技能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2011680" y="2624328"/>
            <a:ext cx="3626968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Word、Excel、PowerPoint、PDF、Email、Scheduling、Calendar Management、Meetings、Daily Briefing、Enterprise Search、Deep Research、Communications、Adaptive Cards。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324448" y="1783080"/>
            <a:ext cx="5227168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644488" y="2130552"/>
            <a:ext cx="868680" cy="868680"/>
          </a:xfrm>
          <a:prstGeom prst="roundRect">
            <a:avLst>
              <a:gd name="adj" fmla="val 16842"/>
            </a:avLst>
          </a:prstGeom>
          <a:solidFill>
            <a:srgbClr val="0F6CBD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4800" y="2340864"/>
            <a:ext cx="448056" cy="448056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696048" y="2167128"/>
            <a:ext cx="36726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工作區 Workspace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7696048" y="2624328"/>
            <a:ext cx="3626968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右側面板同時呈現進度、輸入檔、輸出檔、已載入技能、排程與已核准權限，過程透明可追。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640080" y="4069080"/>
            <a:ext cx="5227168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6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960120" y="4416552"/>
            <a:ext cx="868680" cy="868680"/>
          </a:xfrm>
          <a:prstGeom prst="roundRect">
            <a:avLst>
              <a:gd name="adj" fmla="val 16842"/>
            </a:avLst>
          </a:prstGeom>
          <a:solidFill>
            <a:srgbClr val="0A8F5B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0432" y="4626864"/>
            <a:ext cx="448056" cy="448056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2011680" y="4453128"/>
            <a:ext cx="36726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行動前審核</a:t>
            </a:r>
            <a:endParaRPr lang="en-US" sz="1800" dirty="0"/>
          </a:p>
        </p:txBody>
      </p:sp>
      <p:sp>
        <p:nvSpPr>
          <p:cNvPr id="19" name="Text 14"/>
          <p:cNvSpPr/>
          <p:nvPr/>
        </p:nvSpPr>
        <p:spPr>
          <a:xfrm>
            <a:off x="2011680" y="4910328"/>
            <a:ext cx="3626968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中高風險動作顯示 RISK-LEVEL；可核准、取消，或設定 per-recipient／per-domain／always 的 don’t ask again；多筆待審可「Approve All」。</a:t>
            </a:r>
            <a:endParaRPr lang="en-US" sz="1300" dirty="0"/>
          </a:p>
        </p:txBody>
      </p:sp>
      <p:sp>
        <p:nvSpPr>
          <p:cNvPr id="20" name="Shape 15"/>
          <p:cNvSpPr/>
          <p:nvPr/>
        </p:nvSpPr>
        <p:spPr>
          <a:xfrm>
            <a:off x="6324448" y="4069080"/>
            <a:ext cx="5227168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6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644488" y="4416552"/>
            <a:ext cx="868680" cy="868680"/>
          </a:xfrm>
          <a:prstGeom prst="roundRect">
            <a:avLst>
              <a:gd name="adj" fmla="val 16842"/>
            </a:avLst>
          </a:prstGeom>
          <a:solidFill>
            <a:srgbClr val="CA5010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4800" y="4626864"/>
            <a:ext cx="448056" cy="448056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7696048" y="4453128"/>
            <a:ext cx="36726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新能力</a:t>
            </a:r>
            <a:endParaRPr lang="en-US" sz="1800" dirty="0"/>
          </a:p>
        </p:txBody>
      </p:sp>
      <p:sp>
        <p:nvSpPr>
          <p:cNvPr id="24" name="Text 18"/>
          <p:cNvSpPr/>
          <p:nvPr/>
        </p:nvSpPr>
        <p:spPr>
          <a:xfrm>
            <a:off x="7696048" y="4910328"/>
            <a:ext cx="3626968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本機 Edge 瀏覽器（預設停用，需管理員開啟＋Edge 150 以上）、ChatGPT Images 2.0 影像生成、品牌範本自動套用簡報、Plugins／MCP 連外部系統、排程與事件觸發任務。</a:t>
            </a:r>
            <a:endParaRPr lang="en-US" sz="1300" dirty="0"/>
          </a:p>
        </p:txBody>
      </p:sp>
      <p:sp>
        <p:nvSpPr>
          <p:cNvPr id="25" name="Text 19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6" name="Text 20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一次代理式工作流，背後發生什麼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468880"/>
            <a:ext cx="15727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0C0">
                <a:alpha val="1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042416" y="2697480"/>
            <a:ext cx="768096" cy="768096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07008" y="2862072"/>
            <a:ext cx="438912" cy="43891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40080" y="3547872"/>
            <a:ext cx="1572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接收目標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3840480"/>
            <a:ext cx="1572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上傳檔案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下達指令</a:t>
            </a:r>
            <a:endParaRPr lang="en-US" sz="12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9757" y="2971800"/>
            <a:ext cx="201168" cy="201168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2507833" y="2468880"/>
            <a:ext cx="15727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0C0">
                <a:alpha val="15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2910169" y="2697480"/>
            <a:ext cx="768096" cy="768096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74761" y="2862072"/>
            <a:ext cx="438912" cy="43891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2507833" y="3547872"/>
            <a:ext cx="1572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規劃拆解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2507833" y="3840480"/>
            <a:ext cx="1572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理解任務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拆成步驟</a:t>
            </a:r>
            <a:endParaRPr lang="en-US" sz="12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27510" y="2971800"/>
            <a:ext cx="201168" cy="201168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4375587" y="2468880"/>
            <a:ext cx="15727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0C0">
                <a:alpha val="15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4777923" y="2697480"/>
            <a:ext cx="768096" cy="768096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42515" y="2862072"/>
            <a:ext cx="438912" cy="438912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4375587" y="3547872"/>
            <a:ext cx="1572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載入技能</a:t>
            </a:r>
            <a:endParaRPr lang="en-US" sz="1400" dirty="0"/>
          </a:p>
        </p:txBody>
      </p:sp>
      <p:sp>
        <p:nvSpPr>
          <p:cNvPr id="21" name="Text 14"/>
          <p:cNvSpPr/>
          <p:nvPr/>
        </p:nvSpPr>
        <p:spPr>
          <a:xfrm>
            <a:off x="4375587" y="3840480"/>
            <a:ext cx="1572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 內建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+ 自訂技能</a:t>
            </a:r>
            <a:endParaRPr lang="en-US" sz="1200" dirty="0"/>
          </a:p>
        </p:txBody>
      </p:sp>
      <p:pic>
        <p:nvPicPr>
          <p:cNvPr id="2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95264" y="2971800"/>
            <a:ext cx="201168" cy="201168"/>
          </a:xfrm>
          <a:prstGeom prst="rect">
            <a:avLst/>
          </a:prstGeom>
        </p:spPr>
      </p:pic>
      <p:sp>
        <p:nvSpPr>
          <p:cNvPr id="23" name="Shape 15"/>
          <p:cNvSpPr/>
          <p:nvPr/>
        </p:nvSpPr>
        <p:spPr>
          <a:xfrm>
            <a:off x="6243340" y="2468880"/>
            <a:ext cx="15727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0C0">
                <a:alpha val="15000"/>
              </a:srgbClr>
            </a:outerShdw>
          </a:effectLst>
        </p:spPr>
      </p:sp>
      <p:sp>
        <p:nvSpPr>
          <p:cNvPr id="24" name="Shape 16"/>
          <p:cNvSpPr/>
          <p:nvPr/>
        </p:nvSpPr>
        <p:spPr>
          <a:xfrm>
            <a:off x="6645676" y="2697480"/>
            <a:ext cx="768096" cy="768096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25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10268" y="2862072"/>
            <a:ext cx="438912" cy="438912"/>
          </a:xfrm>
          <a:prstGeom prst="rect">
            <a:avLst/>
          </a:prstGeom>
        </p:spPr>
      </p:pic>
      <p:sp>
        <p:nvSpPr>
          <p:cNvPr id="26" name="Text 17"/>
          <p:cNvSpPr/>
          <p:nvPr/>
        </p:nvSpPr>
        <p:spPr>
          <a:xfrm>
            <a:off x="6243340" y="3547872"/>
            <a:ext cx="1572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執行產出</a:t>
            </a:r>
            <a:endParaRPr lang="en-US" sz="1400" dirty="0"/>
          </a:p>
        </p:txBody>
      </p:sp>
      <p:sp>
        <p:nvSpPr>
          <p:cNvPr id="27" name="Text 18"/>
          <p:cNvSpPr/>
          <p:nvPr/>
        </p:nvSpPr>
        <p:spPr>
          <a:xfrm>
            <a:off x="6243340" y="3840480"/>
            <a:ext cx="1572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建立文件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試算表／信</a:t>
            </a:r>
            <a:endParaRPr lang="en-US" sz="1200" dirty="0"/>
          </a:p>
        </p:txBody>
      </p:sp>
      <p:pic>
        <p:nvPicPr>
          <p:cNvPr id="28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63017" y="2971800"/>
            <a:ext cx="201168" cy="201168"/>
          </a:xfrm>
          <a:prstGeom prst="rect">
            <a:avLst/>
          </a:prstGeom>
        </p:spPr>
      </p:pic>
      <p:sp>
        <p:nvSpPr>
          <p:cNvPr id="29" name="Shape 19"/>
          <p:cNvSpPr/>
          <p:nvPr/>
        </p:nvSpPr>
        <p:spPr>
          <a:xfrm>
            <a:off x="8111094" y="2468880"/>
            <a:ext cx="15727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0C0">
                <a:alpha val="15000"/>
              </a:srgbClr>
            </a:outerShdw>
          </a:effectLst>
        </p:spPr>
      </p:sp>
      <p:sp>
        <p:nvSpPr>
          <p:cNvPr id="30" name="Shape 20"/>
          <p:cNvSpPr/>
          <p:nvPr/>
        </p:nvSpPr>
        <p:spPr>
          <a:xfrm>
            <a:off x="8513430" y="2697480"/>
            <a:ext cx="768096" cy="768096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31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678022" y="2862072"/>
            <a:ext cx="438912" cy="438912"/>
          </a:xfrm>
          <a:prstGeom prst="rect">
            <a:avLst/>
          </a:prstGeom>
        </p:spPr>
      </p:pic>
      <p:sp>
        <p:nvSpPr>
          <p:cNvPr id="32" name="Text 21"/>
          <p:cNvSpPr/>
          <p:nvPr/>
        </p:nvSpPr>
        <p:spPr>
          <a:xfrm>
            <a:off x="8111094" y="3547872"/>
            <a:ext cx="1572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自我驗證</a:t>
            </a:r>
            <a:endParaRPr lang="en-US" sz="1400" dirty="0"/>
          </a:p>
        </p:txBody>
      </p:sp>
      <p:sp>
        <p:nvSpPr>
          <p:cNvPr id="33" name="Text 22"/>
          <p:cNvSpPr/>
          <p:nvPr/>
        </p:nvSpPr>
        <p:spPr>
          <a:xfrm>
            <a:off x="8111094" y="3840480"/>
            <a:ext cx="1572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檢查數字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與一致性</a:t>
            </a:r>
            <a:endParaRPr lang="en-US" sz="1200" dirty="0"/>
          </a:p>
        </p:txBody>
      </p:sp>
      <p:pic>
        <p:nvPicPr>
          <p:cNvPr id="34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730770" y="2971800"/>
            <a:ext cx="201168" cy="201168"/>
          </a:xfrm>
          <a:prstGeom prst="rect">
            <a:avLst/>
          </a:prstGeom>
        </p:spPr>
      </p:pic>
      <p:sp>
        <p:nvSpPr>
          <p:cNvPr id="35" name="Shape 23"/>
          <p:cNvSpPr/>
          <p:nvPr/>
        </p:nvSpPr>
        <p:spPr>
          <a:xfrm>
            <a:off x="9978847" y="2468880"/>
            <a:ext cx="15727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0C0">
                <a:alpha val="15000"/>
              </a:srgbClr>
            </a:outerShdw>
          </a:effectLst>
        </p:spPr>
      </p:sp>
      <p:sp>
        <p:nvSpPr>
          <p:cNvPr id="36" name="Shape 24"/>
          <p:cNvSpPr/>
          <p:nvPr/>
        </p:nvSpPr>
        <p:spPr>
          <a:xfrm>
            <a:off x="10381183" y="2697480"/>
            <a:ext cx="768096" cy="768096"/>
          </a:xfrm>
          <a:prstGeom prst="ellipse">
            <a:avLst/>
          </a:prstGeom>
          <a:solidFill>
            <a:srgbClr val="8B5CF6"/>
          </a:solidFill>
          <a:ln/>
        </p:spPr>
      </p:sp>
      <p:pic>
        <p:nvPicPr>
          <p:cNvPr id="37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545775" y="2862072"/>
            <a:ext cx="438912" cy="438912"/>
          </a:xfrm>
          <a:prstGeom prst="rect">
            <a:avLst/>
          </a:prstGeom>
        </p:spPr>
      </p:pic>
      <p:sp>
        <p:nvSpPr>
          <p:cNvPr id="38" name="Text 25"/>
          <p:cNvSpPr/>
          <p:nvPr/>
        </p:nvSpPr>
        <p:spPr>
          <a:xfrm>
            <a:off x="9978847" y="3547872"/>
            <a:ext cx="1572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行動前審核</a:t>
            </a:r>
            <a:endParaRPr lang="en-US" sz="1400" dirty="0"/>
          </a:p>
        </p:txBody>
      </p:sp>
      <p:sp>
        <p:nvSpPr>
          <p:cNvPr id="39" name="Text 26"/>
          <p:cNvSpPr/>
          <p:nvPr/>
        </p:nvSpPr>
        <p:spPr>
          <a:xfrm>
            <a:off x="9978847" y="3840480"/>
            <a:ext cx="1572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對外動作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等你核准</a:t>
            </a:r>
            <a:endParaRPr lang="en-US" sz="1200" dirty="0"/>
          </a:p>
        </p:txBody>
      </p:sp>
      <p:sp>
        <p:nvSpPr>
          <p:cNvPr id="40" name="Text 27"/>
          <p:cNvSpPr/>
          <p:nvPr/>
        </p:nvSpPr>
        <p:spPr>
          <a:xfrm>
            <a:off x="640080" y="49377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整個過程在「工作區」面板透明呈現；可軟／硬暫停、恢復或取消任務。</a:t>
            </a:r>
            <a:endParaRPr lang="en-US" sz="1400" dirty="0"/>
          </a:p>
        </p:txBody>
      </p:sp>
      <p:sp>
        <p:nvSpPr>
          <p:cNvPr id="41" name="Text 28"/>
          <p:cNvSpPr/>
          <p:nvPr/>
        </p:nvSpPr>
        <p:spPr>
          <a:xfrm>
            <a:off x="640080" y="5285232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啟動方式不只聊天下指令：也能設定「收到指定信件／被 @提及時」自動觸發（事件驅動任務），一樣走相同的自我驗證與核准流程。</a:t>
            </a:r>
            <a:endParaRPr lang="en-US" sz="1300" dirty="0"/>
          </a:p>
        </p:txBody>
      </p:sp>
      <p:sp>
        <p:nvSpPr>
          <p:cNvPr id="42" name="Text 29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43" name="Text 30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 SCENARIOS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 個實戰情境總覽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828800"/>
            <a:ext cx="1589989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88900" dist="25400" dir="5400000">
              <a:srgbClr val="9AA0C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828800"/>
            <a:ext cx="1589989" cy="91440"/>
          </a:xfrm>
          <a:prstGeom prst="rect">
            <a:avLst/>
          </a:prstGeom>
          <a:solidFill>
            <a:srgbClr val="8A3A62"/>
          </a:solidFill>
          <a:ln/>
        </p:spPr>
      </p:sp>
      <p:sp>
        <p:nvSpPr>
          <p:cNvPr id="7" name="Shape 5"/>
          <p:cNvSpPr/>
          <p:nvPr/>
        </p:nvSpPr>
        <p:spPr>
          <a:xfrm>
            <a:off x="977875" y="2194560"/>
            <a:ext cx="914400" cy="914400"/>
          </a:xfrm>
          <a:prstGeom prst="ellipse">
            <a:avLst/>
          </a:prstGeom>
          <a:solidFill>
            <a:srgbClr val="8A3A62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9043" y="2395728"/>
            <a:ext cx="512064" cy="51206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13232" y="3218688"/>
            <a:ext cx="144368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8A3A6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零售通路 · 營運督導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713232" y="3493008"/>
            <a:ext cx="144368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全通路戰情日報排程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713232" y="4114800"/>
            <a:ext cx="144368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Excel · Communications · 排程任務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731520" y="4645152"/>
            <a:ext cx="140710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約 12–15 分鐘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★★☆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2504389" y="1828800"/>
            <a:ext cx="1589989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88900" dist="25400" dir="5400000">
              <a:srgbClr val="9AA0C0">
                <a:alpha val="16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2504389" y="1828800"/>
            <a:ext cx="1589989" cy="91440"/>
          </a:xfrm>
          <a:prstGeom prst="rect">
            <a:avLst/>
          </a:prstGeom>
          <a:solidFill>
            <a:srgbClr val="B4551B"/>
          </a:solidFill>
          <a:ln/>
        </p:spPr>
      </p:sp>
      <p:sp>
        <p:nvSpPr>
          <p:cNvPr id="15" name="Shape 12"/>
          <p:cNvSpPr/>
          <p:nvPr/>
        </p:nvSpPr>
        <p:spPr>
          <a:xfrm>
            <a:off x="2842184" y="2194560"/>
            <a:ext cx="914400" cy="914400"/>
          </a:xfrm>
          <a:prstGeom prst="ellipse">
            <a:avLst/>
          </a:prstGeom>
          <a:solidFill>
            <a:srgbClr val="B4551B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3352" y="2395728"/>
            <a:ext cx="512064" cy="512064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2577541" y="3218688"/>
            <a:ext cx="144368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B455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零售通路 · 商品企劃</a:t>
            </a:r>
            <a:endParaRPr lang="en-US" sz="1150" dirty="0"/>
          </a:p>
        </p:txBody>
      </p:sp>
      <p:sp>
        <p:nvSpPr>
          <p:cNvPr id="18" name="Text 14"/>
          <p:cNvSpPr/>
          <p:nvPr/>
        </p:nvSpPr>
        <p:spPr>
          <a:xfrm>
            <a:off x="2577541" y="3493008"/>
            <a:ext cx="144368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檔期促銷專案啟動包</a:t>
            </a:r>
            <a:endParaRPr lang="en-US" sz="1500" dirty="0"/>
          </a:p>
        </p:txBody>
      </p:sp>
      <p:sp>
        <p:nvSpPr>
          <p:cNvPr id="19" name="Text 15"/>
          <p:cNvSpPr/>
          <p:nvPr/>
        </p:nvSpPr>
        <p:spPr>
          <a:xfrm>
            <a:off x="2577541" y="4114800"/>
            <a:ext cx="144368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Word · Excel · PDF · Email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2595829" y="4645152"/>
            <a:ext cx="140710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約 20–30 分鐘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★★☆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4368698" y="1828800"/>
            <a:ext cx="1589989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88900" dist="25400" dir="5400000">
              <a:srgbClr val="9AA0C0">
                <a:alpha val="16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4368698" y="1828800"/>
            <a:ext cx="1589989" cy="91440"/>
          </a:xfrm>
          <a:prstGeom prst="rect">
            <a:avLst/>
          </a:prstGeom>
          <a:solidFill>
            <a:srgbClr val="2E7D5B"/>
          </a:solidFill>
          <a:ln/>
        </p:spPr>
      </p:sp>
      <p:sp>
        <p:nvSpPr>
          <p:cNvPr id="23" name="Shape 19"/>
          <p:cNvSpPr/>
          <p:nvPr/>
        </p:nvSpPr>
        <p:spPr>
          <a:xfrm>
            <a:off x="4706493" y="2194560"/>
            <a:ext cx="914400" cy="914400"/>
          </a:xfrm>
          <a:prstGeom prst="ellipse">
            <a:avLst/>
          </a:prstGeom>
          <a:solidFill>
            <a:srgbClr val="2E7D5B"/>
          </a:solidFill>
          <a:ln/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07661" y="2395728"/>
            <a:ext cx="512064" cy="512064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4441850" y="3218688"/>
            <a:ext cx="144368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E7D5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零售通路 · 客服中心</a:t>
            </a:r>
            <a:endParaRPr lang="en-US" sz="1150" dirty="0"/>
          </a:p>
        </p:txBody>
      </p:sp>
      <p:sp>
        <p:nvSpPr>
          <p:cNvPr id="26" name="Text 21"/>
          <p:cNvSpPr/>
          <p:nvPr/>
        </p:nvSpPr>
        <p:spPr>
          <a:xfrm>
            <a:off x="4441850" y="3493008"/>
            <a:ext cx="144368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客訴事件觸發分流</a:t>
            </a:r>
            <a:endParaRPr lang="en-US" sz="1500" dirty="0"/>
          </a:p>
        </p:txBody>
      </p:sp>
      <p:sp>
        <p:nvSpPr>
          <p:cNvPr id="27" name="Text 22"/>
          <p:cNvSpPr/>
          <p:nvPr/>
        </p:nvSpPr>
        <p:spPr>
          <a:xfrm>
            <a:off x="4441850" y="4114800"/>
            <a:ext cx="144368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Email · Enterprise Search · 事件觸發任務</a:t>
            </a:r>
            <a:endParaRPr lang="en-US" sz="1200" dirty="0"/>
          </a:p>
        </p:txBody>
      </p:sp>
      <p:sp>
        <p:nvSpPr>
          <p:cNvPr id="28" name="Text 23"/>
          <p:cNvSpPr/>
          <p:nvPr/>
        </p:nvSpPr>
        <p:spPr>
          <a:xfrm>
            <a:off x="4460138" y="4645152"/>
            <a:ext cx="140710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約 15–18 分鐘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★★★</a:t>
            </a:r>
            <a:endParaRPr lang="en-US" sz="1100" dirty="0"/>
          </a:p>
        </p:txBody>
      </p:sp>
      <p:sp>
        <p:nvSpPr>
          <p:cNvPr id="29" name="Shape 24"/>
          <p:cNvSpPr/>
          <p:nvPr/>
        </p:nvSpPr>
        <p:spPr>
          <a:xfrm>
            <a:off x="6233008" y="1828800"/>
            <a:ext cx="1589989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88900" dist="25400" dir="5400000">
              <a:srgbClr val="9AA0C0">
                <a:alpha val="16000"/>
              </a:srgbClr>
            </a:outerShdw>
          </a:effectLst>
        </p:spPr>
      </p:sp>
      <p:sp>
        <p:nvSpPr>
          <p:cNvPr id="30" name="Shape 25"/>
          <p:cNvSpPr/>
          <p:nvPr/>
        </p:nvSpPr>
        <p:spPr>
          <a:xfrm>
            <a:off x="6233008" y="1828800"/>
            <a:ext cx="1589989" cy="91440"/>
          </a:xfrm>
          <a:prstGeom prst="rect">
            <a:avLst/>
          </a:prstGeom>
          <a:solidFill>
            <a:srgbClr val="5C2E91"/>
          </a:solidFill>
          <a:ln/>
        </p:spPr>
      </p:sp>
      <p:sp>
        <p:nvSpPr>
          <p:cNvPr id="31" name="Shape 26"/>
          <p:cNvSpPr/>
          <p:nvPr/>
        </p:nvSpPr>
        <p:spPr>
          <a:xfrm>
            <a:off x="6570802" y="2194560"/>
            <a:ext cx="914400" cy="914400"/>
          </a:xfrm>
          <a:prstGeom prst="ellipse">
            <a:avLst/>
          </a:prstGeom>
          <a:solidFill>
            <a:srgbClr val="5C2E91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71970" y="2395728"/>
            <a:ext cx="512064" cy="512064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6306160" y="3218688"/>
            <a:ext cx="144368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C2E9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零售通路 · 商品定價</a:t>
            </a:r>
            <a:endParaRPr lang="en-US" sz="1150" dirty="0"/>
          </a:p>
        </p:txBody>
      </p:sp>
      <p:sp>
        <p:nvSpPr>
          <p:cNvPr id="34" name="Text 28"/>
          <p:cNvSpPr/>
          <p:nvPr/>
        </p:nvSpPr>
        <p:spPr>
          <a:xfrm>
            <a:off x="6306160" y="3493008"/>
            <a:ext cx="144368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競品情報與調價建議</a:t>
            </a:r>
            <a:endParaRPr lang="en-US" sz="1500" dirty="0"/>
          </a:p>
        </p:txBody>
      </p:sp>
      <p:sp>
        <p:nvSpPr>
          <p:cNvPr id="35" name="Text 29"/>
          <p:cNvSpPr/>
          <p:nvPr/>
        </p:nvSpPr>
        <p:spPr>
          <a:xfrm>
            <a:off x="6306160" y="4114800"/>
            <a:ext cx="144368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Deep Research · Excel</a:t>
            </a:r>
            <a:endParaRPr lang="en-US" sz="1200" dirty="0"/>
          </a:p>
        </p:txBody>
      </p:sp>
      <p:sp>
        <p:nvSpPr>
          <p:cNvPr id="36" name="Text 30"/>
          <p:cNvSpPr/>
          <p:nvPr/>
        </p:nvSpPr>
        <p:spPr>
          <a:xfrm>
            <a:off x="6324448" y="4645152"/>
            <a:ext cx="140710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約 40–90 分鐘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★★★</a:t>
            </a:r>
            <a:endParaRPr lang="en-US" sz="1100" dirty="0"/>
          </a:p>
        </p:txBody>
      </p:sp>
      <p:sp>
        <p:nvSpPr>
          <p:cNvPr id="37" name="Shape 31"/>
          <p:cNvSpPr/>
          <p:nvPr/>
        </p:nvSpPr>
        <p:spPr>
          <a:xfrm>
            <a:off x="8097317" y="1828800"/>
            <a:ext cx="1589989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88900" dist="25400" dir="5400000">
              <a:srgbClr val="9AA0C0">
                <a:alpha val="16000"/>
              </a:srgbClr>
            </a:outerShdw>
          </a:effectLst>
        </p:spPr>
      </p:sp>
      <p:sp>
        <p:nvSpPr>
          <p:cNvPr id="38" name="Shape 32"/>
          <p:cNvSpPr/>
          <p:nvPr/>
        </p:nvSpPr>
        <p:spPr>
          <a:xfrm>
            <a:off x="8097317" y="1828800"/>
            <a:ext cx="1589989" cy="91440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39" name="Shape 33"/>
          <p:cNvSpPr/>
          <p:nvPr/>
        </p:nvSpPr>
        <p:spPr>
          <a:xfrm>
            <a:off x="8435111" y="2194560"/>
            <a:ext cx="914400" cy="914400"/>
          </a:xfrm>
          <a:prstGeom prst="ellipse">
            <a:avLst/>
          </a:prstGeom>
          <a:solidFill>
            <a:srgbClr val="0F6CBD"/>
          </a:solidFill>
          <a:ln/>
        </p:spPr>
      </p:sp>
      <p:pic>
        <p:nvPicPr>
          <p:cNvPr id="4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6279" y="2395728"/>
            <a:ext cx="512064" cy="512064"/>
          </a:xfrm>
          <a:prstGeom prst="rect">
            <a:avLst/>
          </a:prstGeom>
        </p:spPr>
      </p:pic>
      <p:sp>
        <p:nvSpPr>
          <p:cNvPr id="41" name="Text 34"/>
          <p:cNvSpPr/>
          <p:nvPr/>
        </p:nvSpPr>
        <p:spPr>
          <a:xfrm>
            <a:off x="8170469" y="3218688"/>
            <a:ext cx="144368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F6CB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零售通路 · 商品採購</a:t>
            </a:r>
            <a:endParaRPr lang="en-US" sz="1150" dirty="0"/>
          </a:p>
        </p:txBody>
      </p:sp>
      <p:sp>
        <p:nvSpPr>
          <p:cNvPr id="42" name="Text 35"/>
          <p:cNvSpPr/>
          <p:nvPr/>
        </p:nvSpPr>
        <p:spPr>
          <a:xfrm>
            <a:off x="8170469" y="3493008"/>
            <a:ext cx="144368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合約到期盤點到會議發出</a:t>
            </a:r>
            <a:endParaRPr lang="en-US" sz="1500" dirty="0"/>
          </a:p>
        </p:txBody>
      </p:sp>
      <p:sp>
        <p:nvSpPr>
          <p:cNvPr id="43" name="Text 36"/>
          <p:cNvSpPr/>
          <p:nvPr/>
        </p:nvSpPr>
        <p:spPr>
          <a:xfrm>
            <a:off x="8170469" y="4114800"/>
            <a:ext cx="144368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PDF · Calendar Management · Email</a:t>
            </a:r>
            <a:endParaRPr lang="en-US" sz="1200" dirty="0"/>
          </a:p>
        </p:txBody>
      </p:sp>
      <p:sp>
        <p:nvSpPr>
          <p:cNvPr id="44" name="Text 37"/>
          <p:cNvSpPr/>
          <p:nvPr/>
        </p:nvSpPr>
        <p:spPr>
          <a:xfrm>
            <a:off x="8188757" y="4645152"/>
            <a:ext cx="140710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約 15–18 分鐘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★★★</a:t>
            </a:r>
            <a:endParaRPr lang="en-US" sz="1100" dirty="0"/>
          </a:p>
        </p:txBody>
      </p:sp>
      <p:sp>
        <p:nvSpPr>
          <p:cNvPr id="45" name="Shape 38"/>
          <p:cNvSpPr/>
          <p:nvPr/>
        </p:nvSpPr>
        <p:spPr>
          <a:xfrm>
            <a:off x="9961626" y="1828800"/>
            <a:ext cx="1589989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88900" dist="25400" dir="5400000">
              <a:srgbClr val="9AA0C0">
                <a:alpha val="16000"/>
              </a:srgbClr>
            </a:outerShdw>
          </a:effectLst>
        </p:spPr>
      </p:sp>
      <p:sp>
        <p:nvSpPr>
          <p:cNvPr id="46" name="Shape 39"/>
          <p:cNvSpPr/>
          <p:nvPr/>
        </p:nvSpPr>
        <p:spPr>
          <a:xfrm>
            <a:off x="9961626" y="1828800"/>
            <a:ext cx="1589989" cy="91440"/>
          </a:xfrm>
          <a:prstGeom prst="rect">
            <a:avLst/>
          </a:prstGeom>
          <a:solidFill>
            <a:srgbClr val="A4373A"/>
          </a:solidFill>
          <a:ln/>
        </p:spPr>
      </p:sp>
      <p:sp>
        <p:nvSpPr>
          <p:cNvPr id="47" name="Shape 40"/>
          <p:cNvSpPr/>
          <p:nvPr/>
        </p:nvSpPr>
        <p:spPr>
          <a:xfrm>
            <a:off x="10299421" y="2194560"/>
            <a:ext cx="914400" cy="914400"/>
          </a:xfrm>
          <a:prstGeom prst="ellipse">
            <a:avLst/>
          </a:prstGeom>
          <a:solidFill>
            <a:srgbClr val="A4373A"/>
          </a:solidFill>
          <a:ln/>
        </p:spPr>
      </p:sp>
      <p:pic>
        <p:nvPicPr>
          <p:cNvPr id="4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00589" y="2395728"/>
            <a:ext cx="512064" cy="512064"/>
          </a:xfrm>
          <a:prstGeom prst="rect">
            <a:avLst/>
          </a:prstGeom>
        </p:spPr>
      </p:pic>
      <p:sp>
        <p:nvSpPr>
          <p:cNvPr id="49" name="Text 41"/>
          <p:cNvSpPr/>
          <p:nvPr/>
        </p:nvSpPr>
        <p:spPr>
          <a:xfrm>
            <a:off x="10034778" y="3218688"/>
            <a:ext cx="144368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437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零售通路 · 自動化</a:t>
            </a:r>
            <a:endParaRPr lang="en-US" sz="1150" dirty="0"/>
          </a:p>
        </p:txBody>
      </p:sp>
      <p:sp>
        <p:nvSpPr>
          <p:cNvPr id="50" name="Text 42"/>
          <p:cNvSpPr/>
          <p:nvPr/>
        </p:nvSpPr>
        <p:spPr>
          <a:xfrm>
            <a:off x="10034778" y="3493008"/>
            <a:ext cx="144368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門市週報產生器技能</a:t>
            </a:r>
            <a:endParaRPr lang="en-US" sz="1500" dirty="0"/>
          </a:p>
        </p:txBody>
      </p:sp>
      <p:sp>
        <p:nvSpPr>
          <p:cNvPr id="51" name="Text 43"/>
          <p:cNvSpPr/>
          <p:nvPr/>
        </p:nvSpPr>
        <p:spPr>
          <a:xfrm>
            <a:off x="10034778" y="4114800"/>
            <a:ext cx="144368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自訂技能 Skill</a:t>
            </a:r>
            <a:endParaRPr lang="en-US" sz="1200" dirty="0"/>
          </a:p>
        </p:txBody>
      </p:sp>
      <p:sp>
        <p:nvSpPr>
          <p:cNvPr id="52" name="Text 44"/>
          <p:cNvSpPr/>
          <p:nvPr/>
        </p:nvSpPr>
        <p:spPr>
          <a:xfrm>
            <a:off x="10053066" y="4645152"/>
            <a:ext cx="140710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約 20–25 分鐘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★★★</a:t>
            </a:r>
            <a:endParaRPr lang="en-US" sz="1100" dirty="0"/>
          </a:p>
        </p:txBody>
      </p:sp>
      <p:sp>
        <p:nvSpPr>
          <p:cNvPr id="53" name="Text 4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54" name="Text 46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0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C1E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8A3A62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6400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8A3A6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01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143000"/>
            <a:ext cx="1097280" cy="1097280"/>
          </a:xfrm>
          <a:prstGeom prst="ellipse">
            <a:avLst/>
          </a:prstGeom>
          <a:solidFill>
            <a:srgbClr val="8A3A62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444752"/>
            <a:ext cx="493776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377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BC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零售通路 · 營運督導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269748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全通路戰情日報排程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502920" y="4114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⏱ 約 12–15 分鐘 · 難度 ★★☆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02920" y="4572000"/>
            <a:ext cx="1289304" cy="402336"/>
          </a:xfrm>
          <a:prstGeom prst="roundRect">
            <a:avLst>
              <a:gd name="adj" fmla="val 50000"/>
            </a:avLst>
          </a:prstGeom>
          <a:solidFill>
            <a:srgbClr val="217346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" y="4572000"/>
            <a:ext cx="128930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Excel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975104" y="4572000"/>
            <a:ext cx="3017520" cy="402336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/>
        </p:spPr>
      </p:sp>
      <p:sp>
        <p:nvSpPr>
          <p:cNvPr id="13" name="Text 10"/>
          <p:cNvSpPr/>
          <p:nvPr/>
        </p:nvSpPr>
        <p:spPr>
          <a:xfrm>
            <a:off x="1975104" y="4572000"/>
            <a:ext cx="30175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Communications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02920" y="5074920"/>
            <a:ext cx="1097280" cy="402336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/>
        </p:spPr>
      </p:sp>
      <p:sp>
        <p:nvSpPr>
          <p:cNvPr id="15" name="Text 12"/>
          <p:cNvSpPr/>
          <p:nvPr/>
        </p:nvSpPr>
        <p:spPr>
          <a:xfrm>
            <a:off x="502920" y="5074920"/>
            <a:ext cx="10972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排程任務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526280" y="640080"/>
            <a:ext cx="7132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D7D9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這個情境的重點不是「今天幫我做一份日報」，而是「從明天起，每個上班日早上 8:30，你自己把日報做好貼到 Teams 營運頻道」。先在對話中把一次的產出調到滿意，再把同一段指令設成排程任務 —— 這是 Copilot Chat 結構上做不到的：Chat 每次都要你重新開啟、重新貼資料、重新下指令，而 Cowork 排程任務在你還沒打開電腦前就已經跑完。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4526280" y="1783080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3A6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代理式工作流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4526280" y="2286000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8A3A62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526280" y="2286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A3A6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5166360" y="2267712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先跑一次：上傳兩份檔案，要求它嚴格套用判讀規則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5166360" y="2633472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先不要急著設排程。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4526280" y="3310128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8A3A62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526280" y="331012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A3A6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5166360" y="3291840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抽查它有沒有真的套用門檻，而不是憑感覺挑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5166360" y="3657600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重點抽查三件事：桃園中壢店（達成率 62.8%）有沒有被標成「嚴重落後」；高雄左營店來客暴增但客單價偏低…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4526280" y="4334256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8A3A62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526280" y="433425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A3A6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5166360" y="4315968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把同一段指令設成每個上班日 08:30 的排程任務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5166360" y="4681728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確認品質之後，直接用一句話把它變成排程。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4526280" y="5358384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8A3A62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4526280" y="535838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A3A6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600" dirty="0"/>
          </a:p>
        </p:txBody>
      </p:sp>
      <p:sp>
        <p:nvSpPr>
          <p:cNvPr id="32" name="Text 29"/>
          <p:cNvSpPr/>
          <p:nvPr/>
        </p:nvSpPr>
        <p:spPr>
          <a:xfrm>
            <a:off x="5166360" y="5340096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觀察貼文前的核准卡：排程不等於放手</a:t>
            </a:r>
            <a:endParaRPr lang="en-US" sz="1600" dirty="0"/>
          </a:p>
        </p:txBody>
      </p:sp>
      <p:sp>
        <p:nvSpPr>
          <p:cNvPr id="33" name="Text 30"/>
          <p:cNvSpPr/>
          <p:nvPr/>
        </p:nvSpPr>
        <p:spPr>
          <a:xfrm>
            <a:off x="5166360" y="5705856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排程任務跑起來之後，貼到 Teams 這一步仍然屬於對外動作，Cowork 會停在核准卡…</a:t>
            </a:r>
            <a:endParaRPr lang="en-US" sz="1300" dirty="0"/>
          </a:p>
        </p:txBody>
      </p:sp>
      <p:sp>
        <p:nvSpPr>
          <p:cNvPr id="34" name="Text 31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35" name="Text 32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8A3A62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A3A6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01 · 實機示範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 Cowork 怎麼做、產出什麼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8521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6" name="Image 0" descr="C:\temp\CoworkLab\v2\_working\screenshots\ret1_01_inpu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28800"/>
            <a:ext cx="5074920" cy="33234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8A3A6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你的輸入與指令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16305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9" name="Image 1" descr="C:\temp\CoworkLab\v2\_working\screenshots\ret1_04_approv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828800"/>
            <a:ext cx="5074920" cy="332345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21792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8A3A6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產出成果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640080" y="5074920"/>
            <a:ext cx="1091153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080" y="5074920"/>
            <a:ext cx="91440" cy="1143000"/>
          </a:xfrm>
          <a:prstGeom prst="rect">
            <a:avLst/>
          </a:prstGeom>
          <a:solidFill>
            <a:srgbClr val="8A3A62"/>
          </a:solidFill>
          <a:ln/>
        </p:spPr>
      </p:sp>
      <p:sp>
        <p:nvSpPr>
          <p:cNvPr id="13" name="Text 9"/>
          <p:cNvSpPr/>
          <p:nvPr/>
        </p:nvSpPr>
        <p:spPr>
          <a:xfrm>
            <a:off x="914400" y="518464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產出驗收</a:t>
            </a:r>
            <a:endParaRPr lang="en-US" sz="14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5221224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108960" y="5166360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達成率、客單價、退貨率的計算與原始數據一致，桃園中壢店被正確標為嚴重落後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4640" y="5559552"/>
            <a:ext cx="182880" cy="18288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3108960" y="5504688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高雄左營店未被含糊帶過：不論標為臨界觀察或客流結構異動，都要說明來客成長與客單價偏離的具體數字</a:t>
            </a:r>
            <a:endParaRPr lang="en-US" sz="130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34640" y="5897880"/>
            <a:ext cx="182880" cy="18288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3108960" y="5843016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門市回報中的施工、設備、缺貨都被拉進當日追蹤事項並指定負責人</a:t>
            </a:r>
            <a:endParaRPr lang="en-US" sz="1300" dirty="0"/>
          </a:p>
        </p:txBody>
      </p:sp>
      <p:sp>
        <p:nvSpPr>
          <p:cNvPr id="20" name="Text 1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1" name="Text 14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0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C1E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4551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6400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B455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02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143000"/>
            <a:ext cx="1097280" cy="1097280"/>
          </a:xfrm>
          <a:prstGeom prst="ellipse">
            <a:avLst/>
          </a:prstGeom>
          <a:solidFill>
            <a:srgbClr val="B4551B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444752"/>
            <a:ext cx="493776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377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BC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零售通路 · 商品企劃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269748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檔期促銷專案啟動包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502920" y="4114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⏱ 約 20–30 分鐘 · 難度 ★★☆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02920" y="4572000"/>
            <a:ext cx="1097280" cy="402336"/>
          </a:xfrm>
          <a:prstGeom prst="roundRect">
            <a:avLst>
              <a:gd name="adj" fmla="val 50000"/>
            </a:avLst>
          </a:prstGeom>
          <a:solidFill>
            <a:srgbClr val="2B579A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" y="4572000"/>
            <a:ext cx="10972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Word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783080" y="4572000"/>
            <a:ext cx="1289304" cy="402336"/>
          </a:xfrm>
          <a:prstGeom prst="roundRect">
            <a:avLst>
              <a:gd name="adj" fmla="val 50000"/>
            </a:avLst>
          </a:prstGeom>
          <a:solidFill>
            <a:srgbClr val="217346"/>
          </a:solidFill>
          <a:ln/>
        </p:spPr>
      </p:sp>
      <p:sp>
        <p:nvSpPr>
          <p:cNvPr id="13" name="Text 10"/>
          <p:cNvSpPr/>
          <p:nvPr/>
        </p:nvSpPr>
        <p:spPr>
          <a:xfrm>
            <a:off x="1783080" y="4572000"/>
            <a:ext cx="128930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3255264" y="4572000"/>
            <a:ext cx="905256" cy="402336"/>
          </a:xfrm>
          <a:prstGeom prst="roundRect">
            <a:avLst>
              <a:gd name="adj" fmla="val 50000"/>
            </a:avLst>
          </a:prstGeom>
          <a:solidFill>
            <a:srgbClr val="D83B01"/>
          </a:solidFill>
          <a:ln/>
        </p:spPr>
      </p:sp>
      <p:sp>
        <p:nvSpPr>
          <p:cNvPr id="15" name="Text 12"/>
          <p:cNvSpPr/>
          <p:nvPr/>
        </p:nvSpPr>
        <p:spPr>
          <a:xfrm>
            <a:off x="3255264" y="4572000"/>
            <a:ext cx="90525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PDF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02920" y="5074920"/>
            <a:ext cx="1289304" cy="402336"/>
          </a:xfrm>
          <a:prstGeom prst="roundRect">
            <a:avLst>
              <a:gd name="adj" fmla="val 50000"/>
            </a:avLst>
          </a:prstGeom>
          <a:solidFill>
            <a:srgbClr val="106EBE"/>
          </a:solidFill>
          <a:ln/>
        </p:spPr>
      </p:sp>
      <p:sp>
        <p:nvSpPr>
          <p:cNvPr id="17" name="Text 14"/>
          <p:cNvSpPr/>
          <p:nvPr/>
        </p:nvSpPr>
        <p:spPr>
          <a:xfrm>
            <a:off x="502920" y="5074920"/>
            <a:ext cx="128930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Email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526280" y="640080"/>
            <a:ext cx="7132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D7D9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一句交辦，一次拿到四份不同格式的交付物：企劃書 Word、折扣毛利試算 Excel、門市執行 SOP PDF、供應商通知信草稿 —— 而且四份彼此數字一致。這正是 Cowork 與 Chat 最直觀的差別：Chat 一次給你一段文字，你得自己開四個檔、貼四次、對四次數字；Cowork 在同一個工作階段裡接力四個技能，最後用「全部下載」一次打包給你。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4526280" y="1783080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455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代理式工作流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4526280" y="2286000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B4551B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26280" y="2286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455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5166360" y="2267712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一次交辦四份交付物，並明確點名限制條件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5166360" y="2633472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這一步刻意不拆成四次對話。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4526280" y="3310128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B4551B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526280" y="331012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455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5166360" y="3291840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看它怎麼接力：側邊欄的技能與輸出資料夾同步長出來</a:t>
            </a:r>
            <a:endParaRPr lang="en-US" sz="1600" dirty="0"/>
          </a:p>
        </p:txBody>
      </p:sp>
      <p:sp>
        <p:nvSpPr>
          <p:cNvPr id="27" name="Text 24"/>
          <p:cNvSpPr/>
          <p:nvPr/>
        </p:nvSpPr>
        <p:spPr>
          <a:xfrm>
            <a:off x="5166360" y="3657600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這一步請你刻意觀察右側工作區。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4526280" y="4334256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B4551B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4526280" y="433425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455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30" name="Text 27"/>
          <p:cNvSpPr/>
          <p:nvPr/>
        </p:nvSpPr>
        <p:spPr>
          <a:xfrm>
            <a:off x="5166360" y="4315968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抽查毛利紅線與四份文件的數字一致性</a:t>
            </a:r>
            <a:endParaRPr lang="en-US" sz="1600" dirty="0"/>
          </a:p>
        </p:txBody>
      </p:sp>
      <p:sp>
        <p:nvSpPr>
          <p:cNvPr id="31" name="Text 28"/>
          <p:cNvSpPr/>
          <p:nvPr/>
        </p:nvSpPr>
        <p:spPr>
          <a:xfrm>
            <a:off x="5166360" y="4681728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打開 Excel 試算表，先確認整體毛利率是否真的守在 32% 以上、有沒有品項折後售價跌破成本 1.25 倍…</a:t>
            </a:r>
            <a:endParaRPr lang="en-US" sz="1300" dirty="0"/>
          </a:p>
        </p:txBody>
      </p:sp>
      <p:sp>
        <p:nvSpPr>
          <p:cNvPr id="32" name="Shape 29"/>
          <p:cNvSpPr/>
          <p:nvPr/>
        </p:nvSpPr>
        <p:spPr>
          <a:xfrm>
            <a:off x="4526280" y="5358384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B4551B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4526280" y="535838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455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5166360" y="5340096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用「全部下載」一次打包，供應商信留在草稿等你決定</a:t>
            </a:r>
            <a:endParaRPr lang="en-US" sz="1600" dirty="0"/>
          </a:p>
        </p:txBody>
      </p:sp>
      <p:sp>
        <p:nvSpPr>
          <p:cNvPr id="35" name="Text 32"/>
          <p:cNvSpPr/>
          <p:nvPr/>
        </p:nvSpPr>
        <p:spPr>
          <a:xfrm>
            <a:off x="5166360" y="5705856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四份檔案確認無誤後，在側邊欄輸出區點「全部下載」，一次打包成 zip（單次最多 50 個檔案、500 MB）。</a:t>
            </a:r>
            <a:endParaRPr lang="en-US" sz="1300" dirty="0"/>
          </a:p>
        </p:txBody>
      </p:sp>
      <p:sp>
        <p:nvSpPr>
          <p:cNvPr id="36" name="Text 3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37" name="Text 34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B4551B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455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02 · 實機示範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 Cowork 怎麼做、產出什麼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8521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6" name="Image 0" descr="C:\temp\CoworkLab\v2\_working\screenshots\ret2_01_kickof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28800"/>
            <a:ext cx="5074920" cy="33234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B455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你的輸入與指令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16305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9" name="Image 1" descr="C:\temp\CoworkLab\v2\_working\screenshots\ret2_04_downloa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828800"/>
            <a:ext cx="5074920" cy="332345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21792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B455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產出成果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640080" y="5074920"/>
            <a:ext cx="1091153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080" y="5074920"/>
            <a:ext cx="91440" cy="1143000"/>
          </a:xfrm>
          <a:prstGeom prst="rect">
            <a:avLst/>
          </a:prstGeom>
          <a:solidFill>
            <a:srgbClr val="B4551B"/>
          </a:solidFill>
          <a:ln/>
        </p:spPr>
      </p:sp>
      <p:sp>
        <p:nvSpPr>
          <p:cNvPr id="13" name="Text 9"/>
          <p:cNvSpPr/>
          <p:nvPr/>
        </p:nvSpPr>
        <p:spPr>
          <a:xfrm>
            <a:off x="914400" y="518464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產出驗收</a:t>
            </a:r>
            <a:endParaRPr lang="en-US" sz="14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5221224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108960" y="5166360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四份交付物都已產出，且格式正確（Word 企劃書、Excel 試算表、PDF 單張 SOP、Email 草稿）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4640" y="5559552"/>
            <a:ext cx="182880" cy="18288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3108960" y="5504688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Excel 試算表的整體毛利率確實守住 32%，且逐品項折後售價未低於成本 1.25 倍</a:t>
            </a:r>
            <a:endParaRPr lang="en-US" sz="130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34640" y="5897880"/>
            <a:ext cx="182880" cy="18288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3108960" y="5843016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庫存低於 300 件的品項（鑄鐵燉鍋 190 件、床頭燈 280 件）未被列為主打品</a:t>
            </a:r>
            <a:endParaRPr lang="en-US" sz="1300" dirty="0"/>
          </a:p>
        </p:txBody>
      </p:sp>
      <p:sp>
        <p:nvSpPr>
          <p:cNvPr id="20" name="Text 1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1" name="Text 14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0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C1E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E7D5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6400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2E7D5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03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143000"/>
            <a:ext cx="1097280" cy="1097280"/>
          </a:xfrm>
          <a:prstGeom prst="ellipse">
            <a:avLst/>
          </a:prstGeom>
          <a:solidFill>
            <a:srgbClr val="2E7D5B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444752"/>
            <a:ext cx="493776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377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BC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零售通路 · 客服中心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269748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客訴事件觸發分流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502920" y="4114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⏱ 約 15–18 分鐘 · 難度 ★★★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02920" y="4572000"/>
            <a:ext cx="1289304" cy="402336"/>
          </a:xfrm>
          <a:prstGeom prst="roundRect">
            <a:avLst>
              <a:gd name="adj" fmla="val 50000"/>
            </a:avLst>
          </a:prstGeom>
          <a:solidFill>
            <a:srgbClr val="106EBE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" y="4572000"/>
            <a:ext cx="128930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Email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975104" y="4572000"/>
            <a:ext cx="3593592" cy="402336"/>
          </a:xfrm>
          <a:prstGeom prst="roundRect">
            <a:avLst>
              <a:gd name="adj" fmla="val 50000"/>
            </a:avLst>
          </a:prstGeom>
          <a:solidFill>
            <a:srgbClr val="B4009E"/>
          </a:solidFill>
          <a:ln/>
        </p:spPr>
      </p:sp>
      <p:sp>
        <p:nvSpPr>
          <p:cNvPr id="13" name="Text 10"/>
          <p:cNvSpPr/>
          <p:nvPr/>
        </p:nvSpPr>
        <p:spPr>
          <a:xfrm>
            <a:off x="1975104" y="4572000"/>
            <a:ext cx="35935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Enterprise Search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02920" y="5074920"/>
            <a:ext cx="1481328" cy="402336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/>
        </p:spPr>
      </p:sp>
      <p:sp>
        <p:nvSpPr>
          <p:cNvPr id="15" name="Text 12"/>
          <p:cNvSpPr/>
          <p:nvPr/>
        </p:nvSpPr>
        <p:spPr>
          <a:xfrm>
            <a:off x="502920" y="5074920"/>
            <a:ext cx="148132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事件觸發任務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526280" y="640080"/>
            <a:ext cx="7132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D7D9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個情境設定的不是排程，而是**事件觸發**：不是「每天早上跑一次」，而是「只要客服信箱收到符合條件的客訴信，就自動比對退換貨政策、判定案件等級、草擬回覆並等你核准」。你不用盯著信箱，也不用記得政策第幾條 —— 因為在你打開那封信之前，草稿已經準備好躺在那裡了。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4526280" y="1783080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5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代理式工作流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4526280" y="2286000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2E7D5B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526280" y="2286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E7D5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5166360" y="2267712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先手動跑一次：三封信一起丟，看它的分級與引用對不對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5166360" y="2633472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事件觸發任務最怕的是「規則沒調好就上線」，所以第一步一定是手動驗證。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4526280" y="3310128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2E7D5B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526280" y="331012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E7D5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5166360" y="3291840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請它依三段結構草擬回覆，並檢查有沒有超出政策承諾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5166360" y="3657600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判定正確之後，再請它逐封草擬回覆。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4526280" y="4334256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2E7D5B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526280" y="433425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E7D5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5166360" y="4315968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把驗證過的規則設成事件觸發任務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5166360" y="4681728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規則驗證過了，才把它變成常駐的事件觸發任務。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4526280" y="5358384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2E7D5B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4526280" y="535838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E7D5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600" dirty="0"/>
          </a:p>
        </p:txBody>
      </p:sp>
      <p:sp>
        <p:nvSpPr>
          <p:cNvPr id="32" name="Text 29"/>
          <p:cNvSpPr/>
          <p:nvPr/>
        </p:nvSpPr>
        <p:spPr>
          <a:xfrm>
            <a:off x="5166360" y="5340096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在「自動化」頁確認狀態，並理解它的安全邊界</a:t>
            </a:r>
            <a:endParaRPr lang="en-US" sz="1600" dirty="0"/>
          </a:p>
        </p:txBody>
      </p:sp>
      <p:sp>
        <p:nvSpPr>
          <p:cNvPr id="33" name="Text 30"/>
          <p:cNvSpPr/>
          <p:nvPr/>
        </p:nvSpPr>
        <p:spPr>
          <a:xfrm>
            <a:off x="5166360" y="5705856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事件觸發任務會和排程任務並列在「自動化」頁，各自顯示狀態（作用中／草稿／已暫停）與最近一次觸發時間…</a:t>
            </a:r>
            <a:endParaRPr lang="en-US" sz="1300" dirty="0"/>
          </a:p>
        </p:txBody>
      </p:sp>
      <p:sp>
        <p:nvSpPr>
          <p:cNvPr id="34" name="Text 31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35" name="Text 32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2E7D5B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E7D5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03 · 實機示範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 Cowork 怎麼做、產出什麼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8521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6" name="Image 0" descr="C:\temp\CoworkLab\v2\_working\screenshots\ret3_01_tri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28800"/>
            <a:ext cx="5074920" cy="33234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E7D5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你的輸入與指令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16305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9" name="Image 1" descr="C:\temp\CoworkLab\v2\_working\screenshots\ret3_04_automatio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828800"/>
            <a:ext cx="5074920" cy="332345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21792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E7D5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產出成果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640080" y="5074920"/>
            <a:ext cx="1091153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080" y="5074920"/>
            <a:ext cx="91440" cy="1143000"/>
          </a:xfrm>
          <a:prstGeom prst="rect">
            <a:avLst/>
          </a:prstGeom>
          <a:solidFill>
            <a:srgbClr val="2E7D5B"/>
          </a:solidFill>
          <a:ln/>
        </p:spPr>
      </p:sp>
      <p:sp>
        <p:nvSpPr>
          <p:cNvPr id="13" name="Text 9"/>
          <p:cNvSpPr/>
          <p:nvPr/>
        </p:nvSpPr>
        <p:spPr>
          <a:xfrm>
            <a:off x="914400" y="518464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產出驗收</a:t>
            </a:r>
            <a:endParaRPr lang="en-US" sz="14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5221224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108960" y="5166360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第一封（瑕疵且逾 48 小時未回覆）被正確判定為 A 級並要求主管覆核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4640" y="5559552"/>
            <a:ext cx="182880" cy="18288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3108960" y="5504688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第二封正確引用 P-04，說明到貨逾期可取消並全額退款，不受鑑賞期限制</a:t>
            </a:r>
            <a:endParaRPr lang="en-US" sz="130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34640" y="5897880"/>
            <a:ext cx="182880" cy="18288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3108960" y="5843016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第三封誠實說明門市（P-02）與網路通路（P-01）規定不同，未含糊帶過也未責怪客戶</a:t>
            </a:r>
            <a:endParaRPr lang="en-US" sz="1300" dirty="0"/>
          </a:p>
        </p:txBody>
      </p:sp>
      <p:sp>
        <p:nvSpPr>
          <p:cNvPr id="20" name="Text 1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1" name="Text 14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0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C1E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5C2E91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6400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5C2E9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04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143000"/>
            <a:ext cx="1097280" cy="1097280"/>
          </a:xfrm>
          <a:prstGeom prst="ellipse">
            <a:avLst/>
          </a:prstGeom>
          <a:solidFill>
            <a:srgbClr val="5C2E91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444752"/>
            <a:ext cx="493776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377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BC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零售通路 · 商品定價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269748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競品情報與調價建議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502920" y="4114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⏱ 約 40–90 分鐘 · 難度 ★★★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02920" y="4572000"/>
            <a:ext cx="2825496" cy="402336"/>
          </a:xfrm>
          <a:prstGeom prst="roundRect">
            <a:avLst>
              <a:gd name="adj" fmla="val 50000"/>
            </a:avLst>
          </a:prstGeom>
          <a:solidFill>
            <a:srgbClr val="8764B8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" y="4572000"/>
            <a:ext cx="282549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Deep Research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02920" y="5074920"/>
            <a:ext cx="1289304" cy="402336"/>
          </a:xfrm>
          <a:prstGeom prst="roundRect">
            <a:avLst>
              <a:gd name="adj" fmla="val 50000"/>
            </a:avLst>
          </a:prstGeom>
          <a:solidFill>
            <a:srgbClr val="217346"/>
          </a:solidFill>
          <a:ln/>
        </p:spPr>
      </p:sp>
      <p:sp>
        <p:nvSpPr>
          <p:cNvPr id="13" name="Text 10"/>
          <p:cNvSpPr/>
          <p:nvPr/>
        </p:nvSpPr>
        <p:spPr>
          <a:xfrm>
            <a:off x="502920" y="5074920"/>
            <a:ext cx="128930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Excel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526280" y="640080"/>
            <a:ext cx="7132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D7D9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Deep Research 的價值不在「查到很多資料」，而在「查完之後要能落到你自己的數字上」。這個情境刻意把外部情報與內部毛利表接起來：先讓它做一輪有來源的公開市場情報，再要求它把每一條情報換算成「這個品項該不該調價、調多少、調完毛利率剩多少」，而且不准用推估數字填補查不到的空格 —— 查不到就必須誠實寫「查無可靠公開來源」。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4526280" y="1783080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C2E9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代理式工作流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4526280" y="2286000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5C2E91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526280" y="2286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C2E9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5166360" y="2267712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先做有來源的公開市場情報，明確要求查不到就標註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5166360" y="2633472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這一步只做研究，先不要碰價格決策。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4526280" y="3310128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5C2E91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26280" y="331012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C2E9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5166360" y="3291840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檢查來源品質：連結是否可點、是否真的支持該結論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5166360" y="3657600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隨機點開三到五個來源連結，確認兩件事：連結真的存在（不是看起來像網址的字串），以及該來源真的支持它寫的那句結論…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4526280" y="4334256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5C2E91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526280" y="433425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C2E9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5166360" y="4315968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把情報落到毛利表上，逐項給出守得住紅線的調價建議</a:t>
            </a:r>
            <a:endParaRPr lang="en-US" sz="1600" dirty="0"/>
          </a:p>
        </p:txBody>
      </p:sp>
      <p:sp>
        <p:nvSpPr>
          <p:cNvPr id="27" name="Text 24"/>
          <p:cNvSpPr/>
          <p:nvPr/>
        </p:nvSpPr>
        <p:spPr>
          <a:xfrm>
            <a:off x="5166360" y="4681728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這一步才是這個情境真正的差異點：不是「幫我整理市場情報」，而是「把情報換算成我能執行的決定」。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4526280" y="5358384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5C2E91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4526280" y="535838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C2E9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600" dirty="0"/>
          </a:p>
        </p:txBody>
      </p:sp>
      <p:sp>
        <p:nvSpPr>
          <p:cNvPr id="30" name="Text 27"/>
          <p:cNvSpPr/>
          <p:nvPr/>
        </p:nvSpPr>
        <p:spPr>
          <a:xfrm>
            <a:off x="5166360" y="5340096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讓它自我檢查紅線，並說明哪些品項刻意不動價</a:t>
            </a:r>
            <a:endParaRPr lang="en-US" sz="1600" dirty="0"/>
          </a:p>
        </p:txBody>
      </p:sp>
      <p:sp>
        <p:nvSpPr>
          <p:cNvPr id="31" name="Text 28"/>
          <p:cNvSpPr/>
          <p:nvPr/>
        </p:nvSpPr>
        <p:spPr>
          <a:xfrm>
            <a:off x="5166360" y="5705856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最後補一刀自我檢查。</a:t>
            </a:r>
            <a:endParaRPr lang="en-US" sz="1300" dirty="0"/>
          </a:p>
        </p:txBody>
      </p:sp>
      <p:sp>
        <p:nvSpPr>
          <p:cNvPr id="32" name="Text 29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33" name="Text 30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5C2E9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C2E9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04 · 實機示範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 Cowork 怎麼做、產出什麼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8521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6" name="Image 0" descr="C:\temp\CoworkLab\v2\_working\screenshots\ret4_01_resear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28800"/>
            <a:ext cx="5074920" cy="33234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5C2E9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你的輸入與指令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16305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9" name="Image 1" descr="C:\temp\CoworkLab\v2\_working\screenshots\ret4_04_selfche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828800"/>
            <a:ext cx="5074920" cy="332345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21792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5C2E9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產出成果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640080" y="5074920"/>
            <a:ext cx="1091153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080" y="5074920"/>
            <a:ext cx="91440" cy="1143000"/>
          </a:xfrm>
          <a:prstGeom prst="rect">
            <a:avLst/>
          </a:prstGeom>
          <a:solidFill>
            <a:srgbClr val="5C2E91"/>
          </a:solidFill>
          <a:ln/>
        </p:spPr>
      </p:sp>
      <p:sp>
        <p:nvSpPr>
          <p:cNvPr id="13" name="Text 9"/>
          <p:cNvSpPr/>
          <p:nvPr/>
        </p:nvSpPr>
        <p:spPr>
          <a:xfrm>
            <a:off x="914400" y="518464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產出驗收</a:t>
            </a:r>
            <a:endParaRPr lang="en-US" sz="14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5221224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108960" y="5166360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每一條外部情報都附有可點擊來源連結，查不到的誠實標示「查無可靠公開來源」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4640" y="5559552"/>
            <a:ext cx="182880" cy="18288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3108960" y="5504688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隨機抽查的來源連結真的可以打開，且內容支持它所寫的結論</a:t>
            </a:r>
            <a:endParaRPr lang="en-US" sz="130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34640" y="5897880"/>
            <a:ext cx="182880" cy="18288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3108960" y="5843016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所有建議調整後的毛利率都不低於 38%，單次調降幅度都未超過 15%</a:t>
            </a:r>
            <a:endParaRPr lang="en-US" sz="1300" dirty="0"/>
          </a:p>
        </p:txBody>
      </p:sp>
      <p:sp>
        <p:nvSpPr>
          <p:cNvPr id="20" name="Text 1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1" name="Text 14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10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C1E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6400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0F6CB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05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143000"/>
            <a:ext cx="1097280" cy="1097280"/>
          </a:xfrm>
          <a:prstGeom prst="ellipse">
            <a:avLst/>
          </a:prstGeom>
          <a:solidFill>
            <a:srgbClr val="0F6CBD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444752"/>
            <a:ext cx="493776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377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BC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零售通路 · 商品採購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269748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合約到期盤點到會議發出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502920" y="4114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⏱ 約 15–18 分鐘 · 難度 ★★★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02920" y="4572000"/>
            <a:ext cx="905256" cy="402336"/>
          </a:xfrm>
          <a:prstGeom prst="roundRect">
            <a:avLst>
              <a:gd name="adj" fmla="val 50000"/>
            </a:avLst>
          </a:prstGeom>
          <a:solidFill>
            <a:srgbClr val="D83B01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" y="4572000"/>
            <a:ext cx="90525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PDF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591056" y="4572000"/>
            <a:ext cx="3977640" cy="402336"/>
          </a:xfrm>
          <a:prstGeom prst="roundRect">
            <a:avLst>
              <a:gd name="adj" fmla="val 50000"/>
            </a:avLst>
          </a:prstGeom>
          <a:solidFill>
            <a:srgbClr val="004E8C"/>
          </a:solidFill>
          <a:ln/>
        </p:spPr>
      </p:sp>
      <p:sp>
        <p:nvSpPr>
          <p:cNvPr id="13" name="Text 10"/>
          <p:cNvSpPr/>
          <p:nvPr/>
        </p:nvSpPr>
        <p:spPr>
          <a:xfrm>
            <a:off x="1591056" y="4572000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Calendar Management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02920" y="5074920"/>
            <a:ext cx="1289304" cy="402336"/>
          </a:xfrm>
          <a:prstGeom prst="roundRect">
            <a:avLst>
              <a:gd name="adj" fmla="val 50000"/>
            </a:avLst>
          </a:prstGeom>
          <a:solidFill>
            <a:srgbClr val="106EBE"/>
          </a:solidFill>
          <a:ln/>
        </p:spPr>
      </p:sp>
      <p:sp>
        <p:nvSpPr>
          <p:cNvPr id="15" name="Text 12"/>
          <p:cNvSpPr/>
          <p:nvPr/>
        </p:nvSpPr>
        <p:spPr>
          <a:xfrm>
            <a:off x="502920" y="5074920"/>
            <a:ext cx="128930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Email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526280" y="640080"/>
            <a:ext cx="7132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D7D9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這個情境要示範的是「一條龍」：從讀 PDF 合約清單、依規則算出誰已經逾期未啟動，到直接開會議邀請、寄提醒信給各採購 —— 三個不同系統（檔案、行事曆、郵件）在同一個任務裡串起來。Chat 能幫你算天數，但算完之後開會議、寄信這兩件事，永遠得你自己再做一次。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4526280" y="1783080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6CB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代理式工作流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4526280" y="2286000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0F6CBD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526280" y="2286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6CB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5166360" y="2267712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讀 PDF 並依規則算出誰已經逾期未啟動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5166360" y="2633472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第一步是把兩份文件一起交出去，讓它自己讀 PDF、自己套規則、自己算天數。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4526280" y="3310128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0F6CBD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526280" y="331012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6CB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5166360" y="3291840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請它依規則安排續約評估會議，觀察行事曆技能接手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5166360" y="3657600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確認盤點結果後，換技能。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4526280" y="4334256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0F6CBD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526280" y="433425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6CB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5166360" y="4315968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核准每一個對外動作：會議邀請與提醒信逐一確認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5166360" y="4681728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這一步是整個情境的核心體驗。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4526280" y="5358384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0F6CBD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4526280" y="535838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6CB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600" dirty="0"/>
          </a:p>
        </p:txBody>
      </p:sp>
      <p:sp>
        <p:nvSpPr>
          <p:cNvPr id="32" name="Text 29"/>
          <p:cNvSpPr/>
          <p:nvPr/>
        </p:nvSpPr>
        <p:spPr>
          <a:xfrm>
            <a:off x="5166360" y="5340096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回頭確認行事曆與寄件備份，驗證動作真的落地</a:t>
            </a:r>
            <a:endParaRPr lang="en-US" sz="1600" dirty="0"/>
          </a:p>
        </p:txBody>
      </p:sp>
      <p:sp>
        <p:nvSpPr>
          <p:cNvPr id="33" name="Text 30"/>
          <p:cNvSpPr/>
          <p:nvPr/>
        </p:nvSpPr>
        <p:spPr>
          <a:xfrm>
            <a:off x="5166360" y="5705856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最後一步請學員親自回 Outlook 行事曆與寄件備份確認。</a:t>
            </a:r>
            <a:endParaRPr lang="en-US" sz="1300" dirty="0"/>
          </a:p>
        </p:txBody>
      </p:sp>
      <p:sp>
        <p:nvSpPr>
          <p:cNvPr id="34" name="Text 31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35" name="Text 32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CB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05 · 實機示範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 Cowork 怎麼做、產出什麼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8521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6" name="Image 0" descr="C:\temp\CoworkLab\v2\_working\screenshots\ret5_01_swee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28800"/>
            <a:ext cx="5074920" cy="33234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F6CB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你的輸入與指令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16305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9" name="Image 1" descr="C:\temp\CoworkLab\v2\_working\screenshots\ret5_04_verif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828800"/>
            <a:ext cx="5074920" cy="332345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21792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F6CB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產出成果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640080" y="5074920"/>
            <a:ext cx="1091153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080" y="5074920"/>
            <a:ext cx="91440" cy="1143000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13" name="Text 9"/>
          <p:cNvSpPr/>
          <p:nvPr/>
        </p:nvSpPr>
        <p:spPr>
          <a:xfrm>
            <a:off x="914400" y="518464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產出驗收</a:t>
            </a:r>
            <a:endParaRPr lang="en-US" sz="14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5221224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108960" y="5166360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香語生活（9/18）與綿境紡織（9/30）被正確標示為「應啟動日已過期」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4640" y="5559552"/>
            <a:ext cx="182880" cy="18288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3108960" y="5504688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提前啟動天數依年度採購額正確分級（90／60／30 天），未一律套用同一個天數</a:t>
            </a:r>
            <a:endParaRPr lang="en-US" sz="130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34640" y="5897880"/>
            <a:ext cx="182880" cy="18288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3108960" y="5843016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黃柏翰的兩份到期日相近合約被合併為一場會議，符合合併規則</a:t>
            </a:r>
            <a:endParaRPr lang="en-US" sz="1300" dirty="0"/>
          </a:p>
        </p:txBody>
      </p:sp>
      <p:sp>
        <p:nvSpPr>
          <p:cNvPr id="20" name="Text 1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1" name="Text 14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10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C1E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A4373A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6400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A437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06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143000"/>
            <a:ext cx="1097280" cy="1097280"/>
          </a:xfrm>
          <a:prstGeom prst="ellipse">
            <a:avLst/>
          </a:prstGeom>
          <a:solidFill>
            <a:srgbClr val="A4373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444752"/>
            <a:ext cx="493776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377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BC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零售通路 · 自動化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269748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門市週報產生器技能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502920" y="4114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⏱ 約 20–25 分鐘 · 難度 ★★★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02920" y="4572000"/>
            <a:ext cx="2249424" cy="402336"/>
          </a:xfrm>
          <a:prstGeom prst="roundRect">
            <a:avLst>
              <a:gd name="adj" fmla="val 50000"/>
            </a:avLst>
          </a:prstGeom>
          <a:solidFill>
            <a:srgbClr val="7A4DDB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" y="4572000"/>
            <a:ext cx="224942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自訂技能 Skill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4526280" y="640080"/>
            <a:ext cx="7132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D7D9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前面五個情境每次都要重講一次規則；這一個把規則本身變成資產。做一個自訂技能，一次寫清楚分級門檻、警訊規則、HTML 報表結構與語氣要求，之後每週只要一句「產生本週門市營運週報」，就同時拿到一份可視覺化的 HTML 報表與一份可直接寄出的 Email 版摘要 —— 而且同事也能用同一套標準，週報格式不會因人而異。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4526280" y="1783080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437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代理式工作流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4526280" y="2286000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A4373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526280" y="2286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437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5166360" y="2267712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用引導式流程建立技能：先描述你每週在做什麼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5166360" y="2633472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建立技能有三種方式：從左側「自訂」頁的引導式流程、直接在對話中請它幫你做一個…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4526280" y="3090672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A4373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526280" y="309067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437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5166360" y="3072384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把判讀規則與防護欄寫進去，這才是技能的價值所在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5166360" y="3438144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技能的價值不在名字，而在規則的密度。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4526280" y="3895344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A4373A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526280" y="389534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437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5166360" y="3877056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看它自動評估技能品質，並讀懂那份技能報告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5166360" y="4242816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技能建立、更新或驗證時，Cowork 會自動評估並回傳一份「技能報告」，你不需要主動要求。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4526280" y="4700016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A4373A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526280" y="470001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437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5166360" y="4681728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開新工作階段實測：一句話換到 HTML 報表與 Email 摘要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5166360" y="5047488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這一步一定要**開新的工作階段**，因為技能是在每次工作階段開始時被自動探索載入的。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4526280" y="5504688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A4373A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4526280" y="550468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437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1600" dirty="0"/>
          </a:p>
        </p:txBody>
      </p:sp>
      <p:sp>
        <p:nvSpPr>
          <p:cNvPr id="32" name="Text 29"/>
          <p:cNvSpPr/>
          <p:nvPr/>
        </p:nvSpPr>
        <p:spPr>
          <a:xfrm>
            <a:off x="5166360" y="5486400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檢查兩份產出，決定要不要分享給同事</a:t>
            </a:r>
            <a:endParaRPr lang="en-US" sz="1600" dirty="0"/>
          </a:p>
        </p:txBody>
      </p:sp>
      <p:sp>
        <p:nvSpPr>
          <p:cNvPr id="33" name="Text 30"/>
          <p:cNvSpPr/>
          <p:nvPr/>
        </p:nvSpPr>
        <p:spPr>
          <a:xfrm>
            <a:off x="5166360" y="5852160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打開 HTML 報表確認六個區塊是否齊全、達成率橫條是否對得上數字、桃園中壢店…</a:t>
            </a:r>
            <a:endParaRPr lang="en-US" sz="1300" dirty="0"/>
          </a:p>
        </p:txBody>
      </p:sp>
      <p:sp>
        <p:nvSpPr>
          <p:cNvPr id="34" name="Text 31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35" name="Text 32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A4373A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A437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06 · 實機示範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 Cowork 怎麼做、產出什麼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8521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6" name="Image 0" descr="C:\temp\CoworkLab\v2\_working\screenshots\ret6_01_crea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28800"/>
            <a:ext cx="5074920" cy="33234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A437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你的輸入與指令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16305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9" name="Image 1" descr="C:\temp\CoworkLab\v2\_working\screenshots\ret6_05_shar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828800"/>
            <a:ext cx="5074920" cy="332345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21792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A437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產出成果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640080" y="5074920"/>
            <a:ext cx="1091153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080" y="5074920"/>
            <a:ext cx="91440" cy="1143000"/>
          </a:xfrm>
          <a:prstGeom prst="rect">
            <a:avLst/>
          </a:prstGeom>
          <a:solidFill>
            <a:srgbClr val="A4373A"/>
          </a:solidFill>
          <a:ln/>
        </p:spPr>
      </p:sp>
      <p:sp>
        <p:nvSpPr>
          <p:cNvPr id="13" name="Text 9"/>
          <p:cNvSpPr/>
          <p:nvPr/>
        </p:nvSpPr>
        <p:spPr>
          <a:xfrm>
            <a:off x="914400" y="518464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產出驗收</a:t>
            </a:r>
            <a:endParaRPr lang="en-US" sz="14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5221224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108960" y="5166360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技能描述包含明確觸發語句，且有「Do NOT use for」排除條款避免與既有技能搶觸發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4640" y="5559552"/>
            <a:ext cx="182880" cy="18288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3108960" y="5504688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「複製檔案」核准卡已按下核准，技能確實發布到 OneDrive 的 skills 資料夾</a:t>
            </a:r>
            <a:endParaRPr lang="en-US" sz="130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34640" y="5897880"/>
            <a:ext cx="182880" cy="18288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3108960" y="5843016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新工作階段中只給數據、不重述規則，仍能正確套用四級分級門檻</a:t>
            </a:r>
            <a:endParaRPr lang="en-US" sz="1300" dirty="0"/>
          </a:p>
        </p:txBody>
      </p:sp>
      <p:sp>
        <p:nvSpPr>
          <p:cNvPr id="20" name="Text 1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1" name="Text 14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MAKE IT YOURS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把情境延伸到你的日常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5295748" cy="112471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41248" y="2125980"/>
            <a:ext cx="438912" cy="438912"/>
          </a:xfrm>
          <a:prstGeom prst="ellipse">
            <a:avLst/>
          </a:prstGeom>
          <a:solidFill>
            <a:srgbClr val="8A3A62"/>
          </a:solidFill>
          <a:ln/>
        </p:spPr>
      </p:sp>
      <p:sp>
        <p:nvSpPr>
          <p:cNvPr id="7" name="Shape 5"/>
          <p:cNvSpPr/>
          <p:nvPr/>
        </p:nvSpPr>
        <p:spPr>
          <a:xfrm>
            <a:off x="640080" y="3017520"/>
            <a:ext cx="5295748" cy="112471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41248" y="3360420"/>
            <a:ext cx="438912" cy="438912"/>
          </a:xfrm>
          <a:prstGeom prst="ellipse">
            <a:avLst/>
          </a:prstGeom>
          <a:solidFill>
            <a:srgbClr val="B4551B"/>
          </a:solidFill>
          <a:ln/>
        </p:spPr>
      </p:sp>
      <p:sp>
        <p:nvSpPr>
          <p:cNvPr id="9" name="Shape 7"/>
          <p:cNvSpPr/>
          <p:nvPr/>
        </p:nvSpPr>
        <p:spPr>
          <a:xfrm>
            <a:off x="640080" y="4251960"/>
            <a:ext cx="5295748" cy="112471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41248" y="4594860"/>
            <a:ext cx="438912" cy="438912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1" name="Shape 9"/>
          <p:cNvSpPr/>
          <p:nvPr/>
        </p:nvSpPr>
        <p:spPr>
          <a:xfrm>
            <a:off x="6255868" y="1783080"/>
            <a:ext cx="5295748" cy="112471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57036" y="2125980"/>
            <a:ext cx="438912" cy="438912"/>
          </a:xfrm>
          <a:prstGeom prst="ellipse">
            <a:avLst/>
          </a:prstGeom>
          <a:solidFill>
            <a:srgbClr val="5C2E91"/>
          </a:solidFill>
          <a:ln/>
        </p:spPr>
      </p:sp>
      <p:sp>
        <p:nvSpPr>
          <p:cNvPr id="13" name="Shape 11"/>
          <p:cNvSpPr/>
          <p:nvPr/>
        </p:nvSpPr>
        <p:spPr>
          <a:xfrm>
            <a:off x="6255868" y="3017520"/>
            <a:ext cx="5295748" cy="112471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57036" y="3360420"/>
            <a:ext cx="438912" cy="438912"/>
          </a:xfrm>
          <a:prstGeom prst="ellipse">
            <a:avLst/>
          </a:prstGeom>
          <a:solidFill>
            <a:srgbClr val="0F6CBD"/>
          </a:solidFill>
          <a:ln/>
        </p:spPr>
      </p:sp>
      <p:sp>
        <p:nvSpPr>
          <p:cNvPr id="15" name="Shape 13"/>
          <p:cNvSpPr/>
          <p:nvPr/>
        </p:nvSpPr>
        <p:spPr>
          <a:xfrm>
            <a:off x="6255868" y="4251960"/>
            <a:ext cx="5295748" cy="112471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57036" y="4594860"/>
            <a:ext cx="438912" cy="438912"/>
          </a:xfrm>
          <a:prstGeom prst="ellipse">
            <a:avLst/>
          </a:prstGeom>
          <a:solidFill>
            <a:srgbClr val="A4373A"/>
          </a:solidFill>
          <a:ln/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0976" y="2235708"/>
            <a:ext cx="219456" cy="219456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1417320" y="1819656"/>
            <a:ext cx="2224214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3A6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零售通路 · 營運督導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3076124" y="1819656"/>
            <a:ext cx="2753789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把排程改成一週一次的週報，或改成只在達成率低於 90% 時才通知你。</a:t>
            </a:r>
            <a:endParaRPr lang="en-US" sz="1150" dirty="0"/>
          </a:p>
        </p:txBody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" y="3470148"/>
            <a:ext cx="219456" cy="219456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1417320" y="3054096"/>
            <a:ext cx="2224214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455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零售通路 · 商品企劃</a:t>
            </a:r>
            <a:endParaRPr lang="en-US" sz="1300" dirty="0"/>
          </a:p>
        </p:txBody>
      </p:sp>
      <p:sp>
        <p:nvSpPr>
          <p:cNvPr id="22" name="Text 18"/>
          <p:cNvSpPr/>
          <p:nvPr/>
        </p:nvSpPr>
        <p:spPr>
          <a:xfrm>
            <a:off x="3076124" y="3054096"/>
            <a:ext cx="2753789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改一個條件（例如毛利率紅線改成 35%），請它整組四份文件重出，體驗「一次改、四份同步」。</a:t>
            </a:r>
            <a:endParaRPr lang="en-US" sz="1150" dirty="0"/>
          </a:p>
        </p:txBody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976" y="4704588"/>
            <a:ext cx="219456" cy="219456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1417320" y="4288536"/>
            <a:ext cx="2224214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5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零售通路 · 客服中心</a:t>
            </a:r>
            <a:endParaRPr lang="en-US" sz="1300" dirty="0"/>
          </a:p>
        </p:txBody>
      </p:sp>
      <p:sp>
        <p:nvSpPr>
          <p:cNvPr id="25" name="Text 20"/>
          <p:cNvSpPr/>
          <p:nvPr/>
        </p:nvSpPr>
        <p:spPr>
          <a:xfrm>
            <a:off x="3076124" y="4288536"/>
            <a:ext cx="2753789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把觸發條件縮小到特定寄件網域或特定通路的客服信箱，降低誤觸發。</a:t>
            </a:r>
            <a:endParaRPr lang="en-US" sz="1150" dirty="0"/>
          </a:p>
        </p:txBody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66764" y="2235708"/>
            <a:ext cx="219456" cy="219456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7033108" y="1819656"/>
            <a:ext cx="2224214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C2E9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零售通路 · 商品定價</a:t>
            </a:r>
            <a:endParaRPr lang="en-US" sz="1300" dirty="0"/>
          </a:p>
        </p:txBody>
      </p:sp>
      <p:sp>
        <p:nvSpPr>
          <p:cNvPr id="28" name="Text 22"/>
          <p:cNvSpPr/>
          <p:nvPr/>
        </p:nvSpPr>
        <p:spPr>
          <a:xfrm>
            <a:off x="8691911" y="1819656"/>
            <a:ext cx="2753789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把調價紅線換成你們自己的毛利政策，其他步驟完全沿用。</a:t>
            </a:r>
            <a:endParaRPr lang="en-US" sz="1150" dirty="0"/>
          </a:p>
        </p:txBody>
      </p:sp>
      <p:pic>
        <p:nvPicPr>
          <p:cNvPr id="2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66764" y="3470148"/>
            <a:ext cx="219456" cy="219456"/>
          </a:xfrm>
          <a:prstGeom prst="rect">
            <a:avLst/>
          </a:prstGeom>
        </p:spPr>
      </p:pic>
      <p:sp>
        <p:nvSpPr>
          <p:cNvPr id="30" name="Text 23"/>
          <p:cNvSpPr/>
          <p:nvPr/>
        </p:nvSpPr>
        <p:spPr>
          <a:xfrm>
            <a:off x="7033108" y="3054096"/>
            <a:ext cx="2224214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6CB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零售通路 · 商品採購</a:t>
            </a:r>
            <a:endParaRPr lang="en-US" sz="1300" dirty="0"/>
          </a:p>
        </p:txBody>
      </p:sp>
      <p:sp>
        <p:nvSpPr>
          <p:cNvPr id="31" name="Text 24"/>
          <p:cNvSpPr/>
          <p:nvPr/>
        </p:nvSpPr>
        <p:spPr>
          <a:xfrm>
            <a:off x="8691911" y="3054096"/>
            <a:ext cx="2753789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把它設成每月 1 號的排程任務，讓合約盤點變成不需要人記得的例行工作。</a:t>
            </a:r>
            <a:endParaRPr lang="en-US" sz="1150" dirty="0"/>
          </a:p>
        </p:txBody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66764" y="4704588"/>
            <a:ext cx="219456" cy="219456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7033108" y="4288536"/>
            <a:ext cx="2224214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437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零售通路 · 自動化</a:t>
            </a:r>
            <a:endParaRPr lang="en-US" sz="1300" dirty="0"/>
          </a:p>
        </p:txBody>
      </p:sp>
      <p:sp>
        <p:nvSpPr>
          <p:cNvPr id="34" name="Text 26"/>
          <p:cNvSpPr/>
          <p:nvPr/>
        </p:nvSpPr>
        <p:spPr>
          <a:xfrm>
            <a:off x="8691911" y="4288536"/>
            <a:ext cx="2753789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做一個變體技能，專門產生月報或季報，重複使用同一套分級規則。</a:t>
            </a:r>
            <a:endParaRPr lang="en-US" sz="1150" dirty="0"/>
          </a:p>
        </p:txBody>
      </p:sp>
      <p:sp>
        <p:nvSpPr>
          <p:cNvPr id="35" name="Text 27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36" name="Text 28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2D3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TRUST &amp; CONTROL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自動化，但你始終是決策者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777240" cy="777240"/>
          </a:xfrm>
          <a:prstGeom prst="roundRect">
            <a:avLst>
              <a:gd name="adj" fmla="val 1882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22D3EE">
                <a:alpha val="60000"/>
              </a:srgbClr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2039112"/>
            <a:ext cx="448056" cy="44805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91640" y="1856232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行動前審核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691640" y="2203704"/>
            <a:ext cx="9966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中高風險動作會顯示 RISK-LEVEL；寄信、發 Teams、建立會議等動作先攤開可編輯預覽，核准後才送出。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044952"/>
            <a:ext cx="777240" cy="777240"/>
          </a:xfrm>
          <a:prstGeom prst="roundRect">
            <a:avLst>
              <a:gd name="adj" fmla="val 1882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22D3EE">
                <a:alpha val="60000"/>
              </a:srgbClr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" y="3209544"/>
            <a:ext cx="448056" cy="44805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691640" y="3026664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控制範圍清楚</a:t>
            </a:r>
            <a:endParaRPr lang="en-US" sz="1700" dirty="0"/>
          </a:p>
        </p:txBody>
      </p:sp>
      <p:sp>
        <p:nvSpPr>
          <p:cNvPr id="12" name="Text 8"/>
          <p:cNvSpPr/>
          <p:nvPr/>
        </p:nvSpPr>
        <p:spPr>
          <a:xfrm>
            <a:off x="1691640" y="3374136"/>
            <a:ext cx="9966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don’t ask again 可限定 per-recipient、per-domain 或 always；任務可軟／硬暫停、恢復或取消。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640080" y="4215384"/>
            <a:ext cx="777240" cy="777240"/>
          </a:xfrm>
          <a:prstGeom prst="roundRect">
            <a:avLst>
              <a:gd name="adj" fmla="val 1882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22D3EE">
                <a:alpha val="60000"/>
              </a:srgbClr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" y="4379976"/>
            <a:ext cx="448056" cy="448056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691640" y="4197096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自動化任務也有把關</a:t>
            </a:r>
            <a:endParaRPr lang="en-US" sz="1700" dirty="0"/>
          </a:p>
        </p:txBody>
      </p:sp>
      <p:sp>
        <p:nvSpPr>
          <p:cNvPr id="16" name="Text 11"/>
          <p:cNvSpPr/>
          <p:nvPr/>
        </p:nvSpPr>
        <p:spPr>
          <a:xfrm>
            <a:off x="1691640" y="4544568"/>
            <a:ext cx="9966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排程提示與事件驅動任務有執行頻率限制與防迴圈保護；一律以建立者權限執行，且與其他 Cowork 活動一同記錄在統一稽核日誌，套用 Microsoft Purview 政策。</a:t>
            </a:r>
            <a:endParaRPr lang="en-US" sz="1300" dirty="0"/>
          </a:p>
        </p:txBody>
      </p:sp>
      <p:sp>
        <p:nvSpPr>
          <p:cNvPr id="17" name="Shape 12"/>
          <p:cNvSpPr/>
          <p:nvPr/>
        </p:nvSpPr>
        <p:spPr>
          <a:xfrm>
            <a:off x="640080" y="5385816"/>
            <a:ext cx="777240" cy="777240"/>
          </a:xfrm>
          <a:prstGeom prst="roundRect">
            <a:avLst>
              <a:gd name="adj" fmla="val 1882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22D3EE">
                <a:alpha val="60000"/>
              </a:srgbClr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4672" y="5550408"/>
            <a:ext cx="448056" cy="448056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691640" y="5367528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限制也要知道</a:t>
            </a:r>
            <a:endParaRPr lang="en-US" sz="1700" dirty="0"/>
          </a:p>
        </p:txBody>
      </p:sp>
      <p:sp>
        <p:nvSpPr>
          <p:cNvPr id="20" name="Text 14"/>
          <p:cNvSpPr/>
          <p:nvPr/>
        </p:nvSpPr>
        <p:spPr>
          <a:xfrm>
            <a:off x="1691640" y="5715000"/>
            <a:ext cx="9966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不能存取本機檔案、刪除 OneDrive/SharePoint 檔案或讀取加密檔；附件 &lt;200MB；自訂技能與第三方 plugin 未經 Microsoft 驗證，需自行審閱。官方明列不適用於「免人工審查即需保證正確」的用途。</a:t>
            </a:r>
            <a:endParaRPr lang="en-US" sz="1300" dirty="0"/>
          </a:p>
        </p:txBody>
      </p:sp>
      <p:sp>
        <p:nvSpPr>
          <p:cNvPr id="21" name="Text 1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2" name="Text 16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37160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現在就開始練習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40080" y="23774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開始前請確認：每位使用者一張 M365 Copilot 授權、管理員已啟用用量計費（Copilot Credits，未啟用則無法存取）、租戶位於 Anthropic 支援地區；可在 Web/桌面/行動/Outlook/Teams 使用（本機瀏覽器工作僅限網頁版＋Edge 150 以上，且預設停用需管理員開啟）。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3017520"/>
            <a:ext cx="8686800" cy="868680"/>
          </a:xfrm>
          <a:prstGeom prst="roundRect">
            <a:avLst>
              <a:gd name="adj" fmla="val 12632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35000"/>
              </a:srgbClr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291840"/>
            <a:ext cx="329184" cy="32918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17320" y="31272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Cowork 練習手冊</a:t>
            </a:r>
            <a:endParaRPr lang="en-US" sz="1400" dirty="0"/>
          </a:p>
        </p:txBody>
      </p:sp>
      <p:sp>
        <p:nvSpPr>
          <p:cNvPr id="7" name="Text 4">
            <a:hlinkClick r:id="rId3" tooltip=""/>
          </p:cNvPr>
          <p:cNvSpPr/>
          <p:nvPr/>
        </p:nvSpPr>
        <p:spPr>
          <a:xfrm>
            <a:off x="1417320" y="3419856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u="sng" dirty="0">
                <a:solidFill>
                  <a:srgbClr val="9FE9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andyhung11.github.io/Copilot-in-1mins/CoworkPlaybook/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4315968"/>
            <a:ext cx="237744" cy="23774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005840" y="4261104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3E5F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挑一個最貼近你工作的情境開始</a:t>
            </a:r>
            <a:endParaRPr lang="en-US" sz="1400" dirty="0"/>
          </a:p>
        </p:txBody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4791456"/>
            <a:ext cx="237744" cy="237744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005840" y="4736592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3E5F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自訂技能放 OneDrive /Documents/Cowork/skills/ 的 SKILL.md（最多 50 個、每個 1MB）</a:t>
            </a:r>
            <a:endParaRPr lang="en-US" sz="1400" dirty="0"/>
          </a:p>
        </p:txBody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" y="5266944"/>
            <a:ext cx="237744" cy="237744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1005840" y="52120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3E5F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模型選擇器：Auto（預設）、GPT 5.5 Frontier、GPT 5.6 Sol／Terra、Opus 5、Sonnet 5、Fable 5（預覽・預設關閉）</a:t>
            </a:r>
            <a:endParaRPr lang="en-US" sz="1400" dirty="0"/>
          </a:p>
        </p:txBody>
      </p:sp>
      <p:pic>
        <p:nvPicPr>
          <p:cNvPr id="14" name="Image 4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080" y="5742432"/>
            <a:ext cx="237744" cy="237744"/>
          </a:xfrm>
          <a:prstGeom prst="rect">
            <a:avLst/>
          </a:prstGeom>
        </p:spPr>
      </p:pic>
      <p:sp>
        <p:nvSpPr>
          <p:cNvPr id="15" name="Text 8"/>
          <p:cNvSpPr/>
          <p:nvPr/>
        </p:nvSpPr>
        <p:spPr>
          <a:xfrm>
            <a:off x="1005840" y="5687568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3E5F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想要自動觸發？到「Automations」頁設定排程提示（上限 5 個）或事件觸發任務（收信／被 @提及）</a:t>
            </a:r>
            <a:endParaRPr lang="en-US" sz="1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37744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謝謝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640080" y="36118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把重複、吃時間的工作，交給 Cowork —— 你專注在決策與客戶。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640080" y="4389120"/>
            <a:ext cx="3200400" cy="0"/>
          </a:xfrm>
          <a:prstGeom prst="line">
            <a:avLst/>
          </a:prstGeom>
          <a:noFill/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45262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 · 教育訓練簡報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Microsoft 365 Copilot Cowork 教育訓練 · 零售通路業</dc:title>
  <dc:subject>PptxGenJS Presentation</dc:subject>
  <dc:creator>Andy Hung</dc:creator>
  <cp:lastModifiedBy>Andy Hung</cp:lastModifiedBy>
  <cp:revision>1</cp:revision>
  <dcterms:created xsi:type="dcterms:W3CDTF">2026-08-20T13:10:50Z</dcterms:created>
  <dcterms:modified xsi:type="dcterms:W3CDTF">2026-08-20T13:10:50Z</dcterms:modified>
</cp:coreProperties>
</file>