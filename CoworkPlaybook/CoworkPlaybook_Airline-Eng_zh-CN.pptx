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laybook" TargetMode="External"/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5" Type="http://schemas.openxmlformats.org/officeDocument/2006/relationships/image" Target="../media/image-25-4.png"/><Relationship Id="rId6" Type="http://schemas.openxmlformats.org/officeDocument/2006/relationships/image" Target="../media/image-25-5.png"/><Relationship Id="rId7" Type="http://schemas.openxmlformats.org/officeDocument/2006/relationships/image" Target="../media/image-25-6.png"/><Relationship Id="rId8" Type="http://schemas.openxmlformats.org/officeDocument/2006/relationships/image" Target="../media/image-2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 AI 的实战工作流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7 个航空机务工程的真实场景，看 Copilot 如何跨应用多步执行，并在中高风险操作前显示风险等级、等你批准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培训演示文稿 · 客户分享版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今天的内容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什么是代理式 AI，和一般 Copilot Chat 有什么不同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核心能力与运作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技能、工作区、操作前审批、自检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练习环境准备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素材课前放进 OneDrive 和邮箱，让 Cowork 自己去找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七大实战场景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适航指令到期、保留项目延期、定检窗口比较、AOG 事件应变、服务通告转工程指令、可靠性月报、适用性判定技能，逐一拆解工作流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用到你的日常工作里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如何把这些场景延伸到自己的工作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从「对话」到「代理执行」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你交付一个目标，它会自己拆解步骤、读取云端文件、加载需要的技能，跨应用产出成果并自检——中高风险操作会显示风险等级并停下来请你批准。你从「快速单轮问答」升级为「交付一个可执行的任务」。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快速单轮问答；适合即时回答和头脑风暴。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你给目标，它跨应用多步骤自主执行，可以运行几分钟到几小时。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你仍然主导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对外或影响别人的操作，一律先暂停等你批准。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与一般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交付目标，跨应用自主多步执行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快速单轮问答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交付目标，跨应用自主多步执行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分钟～数小时（自主执行）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秒～分钟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分钟～数小时（自主执行）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跨任务与来源的多步骤工作流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单步骤、单个会话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跨任务与来源的多步骤工作流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读取云端附件、产出新文件；不访问本地文件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粘贴片段内容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读取云端附件、产出新文件；不访问本地文件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自动加载 14 个内置技能和自定义技能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单一对话能力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自动加载 14 个内置技能和自定义技能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里真实的文档、电子表格、演示文稿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聊天窗口里的文字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里真实的文档、电子表格、演示文稿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计划提示／事件触发：收到邮件或被 @提及时自动执行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每次都要你打开并下指令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计划提示／事件触发：收到邮件或被 @提及时自动执行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可以通过 Plugins／MCP 连外部系统，官方目录已有 92 个合作伙伴 plugin（D365、SAP、Fabric 等）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接地于 M365 数据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可以通过 Plugins／MCP 连外部系统，官方目录已有 92 个合作伙伴 plugin（D365、SAP、Fabric 等）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中高风险操作显示风险等级，批准后才执行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你自己判断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中高风险操作显示风险等级，批准后才执行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四个让 Cowork 不一样的能力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29514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个内置技能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Word、Excel、PowerPoint、PDF、Email、Scheduling、Calendar Management、Meetings、Daily Briefing、Enterprise Search、Deep Research、Communications、Adaptive Cards、App（Frontier）。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29514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右侧面板同时显示进度、输入文件、输出文件、已加载技能、计划任务和已批准的权限，过程透明可追溯。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80974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 RISK-LEVEL；可以批准、取消，或者设置仅限此收件人／仅限此域名／始终允许；多条待审可以一起批准。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80974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计划提示（上限 25 个）和事件触发任务、工作量级别五档调节质量与成本、自定义技能创建后自动生成技能报告（0–100 分四个维度，另有含安全与 RAI 扫描的 5 道独立关卡）、本机 Edge 浏览器（2026/8 GA）、图像生成、Plugins／MCP 连外部系统。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一次代理式工作流，背后发生什么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接收目标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下达指令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理解任务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拆成步骤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内置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自定义技能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执行产出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创建文档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电子表格／邮件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核对数字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对外操作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等你批准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整个过程在「工作区」面板里透明呈现；可以软／硬暂停、恢复或取消任务。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启动方式不只是聊天下指令：也能设置「收到指定邮件／被 @提及时」自动触发（事件驱动任务），一样走相同的自检和审批流程。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练习环境准备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素材课前先放进 OneDrive 的 文件/Cowork_Lab/航空机务/，练习时 Cowork 自己去找 · 准备时间 约 20 分钟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先看懂这份教材的日期设定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素材里的日期是固定写死的模拟日期：场景当下是 2026-10-08，台账数据截止日是 2026-10-05…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 OneDrive 文件夹，把七个场景的素材放进去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OneDrive 建立 文件/Cowork_Lab/航空机务/，底下再开七个子文件夹：AIR1_适航指令…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把联系人清单放在母层，并填上真的收得到信的账号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联系人清单.md 要放在 航空机务 母文件夹，不要放进任何子文件夹。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发一封邮件给自己（场景 4 的背景）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用你自己的账号发给自己，主题请照抄：[MOC] 夜班交接记录 2026-10-08 07:00正文照 信箱_種入…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建好“机务异常”频道，贴第一条（场景 4 专用）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在你有权限的任一团队底下建立名为 机务异常 的频道，并确认自己是成员。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💾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上傳用/ 的两个文件下载到电脑，不要放进 OneDrive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AIR5_服务通报_NW350-28-1142.pdf…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🧩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43584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确认技能路径可写入，并用桌面版做场景 7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43584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7 会请 Cowork 建立自定义技能，写到 OneDrive/文档/Cowork/skills/sb-a…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开课前最后检查</a:t>
            </a:r>
            <a:endParaRPr lang="en-US" sz="120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的“航空机务”底下七个子文件夹都看得到，文件打得开</a:t>
            </a:r>
            <a:endParaRPr lang="en-US" sz="1050" dirty="0"/>
          </a:p>
        </p:txBody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联系人清单在“航空机务”母层，不是在子文件夹里，而且邮箱栏已经填了收得到信的账号</a:t>
            </a:r>
            <a:endParaRPr lang="en-US" sz="1050" dirty="0"/>
          </a:p>
        </p:txBody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邮箱里有那封 MOC 夜班交接记录，在收件箱不在垃圾邮件</a:t>
            </a:r>
            <a:endParaRPr lang="en-US" sz="1050" dirty="0"/>
          </a:p>
        </p:txBody>
      </p:sp>
      <p:sp>
        <p:nvSpPr>
          <p:cNvPr id="50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七大实战场景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355010" cy="10972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Shape 5"/>
          <p:cNvSpPr/>
          <p:nvPr/>
        </p:nvSpPr>
        <p:spPr>
          <a:xfrm>
            <a:off x="860385" y="2194560"/>
            <a:ext cx="914400" cy="91440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553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63824"/>
            <a:ext cx="1172130" cy="296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897" dirty="0"/>
          </a:p>
        </p:txBody>
      </p:sp>
      <p:sp>
        <p:nvSpPr>
          <p:cNvPr id="10" name="Text 7"/>
          <p:cNvSpPr/>
          <p:nvPr/>
        </p:nvSpPr>
        <p:spPr>
          <a:xfrm>
            <a:off x="731520" y="3514877"/>
            <a:ext cx="1172130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适航指令到期雷达：剩余数字小的不是先到期的</a:t>
            </a:r>
            <a:endParaRPr lang="en-US" sz="1170" dirty="0"/>
          </a:p>
        </p:txBody>
      </p:sp>
      <p:sp>
        <p:nvSpPr>
          <p:cNvPr id="11" name="Text 8"/>
          <p:cNvSpPr/>
          <p:nvPr/>
        </p:nvSpPr>
        <p:spPr>
          <a:xfrm>
            <a:off x="731520" y="4369841"/>
            <a:ext cx="1172130" cy="618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每日简报 Daily Briefing · Excel · 计划提示 Scheduled prompt</a:t>
            </a:r>
            <a:endParaRPr lang="en-US" sz="936" dirty="0"/>
          </a:p>
        </p:txBody>
      </p:sp>
      <p:sp>
        <p:nvSpPr>
          <p:cNvPr id="12" name="Text 9"/>
          <p:cNvSpPr/>
          <p:nvPr/>
        </p:nvSpPr>
        <p:spPr>
          <a:xfrm>
            <a:off x="731520" y="5070272"/>
            <a:ext cx="1172130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15 分钟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★★☆</a:t>
            </a:r>
            <a:endParaRPr lang="en-US" sz="858" dirty="0"/>
          </a:p>
        </p:txBody>
      </p:sp>
      <p:sp>
        <p:nvSpPr>
          <p:cNvPr id="13" name="Shape 10"/>
          <p:cNvSpPr/>
          <p:nvPr/>
        </p:nvSpPr>
        <p:spPr>
          <a:xfrm>
            <a:off x="2232834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32834" y="1828800"/>
            <a:ext cx="1355010" cy="109728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5" name="Shape 12"/>
          <p:cNvSpPr/>
          <p:nvPr/>
        </p:nvSpPr>
        <p:spPr>
          <a:xfrm>
            <a:off x="2453139" y="2194560"/>
            <a:ext cx="914400" cy="914400"/>
          </a:xfrm>
          <a:prstGeom prst="ellipse">
            <a:avLst/>
          </a:prstGeom>
          <a:solidFill>
            <a:srgbClr val="0F513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7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24274" y="3163824"/>
            <a:ext cx="1172130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978" dirty="0"/>
          </a:p>
        </p:txBody>
      </p:sp>
      <p:sp>
        <p:nvSpPr>
          <p:cNvPr id="18" name="Text 14"/>
          <p:cNvSpPr/>
          <p:nvPr/>
        </p:nvSpPr>
        <p:spPr>
          <a:xfrm>
            <a:off x="2324274" y="3541459"/>
            <a:ext cx="117213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保留项目的延期窗口：最严的那一项不是最急的</a:t>
            </a:r>
            <a:endParaRPr lang="en-US" sz="1275" dirty="0"/>
          </a:p>
        </p:txBody>
      </p:sp>
      <p:sp>
        <p:nvSpPr>
          <p:cNvPr id="19" name="Text 15"/>
          <p:cNvSpPr/>
          <p:nvPr/>
        </p:nvSpPr>
        <p:spPr>
          <a:xfrm>
            <a:off x="2324274" y="4465765"/>
            <a:ext cx="1172130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· 编辑既有文件 Edit existing file</a:t>
            </a:r>
            <a:endParaRPr lang="en-US" sz="1020" dirty="0"/>
          </a:p>
        </p:txBody>
      </p:sp>
      <p:sp>
        <p:nvSpPr>
          <p:cNvPr id="20" name="Text 16"/>
          <p:cNvSpPr/>
          <p:nvPr/>
        </p:nvSpPr>
        <p:spPr>
          <a:xfrm>
            <a:off x="2324274" y="5053267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18 分钟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21" name="Shape 17"/>
          <p:cNvSpPr/>
          <p:nvPr/>
        </p:nvSpPr>
        <p:spPr>
          <a:xfrm>
            <a:off x="3825588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825588" y="1828800"/>
            <a:ext cx="1355010" cy="10972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23" name="Shape 19"/>
          <p:cNvSpPr/>
          <p:nvPr/>
        </p:nvSpPr>
        <p:spPr>
          <a:xfrm>
            <a:off x="4045893" y="2194560"/>
            <a:ext cx="914400" cy="914400"/>
          </a:xfrm>
          <a:prstGeom prst="ellipse">
            <a:avLst/>
          </a:prstGeom>
          <a:solidFill>
            <a:srgbClr val="6B3FA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61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17028" y="3163824"/>
            <a:ext cx="1172130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978" dirty="0"/>
          </a:p>
        </p:txBody>
      </p:sp>
      <p:sp>
        <p:nvSpPr>
          <p:cNvPr id="26" name="Text 21"/>
          <p:cNvSpPr/>
          <p:nvPr/>
        </p:nvSpPr>
        <p:spPr>
          <a:xfrm>
            <a:off x="3917028" y="3541459"/>
            <a:ext cx="117213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定检窗口三案比较：取消最少的那一案不可行</a:t>
            </a:r>
            <a:endParaRPr lang="en-US" sz="1275" dirty="0"/>
          </a:p>
        </p:txBody>
      </p:sp>
      <p:sp>
        <p:nvSpPr>
          <p:cNvPr id="27" name="Text 22"/>
          <p:cNvSpPr/>
          <p:nvPr/>
        </p:nvSpPr>
        <p:spPr>
          <a:xfrm>
            <a:off x="3917028" y="4465765"/>
            <a:ext cx="1172130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Cards · Excel · 会议排程 Scheduling</a:t>
            </a:r>
            <a:endParaRPr lang="en-US" sz="1020" dirty="0"/>
          </a:p>
        </p:txBody>
      </p:sp>
      <p:sp>
        <p:nvSpPr>
          <p:cNvPr id="28" name="Text 23"/>
          <p:cNvSpPr/>
          <p:nvPr/>
        </p:nvSpPr>
        <p:spPr>
          <a:xfrm>
            <a:off x="3917028" y="5053267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15 分钟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★★☆</a:t>
            </a:r>
            <a:endParaRPr lang="en-US" sz="935" dirty="0"/>
          </a:p>
        </p:txBody>
      </p:sp>
      <p:sp>
        <p:nvSpPr>
          <p:cNvPr id="29" name="Shape 24"/>
          <p:cNvSpPr/>
          <p:nvPr/>
        </p:nvSpPr>
        <p:spPr>
          <a:xfrm>
            <a:off x="5418343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18343" y="1828800"/>
            <a:ext cx="1355010" cy="109728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31" name="Shape 26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B42318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509783" y="3163824"/>
            <a:ext cx="1172130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978" dirty="0"/>
          </a:p>
        </p:txBody>
      </p:sp>
      <p:sp>
        <p:nvSpPr>
          <p:cNvPr id="34" name="Text 28"/>
          <p:cNvSpPr/>
          <p:nvPr/>
        </p:nvSpPr>
        <p:spPr>
          <a:xfrm>
            <a:off x="5509783" y="3541459"/>
            <a:ext cx="1172130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AOG 事件应变：四小时本身不是问题</a:t>
            </a:r>
            <a:endParaRPr lang="en-US" sz="1275" dirty="0"/>
          </a:p>
        </p:txBody>
      </p:sp>
      <p:sp>
        <p:nvSpPr>
          <p:cNvPr id="35" name="Text 29"/>
          <p:cNvSpPr/>
          <p:nvPr/>
        </p:nvSpPr>
        <p:spPr>
          <a:xfrm>
            <a:off x="5509783" y="4255262"/>
            <a:ext cx="117213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事件触发 Event trigger · Excel · Email · 企业搜索 Enterprise Search</a:t>
            </a:r>
            <a:endParaRPr lang="en-US" sz="1020" dirty="0"/>
          </a:p>
        </p:txBody>
      </p:sp>
      <p:sp>
        <p:nvSpPr>
          <p:cNvPr id="36" name="Text 30"/>
          <p:cNvSpPr/>
          <p:nvPr/>
        </p:nvSpPr>
        <p:spPr>
          <a:xfrm>
            <a:off x="5509783" y="5179568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25 分钟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37" name="Shape 31"/>
          <p:cNvSpPr/>
          <p:nvPr/>
        </p:nvSpPr>
        <p:spPr>
          <a:xfrm>
            <a:off x="7011097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011097" y="1828800"/>
            <a:ext cx="1355010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9" name="Shape 33"/>
          <p:cNvSpPr/>
          <p:nvPr/>
        </p:nvSpPr>
        <p:spPr>
          <a:xfrm>
            <a:off x="7231402" y="2194560"/>
            <a:ext cx="914400" cy="91440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2570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102537" y="3163824"/>
            <a:ext cx="1172130" cy="296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897" dirty="0"/>
          </a:p>
        </p:txBody>
      </p:sp>
      <p:sp>
        <p:nvSpPr>
          <p:cNvPr id="42" name="Text 35"/>
          <p:cNvSpPr/>
          <p:nvPr/>
        </p:nvSpPr>
        <p:spPr>
          <a:xfrm>
            <a:off x="7102537" y="3514877"/>
            <a:ext cx="1172130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服务通告转工程指令：判准是部件序号，不是机身序号</a:t>
            </a:r>
            <a:endParaRPr lang="en-US" sz="1170" dirty="0"/>
          </a:p>
        </p:txBody>
      </p:sp>
      <p:sp>
        <p:nvSpPr>
          <p:cNvPr id="43" name="Text 36"/>
          <p:cNvSpPr/>
          <p:nvPr/>
        </p:nvSpPr>
        <p:spPr>
          <a:xfrm>
            <a:off x="7102537" y="4369841"/>
            <a:ext cx="1172130" cy="618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· PDF · 企业搜索 Enterprise Search · 上传文件 File upload</a:t>
            </a:r>
            <a:endParaRPr lang="en-US" sz="936" dirty="0"/>
          </a:p>
        </p:txBody>
      </p:sp>
      <p:sp>
        <p:nvSpPr>
          <p:cNvPr id="44" name="Text 37"/>
          <p:cNvSpPr/>
          <p:nvPr/>
        </p:nvSpPr>
        <p:spPr>
          <a:xfrm>
            <a:off x="7102537" y="5070272"/>
            <a:ext cx="1172130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858" dirty="0"/>
          </a:p>
        </p:txBody>
      </p:sp>
      <p:sp>
        <p:nvSpPr>
          <p:cNvPr id="45" name="Shape 38"/>
          <p:cNvSpPr/>
          <p:nvPr/>
        </p:nvSpPr>
        <p:spPr>
          <a:xfrm>
            <a:off x="8603851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8603851" y="1828800"/>
            <a:ext cx="1355010" cy="109728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47" name="Shape 40"/>
          <p:cNvSpPr/>
          <p:nvPr/>
        </p:nvSpPr>
        <p:spPr>
          <a:xfrm>
            <a:off x="8824156" y="2194560"/>
            <a:ext cx="914400" cy="914400"/>
          </a:xfrm>
          <a:prstGeom prst="ellipse">
            <a:avLst/>
          </a:prstGeom>
          <a:solidFill>
            <a:srgbClr val="8A4B08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324" y="2395728"/>
            <a:ext cx="512064" cy="51206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695291" y="3163824"/>
            <a:ext cx="1172130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978" dirty="0"/>
          </a:p>
        </p:txBody>
      </p:sp>
      <p:sp>
        <p:nvSpPr>
          <p:cNvPr id="50" name="Text 42"/>
          <p:cNvSpPr/>
          <p:nvPr/>
        </p:nvSpPr>
        <p:spPr>
          <a:xfrm>
            <a:off x="8695291" y="3541459"/>
            <a:ext cx="1172130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月度可靠性报告：改善是因为分母变小了</a:t>
            </a:r>
            <a:endParaRPr lang="en-US" sz="1275" dirty="0"/>
          </a:p>
        </p:txBody>
      </p:sp>
      <p:sp>
        <p:nvSpPr>
          <p:cNvPr id="51" name="Text 43"/>
          <p:cNvSpPr/>
          <p:nvPr/>
        </p:nvSpPr>
        <p:spPr>
          <a:xfrm>
            <a:off x="8695291" y="4255262"/>
            <a:ext cx="1172130" cy="673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沟通撰写 Communications · PowerPoint · Excel</a:t>
            </a:r>
            <a:endParaRPr lang="en-US" sz="1020" dirty="0"/>
          </a:p>
        </p:txBody>
      </p:sp>
      <p:sp>
        <p:nvSpPr>
          <p:cNvPr id="52" name="Text 44"/>
          <p:cNvSpPr/>
          <p:nvPr/>
        </p:nvSpPr>
        <p:spPr>
          <a:xfrm>
            <a:off x="8695291" y="5011166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22 分钟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53" name="Shape 45"/>
          <p:cNvSpPr/>
          <p:nvPr/>
        </p:nvSpPr>
        <p:spPr>
          <a:xfrm>
            <a:off x="10196605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10196605" y="1828800"/>
            <a:ext cx="1355010" cy="109728"/>
          </a:xfrm>
          <a:prstGeom prst="rect">
            <a:avLst/>
          </a:prstGeom>
          <a:solidFill>
            <a:srgbClr val="0B6E6E"/>
          </a:solidFill>
          <a:ln/>
        </p:spPr>
      </p:sp>
      <p:sp>
        <p:nvSpPr>
          <p:cNvPr id="55" name="Shape 47"/>
          <p:cNvSpPr/>
          <p:nvPr/>
        </p:nvSpPr>
        <p:spPr>
          <a:xfrm>
            <a:off x="10416910" y="2194560"/>
            <a:ext cx="914400" cy="914400"/>
          </a:xfrm>
          <a:prstGeom prst="ellipse">
            <a:avLst/>
          </a:prstGeom>
          <a:solidFill>
            <a:srgbClr val="0B6E6E"/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8078" y="2395728"/>
            <a:ext cx="512064" cy="512064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10288045" y="3163824"/>
            <a:ext cx="1172130" cy="296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0B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897" dirty="0"/>
          </a:p>
        </p:txBody>
      </p:sp>
      <p:sp>
        <p:nvSpPr>
          <p:cNvPr id="58" name="Text 49"/>
          <p:cNvSpPr/>
          <p:nvPr/>
        </p:nvSpPr>
        <p:spPr>
          <a:xfrm>
            <a:off x="10288045" y="3514877"/>
            <a:ext cx="1172130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把适用性判定做成技能：重点是它知道什么时候别答</a:t>
            </a:r>
            <a:endParaRPr lang="en-US" sz="1170" dirty="0"/>
          </a:p>
        </p:txBody>
      </p:sp>
      <p:sp>
        <p:nvSpPr>
          <p:cNvPr id="59" name="Text 50"/>
          <p:cNvSpPr/>
          <p:nvPr/>
        </p:nvSpPr>
        <p:spPr>
          <a:xfrm>
            <a:off x="10288045" y="4369841"/>
            <a:ext cx="1172130" cy="618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 Skill · 技能评测 Skill Report · 上传文件 File upload</a:t>
            </a:r>
            <a:endParaRPr lang="en-US" sz="936" dirty="0"/>
          </a:p>
        </p:txBody>
      </p:sp>
      <p:sp>
        <p:nvSpPr>
          <p:cNvPr id="60" name="Text 51"/>
          <p:cNvSpPr/>
          <p:nvPr/>
        </p:nvSpPr>
        <p:spPr>
          <a:xfrm>
            <a:off x="10288045" y="5070272"/>
            <a:ext cx="1172130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858" dirty="0"/>
          </a:p>
        </p:txBody>
      </p:sp>
      <p:sp>
        <p:nvSpPr>
          <p:cNvPr id="61" name="Text 5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适航指令到期雷达：剩余数字小的不是先到期的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15 分钟 · 难度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55117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551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每日简报 Daily Briefing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577840"/>
            <a:ext cx="275234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577840"/>
            <a:ext cx="2752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 Scheduled prompt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适航指令逾期，那架飞机当天就不能飞，没有延期也没有替代方案。难在期限有三种计法 —— 日历日、飞行小时、飞行循环 —— 而三种的剩余量不能直接比大小。台账上剩“45 天”看起来最急的那一条，折算之后其实排第二。这个场景最后把它设成每天早上自己扫一遍。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179222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4942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E2A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3113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让它把三种计期基准折算到同一把尺上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59689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不用上传任何文件。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21868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E2A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004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追问同一架飞机上那两条，为什么顺序跟直觉相反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56616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排序出来后，挑出同时挂两条适航指令的那一架再问一次。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18795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E2A4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16966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做成每天早上三秒看完的格式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53542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这份要每天看，格式比内容重要。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15721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E2A4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157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1389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设成每天早上自己跑一遍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50468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这一步会真的建立一个计划提示，练习结束后记得停用。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01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air1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air1_04b_automations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十二条适航指令都折算出预计剩余天数，没有漏掉任何一条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飞行小时制用 FH 日均、飞行循环制用 FC 日均，两者没有互换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排序第一名不是台账上剩余日历日最少的那一条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F51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保留项目的延期窗口：最严的那一项不是最急的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18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324612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编辑既有文件 Edit existing file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同一架飞机身上挂着三项保留项目，类别从最严的 A 到较宽的 C 都有。直觉会先盯 A 类 —— 它期限最短，而且不得延期。但 A 类那项的备件明天就到。真正会让这架飞机停场的，是那项备件晚两天、而延期额度已经用掉的 C 类。这个场景的最后一步会直接改 OneDrive 上那份共用台账，不是另外产一份新的。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把法规给的时间和现实给的时间摆在一起看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不用上传任何文件。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34930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4747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追问那架挂了三项的飞机，哪一项才是真的卡住的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8404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有一架飞机同时挂了三项，针对它再问一次。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4622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把判定写回 OneDrive 上那份共用台账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8097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这一步会直接改 OneDrive 上那个文件，不是另存新文件。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4315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54132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 OneDrive 确认它真的改在同一份文件上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57790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OneDrive 上那份台账看一眼，再回来问它。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02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air2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air2_04_review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八项逐项比对过修复期限与备件 ETA，不是只看其中几项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找出来“备件晚于期限”的项目刚好只有一项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指出该项已经延期过一次，按规定不得再延期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6B3F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定检窗口三案比较：取消最少的那一案不可行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15 分钟 · 难度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Cards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04872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2404872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会议排程 Scheduling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一架飞机的 C check 要排进去，运行控制部给了三个窗口，各自会取消 14、22、19 个航班。直觉当然选 14。但取消航班数只是好一点或差一点，机库和适航期限是过或不过。把不过的刷掉之后，剩下的只有一案 —— 而且不是最便宜的那一案。这个场景的产出是一张给主管三秒看完的比较卡。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179222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4942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3113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先刷掉不满足硬条件的，再比取消航班数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59689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不用上传任何文件。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21868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004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做成主管三秒看完的比较卡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56616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卡片是要给人做决定用的，格式比叙述重要。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18795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16966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约一场四方决策会议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53542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这一步会真的发出会议邀请，收件人从联系人清单查。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15721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157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1389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检查这张卡会不会把人带往错的方向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50468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这张卡要给别人做决定，发出前自己先挑毛病。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03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air3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air3_04_review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三案都判定过，而且是先判硬条件再比取消航班数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被机库挡下的那一案，说得出占用者是哪一架、重叠哪几天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被期限挡下的那一案，算得出适航指令的到期日是哪一天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B4231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AOG 事件应变：四小时本身不是问题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25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45059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事件触发 Event trigger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99616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1499616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285292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企业搜索 Enterprise Search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一架货机在推出前挂了 AOG，备件有、工时四小时，看起来只是延一班。但这班装了一批 2–8°C 的冷链药品，而温控货的允收条件算的是整条链路的累计脱温时长。延四小时本身还在窗口内 —— 真正炸掉的，是它让这批货错过了目的地冷链卡车当日的收货截止。这个场景用事件触发：MOC 的通报邮件一进来，Cowork 自己接手。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26280" y="16550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1122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231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0939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先把事件触发架起来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4597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这一步只是建立触发器，还不会有事情发生。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9718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231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9535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用 Outlook 真的发一封 AOG 通报邮件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3192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Outlook，照 信箱_種入用/AIR4_AOG通报邮件.md 的主题和正文发给你自己。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8313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231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8130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看它自己把冲击追到机务报表以外的地方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1788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触发启动后，Cowork 会开一个新的工作自己跑完。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6908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231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6725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请它通知该通知的人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0383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这一步会真的发信并贴 Teams。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231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把触发器停用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练习结束后一定要停用，否则以后每封 [AOG] 开头的邮件都会启动它。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04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air4_01_trigger_setup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air4_05_paused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触发器建立成功，卡片上的触发条件是“收到主题开头 [AOG] 的邮件”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触发确实由你从 Outlook 发出的那封邮件启动，不是 Cowork 自己发的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它明确说出只延四小时的话仍在允收窗口内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服务通告转工程指令：判准是部件序号，不是机身序号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20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399032" y="4572000"/>
            <a:ext cx="6126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399032" y="4572000"/>
            <a:ext cx="612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285292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企业搜索 Enterprise Search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 File upload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原厂发来一份服务通告，适用性写得很清楚：机身序号 5001 到 5400。照这个算，六架里有五架在范围内，扣掉两架交机时已经改装过的，答案是三架。错了，是四架。因为适用性真正的判准是现在装在机上的那个部件的序号 —— 有一架机身序号 5418、明明在范围外，却因为七月换过件而仍然适用。这个场景要你上传那份 PDF，产出一份可以下发的工程指令。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26280" y="16550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1122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0939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上传服务通告，让它先把适用条件拆出来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4597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AIR5_服务通报_NW350-28-1142.pdf 拖进对话框再发送。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9718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9535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对照机队构型表，逐架判定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3192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构型表在 OneDrive 的 AIR5_服务通报。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8313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8130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追问机身序号在范围外的那一架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1788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有一架的机身序号不在通告的范围里，针对它再问一次。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6908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6725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按编写规范产出工程指令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0383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请它按《工程指令编写规范》的六项要求写成 Word。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检查判定依据够不够让检查看懂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检查要看的是依据，不是结论。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05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air5_01_upload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air5_05_review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PDF 里抓出两套序号范围：机身序号范围与受影响部件序号范围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六架全部判定过，判定结果是四架需要执行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指出机身序号 5418 那架虽在范围外，但现装部件序号在范围内故仍适用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8A4B0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月度可靠性报告：改善是因为分母变小了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22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55117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551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沟通撰写 Communications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1316736" cy="402336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002536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5" name="Text 12"/>
          <p:cNvSpPr/>
          <p:nvPr/>
        </p:nvSpPr>
        <p:spPr>
          <a:xfrm>
            <a:off x="2002536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技术性延误率从 1.48% 降到 1.31%，看起来是个可以拿去报的好消息。但上个月有一架飞机整月进厂做 C check —— 它不在线，它平常那些难看的数字也跟着不见了。两个月都把它剔除之后重算，方向会翻过来。这个场景要你把这件事讲破，而且是用一份演示文稿和一封邮件，讲给不想听坏消息的人听。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26280" y="16550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1122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0939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先把表面数字算出来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4597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不用上传任何文件。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29718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29535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追问机队构成有没有变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3192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方案摘要里有一节专门讲比较口径，让它自己去对。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38313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38130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看重复故障清单里有没有跨机的共同点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1788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清单在同一个 Excel 的第二个工作表。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46908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46725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 RRB 月会要报的演示文稿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0383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这一步会产出一份 PowerPoint。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写一封把坏消息讲清楚的邮件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这一步会真的发信，收件人从联系人清单查。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06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air6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air6_05b_sent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两个月的表面延误率都算出来了，且与数据表的航班数对得上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发现有一架在其中一个月航班数为零，并说得出原因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同口径重算时，是把那架从两个月都剔除，不是只剔除一个月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E6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B6E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把适用性判定做成技能：重点是它知道什么时候别答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20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 Skill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235000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技能评测 Skill Report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57784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57784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 File upload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5 那套判准每次来服务通告都要走一遍，写成技能理所当然。但安全相关的技能跟一般技能有个根本差异：一般技能出错只是产出质量不好，这种技能出错是把该做的工作判成不用做。所以这个场景的重点不在触发词写得漂不漂亮，而在资料不齐的时候它会不会乖乖闭嘴。最后会拿一架刚从别家航空公司承接、记录不完整的飞机去试它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6E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请它跟你一起把技能写出来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这一步会在 OneDrive 的 文档/Cowork/skills/ 底下建立文件。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4930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6E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4747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看它给这个技能打了几分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8404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建立技能时 Cowork 会自动跑一次评测，不用另外要求。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4622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6E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开一个新工作，拿记录不完整的那架去试它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8097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一定要开新的工作 —— 刚建好的技能在同一个对话里叫不到。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315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6E6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4132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追问它为什么不直接判“需执行”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7790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这一问是整个场景的重点，别跳过。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B6E6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07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air7_01_build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air7_04_why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B6E6E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技能建立成功，存在 OneDrive 的 文档/Cowork/skills/ 底下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技能内容明确写出判定顺序，而且三个步骤的顺序没有被调换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技能里写明判准是现装部件序号，机身序号不得作为判准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把场景延伸到你的日常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11165"/>
            <a:ext cx="493776" cy="493776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39181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9656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819656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把某一架的日均利用率改成两倍，看排序会不会整个翻过来。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442754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470839"/>
            <a:ext cx="493776" cy="493776"/>
          </a:xfrm>
          <a:prstGeom prst="ellipse">
            <a:avLst/>
          </a:prstGeom>
          <a:solidFill>
            <a:srgbClr val="0F513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598855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479330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49040" y="2479330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把那项 C 类改成“尚未延期”，看它的结论会不会整个翻过来。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102429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130514"/>
            <a:ext cx="493776" cy="493776"/>
          </a:xfrm>
          <a:prstGeom prst="ellipse">
            <a:avLst/>
          </a:prstGeom>
          <a:solidFill>
            <a:srgbClr val="6B3FA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5853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139005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749040" y="3139005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把机库的占用期间往前挪两周，看三案的结论会怎么变。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3762103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3790188"/>
            <a:ext cx="493776" cy="493776"/>
          </a:xfrm>
          <a:prstGeom prst="ellipse">
            <a:avLst/>
          </a:prstGeom>
          <a:solidFill>
            <a:srgbClr val="B4231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391820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3798679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749040" y="3798679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把已消耗脱温时长改小 10 小时，看结论会不会从超限变成不超限。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4421777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4449862"/>
            <a:ext cx="493776" cy="493776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57787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458353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749040" y="4458353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把那架换过件的机的部件序号改到范围外，看结论会不会变成三架。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40080" y="5081451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68680" y="5109537"/>
            <a:ext cx="493776" cy="493776"/>
          </a:xfrm>
          <a:prstGeom prst="ellipse">
            <a:avLst/>
          </a:prstGeom>
          <a:solidFill>
            <a:srgbClr val="8A4B0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5237553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54480" y="5118027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749040" y="5118027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把那架进厂的飞机 8 月的延误航班数改成 1，看同口径比较还会不会翻转。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640080" y="5741126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68680" y="5769211"/>
            <a:ext cx="493776" cy="493776"/>
          </a:xfrm>
          <a:prstGeom prst="ellipse">
            <a:avLst/>
          </a:prstGeom>
          <a:solidFill>
            <a:srgbClr val="0B6E6E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5897227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554480" y="5777702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 · 机务工程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3749040" y="5777702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把移交记录补上一个落在范围外的部件序号，再跑一次，看判定会不会变成“不需执行”。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自动化，但你始终是决策者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中高风险操作会显示 RISK-LEVEL；发邮件、发 Teams、创建会议等操作会先摊开成可编辑的预览，批准后才发出。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控制范围清楚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「不再询问」可以限定此收件人、此域名，或者始终允许；任务可以软／硬暂停、恢复或取消。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自动化任务也有把关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计划提示和事件驱动任务有执行频率限制和防循环保护；一律以创建者的权限执行，而且与其他 Cowork 活动一起记录在统一审核日志里，适用 Microsoft Purview 策略。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不能访问本地文件、删除 OneDrive/SharePoint 文件或读取加密文件；附件 &lt;200MB；自定义技能和第三方 plugin 未经 Microsoft 验证，需要自行审阅。官方明确列出不适用于「免人工审查即需保证正确」的用途。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现在就开始练习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715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练习手册</a:t>
            </a:r>
            <a:endParaRPr lang="en-US" sz="14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1417320" y="30083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aka.ms/CoworkPlaybook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8953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挑一个最贴近你工作的场景开始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256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3708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自定义技能放 OneDrive /Documents/Cowork/skills/ 下的 SKILL.md（最多 50 个、每个 1MB）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0118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模型选择器：Auto（默认）、GPT 5.5 Frontier、GPT 5.6 Sol／Terra、GPT 6 Astra、Opus 5、Claude Sonnet 5、Claude Fable 5.1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37667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5321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工作量级别：Light／Medium（默认）／High／Extra High／Max —— 越高越彻底，但更慢且消耗更多点数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852160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57972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想要自动触发？到「自动化」页设置计划提示（上限 25 个）或事件触发任务（收到邮件／被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从提问到交办，标准你决定，执行交给 Cowork。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 · 培训演示文稿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培训</dc:title>
  <dc:subject>PptxGenJS Presentation</dc:subject>
  <dc:creator>Andy Hung</dc:creator>
  <cp:lastModifiedBy>Andy Hung</cp:lastModifiedBy>
  <cp:revision>1</cp:revision>
  <dcterms:created xsi:type="dcterms:W3CDTF">2026-10-04T03:35:21Z</dcterms:created>
  <dcterms:modified xsi:type="dcterms:W3CDTF">2026-10-04T03:35:21Z</dcterms:modified>
</cp:coreProperties>
</file>