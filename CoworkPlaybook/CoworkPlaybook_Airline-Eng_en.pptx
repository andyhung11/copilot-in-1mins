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hyperlink" Target="https://aka.ms/CoworkPlaybook" TargetMode="External"/><Relationship Id="rId1" Type="http://schemas.openxmlformats.org/officeDocument/2006/relationships/image" Target="../media/Slide-25-image-1.png"/><Relationship Id="rId2" Type="http://schemas.openxmlformats.org/officeDocument/2006/relationships/image" Target="../media/image-25-2.png"/><Relationship Id="rId4" Type="http://schemas.openxmlformats.org/officeDocument/2006/relationships/image" Target="../media/image-25-3.png"/><Relationship Id="rId5" Type="http://schemas.openxmlformats.org/officeDocument/2006/relationships/image" Target="../media/image-25-4.png"/><Relationship Id="rId6" Type="http://schemas.openxmlformats.org/officeDocument/2006/relationships/image" Target="../media/image-25-5.png"/><Relationship Id="rId7" Type="http://schemas.openxmlformats.org/officeDocument/2006/relationships/image" Target="../media/image-25-6.png"/><Relationship Id="rId8" Type="http://schemas.openxmlformats.org/officeDocument/2006/relationships/image" Target="../media/image-25-7.png"/><Relationship Id="rId9" Type="http://schemas.openxmlformats.org/officeDocument/2006/relationships/slideLayout" Target="../slideLayouts/slideLayout1.xml"/><Relationship Id="rId1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1371600"/>
            <a:ext cx="2788920" cy="457200"/>
          </a:xfrm>
          <a:prstGeom prst="roundRect">
            <a:avLst>
              <a:gd name="adj" fmla="val 50000"/>
            </a:avLst>
          </a:prstGeom>
          <a:solidFill>
            <a:srgbClr val="FFFFFF">
              <a:alpha val="12000"/>
            </a:srgbClr>
          </a:solidFill>
          <a:ln w="12700">
            <a:solidFill>
              <a:srgbClr val="FFFFFF">
                <a:alpha val="30000"/>
              </a:srgbClr>
            </a:solidFill>
            <a:prstDash val="solid"/>
          </a:ln>
        </p:spPr>
      </p:sp>
      <p:pic>
        <p:nvPicPr>
          <p:cNvPr id="3" name="Image 0" descr="preencoded.png">    </p:cNvPr>
          <p:cNvPicPr>
            <a:picLocks noChangeAspect="1"/>
          </p:cNvPicPr>
          <p:nvPr/>
        </p:nvPicPr>
        <p:blipFill>
          <a:blip r:embed="rId2"/>
          <a:stretch>
            <a:fillRect/>
          </a:stretch>
        </p:blipFill>
        <p:spPr>
          <a:xfrm>
            <a:off x="841248" y="1481328"/>
            <a:ext cx="237744" cy="237744"/>
          </a:xfrm>
          <a:prstGeom prst="rect">
            <a:avLst/>
          </a:prstGeom>
        </p:spPr>
      </p:pic>
      <p:sp>
        <p:nvSpPr>
          <p:cNvPr id="4" name="Text 1"/>
          <p:cNvSpPr/>
          <p:nvPr/>
        </p:nvSpPr>
        <p:spPr>
          <a:xfrm>
            <a:off x="1143000" y="1371600"/>
            <a:ext cx="2377440" cy="457200"/>
          </a:xfrm>
          <a:prstGeom prst="rect">
            <a:avLst/>
          </a:prstGeom>
          <a:noFill/>
          <a:ln/>
        </p:spPr>
        <p:txBody>
          <a:bodyPr wrap="square" rtlCol="0" anchor="ctr"/>
          <a:lstStyle/>
          <a:p>
            <a:pPr indent="0" marL="0">
              <a:buNone/>
            </a:pPr>
            <a:r>
              <a:rPr lang="en-US" sz="1300" b="1" dirty="0">
                <a:solidFill>
                  <a:srgbClr val="FFFFFF"/>
                </a:solidFill>
                <a:latin typeface="Segoe UI" pitchFamily="34" charset="0"/>
                <a:ea typeface="Segoe UI" pitchFamily="34" charset="-122"/>
                <a:cs typeface="Segoe UI" pitchFamily="34" charset="-120"/>
              </a:rPr>
              <a:t>Microsoft 365 Copilot</a:t>
            </a:r>
            <a:endParaRPr lang="en-US" sz="1300" dirty="0"/>
          </a:p>
        </p:txBody>
      </p:sp>
      <p:sp>
        <p:nvSpPr>
          <p:cNvPr id="5" name="Text 2"/>
          <p:cNvSpPr/>
          <p:nvPr/>
        </p:nvSpPr>
        <p:spPr>
          <a:xfrm>
            <a:off x="603504" y="1874520"/>
            <a:ext cx="10058400" cy="1280160"/>
          </a:xfrm>
          <a:prstGeom prst="rect">
            <a:avLst/>
          </a:prstGeom>
          <a:noFill/>
          <a:ln/>
        </p:spPr>
        <p:txBody>
          <a:bodyPr wrap="square" rtlCol="0" anchor="ctr"/>
          <a:lstStyle/>
          <a:p>
            <a:pPr indent="0" marL="0">
              <a:buNone/>
            </a:pPr>
            <a:r>
              <a:rPr lang="en-US" sz="8400" b="1" dirty="0">
                <a:solidFill>
                  <a:srgbClr val="FFFFFF"/>
                </a:solidFill>
                <a:latin typeface="Segoe UI" pitchFamily="34" charset="0"/>
                <a:ea typeface="Segoe UI" pitchFamily="34" charset="-122"/>
                <a:cs typeface="Segoe UI" pitchFamily="34" charset="-120"/>
              </a:rPr>
              <a:t>Cowork</a:t>
            </a:r>
            <a:endParaRPr lang="en-US" sz="8400" dirty="0"/>
          </a:p>
        </p:txBody>
      </p:sp>
      <p:sp>
        <p:nvSpPr>
          <p:cNvPr id="6" name="Text 3"/>
          <p:cNvSpPr/>
          <p:nvPr/>
        </p:nvSpPr>
        <p:spPr>
          <a:xfrm>
            <a:off x="640080" y="3154680"/>
            <a:ext cx="10058400" cy="731520"/>
          </a:xfrm>
          <a:prstGeom prst="rect">
            <a:avLst/>
          </a:prstGeom>
          <a:noFill/>
          <a:ln/>
        </p:spPr>
        <p:txBody>
          <a:bodyPr wrap="square" rtlCol="0" anchor="ctr"/>
          <a:lstStyle/>
          <a:p>
            <a:pPr indent="0" marL="0">
              <a:buNone/>
            </a:pPr>
            <a:r>
              <a:rPr lang="en-US" sz="3400" b="1" dirty="0">
                <a:solidFill>
                  <a:srgbClr val="CFC9FF"/>
                </a:solidFill>
                <a:latin typeface="Segoe UI" pitchFamily="34" charset="0"/>
                <a:ea typeface="Segoe UI" pitchFamily="34" charset="-122"/>
                <a:cs typeface="Segoe UI" pitchFamily="34" charset="-120"/>
              </a:rPr>
              <a:t>Agentic AI at work</a:t>
            </a:r>
            <a:endParaRPr lang="en-US" sz="3400" dirty="0"/>
          </a:p>
        </p:txBody>
      </p:sp>
      <p:sp>
        <p:nvSpPr>
          <p:cNvPr id="7" name="Text 4"/>
          <p:cNvSpPr/>
          <p:nvPr/>
        </p:nvSpPr>
        <p:spPr>
          <a:xfrm>
            <a:off x="640080" y="3977640"/>
            <a:ext cx="9601200" cy="548640"/>
          </a:xfrm>
          <a:prstGeom prst="rect">
            <a:avLst/>
          </a:prstGeom>
          <a:noFill/>
          <a:ln/>
        </p:spPr>
        <p:txBody>
          <a:bodyPr wrap="square" rtlCol="0" anchor="ctr"/>
          <a:lstStyle/>
          <a:p>
            <a:pPr indent="0" marL="0">
              <a:buNone/>
            </a:pPr>
            <a:r>
              <a:rPr lang="en-US" sz="1600" dirty="0">
                <a:solidFill>
                  <a:srgbClr val="B9BCE0"/>
                </a:solidFill>
                <a:latin typeface="Segoe UI" pitchFamily="34" charset="0"/>
                <a:ea typeface="Segoe UI" pitchFamily="34" charset="-122"/>
                <a:cs typeface="Segoe UI" pitchFamily="34" charset="-120"/>
              </a:rPr>
              <a:t>Seven real airline engineering scenarios showing how Copilot executes across apps, shows a risk level before medium/high-risk actions, and waits for your approval</a:t>
            </a:r>
            <a:endParaRPr lang="en-US" sz="1600" dirty="0"/>
          </a:p>
        </p:txBody>
      </p:sp>
      <p:sp>
        <p:nvSpPr>
          <p:cNvPr id="8" name="Shape 5"/>
          <p:cNvSpPr/>
          <p:nvPr/>
        </p:nvSpPr>
        <p:spPr>
          <a:xfrm>
            <a:off x="640080" y="5074920"/>
            <a:ext cx="3840480" cy="0"/>
          </a:xfrm>
          <a:prstGeom prst="line">
            <a:avLst/>
          </a:prstGeom>
          <a:noFill/>
          <a:ln w="12700">
            <a:solidFill>
              <a:srgbClr val="FFFFFF">
                <a:alpha val="25000"/>
              </a:srgbClr>
            </a:solidFill>
            <a:prstDash val="solid"/>
          </a:ln>
        </p:spPr>
      </p:sp>
      <p:sp>
        <p:nvSpPr>
          <p:cNvPr id="9" name="Text 6"/>
          <p:cNvSpPr/>
          <p:nvPr/>
        </p:nvSpPr>
        <p:spPr>
          <a:xfrm>
            <a:off x="640080" y="5212080"/>
            <a:ext cx="7315200" cy="365760"/>
          </a:xfrm>
          <a:prstGeom prst="rect">
            <a:avLst/>
          </a:prstGeom>
          <a:noFill/>
          <a:ln/>
        </p:spPr>
        <p:txBody>
          <a:bodyPr wrap="square" rtlCol="0" anchor="ctr"/>
          <a:lstStyle/>
          <a:p>
            <a:pPr indent="0" marL="0">
              <a:buNone/>
            </a:pPr>
            <a:r>
              <a:rPr lang="en-US" sz="1300" dirty="0">
                <a:solidFill>
                  <a:srgbClr val="9FA3CC"/>
                </a:solidFill>
                <a:latin typeface="Segoe UI" pitchFamily="34" charset="0"/>
                <a:ea typeface="Segoe UI" pitchFamily="34" charset="-122"/>
                <a:cs typeface="Segoe UI" pitchFamily="34" charset="-120"/>
              </a:rPr>
              <a:t>Training deck · client-ready</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6366F1"/>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6366F1"/>
                </a:solidFill>
                <a:latin typeface="Segoe UI" pitchFamily="34" charset="0"/>
                <a:ea typeface="Segoe UI" pitchFamily="34" charset="-122"/>
                <a:cs typeface="Segoe UI" pitchFamily="34" charset="-120"/>
              </a:rPr>
              <a:t>AGENDA</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What we'll cover</a:t>
            </a:r>
            <a:endParaRPr lang="en-US" sz="3000" dirty="0"/>
          </a:p>
        </p:txBody>
      </p:sp>
      <p:sp>
        <p:nvSpPr>
          <p:cNvPr id="5" name="Text 3"/>
          <p:cNvSpPr/>
          <p:nvPr/>
        </p:nvSpPr>
        <p:spPr>
          <a:xfrm>
            <a:off x="640080" y="1664208"/>
            <a:ext cx="1005840" cy="822960"/>
          </a:xfrm>
          <a:prstGeom prst="rect">
            <a:avLst/>
          </a:prstGeom>
          <a:noFill/>
          <a:ln/>
        </p:spPr>
        <p:txBody>
          <a:bodyPr wrap="square" rtlCol="0" anchor="ctr"/>
          <a:lstStyle/>
          <a:p>
            <a:pPr algn="l" indent="0" marL="0">
              <a:buNone/>
            </a:pPr>
            <a:r>
              <a:rPr lang="en-US" sz="3400" b="1" dirty="0">
                <a:solidFill>
                  <a:srgbClr val="6366F1"/>
                </a:solidFill>
                <a:latin typeface="Segoe UI" pitchFamily="34" charset="0"/>
                <a:ea typeface="Segoe UI" pitchFamily="34" charset="-122"/>
                <a:cs typeface="Segoe UI" pitchFamily="34" charset="-120"/>
              </a:rPr>
              <a:t>01</a:t>
            </a:r>
            <a:endParaRPr lang="en-US" sz="3400" dirty="0"/>
          </a:p>
        </p:txBody>
      </p:sp>
      <p:sp>
        <p:nvSpPr>
          <p:cNvPr id="6" name="Text 4"/>
          <p:cNvSpPr/>
          <p:nvPr/>
        </p:nvSpPr>
        <p:spPr>
          <a:xfrm>
            <a:off x="1737360" y="1700784"/>
            <a:ext cx="3657600" cy="457200"/>
          </a:xfrm>
          <a:prstGeom prst="rect">
            <a:avLst/>
          </a:prstGeom>
          <a:noFill/>
          <a:ln/>
        </p:spPr>
        <p:txBody>
          <a:bodyPr wrap="square" rtlCol="0" anchor="ctr"/>
          <a:lstStyle/>
          <a:p>
            <a:pPr indent="0" marL="0">
              <a:buNone/>
            </a:pPr>
            <a:r>
              <a:rPr lang="en-US" sz="1900" b="1" dirty="0">
                <a:solidFill>
                  <a:srgbClr val="1E2235"/>
                </a:solidFill>
                <a:latin typeface="Segoe UI" pitchFamily="34" charset="0"/>
                <a:ea typeface="Segoe UI" pitchFamily="34" charset="-122"/>
                <a:cs typeface="Segoe UI" pitchFamily="34" charset="-120"/>
              </a:rPr>
              <a:t>Meet Cowork</a:t>
            </a:r>
            <a:endParaRPr lang="en-US" sz="1900" dirty="0"/>
          </a:p>
        </p:txBody>
      </p:sp>
      <p:sp>
        <p:nvSpPr>
          <p:cNvPr id="7" name="Text 5"/>
          <p:cNvSpPr/>
          <p:nvPr/>
        </p:nvSpPr>
        <p:spPr>
          <a:xfrm>
            <a:off x="1737360" y="2121408"/>
            <a:ext cx="9601200" cy="365760"/>
          </a:xfrm>
          <a:prstGeom prst="rect">
            <a:avLst/>
          </a:prstGeom>
          <a:noFill/>
          <a:ln/>
        </p:spPr>
        <p:txBody>
          <a:bodyPr wrap="square" rtlCol="0" anchor="ctr"/>
          <a:lstStyle/>
          <a:p>
            <a:pPr indent="0" marL="0">
              <a:buNone/>
            </a:pPr>
            <a:r>
              <a:rPr lang="en-US" sz="1350" dirty="0">
                <a:solidFill>
                  <a:srgbClr val="5B6079"/>
                </a:solidFill>
                <a:latin typeface="Segoe UI" pitchFamily="34" charset="0"/>
                <a:ea typeface="Segoe UI" pitchFamily="34" charset="-122"/>
                <a:cs typeface="Segoe UI" pitchFamily="34" charset="-120"/>
              </a:rPr>
              <a:t>What agentic AI is, and how it differs from Copilot Chat</a:t>
            </a:r>
            <a:endParaRPr lang="en-US" sz="1350" dirty="0"/>
          </a:p>
        </p:txBody>
      </p:sp>
      <p:sp>
        <p:nvSpPr>
          <p:cNvPr id="8" name="Text 6"/>
          <p:cNvSpPr/>
          <p:nvPr/>
        </p:nvSpPr>
        <p:spPr>
          <a:xfrm>
            <a:off x="640080" y="2578608"/>
            <a:ext cx="1005840" cy="822960"/>
          </a:xfrm>
          <a:prstGeom prst="rect">
            <a:avLst/>
          </a:prstGeom>
          <a:noFill/>
          <a:ln/>
        </p:spPr>
        <p:txBody>
          <a:bodyPr wrap="square" rtlCol="0" anchor="ctr"/>
          <a:lstStyle/>
          <a:p>
            <a:pPr algn="l" indent="0" marL="0">
              <a:buNone/>
            </a:pPr>
            <a:r>
              <a:rPr lang="en-US" sz="3400" b="1" dirty="0">
                <a:solidFill>
                  <a:srgbClr val="6366F1"/>
                </a:solidFill>
                <a:latin typeface="Segoe UI" pitchFamily="34" charset="0"/>
                <a:ea typeface="Segoe UI" pitchFamily="34" charset="-122"/>
                <a:cs typeface="Segoe UI" pitchFamily="34" charset="-120"/>
              </a:rPr>
              <a:t>02</a:t>
            </a:r>
            <a:endParaRPr lang="en-US" sz="3400" dirty="0"/>
          </a:p>
        </p:txBody>
      </p:sp>
      <p:sp>
        <p:nvSpPr>
          <p:cNvPr id="9" name="Text 7"/>
          <p:cNvSpPr/>
          <p:nvPr/>
        </p:nvSpPr>
        <p:spPr>
          <a:xfrm>
            <a:off x="1737360" y="2615184"/>
            <a:ext cx="3657600" cy="457200"/>
          </a:xfrm>
          <a:prstGeom prst="rect">
            <a:avLst/>
          </a:prstGeom>
          <a:noFill/>
          <a:ln/>
        </p:spPr>
        <p:txBody>
          <a:bodyPr wrap="square" rtlCol="0" anchor="ctr"/>
          <a:lstStyle/>
          <a:p>
            <a:pPr indent="0" marL="0">
              <a:buNone/>
            </a:pPr>
            <a:r>
              <a:rPr lang="en-US" sz="1900" b="1" dirty="0">
                <a:solidFill>
                  <a:srgbClr val="1E2235"/>
                </a:solidFill>
                <a:latin typeface="Segoe UI" pitchFamily="34" charset="0"/>
                <a:ea typeface="Segoe UI" pitchFamily="34" charset="-122"/>
                <a:cs typeface="Segoe UI" pitchFamily="34" charset="-120"/>
              </a:rPr>
              <a:t>Core capabilities</a:t>
            </a:r>
            <a:endParaRPr lang="en-US" sz="1900" dirty="0"/>
          </a:p>
        </p:txBody>
      </p:sp>
      <p:sp>
        <p:nvSpPr>
          <p:cNvPr id="10" name="Text 8"/>
          <p:cNvSpPr/>
          <p:nvPr/>
        </p:nvSpPr>
        <p:spPr>
          <a:xfrm>
            <a:off x="1737360" y="3035808"/>
            <a:ext cx="9601200" cy="365760"/>
          </a:xfrm>
          <a:prstGeom prst="rect">
            <a:avLst/>
          </a:prstGeom>
          <a:noFill/>
          <a:ln/>
        </p:spPr>
        <p:txBody>
          <a:bodyPr wrap="square" rtlCol="0" anchor="ctr"/>
          <a:lstStyle/>
          <a:p>
            <a:pPr indent="0" marL="0">
              <a:buNone/>
            </a:pPr>
            <a:r>
              <a:rPr lang="en-US" sz="1350" dirty="0">
                <a:solidFill>
                  <a:srgbClr val="5B6079"/>
                </a:solidFill>
                <a:latin typeface="Segoe UI" pitchFamily="34" charset="0"/>
                <a:ea typeface="Segoe UI" pitchFamily="34" charset="-122"/>
                <a:cs typeface="Segoe UI" pitchFamily="34" charset="-120"/>
              </a:rPr>
              <a:t>Skills, workspace, approval before action, self-verification</a:t>
            </a:r>
            <a:endParaRPr lang="en-US" sz="1350" dirty="0"/>
          </a:p>
        </p:txBody>
      </p:sp>
      <p:sp>
        <p:nvSpPr>
          <p:cNvPr id="11" name="Text 9"/>
          <p:cNvSpPr/>
          <p:nvPr/>
        </p:nvSpPr>
        <p:spPr>
          <a:xfrm>
            <a:off x="640080" y="3493008"/>
            <a:ext cx="1005840" cy="822960"/>
          </a:xfrm>
          <a:prstGeom prst="rect">
            <a:avLst/>
          </a:prstGeom>
          <a:noFill/>
          <a:ln/>
        </p:spPr>
        <p:txBody>
          <a:bodyPr wrap="square" rtlCol="0" anchor="ctr"/>
          <a:lstStyle/>
          <a:p>
            <a:pPr algn="l" indent="0" marL="0">
              <a:buNone/>
            </a:pPr>
            <a:r>
              <a:rPr lang="en-US" sz="3400" b="1" dirty="0">
                <a:solidFill>
                  <a:srgbClr val="6366F1"/>
                </a:solidFill>
                <a:latin typeface="Segoe UI" pitchFamily="34" charset="0"/>
                <a:ea typeface="Segoe UI" pitchFamily="34" charset="-122"/>
                <a:cs typeface="Segoe UI" pitchFamily="34" charset="-120"/>
              </a:rPr>
              <a:t>03</a:t>
            </a:r>
            <a:endParaRPr lang="en-US" sz="3400" dirty="0"/>
          </a:p>
        </p:txBody>
      </p:sp>
      <p:sp>
        <p:nvSpPr>
          <p:cNvPr id="12" name="Text 10"/>
          <p:cNvSpPr/>
          <p:nvPr/>
        </p:nvSpPr>
        <p:spPr>
          <a:xfrm>
            <a:off x="1737360" y="3529584"/>
            <a:ext cx="3657600" cy="457200"/>
          </a:xfrm>
          <a:prstGeom prst="rect">
            <a:avLst/>
          </a:prstGeom>
          <a:noFill/>
          <a:ln/>
        </p:spPr>
        <p:txBody>
          <a:bodyPr wrap="square" rtlCol="0" anchor="ctr"/>
          <a:lstStyle/>
          <a:p>
            <a:pPr indent="0" marL="0">
              <a:buNone/>
            </a:pPr>
            <a:r>
              <a:rPr lang="en-US" sz="1900" b="1" dirty="0">
                <a:solidFill>
                  <a:srgbClr val="1E2235"/>
                </a:solidFill>
                <a:latin typeface="Segoe UI" pitchFamily="34" charset="0"/>
                <a:ea typeface="Segoe UI" pitchFamily="34" charset="-122"/>
                <a:cs typeface="Segoe UI" pitchFamily="34" charset="-120"/>
              </a:rPr>
              <a:t>Set up your practice environment</a:t>
            </a:r>
            <a:endParaRPr lang="en-US" sz="1900" dirty="0"/>
          </a:p>
        </p:txBody>
      </p:sp>
      <p:sp>
        <p:nvSpPr>
          <p:cNvPr id="13" name="Text 11"/>
          <p:cNvSpPr/>
          <p:nvPr/>
        </p:nvSpPr>
        <p:spPr>
          <a:xfrm>
            <a:off x="1737360" y="3950208"/>
            <a:ext cx="9601200" cy="365760"/>
          </a:xfrm>
          <a:prstGeom prst="rect">
            <a:avLst/>
          </a:prstGeom>
          <a:noFill/>
          <a:ln/>
        </p:spPr>
        <p:txBody>
          <a:bodyPr wrap="square" rtlCol="0" anchor="ctr"/>
          <a:lstStyle/>
          <a:p>
            <a:pPr indent="0" marL="0">
              <a:buNone/>
            </a:pPr>
            <a:r>
              <a:rPr lang="en-US" sz="1350" dirty="0">
                <a:solidFill>
                  <a:srgbClr val="5B6079"/>
                </a:solidFill>
                <a:latin typeface="Segoe UI" pitchFamily="34" charset="0"/>
                <a:ea typeface="Segoe UI" pitchFamily="34" charset="-122"/>
                <a:cs typeface="Segoe UI" pitchFamily="34" charset="-120"/>
              </a:rPr>
              <a:t>Seed the material into OneDrive and your mailbox first, so Cowork finds it itself</a:t>
            </a:r>
            <a:endParaRPr lang="en-US" sz="1350" dirty="0"/>
          </a:p>
        </p:txBody>
      </p:sp>
      <p:sp>
        <p:nvSpPr>
          <p:cNvPr id="14" name="Text 12"/>
          <p:cNvSpPr/>
          <p:nvPr/>
        </p:nvSpPr>
        <p:spPr>
          <a:xfrm>
            <a:off x="640080" y="4407408"/>
            <a:ext cx="1005840" cy="822960"/>
          </a:xfrm>
          <a:prstGeom prst="rect">
            <a:avLst/>
          </a:prstGeom>
          <a:noFill/>
          <a:ln/>
        </p:spPr>
        <p:txBody>
          <a:bodyPr wrap="square" rtlCol="0" anchor="ctr"/>
          <a:lstStyle/>
          <a:p>
            <a:pPr algn="l" indent="0" marL="0">
              <a:buNone/>
            </a:pPr>
            <a:r>
              <a:rPr lang="en-US" sz="3400" b="1" dirty="0">
                <a:solidFill>
                  <a:srgbClr val="6366F1"/>
                </a:solidFill>
                <a:latin typeface="Segoe UI" pitchFamily="34" charset="0"/>
                <a:ea typeface="Segoe UI" pitchFamily="34" charset="-122"/>
                <a:cs typeface="Segoe UI" pitchFamily="34" charset="-120"/>
              </a:rPr>
              <a:t>04</a:t>
            </a:r>
            <a:endParaRPr lang="en-US" sz="3400" dirty="0"/>
          </a:p>
        </p:txBody>
      </p:sp>
      <p:sp>
        <p:nvSpPr>
          <p:cNvPr id="15" name="Text 13"/>
          <p:cNvSpPr/>
          <p:nvPr/>
        </p:nvSpPr>
        <p:spPr>
          <a:xfrm>
            <a:off x="1737360" y="4443984"/>
            <a:ext cx="3657600" cy="457200"/>
          </a:xfrm>
          <a:prstGeom prst="rect">
            <a:avLst/>
          </a:prstGeom>
          <a:noFill/>
          <a:ln/>
        </p:spPr>
        <p:txBody>
          <a:bodyPr wrap="square" rtlCol="0" anchor="ctr"/>
          <a:lstStyle/>
          <a:p>
            <a:pPr indent="0" marL="0">
              <a:buNone/>
            </a:pPr>
            <a:r>
              <a:rPr lang="en-US" sz="1900" b="1" dirty="0">
                <a:solidFill>
                  <a:srgbClr val="1E2235"/>
                </a:solidFill>
                <a:latin typeface="Segoe UI" pitchFamily="34" charset="0"/>
                <a:ea typeface="Segoe UI" pitchFamily="34" charset="-122"/>
                <a:cs typeface="Segoe UI" pitchFamily="34" charset="-120"/>
              </a:rPr>
              <a:t>Seven hands-on scenarios</a:t>
            </a:r>
            <a:endParaRPr lang="en-US" sz="1900" dirty="0"/>
          </a:p>
        </p:txBody>
      </p:sp>
      <p:sp>
        <p:nvSpPr>
          <p:cNvPr id="16" name="Text 14"/>
          <p:cNvSpPr/>
          <p:nvPr/>
        </p:nvSpPr>
        <p:spPr>
          <a:xfrm>
            <a:off x="1737360" y="4864608"/>
            <a:ext cx="9601200" cy="365760"/>
          </a:xfrm>
          <a:prstGeom prst="rect">
            <a:avLst/>
          </a:prstGeom>
          <a:noFill/>
          <a:ln/>
        </p:spPr>
        <p:txBody>
          <a:bodyPr wrap="square" rtlCol="0" anchor="ctr"/>
          <a:lstStyle/>
          <a:p>
            <a:pPr indent="0" marL="0">
              <a:buNone/>
            </a:pPr>
            <a:r>
              <a:rPr lang="en-US" sz="1350" dirty="0">
                <a:solidFill>
                  <a:srgbClr val="5B6079"/>
                </a:solidFill>
                <a:latin typeface="Segoe UI" pitchFamily="34" charset="0"/>
                <a:ea typeface="Segoe UI" pitchFamily="34" charset="-122"/>
                <a:cs typeface="Segoe UI" pitchFamily="34" charset="-120"/>
              </a:rPr>
              <a:t>AD deadlines, deferred-item extensions, check-slot comparison, AOG response, bulletin-to-EO, reliability reporting, applicability skill — one workflow at a time</a:t>
            </a:r>
            <a:endParaRPr lang="en-US" sz="1350" dirty="0"/>
          </a:p>
        </p:txBody>
      </p:sp>
      <p:sp>
        <p:nvSpPr>
          <p:cNvPr id="17" name="Text 15"/>
          <p:cNvSpPr/>
          <p:nvPr/>
        </p:nvSpPr>
        <p:spPr>
          <a:xfrm>
            <a:off x="640080" y="5321808"/>
            <a:ext cx="1005840" cy="822960"/>
          </a:xfrm>
          <a:prstGeom prst="rect">
            <a:avLst/>
          </a:prstGeom>
          <a:noFill/>
          <a:ln/>
        </p:spPr>
        <p:txBody>
          <a:bodyPr wrap="square" rtlCol="0" anchor="ctr"/>
          <a:lstStyle/>
          <a:p>
            <a:pPr algn="l" indent="0" marL="0">
              <a:buNone/>
            </a:pPr>
            <a:r>
              <a:rPr lang="en-US" sz="3400" b="1" dirty="0">
                <a:solidFill>
                  <a:srgbClr val="6366F1"/>
                </a:solidFill>
                <a:latin typeface="Segoe UI" pitchFamily="34" charset="0"/>
                <a:ea typeface="Segoe UI" pitchFamily="34" charset="-122"/>
                <a:cs typeface="Segoe UI" pitchFamily="34" charset="-120"/>
              </a:rPr>
              <a:t>05</a:t>
            </a:r>
            <a:endParaRPr lang="en-US" sz="3400" dirty="0"/>
          </a:p>
        </p:txBody>
      </p:sp>
      <p:sp>
        <p:nvSpPr>
          <p:cNvPr id="18" name="Text 16"/>
          <p:cNvSpPr/>
          <p:nvPr/>
        </p:nvSpPr>
        <p:spPr>
          <a:xfrm>
            <a:off x="1737360" y="5358384"/>
            <a:ext cx="3657600" cy="457200"/>
          </a:xfrm>
          <a:prstGeom prst="rect">
            <a:avLst/>
          </a:prstGeom>
          <a:noFill/>
          <a:ln/>
        </p:spPr>
        <p:txBody>
          <a:bodyPr wrap="square" rtlCol="0" anchor="ctr"/>
          <a:lstStyle/>
          <a:p>
            <a:pPr indent="0" marL="0">
              <a:buNone/>
            </a:pPr>
            <a:r>
              <a:rPr lang="en-US" sz="1900" b="1" dirty="0">
                <a:solidFill>
                  <a:srgbClr val="1E2235"/>
                </a:solidFill>
                <a:latin typeface="Segoe UI" pitchFamily="34" charset="0"/>
                <a:ea typeface="Segoe UI" pitchFamily="34" charset="-122"/>
                <a:cs typeface="Segoe UI" pitchFamily="34" charset="-120"/>
              </a:rPr>
              <a:t>Make it your own</a:t>
            </a:r>
            <a:endParaRPr lang="en-US" sz="1900" dirty="0"/>
          </a:p>
        </p:txBody>
      </p:sp>
      <p:sp>
        <p:nvSpPr>
          <p:cNvPr id="19" name="Text 17"/>
          <p:cNvSpPr/>
          <p:nvPr/>
        </p:nvSpPr>
        <p:spPr>
          <a:xfrm>
            <a:off x="1737360" y="5779008"/>
            <a:ext cx="9601200" cy="365760"/>
          </a:xfrm>
          <a:prstGeom prst="rect">
            <a:avLst/>
          </a:prstGeom>
          <a:noFill/>
          <a:ln/>
        </p:spPr>
        <p:txBody>
          <a:bodyPr wrap="square" rtlCol="0" anchor="ctr"/>
          <a:lstStyle/>
          <a:p>
            <a:pPr indent="0" marL="0">
              <a:buNone/>
            </a:pPr>
            <a:r>
              <a:rPr lang="en-US" sz="1350" dirty="0">
                <a:solidFill>
                  <a:srgbClr val="5B6079"/>
                </a:solidFill>
                <a:latin typeface="Segoe UI" pitchFamily="34" charset="0"/>
                <a:ea typeface="Segoe UI" pitchFamily="34" charset="-122"/>
                <a:cs typeface="Segoe UI" pitchFamily="34" charset="-120"/>
              </a:rPr>
              <a:t>How to extend these scenarios to your own work</a:t>
            </a:r>
            <a:endParaRPr lang="en-US" sz="1350" dirty="0"/>
          </a:p>
        </p:txBody>
      </p:sp>
      <p:sp>
        <p:nvSpPr>
          <p:cNvPr id="20" name="Text 18"/>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21" name="Text 19"/>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6366F1"/>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6366F1"/>
                </a:solidFill>
                <a:latin typeface="Segoe UI" pitchFamily="34" charset="0"/>
                <a:ea typeface="Segoe UI" pitchFamily="34" charset="-122"/>
                <a:cs typeface="Segoe UI" pitchFamily="34" charset="-120"/>
              </a:rPr>
              <a:t>WHAT IS COWORK</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From "chat" to "agentic execution"</a:t>
            </a:r>
            <a:endParaRPr lang="en-US" sz="3000" dirty="0"/>
          </a:p>
        </p:txBody>
      </p:sp>
      <p:sp>
        <p:nvSpPr>
          <p:cNvPr id="5" name="Text 3"/>
          <p:cNvSpPr/>
          <p:nvPr/>
        </p:nvSpPr>
        <p:spPr>
          <a:xfrm>
            <a:off x="640080" y="1737360"/>
            <a:ext cx="10881360" cy="457200"/>
          </a:xfrm>
          <a:prstGeom prst="rect">
            <a:avLst/>
          </a:prstGeom>
          <a:noFill/>
          <a:ln/>
        </p:spPr>
        <p:txBody>
          <a:bodyPr wrap="square" rtlCol="0" anchor="ctr"/>
          <a:lstStyle/>
          <a:p>
            <a:pPr indent="0" marL="0">
              <a:buNone/>
            </a:pPr>
            <a:r>
              <a:rPr lang="en-US" sz="2200" dirty="0">
                <a:solidFill>
                  <a:srgbClr val="000000"/>
                </a:solidFill>
                <a:latin typeface="Segoe UI" pitchFamily="34" charset="0"/>
                <a:ea typeface="Segoe UI" pitchFamily="34" charset="-122"/>
                <a:cs typeface="Segoe UI" pitchFamily="34" charset="-120"/>
              </a:rPr>
              <a:t>Cowork is Copilot's </a:t>
            </a:r>
            <a:pPr indent="0" marL="0">
              <a:buNone/>
            </a:pPr>
            <a:r>
              <a:rPr lang="en-US" sz="2200" b="1" dirty="0">
                <a:solidFill>
                  <a:srgbClr val="6366F1"/>
                </a:solidFill>
                <a:latin typeface="Segoe UI" pitchFamily="34" charset="0"/>
                <a:ea typeface="Segoe UI" pitchFamily="34" charset="-122"/>
                <a:cs typeface="Segoe UI" pitchFamily="34" charset="-120"/>
              </a:rPr>
              <a:t>agentic</a:t>
            </a:r>
            <a:pPr indent="0" marL="0">
              <a:buNone/>
            </a:pPr>
            <a:r>
              <a:rPr lang="en-US" sz="2200" dirty="0">
                <a:solidFill>
                  <a:srgbClr val="000000"/>
                </a:solidFill>
                <a:latin typeface="Segoe UI" pitchFamily="34" charset="0"/>
                <a:ea typeface="Segoe UI" pitchFamily="34" charset="-122"/>
                <a:cs typeface="Segoe UI" pitchFamily="34" charset="-120"/>
              </a:rPr>
              <a:t> working mode.</a:t>
            </a:r>
            <a:endParaRPr lang="en-US" sz="2200" dirty="0"/>
          </a:p>
        </p:txBody>
      </p:sp>
      <p:sp>
        <p:nvSpPr>
          <p:cNvPr id="6" name="Text 4"/>
          <p:cNvSpPr/>
          <p:nvPr/>
        </p:nvSpPr>
        <p:spPr>
          <a:xfrm>
            <a:off x="640080" y="2286000"/>
            <a:ext cx="10881360" cy="914400"/>
          </a:xfrm>
          <a:prstGeom prst="rect">
            <a:avLst/>
          </a:prstGeom>
          <a:noFill/>
          <a:ln/>
        </p:spPr>
        <p:txBody>
          <a:bodyPr wrap="square" rtlCol="0" anchor="ctr"/>
          <a:lstStyle/>
          <a:p>
            <a:pPr indent="0" marL="0">
              <a:lnSpc>
                <a:spcPct val="130000"/>
              </a:lnSpc>
              <a:buNone/>
            </a:pPr>
            <a:r>
              <a:rPr lang="en-US" sz="1500" dirty="0">
                <a:solidFill>
                  <a:srgbClr val="5B6079"/>
                </a:solidFill>
                <a:latin typeface="Segoe UI" pitchFamily="34" charset="0"/>
                <a:ea typeface="Segoe UI" pitchFamily="34" charset="-122"/>
                <a:cs typeface="Segoe UI" pitchFamily="34" charset="-120"/>
              </a:rPr>
              <a:t>You hand it a goal; it breaks the work into steps, reads your cloud files, loads the skills it needs, produces results across apps and checks its own work — pausing for your approval, with a risk level shown, before any medium or high-risk action. You move from quick single-turn answers to handing over a task that actually gets done.</a:t>
            </a:r>
            <a:endParaRPr lang="en-US" sz="1500" dirty="0"/>
          </a:p>
        </p:txBody>
      </p:sp>
      <p:sp>
        <p:nvSpPr>
          <p:cNvPr id="7" name="Shape 5"/>
          <p:cNvSpPr/>
          <p:nvPr/>
        </p:nvSpPr>
        <p:spPr>
          <a:xfrm>
            <a:off x="640080" y="3611880"/>
            <a:ext cx="3454298" cy="2286000"/>
          </a:xfrm>
          <a:prstGeom prst="rect">
            <a:avLst/>
          </a:prstGeom>
          <a:solidFill>
            <a:srgbClr val="FFFFFF"/>
          </a:solidFill>
          <a:ln w="12700">
            <a:solidFill>
              <a:srgbClr val="E4E7F2"/>
            </a:solidFill>
            <a:prstDash val="solid"/>
          </a:ln>
          <a:effectLst>
            <a:outerShdw sx="100000" sy="100000" kx="0" ky="0" algn="bl" rotWithShape="0" blurRad="101600" dist="25400" dir="5400000">
              <a:srgbClr val="9AA0C0">
                <a:alpha val="18000"/>
              </a:srgbClr>
            </a:outerShdw>
          </a:effectLst>
        </p:spPr>
      </p:sp>
      <p:sp>
        <p:nvSpPr>
          <p:cNvPr id="8" name="Shape 6"/>
          <p:cNvSpPr/>
          <p:nvPr/>
        </p:nvSpPr>
        <p:spPr>
          <a:xfrm>
            <a:off x="640080" y="3611880"/>
            <a:ext cx="3454298" cy="82296"/>
          </a:xfrm>
          <a:prstGeom prst="rect">
            <a:avLst/>
          </a:prstGeom>
          <a:solidFill>
            <a:srgbClr val="94A3B8"/>
          </a:solidFill>
          <a:ln/>
        </p:spPr>
      </p:sp>
      <p:pic>
        <p:nvPicPr>
          <p:cNvPr id="9" name="Image 0" descr="preencoded.png">    </p:cNvPr>
          <p:cNvPicPr>
            <a:picLocks noChangeAspect="1"/>
          </p:cNvPicPr>
          <p:nvPr/>
        </p:nvPicPr>
        <p:blipFill>
          <a:blip r:embed="rId1"/>
          <a:stretch>
            <a:fillRect/>
          </a:stretch>
        </p:blipFill>
        <p:spPr>
          <a:xfrm>
            <a:off x="960120" y="3931920"/>
            <a:ext cx="457200" cy="457200"/>
          </a:xfrm>
          <a:prstGeom prst="rect">
            <a:avLst/>
          </a:prstGeom>
        </p:spPr>
      </p:pic>
      <p:sp>
        <p:nvSpPr>
          <p:cNvPr id="10" name="Text 7"/>
          <p:cNvSpPr/>
          <p:nvPr/>
        </p:nvSpPr>
        <p:spPr>
          <a:xfrm>
            <a:off x="960120" y="4526280"/>
            <a:ext cx="2814218" cy="365760"/>
          </a:xfrm>
          <a:prstGeom prst="rect">
            <a:avLst/>
          </a:prstGeom>
          <a:noFill/>
          <a:ln/>
        </p:spPr>
        <p:txBody>
          <a:bodyPr wrap="square" rtlCol="0" anchor="ctr"/>
          <a:lstStyle/>
          <a:p>
            <a:pPr indent="0" marL="0">
              <a:buNone/>
            </a:pPr>
            <a:r>
              <a:rPr lang="en-US" sz="1700" b="1" dirty="0">
                <a:solidFill>
                  <a:srgbClr val="1E2235"/>
                </a:solidFill>
                <a:latin typeface="Segoe UI" pitchFamily="34" charset="0"/>
                <a:ea typeface="Segoe UI" pitchFamily="34" charset="-122"/>
                <a:cs typeface="Segoe UI" pitchFamily="34" charset="-120"/>
              </a:rPr>
              <a:t>Copilot Chat</a:t>
            </a:r>
            <a:endParaRPr lang="en-US" sz="1700" dirty="0"/>
          </a:p>
        </p:txBody>
      </p:sp>
      <p:sp>
        <p:nvSpPr>
          <p:cNvPr id="11" name="Text 8"/>
          <p:cNvSpPr/>
          <p:nvPr/>
        </p:nvSpPr>
        <p:spPr>
          <a:xfrm>
            <a:off x="960120" y="4937760"/>
            <a:ext cx="2814218" cy="822960"/>
          </a:xfrm>
          <a:prstGeom prst="rect">
            <a:avLst/>
          </a:prstGeom>
          <a:noFill/>
          <a:ln/>
        </p:spPr>
        <p:txBody>
          <a:bodyPr wrap="square" rtlCol="0" anchor="ctr"/>
          <a:lstStyle/>
          <a:p>
            <a:pPr indent="0" marL="0">
              <a:lnSpc>
                <a:spcPct val="125000"/>
              </a:lnSpc>
              <a:buNone/>
            </a:pPr>
            <a:r>
              <a:rPr lang="en-US" sz="1400" dirty="0">
                <a:solidFill>
                  <a:srgbClr val="5B6079"/>
                </a:solidFill>
                <a:latin typeface="Segoe UI" pitchFamily="34" charset="0"/>
                <a:ea typeface="Segoe UI" pitchFamily="34" charset="-122"/>
                <a:cs typeface="Segoe UI" pitchFamily="34" charset="-120"/>
              </a:rPr>
              <a:t>Quick single-turn answers; great for instant replies and brainstorming.</a:t>
            </a:r>
            <a:endParaRPr lang="en-US" sz="1400" dirty="0"/>
          </a:p>
        </p:txBody>
      </p:sp>
      <p:sp>
        <p:nvSpPr>
          <p:cNvPr id="12" name="Shape 9"/>
          <p:cNvSpPr/>
          <p:nvPr/>
        </p:nvSpPr>
        <p:spPr>
          <a:xfrm>
            <a:off x="4368698" y="3611880"/>
            <a:ext cx="3454298" cy="2286000"/>
          </a:xfrm>
          <a:prstGeom prst="rect">
            <a:avLst/>
          </a:prstGeom>
          <a:solidFill>
            <a:srgbClr val="FFFFFF"/>
          </a:solidFill>
          <a:ln w="12700">
            <a:solidFill>
              <a:srgbClr val="E4E7F2"/>
            </a:solidFill>
            <a:prstDash val="solid"/>
          </a:ln>
          <a:effectLst>
            <a:outerShdw sx="100000" sy="100000" kx="0" ky="0" algn="bl" rotWithShape="0" blurRad="101600" dist="25400" dir="5400000">
              <a:srgbClr val="9AA0C0">
                <a:alpha val="18000"/>
              </a:srgbClr>
            </a:outerShdw>
          </a:effectLst>
        </p:spPr>
      </p:sp>
      <p:sp>
        <p:nvSpPr>
          <p:cNvPr id="13" name="Shape 10"/>
          <p:cNvSpPr/>
          <p:nvPr/>
        </p:nvSpPr>
        <p:spPr>
          <a:xfrm>
            <a:off x="4368698" y="3611880"/>
            <a:ext cx="3454298" cy="82296"/>
          </a:xfrm>
          <a:prstGeom prst="rect">
            <a:avLst/>
          </a:prstGeom>
          <a:solidFill>
            <a:srgbClr val="6366F1"/>
          </a:solidFill>
          <a:ln/>
        </p:spPr>
      </p:sp>
      <p:pic>
        <p:nvPicPr>
          <p:cNvPr id="14" name="Image 1" descr="preencoded.png">    </p:cNvPr>
          <p:cNvPicPr>
            <a:picLocks noChangeAspect="1"/>
          </p:cNvPicPr>
          <p:nvPr/>
        </p:nvPicPr>
        <p:blipFill>
          <a:blip r:embed="rId2"/>
          <a:stretch>
            <a:fillRect/>
          </a:stretch>
        </p:blipFill>
        <p:spPr>
          <a:xfrm>
            <a:off x="4688738" y="3931920"/>
            <a:ext cx="457200" cy="457200"/>
          </a:xfrm>
          <a:prstGeom prst="rect">
            <a:avLst/>
          </a:prstGeom>
        </p:spPr>
      </p:pic>
      <p:sp>
        <p:nvSpPr>
          <p:cNvPr id="15" name="Text 11"/>
          <p:cNvSpPr/>
          <p:nvPr/>
        </p:nvSpPr>
        <p:spPr>
          <a:xfrm>
            <a:off x="4688738" y="4526280"/>
            <a:ext cx="2814218" cy="365760"/>
          </a:xfrm>
          <a:prstGeom prst="rect">
            <a:avLst/>
          </a:prstGeom>
          <a:noFill/>
          <a:ln/>
        </p:spPr>
        <p:txBody>
          <a:bodyPr wrap="square" rtlCol="0" anchor="ctr"/>
          <a:lstStyle/>
          <a:p>
            <a:pPr indent="0" marL="0">
              <a:buNone/>
            </a:pPr>
            <a:r>
              <a:rPr lang="en-US" sz="1700" b="1" dirty="0">
                <a:solidFill>
                  <a:srgbClr val="1E2235"/>
                </a:solidFill>
                <a:latin typeface="Segoe UI" pitchFamily="34" charset="0"/>
                <a:ea typeface="Segoe UI" pitchFamily="34" charset="-122"/>
                <a:cs typeface="Segoe UI" pitchFamily="34" charset="-120"/>
              </a:rPr>
              <a:t>Cowork agent</a:t>
            </a:r>
            <a:endParaRPr lang="en-US" sz="1700" dirty="0"/>
          </a:p>
        </p:txBody>
      </p:sp>
      <p:sp>
        <p:nvSpPr>
          <p:cNvPr id="16" name="Text 12"/>
          <p:cNvSpPr/>
          <p:nvPr/>
        </p:nvSpPr>
        <p:spPr>
          <a:xfrm>
            <a:off x="4688738" y="4937760"/>
            <a:ext cx="2814218" cy="822960"/>
          </a:xfrm>
          <a:prstGeom prst="rect">
            <a:avLst/>
          </a:prstGeom>
          <a:noFill/>
          <a:ln/>
        </p:spPr>
        <p:txBody>
          <a:bodyPr wrap="square" rtlCol="0" anchor="ctr"/>
          <a:lstStyle/>
          <a:p>
            <a:pPr indent="0" marL="0">
              <a:lnSpc>
                <a:spcPct val="125000"/>
              </a:lnSpc>
              <a:buNone/>
            </a:pPr>
            <a:r>
              <a:rPr lang="en-US" sz="1400" dirty="0">
                <a:solidFill>
                  <a:srgbClr val="5B6079"/>
                </a:solidFill>
                <a:latin typeface="Segoe UI" pitchFamily="34" charset="0"/>
                <a:ea typeface="Segoe UI" pitchFamily="34" charset="-122"/>
                <a:cs typeface="Segoe UI" pitchFamily="34" charset="-120"/>
              </a:rPr>
              <a:t>You give a goal; it executes autonomously across apps, for minutes to hours.</a:t>
            </a:r>
            <a:endParaRPr lang="en-US" sz="1400" dirty="0"/>
          </a:p>
        </p:txBody>
      </p:sp>
      <p:sp>
        <p:nvSpPr>
          <p:cNvPr id="17" name="Shape 13"/>
          <p:cNvSpPr/>
          <p:nvPr/>
        </p:nvSpPr>
        <p:spPr>
          <a:xfrm>
            <a:off x="8097317" y="3611880"/>
            <a:ext cx="3454298" cy="2286000"/>
          </a:xfrm>
          <a:prstGeom prst="rect">
            <a:avLst/>
          </a:prstGeom>
          <a:solidFill>
            <a:srgbClr val="FFFFFF"/>
          </a:solidFill>
          <a:ln w="12700">
            <a:solidFill>
              <a:srgbClr val="E4E7F2"/>
            </a:solidFill>
            <a:prstDash val="solid"/>
          </a:ln>
          <a:effectLst>
            <a:outerShdw sx="100000" sy="100000" kx="0" ky="0" algn="bl" rotWithShape="0" blurRad="101600" dist="25400" dir="5400000">
              <a:srgbClr val="9AA0C0">
                <a:alpha val="18000"/>
              </a:srgbClr>
            </a:outerShdw>
          </a:effectLst>
        </p:spPr>
      </p:sp>
      <p:sp>
        <p:nvSpPr>
          <p:cNvPr id="18" name="Shape 14"/>
          <p:cNvSpPr/>
          <p:nvPr/>
        </p:nvSpPr>
        <p:spPr>
          <a:xfrm>
            <a:off x="8097317" y="3611880"/>
            <a:ext cx="3454298" cy="82296"/>
          </a:xfrm>
          <a:prstGeom prst="rect">
            <a:avLst/>
          </a:prstGeom>
          <a:solidFill>
            <a:srgbClr val="8B5CF6"/>
          </a:solidFill>
          <a:ln/>
        </p:spPr>
      </p:sp>
      <p:pic>
        <p:nvPicPr>
          <p:cNvPr id="19" name="Image 2" descr="preencoded.png">    </p:cNvPr>
          <p:cNvPicPr>
            <a:picLocks noChangeAspect="1"/>
          </p:cNvPicPr>
          <p:nvPr/>
        </p:nvPicPr>
        <p:blipFill>
          <a:blip r:embed="rId3"/>
          <a:stretch>
            <a:fillRect/>
          </a:stretch>
        </p:blipFill>
        <p:spPr>
          <a:xfrm>
            <a:off x="8417357" y="3931920"/>
            <a:ext cx="457200" cy="457200"/>
          </a:xfrm>
          <a:prstGeom prst="rect">
            <a:avLst/>
          </a:prstGeom>
        </p:spPr>
      </p:pic>
      <p:sp>
        <p:nvSpPr>
          <p:cNvPr id="20" name="Text 15"/>
          <p:cNvSpPr/>
          <p:nvPr/>
        </p:nvSpPr>
        <p:spPr>
          <a:xfrm>
            <a:off x="8417357" y="4526280"/>
            <a:ext cx="2814218" cy="365760"/>
          </a:xfrm>
          <a:prstGeom prst="rect">
            <a:avLst/>
          </a:prstGeom>
          <a:noFill/>
          <a:ln/>
        </p:spPr>
        <p:txBody>
          <a:bodyPr wrap="square" rtlCol="0" anchor="ctr"/>
          <a:lstStyle/>
          <a:p>
            <a:pPr indent="0" marL="0">
              <a:buNone/>
            </a:pPr>
            <a:r>
              <a:rPr lang="en-US" sz="1700" b="1" dirty="0">
                <a:solidFill>
                  <a:srgbClr val="1E2235"/>
                </a:solidFill>
                <a:latin typeface="Segoe UI" pitchFamily="34" charset="0"/>
                <a:ea typeface="Segoe UI" pitchFamily="34" charset="-122"/>
                <a:cs typeface="Segoe UI" pitchFamily="34" charset="-120"/>
              </a:rPr>
              <a:t>You stay in charge</a:t>
            </a:r>
            <a:endParaRPr lang="en-US" sz="1700" dirty="0"/>
          </a:p>
        </p:txBody>
      </p:sp>
      <p:sp>
        <p:nvSpPr>
          <p:cNvPr id="21" name="Text 16"/>
          <p:cNvSpPr/>
          <p:nvPr/>
        </p:nvSpPr>
        <p:spPr>
          <a:xfrm>
            <a:off x="8417357" y="4937760"/>
            <a:ext cx="2814218" cy="822960"/>
          </a:xfrm>
          <a:prstGeom prst="rect">
            <a:avLst/>
          </a:prstGeom>
          <a:noFill/>
          <a:ln/>
        </p:spPr>
        <p:txBody>
          <a:bodyPr wrap="square" rtlCol="0" anchor="ctr"/>
          <a:lstStyle/>
          <a:p>
            <a:pPr indent="0" marL="0">
              <a:lnSpc>
                <a:spcPct val="125000"/>
              </a:lnSpc>
              <a:buNone/>
            </a:pPr>
            <a:r>
              <a:rPr lang="en-US" sz="1400" dirty="0">
                <a:solidFill>
                  <a:srgbClr val="5B6079"/>
                </a:solidFill>
                <a:latin typeface="Segoe UI" pitchFamily="34" charset="0"/>
                <a:ea typeface="Segoe UI" pitchFamily="34" charset="-122"/>
                <a:cs typeface="Segoe UI" pitchFamily="34" charset="-120"/>
              </a:rPr>
              <a:t>Anything outbound or affecting others pauses for your approval.</a:t>
            </a:r>
            <a:endParaRPr lang="en-US" sz="1400" dirty="0"/>
          </a:p>
        </p:txBody>
      </p:sp>
      <p:sp>
        <p:nvSpPr>
          <p:cNvPr id="22" name="Text 17"/>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23" name="Text 18"/>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6366F1"/>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6366F1"/>
                </a:solidFill>
                <a:latin typeface="Segoe UI" pitchFamily="34" charset="0"/>
                <a:ea typeface="Segoe UI" pitchFamily="34" charset="-122"/>
                <a:cs typeface="Segoe UI" pitchFamily="34" charset="-120"/>
              </a:rPr>
              <a:t>COMPARISON</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Cowork vs. Copilot Chat</a:t>
            </a:r>
            <a:endParaRPr lang="en-US" sz="3000" dirty="0"/>
          </a:p>
        </p:txBody>
      </p:sp>
      <p:sp>
        <p:nvSpPr>
          <p:cNvPr id="5" name="Shape 3"/>
          <p:cNvSpPr/>
          <p:nvPr/>
        </p:nvSpPr>
        <p:spPr>
          <a:xfrm>
            <a:off x="640080" y="1737360"/>
            <a:ext cx="2743200" cy="457200"/>
          </a:xfrm>
          <a:prstGeom prst="rect">
            <a:avLst/>
          </a:prstGeom>
          <a:solidFill>
            <a:srgbClr val="EEF0F8"/>
          </a:solidFill>
          <a:ln/>
        </p:spPr>
      </p:sp>
      <p:sp>
        <p:nvSpPr>
          <p:cNvPr id="6" name="Shape 4"/>
          <p:cNvSpPr/>
          <p:nvPr/>
        </p:nvSpPr>
        <p:spPr>
          <a:xfrm>
            <a:off x="3383280" y="1737360"/>
            <a:ext cx="4023360" cy="457200"/>
          </a:xfrm>
          <a:prstGeom prst="rect">
            <a:avLst/>
          </a:prstGeom>
          <a:solidFill>
            <a:srgbClr val="0F1031"/>
          </a:solidFill>
          <a:ln/>
        </p:spPr>
      </p:sp>
      <p:sp>
        <p:nvSpPr>
          <p:cNvPr id="7" name="Shape 5"/>
          <p:cNvSpPr/>
          <p:nvPr/>
        </p:nvSpPr>
        <p:spPr>
          <a:xfrm>
            <a:off x="7406640" y="1737360"/>
            <a:ext cx="4142232" cy="457200"/>
          </a:xfrm>
          <a:prstGeom prst="rect">
            <a:avLst/>
          </a:prstGeom>
          <a:solidFill>
            <a:srgbClr val="6366F1"/>
          </a:solidFill>
          <a:ln/>
        </p:spPr>
      </p:sp>
      <p:sp>
        <p:nvSpPr>
          <p:cNvPr id="8" name="Text 6"/>
          <p:cNvSpPr/>
          <p:nvPr/>
        </p:nvSpPr>
        <p:spPr>
          <a:xfrm>
            <a:off x="640080" y="1737360"/>
            <a:ext cx="2743200" cy="457200"/>
          </a:xfrm>
          <a:prstGeom prst="rect">
            <a:avLst/>
          </a:prstGeom>
          <a:noFill/>
          <a:ln/>
        </p:spPr>
        <p:txBody>
          <a:bodyPr wrap="square" rtlCol="0" anchor="ctr"/>
          <a:lstStyle/>
          <a:p>
            <a:pPr indent="0" marL="0">
              <a:buNone/>
            </a:pPr>
            <a:endParaRPr lang="en-US" dirty="0"/>
          </a:p>
        </p:txBody>
      </p:sp>
      <p:sp>
        <p:nvSpPr>
          <p:cNvPr id="9" name="Text 7"/>
          <p:cNvSpPr/>
          <p:nvPr/>
        </p:nvSpPr>
        <p:spPr>
          <a:xfrm>
            <a:off x="3383280" y="1737360"/>
            <a:ext cx="4023360" cy="457200"/>
          </a:xfrm>
          <a:prstGeom prst="rect">
            <a:avLst/>
          </a:prstGeom>
          <a:noFill/>
          <a:ln/>
        </p:spPr>
        <p:txBody>
          <a:bodyPr wrap="square"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Copilot Chat</a:t>
            </a:r>
            <a:endParaRPr lang="en-US" sz="1400" dirty="0"/>
          </a:p>
        </p:txBody>
      </p:sp>
      <p:sp>
        <p:nvSpPr>
          <p:cNvPr id="10" name="Text 8"/>
          <p:cNvSpPr/>
          <p:nvPr/>
        </p:nvSpPr>
        <p:spPr>
          <a:xfrm>
            <a:off x="7406640" y="1737360"/>
            <a:ext cx="4142232" cy="457200"/>
          </a:xfrm>
          <a:prstGeom prst="rect">
            <a:avLst/>
          </a:prstGeom>
          <a:noFill/>
          <a:ln/>
        </p:spPr>
        <p:txBody>
          <a:bodyPr wrap="square"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Copilot Cowork</a:t>
            </a:r>
            <a:endParaRPr lang="en-US" sz="1400" dirty="0"/>
          </a:p>
        </p:txBody>
      </p:sp>
      <p:sp>
        <p:nvSpPr>
          <p:cNvPr id="11" name="Shape 9"/>
          <p:cNvSpPr/>
          <p:nvPr/>
        </p:nvSpPr>
        <p:spPr>
          <a:xfrm>
            <a:off x="640080" y="2194560"/>
            <a:ext cx="10908792" cy="457200"/>
          </a:xfrm>
          <a:prstGeom prst="rect">
            <a:avLst/>
          </a:prstGeom>
          <a:solidFill>
            <a:srgbClr val="F2F4FB"/>
          </a:solidFill>
          <a:ln/>
        </p:spPr>
      </p:sp>
      <p:sp>
        <p:nvSpPr>
          <p:cNvPr id="12" name="Text 10"/>
          <p:cNvSpPr/>
          <p:nvPr/>
        </p:nvSpPr>
        <p:spPr>
          <a:xfrm>
            <a:off x="822960" y="2194560"/>
            <a:ext cx="2468880" cy="457200"/>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Quick single-turn Q&amp;A</a:t>
            </a:r>
            <a:endParaRPr lang="en-US" sz="1250" dirty="0"/>
          </a:p>
        </p:txBody>
      </p:sp>
      <p:sp>
        <p:nvSpPr>
          <p:cNvPr id="13" name="Text 11"/>
          <p:cNvSpPr/>
          <p:nvPr/>
        </p:nvSpPr>
        <p:spPr>
          <a:xfrm>
            <a:off x="3566160" y="2194560"/>
            <a:ext cx="3657600" cy="457200"/>
          </a:xfrm>
          <a:prstGeom prst="rect">
            <a:avLst/>
          </a:prstGeom>
          <a:noFill/>
          <a:ln/>
        </p:spPr>
        <p:txBody>
          <a:bodyPr wrap="square" rtlCol="0" anchor="ctr"/>
          <a:lstStyle/>
          <a:p>
            <a:pPr indent="0" marL="0">
              <a:buNone/>
            </a:pPr>
            <a:r>
              <a:rPr lang="en-US" sz="1250" dirty="0">
                <a:solidFill>
                  <a:srgbClr val="5B6079"/>
                </a:solidFill>
                <a:latin typeface="Segoe UI" pitchFamily="34" charset="0"/>
                <a:ea typeface="Segoe UI" pitchFamily="34" charset="-122"/>
                <a:cs typeface="Segoe UI" pitchFamily="34" charset="-120"/>
              </a:rPr>
              <a:t>Quick single-turn Q&amp;A</a:t>
            </a:r>
            <a:endParaRPr lang="en-US" sz="1250" dirty="0"/>
          </a:p>
        </p:txBody>
      </p:sp>
      <p:sp>
        <p:nvSpPr>
          <p:cNvPr id="14" name="Text 12"/>
          <p:cNvSpPr/>
          <p:nvPr/>
        </p:nvSpPr>
        <p:spPr>
          <a:xfrm>
            <a:off x="7589520" y="2194560"/>
            <a:ext cx="3776472" cy="457200"/>
          </a:xfrm>
          <a:prstGeom prst="rect">
            <a:avLst/>
          </a:prstGeom>
          <a:noFill/>
          <a:ln/>
        </p:spPr>
        <p:txBody>
          <a:bodyPr wrap="square" rtlCol="0" anchor="ctr"/>
          <a:lstStyle/>
          <a:p>
            <a:pPr indent="0" marL="0">
              <a:buNone/>
            </a:pPr>
            <a:r>
              <a:rPr lang="en-US" sz="1250" dirty="0">
                <a:solidFill>
                  <a:srgbClr val="1E2235"/>
                </a:solidFill>
                <a:latin typeface="Segoe UI" pitchFamily="34" charset="0"/>
                <a:ea typeface="Segoe UI" pitchFamily="34" charset="-122"/>
                <a:cs typeface="Segoe UI" pitchFamily="34" charset="-120"/>
              </a:rPr>
              <a:t>Hand over a goal; autonomous multi-step work across apps</a:t>
            </a:r>
            <a:endParaRPr lang="en-US" sz="1250" dirty="0"/>
          </a:p>
        </p:txBody>
      </p:sp>
      <p:sp>
        <p:nvSpPr>
          <p:cNvPr id="15" name="Shape 13"/>
          <p:cNvSpPr/>
          <p:nvPr/>
        </p:nvSpPr>
        <p:spPr>
          <a:xfrm>
            <a:off x="640080" y="2651760"/>
            <a:ext cx="10908792" cy="457200"/>
          </a:xfrm>
          <a:prstGeom prst="rect">
            <a:avLst/>
          </a:prstGeom>
          <a:solidFill>
            <a:srgbClr val="FFFFFF"/>
          </a:solidFill>
          <a:ln/>
        </p:spPr>
      </p:sp>
      <p:sp>
        <p:nvSpPr>
          <p:cNvPr id="16" name="Text 14"/>
          <p:cNvSpPr/>
          <p:nvPr/>
        </p:nvSpPr>
        <p:spPr>
          <a:xfrm>
            <a:off x="822960" y="2651760"/>
            <a:ext cx="2468880" cy="457200"/>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Seconds to minutes</a:t>
            </a:r>
            <a:endParaRPr lang="en-US" sz="1250" dirty="0"/>
          </a:p>
        </p:txBody>
      </p:sp>
      <p:sp>
        <p:nvSpPr>
          <p:cNvPr id="17" name="Text 15"/>
          <p:cNvSpPr/>
          <p:nvPr/>
        </p:nvSpPr>
        <p:spPr>
          <a:xfrm>
            <a:off x="3566160" y="2651760"/>
            <a:ext cx="3657600" cy="457200"/>
          </a:xfrm>
          <a:prstGeom prst="rect">
            <a:avLst/>
          </a:prstGeom>
          <a:noFill/>
          <a:ln/>
        </p:spPr>
        <p:txBody>
          <a:bodyPr wrap="square" rtlCol="0" anchor="ctr"/>
          <a:lstStyle/>
          <a:p>
            <a:pPr indent="0" marL="0">
              <a:buNone/>
            </a:pPr>
            <a:r>
              <a:rPr lang="en-US" sz="1250" dirty="0">
                <a:solidFill>
                  <a:srgbClr val="5B6079"/>
                </a:solidFill>
                <a:latin typeface="Segoe UI" pitchFamily="34" charset="0"/>
                <a:ea typeface="Segoe UI" pitchFamily="34" charset="-122"/>
                <a:cs typeface="Segoe UI" pitchFamily="34" charset="-120"/>
              </a:rPr>
              <a:t>Seconds to minutes</a:t>
            </a:r>
            <a:endParaRPr lang="en-US" sz="1250" dirty="0"/>
          </a:p>
        </p:txBody>
      </p:sp>
      <p:sp>
        <p:nvSpPr>
          <p:cNvPr id="18" name="Text 16"/>
          <p:cNvSpPr/>
          <p:nvPr/>
        </p:nvSpPr>
        <p:spPr>
          <a:xfrm>
            <a:off x="7589520" y="2651760"/>
            <a:ext cx="3776472" cy="457200"/>
          </a:xfrm>
          <a:prstGeom prst="rect">
            <a:avLst/>
          </a:prstGeom>
          <a:noFill/>
          <a:ln/>
        </p:spPr>
        <p:txBody>
          <a:bodyPr wrap="square" rtlCol="0" anchor="ctr"/>
          <a:lstStyle/>
          <a:p>
            <a:pPr indent="0" marL="0">
              <a:buNone/>
            </a:pPr>
            <a:r>
              <a:rPr lang="en-US" sz="1250" dirty="0">
                <a:solidFill>
                  <a:srgbClr val="1E2235"/>
                </a:solidFill>
                <a:latin typeface="Segoe UI" pitchFamily="34" charset="0"/>
                <a:ea typeface="Segoe UI" pitchFamily="34" charset="-122"/>
                <a:cs typeface="Segoe UI" pitchFamily="34" charset="-120"/>
              </a:rPr>
              <a:t>Minutes to hours (autonomous)</a:t>
            </a:r>
            <a:endParaRPr lang="en-US" sz="1250" dirty="0"/>
          </a:p>
        </p:txBody>
      </p:sp>
      <p:sp>
        <p:nvSpPr>
          <p:cNvPr id="19" name="Shape 17"/>
          <p:cNvSpPr/>
          <p:nvPr/>
        </p:nvSpPr>
        <p:spPr>
          <a:xfrm>
            <a:off x="640080" y="3108960"/>
            <a:ext cx="10908792" cy="457200"/>
          </a:xfrm>
          <a:prstGeom prst="rect">
            <a:avLst/>
          </a:prstGeom>
          <a:solidFill>
            <a:srgbClr val="F2F4FB"/>
          </a:solidFill>
          <a:ln/>
        </p:spPr>
      </p:sp>
      <p:sp>
        <p:nvSpPr>
          <p:cNvPr id="20" name="Text 18"/>
          <p:cNvSpPr/>
          <p:nvPr/>
        </p:nvSpPr>
        <p:spPr>
          <a:xfrm>
            <a:off x="822960" y="3108960"/>
            <a:ext cx="2468880" cy="457200"/>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Single step, single session</a:t>
            </a:r>
            <a:endParaRPr lang="en-US" sz="1250" dirty="0"/>
          </a:p>
        </p:txBody>
      </p:sp>
      <p:sp>
        <p:nvSpPr>
          <p:cNvPr id="21" name="Text 19"/>
          <p:cNvSpPr/>
          <p:nvPr/>
        </p:nvSpPr>
        <p:spPr>
          <a:xfrm>
            <a:off x="3566160" y="3108960"/>
            <a:ext cx="3657600" cy="457200"/>
          </a:xfrm>
          <a:prstGeom prst="rect">
            <a:avLst/>
          </a:prstGeom>
          <a:noFill/>
          <a:ln/>
        </p:spPr>
        <p:txBody>
          <a:bodyPr wrap="square" rtlCol="0" anchor="ctr"/>
          <a:lstStyle/>
          <a:p>
            <a:pPr indent="0" marL="0">
              <a:buNone/>
            </a:pPr>
            <a:r>
              <a:rPr lang="en-US" sz="1250" dirty="0">
                <a:solidFill>
                  <a:srgbClr val="5B6079"/>
                </a:solidFill>
                <a:latin typeface="Segoe UI" pitchFamily="34" charset="0"/>
                <a:ea typeface="Segoe UI" pitchFamily="34" charset="-122"/>
                <a:cs typeface="Segoe UI" pitchFamily="34" charset="-120"/>
              </a:rPr>
              <a:t>Single step, single session</a:t>
            </a:r>
            <a:endParaRPr lang="en-US" sz="1250" dirty="0"/>
          </a:p>
        </p:txBody>
      </p:sp>
      <p:sp>
        <p:nvSpPr>
          <p:cNvPr id="22" name="Text 20"/>
          <p:cNvSpPr/>
          <p:nvPr/>
        </p:nvSpPr>
        <p:spPr>
          <a:xfrm>
            <a:off x="7589520" y="3108960"/>
            <a:ext cx="3776472" cy="457200"/>
          </a:xfrm>
          <a:prstGeom prst="rect">
            <a:avLst/>
          </a:prstGeom>
          <a:noFill/>
          <a:ln/>
        </p:spPr>
        <p:txBody>
          <a:bodyPr wrap="square" rtlCol="0" anchor="ctr"/>
          <a:lstStyle/>
          <a:p>
            <a:pPr indent="0" marL="0">
              <a:buNone/>
            </a:pPr>
            <a:r>
              <a:rPr lang="en-US" sz="1250" dirty="0">
                <a:solidFill>
                  <a:srgbClr val="1E2235"/>
                </a:solidFill>
                <a:latin typeface="Segoe UI" pitchFamily="34" charset="0"/>
                <a:ea typeface="Segoe UI" pitchFamily="34" charset="-122"/>
                <a:cs typeface="Segoe UI" pitchFamily="34" charset="-120"/>
              </a:rPr>
              <a:t>Multi-step workflows across tasks and sources</a:t>
            </a:r>
            <a:endParaRPr lang="en-US" sz="1250" dirty="0"/>
          </a:p>
        </p:txBody>
      </p:sp>
      <p:sp>
        <p:nvSpPr>
          <p:cNvPr id="23" name="Shape 21"/>
          <p:cNvSpPr/>
          <p:nvPr/>
        </p:nvSpPr>
        <p:spPr>
          <a:xfrm>
            <a:off x="640080" y="3566160"/>
            <a:ext cx="10908792" cy="457200"/>
          </a:xfrm>
          <a:prstGeom prst="rect">
            <a:avLst/>
          </a:prstGeom>
          <a:solidFill>
            <a:srgbClr val="FFFFFF"/>
          </a:solidFill>
          <a:ln/>
        </p:spPr>
      </p:sp>
      <p:sp>
        <p:nvSpPr>
          <p:cNvPr id="24" name="Text 22"/>
          <p:cNvSpPr/>
          <p:nvPr/>
        </p:nvSpPr>
        <p:spPr>
          <a:xfrm>
            <a:off x="822960" y="3566160"/>
            <a:ext cx="2468880" cy="457200"/>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Paste in a snippet</a:t>
            </a:r>
            <a:endParaRPr lang="en-US" sz="1250" dirty="0"/>
          </a:p>
        </p:txBody>
      </p:sp>
      <p:sp>
        <p:nvSpPr>
          <p:cNvPr id="25" name="Text 23"/>
          <p:cNvSpPr/>
          <p:nvPr/>
        </p:nvSpPr>
        <p:spPr>
          <a:xfrm>
            <a:off x="3566160" y="3566160"/>
            <a:ext cx="3657600" cy="457200"/>
          </a:xfrm>
          <a:prstGeom prst="rect">
            <a:avLst/>
          </a:prstGeom>
          <a:noFill/>
          <a:ln/>
        </p:spPr>
        <p:txBody>
          <a:bodyPr wrap="square" rtlCol="0" anchor="ctr"/>
          <a:lstStyle/>
          <a:p>
            <a:pPr indent="0" marL="0">
              <a:buNone/>
            </a:pPr>
            <a:r>
              <a:rPr lang="en-US" sz="1250" dirty="0">
                <a:solidFill>
                  <a:srgbClr val="5B6079"/>
                </a:solidFill>
                <a:latin typeface="Segoe UI" pitchFamily="34" charset="0"/>
                <a:ea typeface="Segoe UI" pitchFamily="34" charset="-122"/>
                <a:cs typeface="Segoe UI" pitchFamily="34" charset="-120"/>
              </a:rPr>
              <a:t>Paste in a snippet</a:t>
            </a:r>
            <a:endParaRPr lang="en-US" sz="1250" dirty="0"/>
          </a:p>
        </p:txBody>
      </p:sp>
      <p:sp>
        <p:nvSpPr>
          <p:cNvPr id="26" name="Text 24"/>
          <p:cNvSpPr/>
          <p:nvPr/>
        </p:nvSpPr>
        <p:spPr>
          <a:xfrm>
            <a:off x="7589520" y="3566160"/>
            <a:ext cx="3776472" cy="457200"/>
          </a:xfrm>
          <a:prstGeom prst="rect">
            <a:avLst/>
          </a:prstGeom>
          <a:noFill/>
          <a:ln/>
        </p:spPr>
        <p:txBody>
          <a:bodyPr wrap="square" rtlCol="0" anchor="ctr"/>
          <a:lstStyle/>
          <a:p>
            <a:pPr indent="0" marL="0">
              <a:buNone/>
            </a:pPr>
            <a:r>
              <a:rPr lang="en-US" sz="1250" dirty="0">
                <a:solidFill>
                  <a:srgbClr val="1E2235"/>
                </a:solidFill>
                <a:latin typeface="Segoe UI" pitchFamily="34" charset="0"/>
                <a:ea typeface="Segoe UI" pitchFamily="34" charset="-122"/>
                <a:cs typeface="Segoe UI" pitchFamily="34" charset="-120"/>
              </a:rPr>
              <a:t>Reads cloud attachments and creates new files; no access to local files</a:t>
            </a:r>
            <a:endParaRPr lang="en-US" sz="1250" dirty="0"/>
          </a:p>
        </p:txBody>
      </p:sp>
      <p:sp>
        <p:nvSpPr>
          <p:cNvPr id="27" name="Shape 25"/>
          <p:cNvSpPr/>
          <p:nvPr/>
        </p:nvSpPr>
        <p:spPr>
          <a:xfrm>
            <a:off x="640080" y="4023360"/>
            <a:ext cx="10908792" cy="457200"/>
          </a:xfrm>
          <a:prstGeom prst="rect">
            <a:avLst/>
          </a:prstGeom>
          <a:solidFill>
            <a:srgbClr val="F2F4FB"/>
          </a:solidFill>
          <a:ln/>
        </p:spPr>
      </p:sp>
      <p:sp>
        <p:nvSpPr>
          <p:cNvPr id="28" name="Text 26"/>
          <p:cNvSpPr/>
          <p:nvPr/>
        </p:nvSpPr>
        <p:spPr>
          <a:xfrm>
            <a:off x="822960" y="4023360"/>
            <a:ext cx="2468880" cy="457200"/>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One conversational capability</a:t>
            </a:r>
            <a:endParaRPr lang="en-US" sz="1250" dirty="0"/>
          </a:p>
        </p:txBody>
      </p:sp>
      <p:sp>
        <p:nvSpPr>
          <p:cNvPr id="29" name="Text 27"/>
          <p:cNvSpPr/>
          <p:nvPr/>
        </p:nvSpPr>
        <p:spPr>
          <a:xfrm>
            <a:off x="3566160" y="4023360"/>
            <a:ext cx="3657600" cy="457200"/>
          </a:xfrm>
          <a:prstGeom prst="rect">
            <a:avLst/>
          </a:prstGeom>
          <a:noFill/>
          <a:ln/>
        </p:spPr>
        <p:txBody>
          <a:bodyPr wrap="square" rtlCol="0" anchor="ctr"/>
          <a:lstStyle/>
          <a:p>
            <a:pPr indent="0" marL="0">
              <a:buNone/>
            </a:pPr>
            <a:r>
              <a:rPr lang="en-US" sz="1250" dirty="0">
                <a:solidFill>
                  <a:srgbClr val="5B6079"/>
                </a:solidFill>
                <a:latin typeface="Segoe UI" pitchFamily="34" charset="0"/>
                <a:ea typeface="Segoe UI" pitchFamily="34" charset="-122"/>
                <a:cs typeface="Segoe UI" pitchFamily="34" charset="-120"/>
              </a:rPr>
              <a:t>One conversational capability</a:t>
            </a:r>
            <a:endParaRPr lang="en-US" sz="1250" dirty="0"/>
          </a:p>
        </p:txBody>
      </p:sp>
      <p:sp>
        <p:nvSpPr>
          <p:cNvPr id="30" name="Text 28"/>
          <p:cNvSpPr/>
          <p:nvPr/>
        </p:nvSpPr>
        <p:spPr>
          <a:xfrm>
            <a:off x="7589520" y="4023360"/>
            <a:ext cx="3776472" cy="457200"/>
          </a:xfrm>
          <a:prstGeom prst="rect">
            <a:avLst/>
          </a:prstGeom>
          <a:noFill/>
          <a:ln/>
        </p:spPr>
        <p:txBody>
          <a:bodyPr wrap="square" rtlCol="0" anchor="ctr"/>
          <a:lstStyle/>
          <a:p>
            <a:pPr indent="0" marL="0">
              <a:buNone/>
            </a:pPr>
            <a:r>
              <a:rPr lang="en-US" sz="1250" dirty="0">
                <a:solidFill>
                  <a:srgbClr val="1E2235"/>
                </a:solidFill>
                <a:latin typeface="Segoe UI" pitchFamily="34" charset="0"/>
                <a:ea typeface="Segoe UI" pitchFamily="34" charset="-122"/>
                <a:cs typeface="Segoe UI" pitchFamily="34" charset="-120"/>
              </a:rPr>
              <a:t>Loads 14 built-in skills plus your custom ones automatically</a:t>
            </a:r>
            <a:endParaRPr lang="en-US" sz="1250" dirty="0"/>
          </a:p>
        </p:txBody>
      </p:sp>
      <p:sp>
        <p:nvSpPr>
          <p:cNvPr id="31" name="Shape 29"/>
          <p:cNvSpPr/>
          <p:nvPr/>
        </p:nvSpPr>
        <p:spPr>
          <a:xfrm>
            <a:off x="640080" y="4480560"/>
            <a:ext cx="10908792" cy="457200"/>
          </a:xfrm>
          <a:prstGeom prst="rect">
            <a:avLst/>
          </a:prstGeom>
          <a:solidFill>
            <a:srgbClr val="FFFFFF"/>
          </a:solidFill>
          <a:ln/>
        </p:spPr>
      </p:sp>
      <p:sp>
        <p:nvSpPr>
          <p:cNvPr id="32" name="Text 30"/>
          <p:cNvSpPr/>
          <p:nvPr/>
        </p:nvSpPr>
        <p:spPr>
          <a:xfrm>
            <a:off x="822960" y="4480560"/>
            <a:ext cx="2468880" cy="457200"/>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Text in the chat window</a:t>
            </a:r>
            <a:endParaRPr lang="en-US" sz="1250" dirty="0"/>
          </a:p>
        </p:txBody>
      </p:sp>
      <p:sp>
        <p:nvSpPr>
          <p:cNvPr id="33" name="Text 31"/>
          <p:cNvSpPr/>
          <p:nvPr/>
        </p:nvSpPr>
        <p:spPr>
          <a:xfrm>
            <a:off x="3566160" y="4480560"/>
            <a:ext cx="3657600" cy="457200"/>
          </a:xfrm>
          <a:prstGeom prst="rect">
            <a:avLst/>
          </a:prstGeom>
          <a:noFill/>
          <a:ln/>
        </p:spPr>
        <p:txBody>
          <a:bodyPr wrap="square" rtlCol="0" anchor="ctr"/>
          <a:lstStyle/>
          <a:p>
            <a:pPr indent="0" marL="0">
              <a:buNone/>
            </a:pPr>
            <a:r>
              <a:rPr lang="en-US" sz="1250" dirty="0">
                <a:solidFill>
                  <a:srgbClr val="5B6079"/>
                </a:solidFill>
                <a:latin typeface="Segoe UI" pitchFamily="34" charset="0"/>
                <a:ea typeface="Segoe UI" pitchFamily="34" charset="-122"/>
                <a:cs typeface="Segoe UI" pitchFamily="34" charset="-120"/>
              </a:rPr>
              <a:t>Text in the chat window</a:t>
            </a:r>
            <a:endParaRPr lang="en-US" sz="1250" dirty="0"/>
          </a:p>
        </p:txBody>
      </p:sp>
      <p:sp>
        <p:nvSpPr>
          <p:cNvPr id="34" name="Text 32"/>
          <p:cNvSpPr/>
          <p:nvPr/>
        </p:nvSpPr>
        <p:spPr>
          <a:xfrm>
            <a:off x="7589520" y="4480560"/>
            <a:ext cx="3776472" cy="457200"/>
          </a:xfrm>
          <a:prstGeom prst="rect">
            <a:avLst/>
          </a:prstGeom>
          <a:noFill/>
          <a:ln/>
        </p:spPr>
        <p:txBody>
          <a:bodyPr wrap="square" rtlCol="0" anchor="ctr"/>
          <a:lstStyle/>
          <a:p>
            <a:pPr indent="0" marL="0">
              <a:buNone/>
            </a:pPr>
            <a:r>
              <a:rPr lang="en-US" sz="1250" dirty="0">
                <a:solidFill>
                  <a:srgbClr val="1E2235"/>
                </a:solidFill>
                <a:latin typeface="Segoe UI" pitchFamily="34" charset="0"/>
                <a:ea typeface="Segoe UI" pitchFamily="34" charset="-122"/>
                <a:cs typeface="Segoe UI" pitchFamily="34" charset="-120"/>
              </a:rPr>
              <a:t>Real documents, spreadsheets and decks in OneDrive</a:t>
            </a:r>
            <a:endParaRPr lang="en-US" sz="1250" dirty="0"/>
          </a:p>
        </p:txBody>
      </p:sp>
      <p:sp>
        <p:nvSpPr>
          <p:cNvPr id="35" name="Shape 33"/>
          <p:cNvSpPr/>
          <p:nvPr/>
        </p:nvSpPr>
        <p:spPr>
          <a:xfrm>
            <a:off x="640080" y="4937760"/>
            <a:ext cx="10908792" cy="457200"/>
          </a:xfrm>
          <a:prstGeom prst="rect">
            <a:avLst/>
          </a:prstGeom>
          <a:solidFill>
            <a:srgbClr val="F2F4FB"/>
          </a:solidFill>
          <a:ln/>
        </p:spPr>
      </p:sp>
      <p:sp>
        <p:nvSpPr>
          <p:cNvPr id="36" name="Text 34"/>
          <p:cNvSpPr/>
          <p:nvPr/>
        </p:nvSpPr>
        <p:spPr>
          <a:xfrm>
            <a:off x="822960" y="4937760"/>
            <a:ext cx="2468880" cy="457200"/>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You have to open it and prompt every time</a:t>
            </a:r>
            <a:endParaRPr lang="en-US" sz="1250" dirty="0"/>
          </a:p>
        </p:txBody>
      </p:sp>
      <p:sp>
        <p:nvSpPr>
          <p:cNvPr id="37" name="Text 35"/>
          <p:cNvSpPr/>
          <p:nvPr/>
        </p:nvSpPr>
        <p:spPr>
          <a:xfrm>
            <a:off x="3566160" y="4937760"/>
            <a:ext cx="3657600" cy="457200"/>
          </a:xfrm>
          <a:prstGeom prst="rect">
            <a:avLst/>
          </a:prstGeom>
          <a:noFill/>
          <a:ln/>
        </p:spPr>
        <p:txBody>
          <a:bodyPr wrap="square" rtlCol="0" anchor="ctr"/>
          <a:lstStyle/>
          <a:p>
            <a:pPr indent="0" marL="0">
              <a:buNone/>
            </a:pPr>
            <a:r>
              <a:rPr lang="en-US" sz="1250" dirty="0">
                <a:solidFill>
                  <a:srgbClr val="5B6079"/>
                </a:solidFill>
                <a:latin typeface="Segoe UI" pitchFamily="34" charset="0"/>
                <a:ea typeface="Segoe UI" pitchFamily="34" charset="-122"/>
                <a:cs typeface="Segoe UI" pitchFamily="34" charset="-120"/>
              </a:rPr>
              <a:t>You have to open it and prompt every time</a:t>
            </a:r>
            <a:endParaRPr lang="en-US" sz="1250" dirty="0"/>
          </a:p>
        </p:txBody>
      </p:sp>
      <p:sp>
        <p:nvSpPr>
          <p:cNvPr id="38" name="Text 36"/>
          <p:cNvSpPr/>
          <p:nvPr/>
        </p:nvSpPr>
        <p:spPr>
          <a:xfrm>
            <a:off x="7589520" y="4937760"/>
            <a:ext cx="3776472" cy="457200"/>
          </a:xfrm>
          <a:prstGeom prst="rect">
            <a:avLst/>
          </a:prstGeom>
          <a:noFill/>
          <a:ln/>
        </p:spPr>
        <p:txBody>
          <a:bodyPr wrap="square" rtlCol="0" anchor="ctr"/>
          <a:lstStyle/>
          <a:p>
            <a:pPr indent="0" marL="0">
              <a:buNone/>
            </a:pPr>
            <a:r>
              <a:rPr lang="en-US" sz="1250" dirty="0">
                <a:solidFill>
                  <a:srgbClr val="1E2235"/>
                </a:solidFill>
                <a:latin typeface="Segoe UI" pitchFamily="34" charset="0"/>
                <a:ea typeface="Segoe UI" pitchFamily="34" charset="-122"/>
                <a:cs typeface="Segoe UI" pitchFamily="34" charset="-120"/>
              </a:rPr>
              <a:t>Scheduled prompts / event-driven: runs on incoming mail or an @mention</a:t>
            </a:r>
            <a:endParaRPr lang="en-US" sz="1250" dirty="0"/>
          </a:p>
        </p:txBody>
      </p:sp>
      <p:sp>
        <p:nvSpPr>
          <p:cNvPr id="39" name="Shape 37"/>
          <p:cNvSpPr/>
          <p:nvPr/>
        </p:nvSpPr>
        <p:spPr>
          <a:xfrm>
            <a:off x="640080" y="5394960"/>
            <a:ext cx="10908792" cy="457200"/>
          </a:xfrm>
          <a:prstGeom prst="rect">
            <a:avLst/>
          </a:prstGeom>
          <a:solidFill>
            <a:srgbClr val="FFFFFF"/>
          </a:solidFill>
          <a:ln/>
        </p:spPr>
      </p:sp>
      <p:sp>
        <p:nvSpPr>
          <p:cNvPr id="40" name="Text 38"/>
          <p:cNvSpPr/>
          <p:nvPr/>
        </p:nvSpPr>
        <p:spPr>
          <a:xfrm>
            <a:off x="822960" y="5394960"/>
            <a:ext cx="2468880" cy="457200"/>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Grounded in M365 data</a:t>
            </a:r>
            <a:endParaRPr lang="en-US" sz="1250" dirty="0"/>
          </a:p>
        </p:txBody>
      </p:sp>
      <p:sp>
        <p:nvSpPr>
          <p:cNvPr id="41" name="Text 39"/>
          <p:cNvSpPr/>
          <p:nvPr/>
        </p:nvSpPr>
        <p:spPr>
          <a:xfrm>
            <a:off x="3566160" y="5394960"/>
            <a:ext cx="3657600" cy="457200"/>
          </a:xfrm>
          <a:prstGeom prst="rect">
            <a:avLst/>
          </a:prstGeom>
          <a:noFill/>
          <a:ln/>
        </p:spPr>
        <p:txBody>
          <a:bodyPr wrap="square" rtlCol="0" anchor="ctr"/>
          <a:lstStyle/>
          <a:p>
            <a:pPr indent="0" marL="0">
              <a:buNone/>
            </a:pPr>
            <a:r>
              <a:rPr lang="en-US" sz="1250" dirty="0">
                <a:solidFill>
                  <a:srgbClr val="5B6079"/>
                </a:solidFill>
                <a:latin typeface="Segoe UI" pitchFamily="34" charset="0"/>
                <a:ea typeface="Segoe UI" pitchFamily="34" charset="-122"/>
                <a:cs typeface="Segoe UI" pitchFamily="34" charset="-120"/>
              </a:rPr>
              <a:t>Grounded in M365 data</a:t>
            </a:r>
            <a:endParaRPr lang="en-US" sz="1250" dirty="0"/>
          </a:p>
        </p:txBody>
      </p:sp>
      <p:sp>
        <p:nvSpPr>
          <p:cNvPr id="42" name="Text 40"/>
          <p:cNvSpPr/>
          <p:nvPr/>
        </p:nvSpPr>
        <p:spPr>
          <a:xfrm>
            <a:off x="7589520" y="5394960"/>
            <a:ext cx="3776472" cy="457200"/>
          </a:xfrm>
          <a:prstGeom prst="rect">
            <a:avLst/>
          </a:prstGeom>
          <a:noFill/>
          <a:ln/>
        </p:spPr>
        <p:txBody>
          <a:bodyPr wrap="square" rtlCol="0" anchor="ctr"/>
          <a:lstStyle/>
          <a:p>
            <a:pPr indent="0" marL="0">
              <a:buNone/>
            </a:pPr>
            <a:r>
              <a:rPr lang="en-US" sz="1250" dirty="0">
                <a:solidFill>
                  <a:srgbClr val="1E2235"/>
                </a:solidFill>
                <a:latin typeface="Segoe UI" pitchFamily="34" charset="0"/>
                <a:ea typeface="Segoe UI" pitchFamily="34" charset="-122"/>
                <a:cs typeface="Segoe UI" pitchFamily="34" charset="-120"/>
              </a:rPr>
              <a:t>Connects to external systems via Plugins / MCP — the partner catalogue now lists 92 plugins (D365, SAP, Fabric and more)</a:t>
            </a:r>
            <a:endParaRPr lang="en-US" sz="1250" dirty="0"/>
          </a:p>
        </p:txBody>
      </p:sp>
      <p:sp>
        <p:nvSpPr>
          <p:cNvPr id="43" name="Shape 41"/>
          <p:cNvSpPr/>
          <p:nvPr/>
        </p:nvSpPr>
        <p:spPr>
          <a:xfrm>
            <a:off x="640080" y="5852160"/>
            <a:ext cx="10908792" cy="457200"/>
          </a:xfrm>
          <a:prstGeom prst="rect">
            <a:avLst/>
          </a:prstGeom>
          <a:solidFill>
            <a:srgbClr val="F2F4FB"/>
          </a:solidFill>
          <a:ln/>
        </p:spPr>
      </p:sp>
      <p:sp>
        <p:nvSpPr>
          <p:cNvPr id="44" name="Text 42"/>
          <p:cNvSpPr/>
          <p:nvPr/>
        </p:nvSpPr>
        <p:spPr>
          <a:xfrm>
            <a:off x="822960" y="5852160"/>
            <a:ext cx="2468880" cy="457200"/>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You judge for yourself</a:t>
            </a:r>
            <a:endParaRPr lang="en-US" sz="1250" dirty="0"/>
          </a:p>
        </p:txBody>
      </p:sp>
      <p:sp>
        <p:nvSpPr>
          <p:cNvPr id="45" name="Text 43"/>
          <p:cNvSpPr/>
          <p:nvPr/>
        </p:nvSpPr>
        <p:spPr>
          <a:xfrm>
            <a:off x="3566160" y="5852160"/>
            <a:ext cx="3657600" cy="457200"/>
          </a:xfrm>
          <a:prstGeom prst="rect">
            <a:avLst/>
          </a:prstGeom>
          <a:noFill/>
          <a:ln/>
        </p:spPr>
        <p:txBody>
          <a:bodyPr wrap="square" rtlCol="0" anchor="ctr"/>
          <a:lstStyle/>
          <a:p>
            <a:pPr indent="0" marL="0">
              <a:buNone/>
            </a:pPr>
            <a:r>
              <a:rPr lang="en-US" sz="1250" dirty="0">
                <a:solidFill>
                  <a:srgbClr val="5B6079"/>
                </a:solidFill>
                <a:latin typeface="Segoe UI" pitchFamily="34" charset="0"/>
                <a:ea typeface="Segoe UI" pitchFamily="34" charset="-122"/>
                <a:cs typeface="Segoe UI" pitchFamily="34" charset="-120"/>
              </a:rPr>
              <a:t>You judge for yourself</a:t>
            </a:r>
            <a:endParaRPr lang="en-US" sz="1250" dirty="0"/>
          </a:p>
        </p:txBody>
      </p:sp>
      <p:sp>
        <p:nvSpPr>
          <p:cNvPr id="46" name="Text 44"/>
          <p:cNvSpPr/>
          <p:nvPr/>
        </p:nvSpPr>
        <p:spPr>
          <a:xfrm>
            <a:off x="7589520" y="5852160"/>
            <a:ext cx="3776472" cy="457200"/>
          </a:xfrm>
          <a:prstGeom prst="rect">
            <a:avLst/>
          </a:prstGeom>
          <a:noFill/>
          <a:ln/>
        </p:spPr>
        <p:txBody>
          <a:bodyPr wrap="square" rtlCol="0" anchor="ctr"/>
          <a:lstStyle/>
          <a:p>
            <a:pPr indent="0" marL="0">
              <a:buNone/>
            </a:pPr>
            <a:r>
              <a:rPr lang="en-US" sz="1250" dirty="0">
                <a:solidFill>
                  <a:srgbClr val="1E2235"/>
                </a:solidFill>
                <a:latin typeface="Segoe UI" pitchFamily="34" charset="0"/>
                <a:ea typeface="Segoe UI" pitchFamily="34" charset="-122"/>
                <a:cs typeface="Segoe UI" pitchFamily="34" charset="-120"/>
              </a:rPr>
              <a:t>Medium/high-risk actions show a risk level and run only after approval</a:t>
            </a:r>
            <a:endParaRPr lang="en-US" sz="1250" dirty="0"/>
          </a:p>
        </p:txBody>
      </p:sp>
      <p:sp>
        <p:nvSpPr>
          <p:cNvPr id="47" name="Text 45"/>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48" name="Text 46"/>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6366F1"/>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6366F1"/>
                </a:solidFill>
                <a:latin typeface="Segoe UI" pitchFamily="34" charset="0"/>
                <a:ea typeface="Segoe UI" pitchFamily="34" charset="-122"/>
                <a:cs typeface="Segoe UI" pitchFamily="34" charset="-120"/>
              </a:rPr>
              <a:t>CORE CAPABILITIES</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Four things that set Cowork apart</a:t>
            </a:r>
            <a:endParaRPr lang="en-US" sz="3000" dirty="0"/>
          </a:p>
        </p:txBody>
      </p:sp>
      <p:sp>
        <p:nvSpPr>
          <p:cNvPr id="5" name="Shape 3"/>
          <p:cNvSpPr/>
          <p:nvPr/>
        </p:nvSpPr>
        <p:spPr>
          <a:xfrm>
            <a:off x="640080" y="1737360"/>
            <a:ext cx="5227168" cy="2331720"/>
          </a:xfrm>
          <a:prstGeom prst="rect">
            <a:avLst/>
          </a:prstGeom>
          <a:solidFill>
            <a:srgbClr val="FFFFFF"/>
          </a:solidFill>
          <a:ln w="12700">
            <a:solidFill>
              <a:srgbClr val="E4E7F2"/>
            </a:solidFill>
            <a:prstDash val="solid"/>
          </a:ln>
          <a:effectLst>
            <a:outerShdw sx="100000" sy="100000" kx="0" ky="0" algn="bl" rotWithShape="0" blurRad="101600" dist="25400" dir="5400000">
              <a:srgbClr val="9AA0C0">
                <a:alpha val="16000"/>
              </a:srgbClr>
            </a:outerShdw>
          </a:effectLst>
        </p:spPr>
      </p:sp>
      <p:sp>
        <p:nvSpPr>
          <p:cNvPr id="6" name="Shape 4"/>
          <p:cNvSpPr/>
          <p:nvPr/>
        </p:nvSpPr>
        <p:spPr>
          <a:xfrm>
            <a:off x="960120" y="2084832"/>
            <a:ext cx="868680" cy="868680"/>
          </a:xfrm>
          <a:prstGeom prst="roundRect">
            <a:avLst>
              <a:gd name="adj" fmla="val 16842"/>
            </a:avLst>
          </a:prstGeom>
          <a:solidFill>
            <a:srgbClr val="7A4DDB"/>
          </a:solidFill>
          <a:ln/>
        </p:spPr>
      </p:sp>
      <p:pic>
        <p:nvPicPr>
          <p:cNvPr id="7" name="Image 0" descr="preencoded.png">    </p:cNvPr>
          <p:cNvPicPr>
            <a:picLocks noChangeAspect="1"/>
          </p:cNvPicPr>
          <p:nvPr/>
        </p:nvPicPr>
        <p:blipFill>
          <a:blip r:embed="rId1"/>
          <a:stretch>
            <a:fillRect/>
          </a:stretch>
        </p:blipFill>
        <p:spPr>
          <a:xfrm>
            <a:off x="1170432" y="2295144"/>
            <a:ext cx="448056" cy="448056"/>
          </a:xfrm>
          <a:prstGeom prst="rect">
            <a:avLst/>
          </a:prstGeom>
        </p:spPr>
      </p:pic>
      <p:sp>
        <p:nvSpPr>
          <p:cNvPr id="8" name="Text 5"/>
          <p:cNvSpPr/>
          <p:nvPr/>
        </p:nvSpPr>
        <p:spPr>
          <a:xfrm>
            <a:off x="2011680" y="2121408"/>
            <a:ext cx="3672688" cy="457200"/>
          </a:xfrm>
          <a:prstGeom prst="rect">
            <a:avLst/>
          </a:prstGeom>
          <a:noFill/>
          <a:ln/>
        </p:spPr>
        <p:txBody>
          <a:bodyPr wrap="square" rtlCol="0" anchor="ctr"/>
          <a:lstStyle/>
          <a:p>
            <a:pPr indent="0" marL="0">
              <a:buNone/>
            </a:pPr>
            <a:r>
              <a:rPr lang="en-US" sz="1800" b="1" dirty="0">
                <a:solidFill>
                  <a:srgbClr val="1E2235"/>
                </a:solidFill>
                <a:latin typeface="Segoe UI" pitchFamily="34" charset="0"/>
                <a:ea typeface="Segoe UI" pitchFamily="34" charset="-122"/>
                <a:cs typeface="Segoe UI" pitchFamily="34" charset="-120"/>
              </a:rPr>
              <a:t>14 built-in skills</a:t>
            </a:r>
            <a:endParaRPr lang="en-US" sz="1800" dirty="0"/>
          </a:p>
        </p:txBody>
      </p:sp>
      <p:sp>
        <p:nvSpPr>
          <p:cNvPr id="9" name="Text 6"/>
          <p:cNvSpPr/>
          <p:nvPr/>
        </p:nvSpPr>
        <p:spPr>
          <a:xfrm>
            <a:off x="2011680" y="2606040"/>
            <a:ext cx="3626968" cy="1325880"/>
          </a:xfrm>
          <a:prstGeom prst="rect">
            <a:avLst/>
          </a:prstGeom>
          <a:noFill/>
          <a:ln/>
        </p:spPr>
        <p:txBody>
          <a:bodyPr wrap="square" rtlCol="0" anchor="t"/>
          <a:lstStyle/>
          <a:p>
            <a:pPr indent="0" marL="0">
              <a:lnSpc>
                <a:spcPct val="118000"/>
              </a:lnSpc>
              <a:buNone/>
            </a:pPr>
            <a:r>
              <a:rPr lang="en-US" sz="1300" dirty="0">
                <a:solidFill>
                  <a:srgbClr val="5B6079"/>
                </a:solidFill>
                <a:latin typeface="Segoe UI" pitchFamily="34" charset="0"/>
                <a:ea typeface="Segoe UI" pitchFamily="34" charset="-122"/>
                <a:cs typeface="Segoe UI" pitchFamily="34" charset="-120"/>
              </a:rPr>
              <a:t>Word, Excel, PowerPoint, PDF, Email, Scheduling, Calendar Management, Meetings, Daily Briefing, Enterprise Search, Deep Research, Communications, Adaptive Cards, App (Frontier).</a:t>
            </a:r>
            <a:endParaRPr lang="en-US" sz="1300" dirty="0"/>
          </a:p>
        </p:txBody>
      </p:sp>
      <p:sp>
        <p:nvSpPr>
          <p:cNvPr id="10" name="Shape 7"/>
          <p:cNvSpPr/>
          <p:nvPr/>
        </p:nvSpPr>
        <p:spPr>
          <a:xfrm>
            <a:off x="6324448" y="1737360"/>
            <a:ext cx="5227168" cy="2331720"/>
          </a:xfrm>
          <a:prstGeom prst="rect">
            <a:avLst/>
          </a:prstGeom>
          <a:solidFill>
            <a:srgbClr val="FFFFFF"/>
          </a:solidFill>
          <a:ln w="12700">
            <a:solidFill>
              <a:srgbClr val="E4E7F2"/>
            </a:solidFill>
            <a:prstDash val="solid"/>
          </a:ln>
          <a:effectLst>
            <a:outerShdw sx="100000" sy="100000" kx="0" ky="0" algn="bl" rotWithShape="0" blurRad="101600" dist="25400" dir="5400000">
              <a:srgbClr val="9AA0C0">
                <a:alpha val="16000"/>
              </a:srgbClr>
            </a:outerShdw>
          </a:effectLst>
        </p:spPr>
      </p:sp>
      <p:sp>
        <p:nvSpPr>
          <p:cNvPr id="11" name="Shape 8"/>
          <p:cNvSpPr/>
          <p:nvPr/>
        </p:nvSpPr>
        <p:spPr>
          <a:xfrm>
            <a:off x="6644488" y="2084832"/>
            <a:ext cx="868680" cy="868680"/>
          </a:xfrm>
          <a:prstGeom prst="roundRect">
            <a:avLst>
              <a:gd name="adj" fmla="val 16842"/>
            </a:avLst>
          </a:prstGeom>
          <a:solidFill>
            <a:srgbClr val="0F6CBD"/>
          </a:solidFill>
          <a:ln/>
        </p:spPr>
      </p:sp>
      <p:pic>
        <p:nvPicPr>
          <p:cNvPr id="12" name="Image 1" descr="preencoded.png">    </p:cNvPr>
          <p:cNvPicPr>
            <a:picLocks noChangeAspect="1"/>
          </p:cNvPicPr>
          <p:nvPr/>
        </p:nvPicPr>
        <p:blipFill>
          <a:blip r:embed="rId2"/>
          <a:stretch>
            <a:fillRect/>
          </a:stretch>
        </p:blipFill>
        <p:spPr>
          <a:xfrm>
            <a:off x="6854800" y="2295144"/>
            <a:ext cx="448056" cy="448056"/>
          </a:xfrm>
          <a:prstGeom prst="rect">
            <a:avLst/>
          </a:prstGeom>
        </p:spPr>
      </p:pic>
      <p:sp>
        <p:nvSpPr>
          <p:cNvPr id="13" name="Text 9"/>
          <p:cNvSpPr/>
          <p:nvPr/>
        </p:nvSpPr>
        <p:spPr>
          <a:xfrm>
            <a:off x="7696048" y="2121408"/>
            <a:ext cx="3672688" cy="457200"/>
          </a:xfrm>
          <a:prstGeom prst="rect">
            <a:avLst/>
          </a:prstGeom>
          <a:noFill/>
          <a:ln/>
        </p:spPr>
        <p:txBody>
          <a:bodyPr wrap="square" rtlCol="0" anchor="ctr"/>
          <a:lstStyle/>
          <a:p>
            <a:pPr indent="0" marL="0">
              <a:buNone/>
            </a:pPr>
            <a:r>
              <a:rPr lang="en-US" sz="1800" b="1" dirty="0">
                <a:solidFill>
                  <a:srgbClr val="1E2235"/>
                </a:solidFill>
                <a:latin typeface="Segoe UI" pitchFamily="34" charset="0"/>
                <a:ea typeface="Segoe UI" pitchFamily="34" charset="-122"/>
                <a:cs typeface="Segoe UI" pitchFamily="34" charset="-120"/>
              </a:rPr>
              <a:t>Workspace</a:t>
            </a:r>
            <a:endParaRPr lang="en-US" sz="1800" dirty="0"/>
          </a:p>
        </p:txBody>
      </p:sp>
      <p:sp>
        <p:nvSpPr>
          <p:cNvPr id="14" name="Text 10"/>
          <p:cNvSpPr/>
          <p:nvPr/>
        </p:nvSpPr>
        <p:spPr>
          <a:xfrm>
            <a:off x="7696048" y="2606040"/>
            <a:ext cx="3626968" cy="1325880"/>
          </a:xfrm>
          <a:prstGeom prst="rect">
            <a:avLst/>
          </a:prstGeom>
          <a:noFill/>
          <a:ln/>
        </p:spPr>
        <p:txBody>
          <a:bodyPr wrap="square" rtlCol="0" anchor="t"/>
          <a:lstStyle/>
          <a:p>
            <a:pPr indent="0" marL="0">
              <a:lnSpc>
                <a:spcPct val="118000"/>
              </a:lnSpc>
              <a:buNone/>
            </a:pPr>
            <a:r>
              <a:rPr lang="en-US" sz="1300" dirty="0">
                <a:solidFill>
                  <a:srgbClr val="5B6079"/>
                </a:solidFill>
                <a:latin typeface="Segoe UI" pitchFamily="34" charset="0"/>
                <a:ea typeface="Segoe UI" pitchFamily="34" charset="-122"/>
                <a:cs typeface="Segoe UI" pitchFamily="34" charset="-120"/>
              </a:rPr>
              <a:t>The side panel shows progress, input files, output files, loaded skills, schedules and granted permissions all at once — the process stays traceable.</a:t>
            </a:r>
            <a:endParaRPr lang="en-US" sz="1300" dirty="0"/>
          </a:p>
        </p:txBody>
      </p:sp>
      <p:sp>
        <p:nvSpPr>
          <p:cNvPr id="15" name="Shape 11"/>
          <p:cNvSpPr/>
          <p:nvPr/>
        </p:nvSpPr>
        <p:spPr>
          <a:xfrm>
            <a:off x="640080" y="4251960"/>
            <a:ext cx="5227168" cy="2331720"/>
          </a:xfrm>
          <a:prstGeom prst="rect">
            <a:avLst/>
          </a:prstGeom>
          <a:solidFill>
            <a:srgbClr val="FFFFFF"/>
          </a:solidFill>
          <a:ln w="12700">
            <a:solidFill>
              <a:srgbClr val="E4E7F2"/>
            </a:solidFill>
            <a:prstDash val="solid"/>
          </a:ln>
          <a:effectLst>
            <a:outerShdw sx="100000" sy="100000" kx="0" ky="0" algn="bl" rotWithShape="0" blurRad="101600" dist="25400" dir="5400000">
              <a:srgbClr val="9AA0C0">
                <a:alpha val="16000"/>
              </a:srgbClr>
            </a:outerShdw>
          </a:effectLst>
        </p:spPr>
      </p:sp>
      <p:sp>
        <p:nvSpPr>
          <p:cNvPr id="16" name="Shape 12"/>
          <p:cNvSpPr/>
          <p:nvPr/>
        </p:nvSpPr>
        <p:spPr>
          <a:xfrm>
            <a:off x="960120" y="4599432"/>
            <a:ext cx="868680" cy="868680"/>
          </a:xfrm>
          <a:prstGeom prst="roundRect">
            <a:avLst>
              <a:gd name="adj" fmla="val 16842"/>
            </a:avLst>
          </a:prstGeom>
          <a:solidFill>
            <a:srgbClr val="0A8F5B"/>
          </a:solidFill>
          <a:ln/>
        </p:spPr>
      </p:sp>
      <p:pic>
        <p:nvPicPr>
          <p:cNvPr id="17" name="Image 2" descr="preencoded.png">    </p:cNvPr>
          <p:cNvPicPr>
            <a:picLocks noChangeAspect="1"/>
          </p:cNvPicPr>
          <p:nvPr/>
        </p:nvPicPr>
        <p:blipFill>
          <a:blip r:embed="rId3"/>
          <a:stretch>
            <a:fillRect/>
          </a:stretch>
        </p:blipFill>
        <p:spPr>
          <a:xfrm>
            <a:off x="1170432" y="4809744"/>
            <a:ext cx="448056" cy="448056"/>
          </a:xfrm>
          <a:prstGeom prst="rect">
            <a:avLst/>
          </a:prstGeom>
        </p:spPr>
      </p:pic>
      <p:sp>
        <p:nvSpPr>
          <p:cNvPr id="18" name="Text 13"/>
          <p:cNvSpPr/>
          <p:nvPr/>
        </p:nvSpPr>
        <p:spPr>
          <a:xfrm>
            <a:off x="2011680" y="4636008"/>
            <a:ext cx="3672688" cy="457200"/>
          </a:xfrm>
          <a:prstGeom prst="rect">
            <a:avLst/>
          </a:prstGeom>
          <a:noFill/>
          <a:ln/>
        </p:spPr>
        <p:txBody>
          <a:bodyPr wrap="square" rtlCol="0" anchor="ctr"/>
          <a:lstStyle/>
          <a:p>
            <a:pPr indent="0" marL="0">
              <a:buNone/>
            </a:pPr>
            <a:r>
              <a:rPr lang="en-US" sz="1800" b="1" dirty="0">
                <a:solidFill>
                  <a:srgbClr val="1E2235"/>
                </a:solidFill>
                <a:latin typeface="Segoe UI" pitchFamily="34" charset="0"/>
                <a:ea typeface="Segoe UI" pitchFamily="34" charset="-122"/>
                <a:cs typeface="Segoe UI" pitchFamily="34" charset="-120"/>
              </a:rPr>
              <a:t>Approval before action</a:t>
            </a:r>
            <a:endParaRPr lang="en-US" sz="1800" dirty="0"/>
          </a:p>
        </p:txBody>
      </p:sp>
      <p:sp>
        <p:nvSpPr>
          <p:cNvPr id="19" name="Text 14"/>
          <p:cNvSpPr/>
          <p:nvPr/>
        </p:nvSpPr>
        <p:spPr>
          <a:xfrm>
            <a:off x="2011680" y="5120640"/>
            <a:ext cx="3626968" cy="1325880"/>
          </a:xfrm>
          <a:prstGeom prst="rect">
            <a:avLst/>
          </a:prstGeom>
          <a:noFill/>
          <a:ln/>
        </p:spPr>
        <p:txBody>
          <a:bodyPr wrap="square" rtlCol="0" anchor="t"/>
          <a:lstStyle/>
          <a:p>
            <a:pPr indent="0" marL="0">
              <a:lnSpc>
                <a:spcPct val="118000"/>
              </a:lnSpc>
              <a:buNone/>
            </a:pPr>
            <a:r>
              <a:rPr lang="en-US" sz="1300" dirty="0">
                <a:solidFill>
                  <a:srgbClr val="5B6079"/>
                </a:solidFill>
                <a:latin typeface="Segoe UI" pitchFamily="34" charset="0"/>
                <a:ea typeface="Segoe UI" pitchFamily="34" charset="-122"/>
                <a:cs typeface="Segoe UI" pitchFamily="34" charset="-120"/>
              </a:rPr>
              <a:t>Medium/high-risk actions show a RISK-LEVEL; approve, cancel, or set don't-ask-again per recipient, per domain or always; multiple pending actions can be approved together.</a:t>
            </a:r>
            <a:endParaRPr lang="en-US" sz="1300" dirty="0"/>
          </a:p>
        </p:txBody>
      </p:sp>
      <p:sp>
        <p:nvSpPr>
          <p:cNvPr id="20" name="Shape 15"/>
          <p:cNvSpPr/>
          <p:nvPr/>
        </p:nvSpPr>
        <p:spPr>
          <a:xfrm>
            <a:off x="6324448" y="4251960"/>
            <a:ext cx="5227168" cy="2331720"/>
          </a:xfrm>
          <a:prstGeom prst="rect">
            <a:avLst/>
          </a:prstGeom>
          <a:solidFill>
            <a:srgbClr val="FFFFFF"/>
          </a:solidFill>
          <a:ln w="12700">
            <a:solidFill>
              <a:srgbClr val="E4E7F2"/>
            </a:solidFill>
            <a:prstDash val="solid"/>
          </a:ln>
          <a:effectLst>
            <a:outerShdw sx="100000" sy="100000" kx="0" ky="0" algn="bl" rotWithShape="0" blurRad="101600" dist="25400" dir="5400000">
              <a:srgbClr val="9AA0C0">
                <a:alpha val="16000"/>
              </a:srgbClr>
            </a:outerShdw>
          </a:effectLst>
        </p:spPr>
      </p:sp>
      <p:sp>
        <p:nvSpPr>
          <p:cNvPr id="21" name="Shape 16"/>
          <p:cNvSpPr/>
          <p:nvPr/>
        </p:nvSpPr>
        <p:spPr>
          <a:xfrm>
            <a:off x="6644488" y="4599432"/>
            <a:ext cx="868680" cy="868680"/>
          </a:xfrm>
          <a:prstGeom prst="roundRect">
            <a:avLst>
              <a:gd name="adj" fmla="val 16842"/>
            </a:avLst>
          </a:prstGeom>
          <a:solidFill>
            <a:srgbClr val="CA5010"/>
          </a:solidFill>
          <a:ln/>
        </p:spPr>
      </p:sp>
      <p:pic>
        <p:nvPicPr>
          <p:cNvPr id="22" name="Image 3" descr="preencoded.png">    </p:cNvPr>
          <p:cNvPicPr>
            <a:picLocks noChangeAspect="1"/>
          </p:cNvPicPr>
          <p:nvPr/>
        </p:nvPicPr>
        <p:blipFill>
          <a:blip r:embed="rId4"/>
          <a:stretch>
            <a:fillRect/>
          </a:stretch>
        </p:blipFill>
        <p:spPr>
          <a:xfrm>
            <a:off x="6854800" y="4809744"/>
            <a:ext cx="448056" cy="448056"/>
          </a:xfrm>
          <a:prstGeom prst="rect">
            <a:avLst/>
          </a:prstGeom>
        </p:spPr>
      </p:pic>
      <p:sp>
        <p:nvSpPr>
          <p:cNvPr id="23" name="Text 17"/>
          <p:cNvSpPr/>
          <p:nvPr/>
        </p:nvSpPr>
        <p:spPr>
          <a:xfrm>
            <a:off x="7696048" y="4636008"/>
            <a:ext cx="3672688" cy="457200"/>
          </a:xfrm>
          <a:prstGeom prst="rect">
            <a:avLst/>
          </a:prstGeom>
          <a:noFill/>
          <a:ln/>
        </p:spPr>
        <p:txBody>
          <a:bodyPr wrap="square" rtlCol="0" anchor="ctr"/>
          <a:lstStyle/>
          <a:p>
            <a:pPr indent="0" marL="0">
              <a:buNone/>
            </a:pPr>
            <a:r>
              <a:rPr lang="en-US" sz="1800" b="1" dirty="0">
                <a:solidFill>
                  <a:srgbClr val="1E2235"/>
                </a:solidFill>
                <a:latin typeface="Segoe UI" pitchFamily="34" charset="0"/>
                <a:ea typeface="Segoe UI" pitchFamily="34" charset="-122"/>
                <a:cs typeface="Segoe UI" pitchFamily="34" charset="-120"/>
              </a:rPr>
              <a:t>What's new</a:t>
            </a:r>
            <a:endParaRPr lang="en-US" sz="1800" dirty="0"/>
          </a:p>
        </p:txBody>
      </p:sp>
      <p:sp>
        <p:nvSpPr>
          <p:cNvPr id="24" name="Text 18"/>
          <p:cNvSpPr/>
          <p:nvPr/>
        </p:nvSpPr>
        <p:spPr>
          <a:xfrm>
            <a:off x="7696048" y="5120640"/>
            <a:ext cx="3626968" cy="1325880"/>
          </a:xfrm>
          <a:prstGeom prst="rect">
            <a:avLst/>
          </a:prstGeom>
          <a:noFill/>
          <a:ln/>
        </p:spPr>
        <p:txBody>
          <a:bodyPr wrap="square" rtlCol="0" anchor="t"/>
          <a:lstStyle/>
          <a:p>
            <a:pPr indent="0" marL="0">
              <a:lnSpc>
                <a:spcPct val="118000"/>
              </a:lnSpc>
              <a:buNone/>
            </a:pPr>
            <a:r>
              <a:rPr lang="en-US" sz="1050" dirty="0">
                <a:solidFill>
                  <a:srgbClr val="5B6079"/>
                </a:solidFill>
                <a:latin typeface="Segoe UI" pitchFamily="34" charset="0"/>
                <a:ea typeface="Segoe UI" pitchFamily="34" charset="-122"/>
                <a:cs typeface="Segoe UI" pitchFamily="34" charset="-120"/>
              </a:rPr>
              <a:t>Scheduled prompts (up to 25) and event-driven tasks; five Effort levels to balance quality against cost; every custom skill gets an automatic Skill Report (0–100 across four dimensions, plus five separate gates including a Safety and RAI scan); local Edge browser (GA since Aug 2026); image generation; Plugins / MCP for external systems.</a:t>
            </a:r>
            <a:endParaRPr lang="en-US" sz="1050" dirty="0"/>
          </a:p>
        </p:txBody>
      </p:sp>
      <p:sp>
        <p:nvSpPr>
          <p:cNvPr id="25" name="Text 19"/>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26" name="Text 20"/>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6366F1"/>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6366F1"/>
                </a:solidFill>
                <a:latin typeface="Segoe UI" pitchFamily="34" charset="0"/>
                <a:ea typeface="Segoe UI" pitchFamily="34" charset="-122"/>
                <a:cs typeface="Segoe UI" pitchFamily="34" charset="-120"/>
              </a:rPr>
              <a:t>HOW IT WORKS</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What happens inside one agentic workflow</a:t>
            </a:r>
            <a:endParaRPr lang="en-US" sz="3000" dirty="0"/>
          </a:p>
        </p:txBody>
      </p:sp>
      <p:sp>
        <p:nvSpPr>
          <p:cNvPr id="5" name="Shape 3"/>
          <p:cNvSpPr/>
          <p:nvPr/>
        </p:nvSpPr>
        <p:spPr>
          <a:xfrm>
            <a:off x="640080" y="2468880"/>
            <a:ext cx="1572768" cy="1920240"/>
          </a:xfrm>
          <a:prstGeom prst="rect">
            <a:avLst/>
          </a:prstGeom>
          <a:solidFill>
            <a:srgbClr val="FFFFFF"/>
          </a:solidFill>
          <a:ln w="12700">
            <a:solidFill>
              <a:srgbClr val="E4E7F2"/>
            </a:solidFill>
            <a:prstDash val="solid"/>
          </a:ln>
          <a:effectLst>
            <a:outerShdw sx="100000" sy="100000" kx="0" ky="0" algn="bl" rotWithShape="0" blurRad="76200" dist="25400" dir="5400000">
              <a:srgbClr val="9AA0C0">
                <a:alpha val="15000"/>
              </a:srgbClr>
            </a:outerShdw>
          </a:effectLst>
        </p:spPr>
      </p:sp>
      <p:sp>
        <p:nvSpPr>
          <p:cNvPr id="6" name="Shape 4"/>
          <p:cNvSpPr/>
          <p:nvPr/>
        </p:nvSpPr>
        <p:spPr>
          <a:xfrm>
            <a:off x="1042416" y="2697480"/>
            <a:ext cx="768096" cy="768096"/>
          </a:xfrm>
          <a:prstGeom prst="ellipse">
            <a:avLst/>
          </a:prstGeom>
          <a:solidFill>
            <a:srgbClr val="6366F1"/>
          </a:solidFill>
          <a:ln/>
        </p:spPr>
      </p:sp>
      <p:pic>
        <p:nvPicPr>
          <p:cNvPr id="7" name="Image 0" descr="preencoded.png">    </p:cNvPr>
          <p:cNvPicPr>
            <a:picLocks noChangeAspect="1"/>
          </p:cNvPicPr>
          <p:nvPr/>
        </p:nvPicPr>
        <p:blipFill>
          <a:blip r:embed="rId1"/>
          <a:stretch>
            <a:fillRect/>
          </a:stretch>
        </p:blipFill>
        <p:spPr>
          <a:xfrm>
            <a:off x="1207008" y="2862072"/>
            <a:ext cx="438912" cy="438912"/>
          </a:xfrm>
          <a:prstGeom prst="rect">
            <a:avLst/>
          </a:prstGeom>
        </p:spPr>
      </p:pic>
      <p:sp>
        <p:nvSpPr>
          <p:cNvPr id="8" name="Text 5"/>
          <p:cNvSpPr/>
          <p:nvPr/>
        </p:nvSpPr>
        <p:spPr>
          <a:xfrm>
            <a:off x="640080" y="3547872"/>
            <a:ext cx="1572768" cy="329184"/>
          </a:xfrm>
          <a:prstGeom prst="rect">
            <a:avLst/>
          </a:prstGeom>
          <a:noFill/>
          <a:ln/>
        </p:spPr>
        <p:txBody>
          <a:bodyPr wrap="square" rtlCol="0" anchor="ctr"/>
          <a:lstStyle/>
          <a:p>
            <a:pPr algn="ctr" indent="0" marL="0">
              <a:buNone/>
            </a:pPr>
            <a:r>
              <a:rPr lang="en-US" sz="1400" b="1" dirty="0">
                <a:solidFill>
                  <a:srgbClr val="1E2235"/>
                </a:solidFill>
                <a:latin typeface="Segoe UI" pitchFamily="34" charset="0"/>
                <a:ea typeface="Segoe UI" pitchFamily="34" charset="-122"/>
                <a:cs typeface="Segoe UI" pitchFamily="34" charset="-120"/>
              </a:rPr>
              <a:t>Take the goal</a:t>
            </a:r>
            <a:endParaRPr lang="en-US" sz="1400" dirty="0"/>
          </a:p>
        </p:txBody>
      </p:sp>
      <p:sp>
        <p:nvSpPr>
          <p:cNvPr id="9" name="Text 6"/>
          <p:cNvSpPr/>
          <p:nvPr/>
        </p:nvSpPr>
        <p:spPr>
          <a:xfrm>
            <a:off x="640080" y="3840480"/>
            <a:ext cx="1572768" cy="502920"/>
          </a:xfrm>
          <a:prstGeom prst="rect">
            <a:avLst/>
          </a:prstGeom>
          <a:noFill/>
          <a:ln/>
        </p:spPr>
        <p:txBody>
          <a:bodyPr wrap="square" rtlCol="0" anchor="ctr"/>
          <a:lstStyle/>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Upload files</a:t>
            </a:r>
            <a:endParaRPr lang="en-US" sz="1200" dirty="0"/>
          </a:p>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Give the instruction</a:t>
            </a:r>
            <a:endParaRPr lang="en-US" sz="1200" dirty="0"/>
          </a:p>
        </p:txBody>
      </p:sp>
      <p:pic>
        <p:nvPicPr>
          <p:cNvPr id="10" name="Image 1" descr="preencoded.png">    </p:cNvPr>
          <p:cNvPicPr>
            <a:picLocks noChangeAspect="1"/>
          </p:cNvPicPr>
          <p:nvPr/>
        </p:nvPicPr>
        <p:blipFill>
          <a:blip r:embed="rId2"/>
          <a:stretch>
            <a:fillRect/>
          </a:stretch>
        </p:blipFill>
        <p:spPr>
          <a:xfrm>
            <a:off x="2259757" y="2971800"/>
            <a:ext cx="201168" cy="201168"/>
          </a:xfrm>
          <a:prstGeom prst="rect">
            <a:avLst/>
          </a:prstGeom>
        </p:spPr>
      </p:pic>
      <p:sp>
        <p:nvSpPr>
          <p:cNvPr id="11" name="Shape 7"/>
          <p:cNvSpPr/>
          <p:nvPr/>
        </p:nvSpPr>
        <p:spPr>
          <a:xfrm>
            <a:off x="2507833" y="2468880"/>
            <a:ext cx="1572768" cy="1920240"/>
          </a:xfrm>
          <a:prstGeom prst="rect">
            <a:avLst/>
          </a:prstGeom>
          <a:solidFill>
            <a:srgbClr val="FFFFFF"/>
          </a:solidFill>
          <a:ln w="12700">
            <a:solidFill>
              <a:srgbClr val="E4E7F2"/>
            </a:solidFill>
            <a:prstDash val="solid"/>
          </a:ln>
          <a:effectLst>
            <a:outerShdw sx="100000" sy="100000" kx="0" ky="0" algn="bl" rotWithShape="0" blurRad="76200" dist="25400" dir="5400000">
              <a:srgbClr val="9AA0C0">
                <a:alpha val="15000"/>
              </a:srgbClr>
            </a:outerShdw>
          </a:effectLst>
        </p:spPr>
      </p:sp>
      <p:sp>
        <p:nvSpPr>
          <p:cNvPr id="12" name="Shape 8"/>
          <p:cNvSpPr/>
          <p:nvPr/>
        </p:nvSpPr>
        <p:spPr>
          <a:xfrm>
            <a:off x="2910169" y="2697480"/>
            <a:ext cx="768096" cy="768096"/>
          </a:xfrm>
          <a:prstGeom prst="ellipse">
            <a:avLst/>
          </a:prstGeom>
          <a:solidFill>
            <a:srgbClr val="6366F1"/>
          </a:solidFill>
          <a:ln/>
        </p:spPr>
      </p:sp>
      <p:pic>
        <p:nvPicPr>
          <p:cNvPr id="13" name="Image 2" descr="preencoded.png">    </p:cNvPr>
          <p:cNvPicPr>
            <a:picLocks noChangeAspect="1"/>
          </p:cNvPicPr>
          <p:nvPr/>
        </p:nvPicPr>
        <p:blipFill>
          <a:blip r:embed="rId3"/>
          <a:stretch>
            <a:fillRect/>
          </a:stretch>
        </p:blipFill>
        <p:spPr>
          <a:xfrm>
            <a:off x="3074761" y="2862072"/>
            <a:ext cx="438912" cy="438912"/>
          </a:xfrm>
          <a:prstGeom prst="rect">
            <a:avLst/>
          </a:prstGeom>
        </p:spPr>
      </p:pic>
      <p:sp>
        <p:nvSpPr>
          <p:cNvPr id="14" name="Text 9"/>
          <p:cNvSpPr/>
          <p:nvPr/>
        </p:nvSpPr>
        <p:spPr>
          <a:xfrm>
            <a:off x="2507833" y="3547872"/>
            <a:ext cx="1572768" cy="329184"/>
          </a:xfrm>
          <a:prstGeom prst="rect">
            <a:avLst/>
          </a:prstGeom>
          <a:noFill/>
          <a:ln/>
        </p:spPr>
        <p:txBody>
          <a:bodyPr wrap="square" rtlCol="0" anchor="ctr"/>
          <a:lstStyle/>
          <a:p>
            <a:pPr algn="ctr" indent="0" marL="0">
              <a:buNone/>
            </a:pPr>
            <a:r>
              <a:rPr lang="en-US" sz="1400" b="1" dirty="0">
                <a:solidFill>
                  <a:srgbClr val="1E2235"/>
                </a:solidFill>
                <a:latin typeface="Segoe UI" pitchFamily="34" charset="0"/>
                <a:ea typeface="Segoe UI" pitchFamily="34" charset="-122"/>
                <a:cs typeface="Segoe UI" pitchFamily="34" charset="-120"/>
              </a:rPr>
              <a:t>Plan</a:t>
            </a:r>
            <a:endParaRPr lang="en-US" sz="1400" dirty="0"/>
          </a:p>
        </p:txBody>
      </p:sp>
      <p:sp>
        <p:nvSpPr>
          <p:cNvPr id="15" name="Text 10"/>
          <p:cNvSpPr/>
          <p:nvPr/>
        </p:nvSpPr>
        <p:spPr>
          <a:xfrm>
            <a:off x="2507833" y="3840480"/>
            <a:ext cx="1572768" cy="502920"/>
          </a:xfrm>
          <a:prstGeom prst="rect">
            <a:avLst/>
          </a:prstGeom>
          <a:noFill/>
          <a:ln/>
        </p:spPr>
        <p:txBody>
          <a:bodyPr wrap="square" rtlCol="0" anchor="ctr"/>
          <a:lstStyle/>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Understand the task</a:t>
            </a:r>
            <a:endParaRPr lang="en-US" sz="1200" dirty="0"/>
          </a:p>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Break it into steps</a:t>
            </a:r>
            <a:endParaRPr lang="en-US" sz="1200" dirty="0"/>
          </a:p>
        </p:txBody>
      </p:sp>
      <p:pic>
        <p:nvPicPr>
          <p:cNvPr id="16" name="Image 3" descr="preencoded.png">    </p:cNvPr>
          <p:cNvPicPr>
            <a:picLocks noChangeAspect="1"/>
          </p:cNvPicPr>
          <p:nvPr/>
        </p:nvPicPr>
        <p:blipFill>
          <a:blip r:embed="rId4"/>
          <a:stretch>
            <a:fillRect/>
          </a:stretch>
        </p:blipFill>
        <p:spPr>
          <a:xfrm>
            <a:off x="4127510" y="2971800"/>
            <a:ext cx="201168" cy="201168"/>
          </a:xfrm>
          <a:prstGeom prst="rect">
            <a:avLst/>
          </a:prstGeom>
        </p:spPr>
      </p:pic>
      <p:sp>
        <p:nvSpPr>
          <p:cNvPr id="17" name="Shape 11"/>
          <p:cNvSpPr/>
          <p:nvPr/>
        </p:nvSpPr>
        <p:spPr>
          <a:xfrm>
            <a:off x="4375587" y="2468880"/>
            <a:ext cx="1572768" cy="1920240"/>
          </a:xfrm>
          <a:prstGeom prst="rect">
            <a:avLst/>
          </a:prstGeom>
          <a:solidFill>
            <a:srgbClr val="FFFFFF"/>
          </a:solidFill>
          <a:ln w="12700">
            <a:solidFill>
              <a:srgbClr val="E4E7F2"/>
            </a:solidFill>
            <a:prstDash val="solid"/>
          </a:ln>
          <a:effectLst>
            <a:outerShdw sx="100000" sy="100000" kx="0" ky="0" algn="bl" rotWithShape="0" blurRad="76200" dist="25400" dir="5400000">
              <a:srgbClr val="9AA0C0">
                <a:alpha val="15000"/>
              </a:srgbClr>
            </a:outerShdw>
          </a:effectLst>
        </p:spPr>
      </p:sp>
      <p:sp>
        <p:nvSpPr>
          <p:cNvPr id="18" name="Shape 12"/>
          <p:cNvSpPr/>
          <p:nvPr/>
        </p:nvSpPr>
        <p:spPr>
          <a:xfrm>
            <a:off x="4777923" y="2697480"/>
            <a:ext cx="768096" cy="768096"/>
          </a:xfrm>
          <a:prstGeom prst="ellipse">
            <a:avLst/>
          </a:prstGeom>
          <a:solidFill>
            <a:srgbClr val="6366F1"/>
          </a:solidFill>
          <a:ln/>
        </p:spPr>
      </p:sp>
      <p:pic>
        <p:nvPicPr>
          <p:cNvPr id="19" name="Image 4" descr="preencoded.png">    </p:cNvPr>
          <p:cNvPicPr>
            <a:picLocks noChangeAspect="1"/>
          </p:cNvPicPr>
          <p:nvPr/>
        </p:nvPicPr>
        <p:blipFill>
          <a:blip r:embed="rId5"/>
          <a:stretch>
            <a:fillRect/>
          </a:stretch>
        </p:blipFill>
        <p:spPr>
          <a:xfrm>
            <a:off x="4942515" y="2862072"/>
            <a:ext cx="438912" cy="438912"/>
          </a:xfrm>
          <a:prstGeom prst="rect">
            <a:avLst/>
          </a:prstGeom>
        </p:spPr>
      </p:pic>
      <p:sp>
        <p:nvSpPr>
          <p:cNvPr id="20" name="Text 13"/>
          <p:cNvSpPr/>
          <p:nvPr/>
        </p:nvSpPr>
        <p:spPr>
          <a:xfrm>
            <a:off x="4375587" y="3547872"/>
            <a:ext cx="1572768" cy="329184"/>
          </a:xfrm>
          <a:prstGeom prst="rect">
            <a:avLst/>
          </a:prstGeom>
          <a:noFill/>
          <a:ln/>
        </p:spPr>
        <p:txBody>
          <a:bodyPr wrap="square" rtlCol="0" anchor="ctr"/>
          <a:lstStyle/>
          <a:p>
            <a:pPr algn="ctr" indent="0" marL="0">
              <a:buNone/>
            </a:pPr>
            <a:r>
              <a:rPr lang="en-US" sz="1400" b="1" dirty="0">
                <a:solidFill>
                  <a:srgbClr val="1E2235"/>
                </a:solidFill>
                <a:latin typeface="Segoe UI" pitchFamily="34" charset="0"/>
                <a:ea typeface="Segoe UI" pitchFamily="34" charset="-122"/>
                <a:cs typeface="Segoe UI" pitchFamily="34" charset="-120"/>
              </a:rPr>
              <a:t>Load skills</a:t>
            </a:r>
            <a:endParaRPr lang="en-US" sz="1400" dirty="0"/>
          </a:p>
        </p:txBody>
      </p:sp>
      <p:sp>
        <p:nvSpPr>
          <p:cNvPr id="21" name="Text 14"/>
          <p:cNvSpPr/>
          <p:nvPr/>
        </p:nvSpPr>
        <p:spPr>
          <a:xfrm>
            <a:off x="4375587" y="3840480"/>
            <a:ext cx="1572768" cy="502920"/>
          </a:xfrm>
          <a:prstGeom prst="rect">
            <a:avLst/>
          </a:prstGeom>
          <a:noFill/>
          <a:ln/>
        </p:spPr>
        <p:txBody>
          <a:bodyPr wrap="square" rtlCol="0" anchor="ctr"/>
          <a:lstStyle/>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14 built-in</a:t>
            </a:r>
            <a:endParaRPr lang="en-US" sz="1200" dirty="0"/>
          </a:p>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 custom</a:t>
            </a:r>
            <a:endParaRPr lang="en-US" sz="1200" dirty="0"/>
          </a:p>
        </p:txBody>
      </p:sp>
      <p:pic>
        <p:nvPicPr>
          <p:cNvPr id="22" name="Image 5" descr="preencoded.png">    </p:cNvPr>
          <p:cNvPicPr>
            <a:picLocks noChangeAspect="1"/>
          </p:cNvPicPr>
          <p:nvPr/>
        </p:nvPicPr>
        <p:blipFill>
          <a:blip r:embed="rId6"/>
          <a:stretch>
            <a:fillRect/>
          </a:stretch>
        </p:blipFill>
        <p:spPr>
          <a:xfrm>
            <a:off x="5995264" y="2971800"/>
            <a:ext cx="201168" cy="201168"/>
          </a:xfrm>
          <a:prstGeom prst="rect">
            <a:avLst/>
          </a:prstGeom>
        </p:spPr>
      </p:pic>
      <p:sp>
        <p:nvSpPr>
          <p:cNvPr id="23" name="Shape 15"/>
          <p:cNvSpPr/>
          <p:nvPr/>
        </p:nvSpPr>
        <p:spPr>
          <a:xfrm>
            <a:off x="6243340" y="2468880"/>
            <a:ext cx="1572768" cy="1920240"/>
          </a:xfrm>
          <a:prstGeom prst="rect">
            <a:avLst/>
          </a:prstGeom>
          <a:solidFill>
            <a:srgbClr val="FFFFFF"/>
          </a:solidFill>
          <a:ln w="12700">
            <a:solidFill>
              <a:srgbClr val="E4E7F2"/>
            </a:solidFill>
            <a:prstDash val="solid"/>
          </a:ln>
          <a:effectLst>
            <a:outerShdw sx="100000" sy="100000" kx="0" ky="0" algn="bl" rotWithShape="0" blurRad="76200" dist="25400" dir="5400000">
              <a:srgbClr val="9AA0C0">
                <a:alpha val="15000"/>
              </a:srgbClr>
            </a:outerShdw>
          </a:effectLst>
        </p:spPr>
      </p:sp>
      <p:sp>
        <p:nvSpPr>
          <p:cNvPr id="24" name="Shape 16"/>
          <p:cNvSpPr/>
          <p:nvPr/>
        </p:nvSpPr>
        <p:spPr>
          <a:xfrm>
            <a:off x="6645676" y="2697480"/>
            <a:ext cx="768096" cy="768096"/>
          </a:xfrm>
          <a:prstGeom prst="ellipse">
            <a:avLst/>
          </a:prstGeom>
          <a:solidFill>
            <a:srgbClr val="6366F1"/>
          </a:solidFill>
          <a:ln/>
        </p:spPr>
      </p:sp>
      <p:pic>
        <p:nvPicPr>
          <p:cNvPr id="25" name="Image 6" descr="preencoded.png">    </p:cNvPr>
          <p:cNvPicPr>
            <a:picLocks noChangeAspect="1"/>
          </p:cNvPicPr>
          <p:nvPr/>
        </p:nvPicPr>
        <p:blipFill>
          <a:blip r:embed="rId7"/>
          <a:stretch>
            <a:fillRect/>
          </a:stretch>
        </p:blipFill>
        <p:spPr>
          <a:xfrm>
            <a:off x="6810268" y="2862072"/>
            <a:ext cx="438912" cy="438912"/>
          </a:xfrm>
          <a:prstGeom prst="rect">
            <a:avLst/>
          </a:prstGeom>
        </p:spPr>
      </p:pic>
      <p:sp>
        <p:nvSpPr>
          <p:cNvPr id="26" name="Text 17"/>
          <p:cNvSpPr/>
          <p:nvPr/>
        </p:nvSpPr>
        <p:spPr>
          <a:xfrm>
            <a:off x="6243340" y="3547872"/>
            <a:ext cx="1572768" cy="329184"/>
          </a:xfrm>
          <a:prstGeom prst="rect">
            <a:avLst/>
          </a:prstGeom>
          <a:noFill/>
          <a:ln/>
        </p:spPr>
        <p:txBody>
          <a:bodyPr wrap="square" rtlCol="0" anchor="ctr"/>
          <a:lstStyle/>
          <a:p>
            <a:pPr algn="ctr" indent="0" marL="0">
              <a:buNone/>
            </a:pPr>
            <a:r>
              <a:rPr lang="en-US" sz="1400" b="1" dirty="0">
                <a:solidFill>
                  <a:srgbClr val="1E2235"/>
                </a:solidFill>
                <a:latin typeface="Segoe UI" pitchFamily="34" charset="0"/>
                <a:ea typeface="Segoe UI" pitchFamily="34" charset="-122"/>
                <a:cs typeface="Segoe UI" pitchFamily="34" charset="-120"/>
              </a:rPr>
              <a:t>Execute</a:t>
            </a:r>
            <a:endParaRPr lang="en-US" sz="1400" dirty="0"/>
          </a:p>
        </p:txBody>
      </p:sp>
      <p:sp>
        <p:nvSpPr>
          <p:cNvPr id="27" name="Text 18"/>
          <p:cNvSpPr/>
          <p:nvPr/>
        </p:nvSpPr>
        <p:spPr>
          <a:xfrm>
            <a:off x="6243340" y="3840480"/>
            <a:ext cx="1572768" cy="502920"/>
          </a:xfrm>
          <a:prstGeom prst="rect">
            <a:avLst/>
          </a:prstGeom>
          <a:noFill/>
          <a:ln/>
        </p:spPr>
        <p:txBody>
          <a:bodyPr wrap="square" rtlCol="0" anchor="ctr"/>
          <a:lstStyle/>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Create documents</a:t>
            </a:r>
            <a:endParaRPr lang="en-US" sz="1200" dirty="0"/>
          </a:p>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spreadsheets / mail</a:t>
            </a:r>
            <a:endParaRPr lang="en-US" sz="1200" dirty="0"/>
          </a:p>
        </p:txBody>
      </p:sp>
      <p:pic>
        <p:nvPicPr>
          <p:cNvPr id="28" name="Image 7" descr="preencoded.png">    </p:cNvPr>
          <p:cNvPicPr>
            <a:picLocks noChangeAspect="1"/>
          </p:cNvPicPr>
          <p:nvPr/>
        </p:nvPicPr>
        <p:blipFill>
          <a:blip r:embed="rId8"/>
          <a:stretch>
            <a:fillRect/>
          </a:stretch>
        </p:blipFill>
        <p:spPr>
          <a:xfrm>
            <a:off x="7863017" y="2971800"/>
            <a:ext cx="201168" cy="201168"/>
          </a:xfrm>
          <a:prstGeom prst="rect">
            <a:avLst/>
          </a:prstGeom>
        </p:spPr>
      </p:pic>
      <p:sp>
        <p:nvSpPr>
          <p:cNvPr id="29" name="Shape 19"/>
          <p:cNvSpPr/>
          <p:nvPr/>
        </p:nvSpPr>
        <p:spPr>
          <a:xfrm>
            <a:off x="8111094" y="2468880"/>
            <a:ext cx="1572768" cy="1920240"/>
          </a:xfrm>
          <a:prstGeom prst="rect">
            <a:avLst/>
          </a:prstGeom>
          <a:solidFill>
            <a:srgbClr val="FFFFFF"/>
          </a:solidFill>
          <a:ln w="12700">
            <a:solidFill>
              <a:srgbClr val="E4E7F2"/>
            </a:solidFill>
            <a:prstDash val="solid"/>
          </a:ln>
          <a:effectLst>
            <a:outerShdw sx="100000" sy="100000" kx="0" ky="0" algn="bl" rotWithShape="0" blurRad="76200" dist="25400" dir="5400000">
              <a:srgbClr val="9AA0C0">
                <a:alpha val="15000"/>
              </a:srgbClr>
            </a:outerShdw>
          </a:effectLst>
        </p:spPr>
      </p:sp>
      <p:sp>
        <p:nvSpPr>
          <p:cNvPr id="30" name="Shape 20"/>
          <p:cNvSpPr/>
          <p:nvPr/>
        </p:nvSpPr>
        <p:spPr>
          <a:xfrm>
            <a:off x="8513430" y="2697480"/>
            <a:ext cx="768096" cy="768096"/>
          </a:xfrm>
          <a:prstGeom prst="ellipse">
            <a:avLst/>
          </a:prstGeom>
          <a:solidFill>
            <a:srgbClr val="6366F1"/>
          </a:solidFill>
          <a:ln/>
        </p:spPr>
      </p:sp>
      <p:pic>
        <p:nvPicPr>
          <p:cNvPr id="31" name="Image 8" descr="preencoded.png">    </p:cNvPr>
          <p:cNvPicPr>
            <a:picLocks noChangeAspect="1"/>
          </p:cNvPicPr>
          <p:nvPr/>
        </p:nvPicPr>
        <p:blipFill>
          <a:blip r:embed="rId9"/>
          <a:stretch>
            <a:fillRect/>
          </a:stretch>
        </p:blipFill>
        <p:spPr>
          <a:xfrm>
            <a:off x="8678022" y="2862072"/>
            <a:ext cx="438912" cy="438912"/>
          </a:xfrm>
          <a:prstGeom prst="rect">
            <a:avLst/>
          </a:prstGeom>
        </p:spPr>
      </p:pic>
      <p:sp>
        <p:nvSpPr>
          <p:cNvPr id="32" name="Text 21"/>
          <p:cNvSpPr/>
          <p:nvPr/>
        </p:nvSpPr>
        <p:spPr>
          <a:xfrm>
            <a:off x="8111094" y="3547872"/>
            <a:ext cx="1572768" cy="329184"/>
          </a:xfrm>
          <a:prstGeom prst="rect">
            <a:avLst/>
          </a:prstGeom>
          <a:noFill/>
          <a:ln/>
        </p:spPr>
        <p:txBody>
          <a:bodyPr wrap="square" rtlCol="0" anchor="ctr"/>
          <a:lstStyle/>
          <a:p>
            <a:pPr algn="ctr" indent="0" marL="0">
              <a:buNone/>
            </a:pPr>
            <a:r>
              <a:rPr lang="en-US" sz="1400" b="1" dirty="0">
                <a:solidFill>
                  <a:srgbClr val="1E2235"/>
                </a:solidFill>
                <a:latin typeface="Segoe UI" pitchFamily="34" charset="0"/>
                <a:ea typeface="Segoe UI" pitchFamily="34" charset="-122"/>
                <a:cs typeface="Segoe UI" pitchFamily="34" charset="-120"/>
              </a:rPr>
              <a:t>Self-verify</a:t>
            </a:r>
            <a:endParaRPr lang="en-US" sz="1400" dirty="0"/>
          </a:p>
        </p:txBody>
      </p:sp>
      <p:sp>
        <p:nvSpPr>
          <p:cNvPr id="33" name="Text 22"/>
          <p:cNvSpPr/>
          <p:nvPr/>
        </p:nvSpPr>
        <p:spPr>
          <a:xfrm>
            <a:off x="8111094" y="3840480"/>
            <a:ext cx="1572768" cy="502920"/>
          </a:xfrm>
          <a:prstGeom prst="rect">
            <a:avLst/>
          </a:prstGeom>
          <a:noFill/>
          <a:ln/>
        </p:spPr>
        <p:txBody>
          <a:bodyPr wrap="square" rtlCol="0" anchor="ctr"/>
          <a:lstStyle/>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Check the numbers</a:t>
            </a:r>
            <a:endParaRPr lang="en-US" sz="1200" dirty="0"/>
          </a:p>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and consistency</a:t>
            </a:r>
            <a:endParaRPr lang="en-US" sz="1200" dirty="0"/>
          </a:p>
        </p:txBody>
      </p:sp>
      <p:pic>
        <p:nvPicPr>
          <p:cNvPr id="34" name="Image 9" descr="preencoded.png">    </p:cNvPr>
          <p:cNvPicPr>
            <a:picLocks noChangeAspect="1"/>
          </p:cNvPicPr>
          <p:nvPr/>
        </p:nvPicPr>
        <p:blipFill>
          <a:blip r:embed="rId10"/>
          <a:stretch>
            <a:fillRect/>
          </a:stretch>
        </p:blipFill>
        <p:spPr>
          <a:xfrm>
            <a:off x="9730770" y="2971800"/>
            <a:ext cx="201168" cy="201168"/>
          </a:xfrm>
          <a:prstGeom prst="rect">
            <a:avLst/>
          </a:prstGeom>
        </p:spPr>
      </p:pic>
      <p:sp>
        <p:nvSpPr>
          <p:cNvPr id="35" name="Shape 23"/>
          <p:cNvSpPr/>
          <p:nvPr/>
        </p:nvSpPr>
        <p:spPr>
          <a:xfrm>
            <a:off x="9978847" y="2468880"/>
            <a:ext cx="1572768" cy="1920240"/>
          </a:xfrm>
          <a:prstGeom prst="rect">
            <a:avLst/>
          </a:prstGeom>
          <a:solidFill>
            <a:srgbClr val="FFFFFF"/>
          </a:solidFill>
          <a:ln w="12700">
            <a:solidFill>
              <a:srgbClr val="E4E7F2"/>
            </a:solidFill>
            <a:prstDash val="solid"/>
          </a:ln>
          <a:effectLst>
            <a:outerShdw sx="100000" sy="100000" kx="0" ky="0" algn="bl" rotWithShape="0" blurRad="76200" dist="25400" dir="5400000">
              <a:srgbClr val="9AA0C0">
                <a:alpha val="15000"/>
              </a:srgbClr>
            </a:outerShdw>
          </a:effectLst>
        </p:spPr>
      </p:sp>
      <p:sp>
        <p:nvSpPr>
          <p:cNvPr id="36" name="Shape 24"/>
          <p:cNvSpPr/>
          <p:nvPr/>
        </p:nvSpPr>
        <p:spPr>
          <a:xfrm>
            <a:off x="10381183" y="2697480"/>
            <a:ext cx="768096" cy="768096"/>
          </a:xfrm>
          <a:prstGeom prst="ellipse">
            <a:avLst/>
          </a:prstGeom>
          <a:solidFill>
            <a:srgbClr val="8B5CF6"/>
          </a:solidFill>
          <a:ln/>
        </p:spPr>
      </p:sp>
      <p:pic>
        <p:nvPicPr>
          <p:cNvPr id="37" name="Image 10" descr="preencoded.png">    </p:cNvPr>
          <p:cNvPicPr>
            <a:picLocks noChangeAspect="1"/>
          </p:cNvPicPr>
          <p:nvPr/>
        </p:nvPicPr>
        <p:blipFill>
          <a:blip r:embed="rId11"/>
          <a:stretch>
            <a:fillRect/>
          </a:stretch>
        </p:blipFill>
        <p:spPr>
          <a:xfrm>
            <a:off x="10545775" y="2862072"/>
            <a:ext cx="438912" cy="438912"/>
          </a:xfrm>
          <a:prstGeom prst="rect">
            <a:avLst/>
          </a:prstGeom>
        </p:spPr>
      </p:pic>
      <p:sp>
        <p:nvSpPr>
          <p:cNvPr id="38" name="Text 25"/>
          <p:cNvSpPr/>
          <p:nvPr/>
        </p:nvSpPr>
        <p:spPr>
          <a:xfrm>
            <a:off x="9978847" y="3547872"/>
            <a:ext cx="1572768" cy="329184"/>
          </a:xfrm>
          <a:prstGeom prst="rect">
            <a:avLst/>
          </a:prstGeom>
          <a:noFill/>
          <a:ln/>
        </p:spPr>
        <p:txBody>
          <a:bodyPr wrap="square" rtlCol="0" anchor="ctr"/>
          <a:lstStyle/>
          <a:p>
            <a:pPr algn="ctr" indent="0" marL="0">
              <a:buNone/>
            </a:pPr>
            <a:r>
              <a:rPr lang="en-US" sz="1400" b="1" dirty="0">
                <a:solidFill>
                  <a:srgbClr val="1E2235"/>
                </a:solidFill>
                <a:latin typeface="Segoe UI" pitchFamily="34" charset="0"/>
                <a:ea typeface="Segoe UI" pitchFamily="34" charset="-122"/>
                <a:cs typeface="Segoe UI" pitchFamily="34" charset="-120"/>
              </a:rPr>
              <a:t>Approval before action</a:t>
            </a:r>
            <a:endParaRPr lang="en-US" sz="1400" dirty="0"/>
          </a:p>
        </p:txBody>
      </p:sp>
      <p:sp>
        <p:nvSpPr>
          <p:cNvPr id="39" name="Text 26"/>
          <p:cNvSpPr/>
          <p:nvPr/>
        </p:nvSpPr>
        <p:spPr>
          <a:xfrm>
            <a:off x="9978847" y="3840480"/>
            <a:ext cx="1572768" cy="502920"/>
          </a:xfrm>
          <a:prstGeom prst="rect">
            <a:avLst/>
          </a:prstGeom>
          <a:noFill/>
          <a:ln/>
        </p:spPr>
        <p:txBody>
          <a:bodyPr wrap="square" rtlCol="0" anchor="ctr"/>
          <a:lstStyle/>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Outbound actions</a:t>
            </a:r>
            <a:endParaRPr lang="en-US" sz="1200" dirty="0"/>
          </a:p>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wait for you</a:t>
            </a:r>
            <a:endParaRPr lang="en-US" sz="1200" dirty="0"/>
          </a:p>
        </p:txBody>
      </p:sp>
      <p:sp>
        <p:nvSpPr>
          <p:cNvPr id="40" name="Text 27"/>
          <p:cNvSpPr/>
          <p:nvPr/>
        </p:nvSpPr>
        <p:spPr>
          <a:xfrm>
            <a:off x="640080" y="4937760"/>
            <a:ext cx="10972800" cy="320040"/>
          </a:xfrm>
          <a:prstGeom prst="rect">
            <a:avLst/>
          </a:prstGeom>
          <a:noFill/>
          <a:ln/>
        </p:spPr>
        <p:txBody>
          <a:bodyPr wrap="square" rtlCol="0" anchor="ctr"/>
          <a:lstStyle/>
          <a:p>
            <a:pPr algn="ctr" indent="0" marL="0">
              <a:buNone/>
            </a:pPr>
            <a:r>
              <a:rPr lang="en-US" sz="1400" i="1" dirty="0">
                <a:solidFill>
                  <a:srgbClr val="5B6079"/>
                </a:solidFill>
                <a:latin typeface="Segoe UI" pitchFamily="34" charset="0"/>
                <a:ea typeface="Segoe UI" pitchFamily="34" charset="-122"/>
                <a:cs typeface="Segoe UI" pitchFamily="34" charset="-120"/>
              </a:rPr>
              <a:t>The whole process is visible in the "Workspace" panel; you can soft/hard pause, resume or cancel a task.</a:t>
            </a:r>
            <a:endParaRPr lang="en-US" sz="1400" dirty="0"/>
          </a:p>
        </p:txBody>
      </p:sp>
      <p:sp>
        <p:nvSpPr>
          <p:cNvPr id="41" name="Text 28"/>
          <p:cNvSpPr/>
          <p:nvPr/>
        </p:nvSpPr>
        <p:spPr>
          <a:xfrm>
            <a:off x="640080" y="5285232"/>
            <a:ext cx="10972800" cy="457200"/>
          </a:xfrm>
          <a:prstGeom prst="rect">
            <a:avLst/>
          </a:prstGeom>
          <a:noFill/>
          <a:ln/>
        </p:spPr>
        <p:txBody>
          <a:bodyPr wrap="square" rtlCol="0" anchor="ctr"/>
          <a:lstStyle/>
          <a:p>
            <a:pPr algn="ctr" indent="0" marL="0">
              <a:buNone/>
            </a:pPr>
            <a:r>
              <a:rPr lang="en-US" sz="1300" i="1" dirty="0">
                <a:solidFill>
                  <a:srgbClr val="5B6079"/>
                </a:solidFill>
                <a:latin typeface="Segoe UI" pitchFamily="34" charset="0"/>
                <a:ea typeface="Segoe UI" pitchFamily="34" charset="-122"/>
                <a:cs typeface="Segoe UI" pitchFamily="34" charset="-120"/>
              </a:rPr>
              <a:t>It doesn't only start from chat: you can also have it fire automatically when a matching email arrives or you're @mentioned (event-driven tasks) — with the same self-verification and approval flow.</a:t>
            </a:r>
            <a:endParaRPr lang="en-US" sz="1300" dirty="0"/>
          </a:p>
        </p:txBody>
      </p:sp>
      <p:sp>
        <p:nvSpPr>
          <p:cNvPr id="42" name="Text 29"/>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43" name="Text 30"/>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6366F1"/>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6366F1"/>
                </a:solidFill>
                <a:latin typeface="Segoe UI" pitchFamily="34" charset="0"/>
                <a:ea typeface="Segoe UI" pitchFamily="34" charset="-122"/>
                <a:cs typeface="Segoe UI" pitchFamily="34" charset="-120"/>
              </a:rPr>
              <a:t>BEFORE YOU START</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Set up your practice environment</a:t>
            </a:r>
            <a:endParaRPr lang="en-US" sz="3000" dirty="0"/>
          </a:p>
        </p:txBody>
      </p:sp>
      <p:sp>
        <p:nvSpPr>
          <p:cNvPr id="5" name="Text 3"/>
          <p:cNvSpPr/>
          <p:nvPr/>
        </p:nvSpPr>
        <p:spPr>
          <a:xfrm>
            <a:off x="640080" y="1481328"/>
            <a:ext cx="10972800" cy="329184"/>
          </a:xfrm>
          <a:prstGeom prst="rect">
            <a:avLst/>
          </a:prstGeom>
          <a:noFill/>
          <a:ln/>
        </p:spPr>
        <p:txBody>
          <a:bodyPr wrap="square" rtlCol="0" anchor="ctr"/>
          <a:lstStyle/>
          <a:p>
            <a:pPr indent="0" marL="0">
              <a:buNone/>
            </a:pPr>
            <a:r>
              <a:rPr lang="en-US" sz="1300" dirty="0">
                <a:solidFill>
                  <a:srgbClr val="5B6079"/>
                </a:solidFill>
                <a:latin typeface="Segoe UI" pitchFamily="34" charset="0"/>
                <a:ea typeface="Segoe UI" pitchFamily="34" charset="-122"/>
                <a:cs typeface="Segoe UI" pitchFamily="34" charset="-120"/>
              </a:rPr>
              <a:t>Seed the material into OneDrive under Documents/Cowork_Lab/AirlineEngineering/ before the session, and Cowork will find it itself · Setup time about 20 minutes</a:t>
            </a:r>
            <a:endParaRPr lang="en-US" sz="1300" dirty="0"/>
          </a:p>
        </p:txBody>
      </p:sp>
      <p:sp>
        <p:nvSpPr>
          <p:cNvPr id="6" name="Shape 4"/>
          <p:cNvSpPr/>
          <p:nvPr/>
        </p:nvSpPr>
        <p:spPr>
          <a:xfrm>
            <a:off x="640080" y="1874520"/>
            <a:ext cx="5272888" cy="777240"/>
          </a:xfrm>
          <a:prstGeom prst="rect">
            <a:avLst/>
          </a:prstGeom>
          <a:solidFill>
            <a:srgbClr val="FFFFFF"/>
          </a:solidFill>
          <a:ln w="12700">
            <a:solidFill>
              <a:srgbClr val="E4E7F2"/>
            </a:solidFill>
            <a:prstDash val="solid"/>
          </a:ln>
        </p:spPr>
      </p:sp>
      <p:sp>
        <p:nvSpPr>
          <p:cNvPr id="7" name="Shape 5"/>
          <p:cNvSpPr/>
          <p:nvPr/>
        </p:nvSpPr>
        <p:spPr>
          <a:xfrm>
            <a:off x="640080" y="1874520"/>
            <a:ext cx="68580" cy="777240"/>
          </a:xfrm>
          <a:prstGeom prst="rect">
            <a:avLst/>
          </a:prstGeom>
          <a:solidFill>
            <a:srgbClr val="6366F1"/>
          </a:solidFill>
          <a:ln/>
        </p:spPr>
      </p:sp>
      <p:sp>
        <p:nvSpPr>
          <p:cNvPr id="8" name="Text 6"/>
          <p:cNvSpPr/>
          <p:nvPr/>
        </p:nvSpPr>
        <p:spPr>
          <a:xfrm>
            <a:off x="804672" y="1929384"/>
            <a:ext cx="411480" cy="329184"/>
          </a:xfrm>
          <a:prstGeom prst="rect">
            <a:avLst/>
          </a:prstGeom>
          <a:noFill/>
          <a:ln/>
        </p:spPr>
        <p:txBody>
          <a:bodyPr wrap="square" rtlCol="0" anchor="ctr"/>
          <a:lstStyle/>
          <a:p>
            <a:pPr algn="ctr" indent="0" marL="0">
              <a:buNone/>
            </a:pPr>
            <a:r>
              <a:rPr lang="en-US" sz="1500" dirty="0">
                <a:solidFill>
                  <a:srgbClr val="000000"/>
                </a:solidFill>
                <a:latin typeface="Segoe UI" pitchFamily="34" charset="0"/>
                <a:ea typeface="Segoe UI" pitchFamily="34" charset="-122"/>
                <a:cs typeface="Segoe UI" pitchFamily="34" charset="-120"/>
              </a:rPr>
              <a:t>📅</a:t>
            </a:r>
            <a:endParaRPr lang="en-US" sz="1500" dirty="0"/>
          </a:p>
        </p:txBody>
      </p:sp>
      <p:sp>
        <p:nvSpPr>
          <p:cNvPr id="9" name="Text 7"/>
          <p:cNvSpPr/>
          <p:nvPr/>
        </p:nvSpPr>
        <p:spPr>
          <a:xfrm>
            <a:off x="1243584" y="1920240"/>
            <a:ext cx="4495648" cy="292608"/>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 Understand how dates work in this material first</a:t>
            </a:r>
            <a:endParaRPr lang="en-US" sz="1250" dirty="0"/>
          </a:p>
        </p:txBody>
      </p:sp>
      <p:sp>
        <p:nvSpPr>
          <p:cNvPr id="10" name="Text 8"/>
          <p:cNvSpPr/>
          <p:nvPr/>
        </p:nvSpPr>
        <p:spPr>
          <a:xfrm>
            <a:off x="1243584" y="2194560"/>
            <a:ext cx="4495648" cy="411480"/>
          </a:xfrm>
          <a:prstGeom prst="rect">
            <a:avLst/>
          </a:prstGeom>
          <a:noFill/>
          <a:ln/>
        </p:spPr>
        <p:txBody>
          <a:bodyPr wrap="square" rtlCol="0" anchor="ctr"/>
          <a:lstStyle/>
          <a:p>
            <a:pPr indent="0" marL="0">
              <a:lnSpc>
                <a:spcPct val="112000"/>
              </a:lnSpc>
              <a:buNone/>
            </a:pPr>
            <a:r>
              <a:rPr lang="en-US" sz="1050" dirty="0">
                <a:solidFill>
                  <a:srgbClr val="5B6079"/>
                </a:solidFill>
                <a:latin typeface="Segoe UI" pitchFamily="34" charset="0"/>
                <a:ea typeface="Segoe UI" pitchFamily="34" charset="-122"/>
                <a:cs typeface="Segoe UI" pitchFamily="34" charset="-120"/>
              </a:rPr>
              <a:t>The dates in this material are fixed simulated dates: th…</a:t>
            </a:r>
            <a:endParaRPr lang="en-US" sz="1050" dirty="0"/>
          </a:p>
        </p:txBody>
      </p:sp>
      <p:sp>
        <p:nvSpPr>
          <p:cNvPr id="11" name="Shape 9"/>
          <p:cNvSpPr/>
          <p:nvPr/>
        </p:nvSpPr>
        <p:spPr>
          <a:xfrm>
            <a:off x="6278728" y="1874520"/>
            <a:ext cx="5272888" cy="777240"/>
          </a:xfrm>
          <a:prstGeom prst="rect">
            <a:avLst/>
          </a:prstGeom>
          <a:solidFill>
            <a:srgbClr val="FFFFFF"/>
          </a:solidFill>
          <a:ln w="12700">
            <a:solidFill>
              <a:srgbClr val="E4E7F2"/>
            </a:solidFill>
            <a:prstDash val="solid"/>
          </a:ln>
        </p:spPr>
      </p:sp>
      <p:sp>
        <p:nvSpPr>
          <p:cNvPr id="12" name="Shape 10"/>
          <p:cNvSpPr/>
          <p:nvPr/>
        </p:nvSpPr>
        <p:spPr>
          <a:xfrm>
            <a:off x="6278728" y="1874520"/>
            <a:ext cx="68580" cy="777240"/>
          </a:xfrm>
          <a:prstGeom prst="rect">
            <a:avLst/>
          </a:prstGeom>
          <a:solidFill>
            <a:srgbClr val="6366F1"/>
          </a:solidFill>
          <a:ln/>
        </p:spPr>
      </p:sp>
      <p:sp>
        <p:nvSpPr>
          <p:cNvPr id="13" name="Text 11"/>
          <p:cNvSpPr/>
          <p:nvPr/>
        </p:nvSpPr>
        <p:spPr>
          <a:xfrm>
            <a:off x="6443320" y="1929384"/>
            <a:ext cx="411480" cy="329184"/>
          </a:xfrm>
          <a:prstGeom prst="rect">
            <a:avLst/>
          </a:prstGeom>
          <a:noFill/>
          <a:ln/>
        </p:spPr>
        <p:txBody>
          <a:bodyPr wrap="square" rtlCol="0" anchor="ctr"/>
          <a:lstStyle/>
          <a:p>
            <a:pPr algn="ctr" indent="0" marL="0">
              <a:buNone/>
            </a:pPr>
            <a:r>
              <a:rPr lang="en-US" sz="1500" dirty="0">
                <a:solidFill>
                  <a:srgbClr val="000000"/>
                </a:solidFill>
                <a:latin typeface="Segoe UI" pitchFamily="34" charset="0"/>
                <a:ea typeface="Segoe UI" pitchFamily="34" charset="-122"/>
                <a:cs typeface="Segoe UI" pitchFamily="34" charset="-120"/>
              </a:rPr>
              <a:t>📁</a:t>
            </a:r>
            <a:endParaRPr lang="en-US" sz="1500" dirty="0"/>
          </a:p>
        </p:txBody>
      </p:sp>
      <p:sp>
        <p:nvSpPr>
          <p:cNvPr id="14" name="Text 12"/>
          <p:cNvSpPr/>
          <p:nvPr/>
        </p:nvSpPr>
        <p:spPr>
          <a:xfrm>
            <a:off x="6882232" y="1920240"/>
            <a:ext cx="4495648" cy="292608"/>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Create the OneDrive folders and upload the material for all seven scenarios</a:t>
            </a:r>
            <a:endParaRPr lang="en-US" sz="1250" dirty="0"/>
          </a:p>
        </p:txBody>
      </p:sp>
      <p:sp>
        <p:nvSpPr>
          <p:cNvPr id="15" name="Text 13"/>
          <p:cNvSpPr/>
          <p:nvPr/>
        </p:nvSpPr>
        <p:spPr>
          <a:xfrm>
            <a:off x="6882232" y="2194560"/>
            <a:ext cx="4495648" cy="411480"/>
          </a:xfrm>
          <a:prstGeom prst="rect">
            <a:avLst/>
          </a:prstGeom>
          <a:noFill/>
          <a:ln/>
        </p:spPr>
        <p:txBody>
          <a:bodyPr wrap="square" rtlCol="0" anchor="ctr"/>
          <a:lstStyle/>
          <a:p>
            <a:pPr indent="0" marL="0">
              <a:lnSpc>
                <a:spcPct val="112000"/>
              </a:lnSpc>
              <a:buNone/>
            </a:pPr>
            <a:r>
              <a:rPr lang="en-US" sz="1050" dirty="0">
                <a:solidFill>
                  <a:srgbClr val="5B6079"/>
                </a:solidFill>
                <a:latin typeface="Segoe UI" pitchFamily="34" charset="0"/>
                <a:ea typeface="Segoe UI" pitchFamily="34" charset="-122"/>
                <a:cs typeface="Segoe UI" pitchFamily="34" charset="-120"/>
              </a:rPr>
              <a:t>Create Documents/Cowork_Lab/AirlineEngineering/ in OneDr…</a:t>
            </a:r>
            <a:endParaRPr lang="en-US" sz="1050" dirty="0"/>
          </a:p>
        </p:txBody>
      </p:sp>
      <p:sp>
        <p:nvSpPr>
          <p:cNvPr id="16" name="Shape 14"/>
          <p:cNvSpPr/>
          <p:nvPr/>
        </p:nvSpPr>
        <p:spPr>
          <a:xfrm>
            <a:off x="640080" y="2779776"/>
            <a:ext cx="5272888" cy="777240"/>
          </a:xfrm>
          <a:prstGeom prst="rect">
            <a:avLst/>
          </a:prstGeom>
          <a:solidFill>
            <a:srgbClr val="FFFFFF"/>
          </a:solidFill>
          <a:ln w="12700">
            <a:solidFill>
              <a:srgbClr val="E4E7F2"/>
            </a:solidFill>
            <a:prstDash val="solid"/>
          </a:ln>
        </p:spPr>
      </p:sp>
      <p:sp>
        <p:nvSpPr>
          <p:cNvPr id="17" name="Shape 15"/>
          <p:cNvSpPr/>
          <p:nvPr/>
        </p:nvSpPr>
        <p:spPr>
          <a:xfrm>
            <a:off x="640080" y="2779776"/>
            <a:ext cx="68580" cy="777240"/>
          </a:xfrm>
          <a:prstGeom prst="rect">
            <a:avLst/>
          </a:prstGeom>
          <a:solidFill>
            <a:srgbClr val="6366F1"/>
          </a:solidFill>
          <a:ln/>
        </p:spPr>
      </p:sp>
      <p:sp>
        <p:nvSpPr>
          <p:cNvPr id="18" name="Text 16"/>
          <p:cNvSpPr/>
          <p:nvPr/>
        </p:nvSpPr>
        <p:spPr>
          <a:xfrm>
            <a:off x="804672" y="2834640"/>
            <a:ext cx="411480" cy="329184"/>
          </a:xfrm>
          <a:prstGeom prst="rect">
            <a:avLst/>
          </a:prstGeom>
          <a:noFill/>
          <a:ln/>
        </p:spPr>
        <p:txBody>
          <a:bodyPr wrap="square" rtlCol="0" anchor="ctr"/>
          <a:lstStyle/>
          <a:p>
            <a:pPr algn="ctr" indent="0" marL="0">
              <a:buNone/>
            </a:pPr>
            <a:r>
              <a:rPr lang="en-US" sz="1500" dirty="0">
                <a:solidFill>
                  <a:srgbClr val="000000"/>
                </a:solidFill>
                <a:latin typeface="Segoe UI" pitchFamily="34" charset="0"/>
                <a:ea typeface="Segoe UI" pitchFamily="34" charset="-122"/>
                <a:cs typeface="Segoe UI" pitchFamily="34" charset="-120"/>
              </a:rPr>
              <a:t>📇</a:t>
            </a:r>
            <a:endParaRPr lang="en-US" sz="1500" dirty="0"/>
          </a:p>
        </p:txBody>
      </p:sp>
      <p:sp>
        <p:nvSpPr>
          <p:cNvPr id="19" name="Text 17"/>
          <p:cNvSpPr/>
          <p:nvPr/>
        </p:nvSpPr>
        <p:spPr>
          <a:xfrm>
            <a:off x="1243584" y="2825496"/>
            <a:ext cx="4495648" cy="292608"/>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Put the contact list in the parent folder — with addresses that really receive mail</a:t>
            </a:r>
            <a:endParaRPr lang="en-US" sz="1250" dirty="0"/>
          </a:p>
        </p:txBody>
      </p:sp>
      <p:sp>
        <p:nvSpPr>
          <p:cNvPr id="20" name="Text 18"/>
          <p:cNvSpPr/>
          <p:nvPr/>
        </p:nvSpPr>
        <p:spPr>
          <a:xfrm>
            <a:off x="1243584" y="3099816"/>
            <a:ext cx="4495648" cy="411480"/>
          </a:xfrm>
          <a:prstGeom prst="rect">
            <a:avLst/>
          </a:prstGeom>
          <a:noFill/>
          <a:ln/>
        </p:spPr>
        <p:txBody>
          <a:bodyPr wrap="square" rtlCol="0" anchor="ctr"/>
          <a:lstStyle/>
          <a:p>
            <a:pPr indent="0" marL="0">
              <a:lnSpc>
                <a:spcPct val="112000"/>
              </a:lnSpc>
              <a:buNone/>
            </a:pPr>
            <a:r>
              <a:rPr lang="en-US" sz="1050" dirty="0">
                <a:solidFill>
                  <a:srgbClr val="5B6079"/>
                </a:solidFill>
                <a:latin typeface="Segoe UI" pitchFamily="34" charset="0"/>
                <a:ea typeface="Segoe UI" pitchFamily="34" charset="-122"/>
                <a:cs typeface="Segoe UI" pitchFamily="34" charset="-120"/>
              </a:rPr>
              <a:t>Contact_List.md belongs in the AirlineEngineering parent…</a:t>
            </a:r>
            <a:endParaRPr lang="en-US" sz="1050" dirty="0"/>
          </a:p>
        </p:txBody>
      </p:sp>
      <p:sp>
        <p:nvSpPr>
          <p:cNvPr id="21" name="Shape 19"/>
          <p:cNvSpPr/>
          <p:nvPr/>
        </p:nvSpPr>
        <p:spPr>
          <a:xfrm>
            <a:off x="6278728" y="2779776"/>
            <a:ext cx="5272888" cy="777240"/>
          </a:xfrm>
          <a:prstGeom prst="rect">
            <a:avLst/>
          </a:prstGeom>
          <a:solidFill>
            <a:srgbClr val="FFFFFF"/>
          </a:solidFill>
          <a:ln w="12700">
            <a:solidFill>
              <a:srgbClr val="E4E7F2"/>
            </a:solidFill>
            <a:prstDash val="solid"/>
          </a:ln>
        </p:spPr>
      </p:sp>
      <p:sp>
        <p:nvSpPr>
          <p:cNvPr id="22" name="Shape 20"/>
          <p:cNvSpPr/>
          <p:nvPr/>
        </p:nvSpPr>
        <p:spPr>
          <a:xfrm>
            <a:off x="6278728" y="2779776"/>
            <a:ext cx="68580" cy="777240"/>
          </a:xfrm>
          <a:prstGeom prst="rect">
            <a:avLst/>
          </a:prstGeom>
          <a:solidFill>
            <a:srgbClr val="6366F1"/>
          </a:solidFill>
          <a:ln/>
        </p:spPr>
      </p:sp>
      <p:sp>
        <p:nvSpPr>
          <p:cNvPr id="23" name="Text 21"/>
          <p:cNvSpPr/>
          <p:nvPr/>
        </p:nvSpPr>
        <p:spPr>
          <a:xfrm>
            <a:off x="6443320" y="2834640"/>
            <a:ext cx="411480" cy="329184"/>
          </a:xfrm>
          <a:prstGeom prst="rect">
            <a:avLst/>
          </a:prstGeom>
          <a:noFill/>
          <a:ln/>
        </p:spPr>
        <p:txBody>
          <a:bodyPr wrap="square" rtlCol="0" anchor="ctr"/>
          <a:lstStyle/>
          <a:p>
            <a:pPr algn="ctr" indent="0" marL="0">
              <a:buNone/>
            </a:pPr>
            <a:r>
              <a:rPr lang="en-US" sz="1500" dirty="0">
                <a:solidFill>
                  <a:srgbClr val="000000"/>
                </a:solidFill>
                <a:latin typeface="Segoe UI" pitchFamily="34" charset="0"/>
                <a:ea typeface="Segoe UI" pitchFamily="34" charset="-122"/>
                <a:cs typeface="Segoe UI" pitchFamily="34" charset="-120"/>
              </a:rPr>
              <a:t>📧</a:t>
            </a:r>
            <a:endParaRPr lang="en-US" sz="1500" dirty="0"/>
          </a:p>
        </p:txBody>
      </p:sp>
      <p:sp>
        <p:nvSpPr>
          <p:cNvPr id="24" name="Text 22"/>
          <p:cNvSpPr/>
          <p:nvPr/>
        </p:nvSpPr>
        <p:spPr>
          <a:xfrm>
            <a:off x="6882232" y="2825496"/>
            <a:ext cx="4495648" cy="292608"/>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Send yourself one email — the background for scenario 4</a:t>
            </a:r>
            <a:endParaRPr lang="en-US" sz="1250" dirty="0"/>
          </a:p>
        </p:txBody>
      </p:sp>
      <p:sp>
        <p:nvSpPr>
          <p:cNvPr id="25" name="Text 23"/>
          <p:cNvSpPr/>
          <p:nvPr/>
        </p:nvSpPr>
        <p:spPr>
          <a:xfrm>
            <a:off x="6882232" y="3099816"/>
            <a:ext cx="4495648" cy="411480"/>
          </a:xfrm>
          <a:prstGeom prst="rect">
            <a:avLst/>
          </a:prstGeom>
          <a:noFill/>
          <a:ln/>
        </p:spPr>
        <p:txBody>
          <a:bodyPr wrap="square" rtlCol="0" anchor="ctr"/>
          <a:lstStyle/>
          <a:p>
            <a:pPr indent="0" marL="0">
              <a:lnSpc>
                <a:spcPct val="112000"/>
              </a:lnSpc>
              <a:buNone/>
            </a:pPr>
            <a:r>
              <a:rPr lang="en-US" sz="1050" dirty="0">
                <a:solidFill>
                  <a:srgbClr val="5B6079"/>
                </a:solidFill>
                <a:latin typeface="Segoe UI" pitchFamily="34" charset="0"/>
                <a:ea typeface="Segoe UI" pitchFamily="34" charset="-122"/>
                <a:cs typeface="Segoe UI" pitchFamily="34" charset="-120"/>
              </a:rPr>
              <a:t>Send it to yourself from your own account, copying the s…</a:t>
            </a:r>
            <a:endParaRPr lang="en-US" sz="1050" dirty="0"/>
          </a:p>
        </p:txBody>
      </p:sp>
      <p:sp>
        <p:nvSpPr>
          <p:cNvPr id="26" name="Shape 24"/>
          <p:cNvSpPr/>
          <p:nvPr/>
        </p:nvSpPr>
        <p:spPr>
          <a:xfrm>
            <a:off x="640080" y="3685032"/>
            <a:ext cx="5272888" cy="777240"/>
          </a:xfrm>
          <a:prstGeom prst="rect">
            <a:avLst/>
          </a:prstGeom>
          <a:solidFill>
            <a:srgbClr val="FFFFFF"/>
          </a:solidFill>
          <a:ln w="12700">
            <a:solidFill>
              <a:srgbClr val="E4E7F2"/>
            </a:solidFill>
            <a:prstDash val="solid"/>
          </a:ln>
        </p:spPr>
      </p:sp>
      <p:sp>
        <p:nvSpPr>
          <p:cNvPr id="27" name="Shape 25"/>
          <p:cNvSpPr/>
          <p:nvPr/>
        </p:nvSpPr>
        <p:spPr>
          <a:xfrm>
            <a:off x="640080" y="3685032"/>
            <a:ext cx="68580" cy="777240"/>
          </a:xfrm>
          <a:prstGeom prst="rect">
            <a:avLst/>
          </a:prstGeom>
          <a:solidFill>
            <a:srgbClr val="6366F1"/>
          </a:solidFill>
          <a:ln/>
        </p:spPr>
      </p:sp>
      <p:sp>
        <p:nvSpPr>
          <p:cNvPr id="28" name="Text 26"/>
          <p:cNvSpPr/>
          <p:nvPr/>
        </p:nvSpPr>
        <p:spPr>
          <a:xfrm>
            <a:off x="804672" y="3739896"/>
            <a:ext cx="411480" cy="329184"/>
          </a:xfrm>
          <a:prstGeom prst="rect">
            <a:avLst/>
          </a:prstGeom>
          <a:noFill/>
          <a:ln/>
        </p:spPr>
        <p:txBody>
          <a:bodyPr wrap="square" rtlCol="0" anchor="ctr"/>
          <a:lstStyle/>
          <a:p>
            <a:pPr algn="ctr" indent="0" marL="0">
              <a:buNone/>
            </a:pPr>
            <a:r>
              <a:rPr lang="en-US" sz="1500" dirty="0">
                <a:solidFill>
                  <a:srgbClr val="000000"/>
                </a:solidFill>
                <a:latin typeface="Segoe UI" pitchFamily="34" charset="0"/>
                <a:ea typeface="Segoe UI" pitchFamily="34" charset="-122"/>
                <a:cs typeface="Segoe UI" pitchFamily="34" charset="-120"/>
              </a:rPr>
              <a:t>💬</a:t>
            </a:r>
            <a:endParaRPr lang="en-US" sz="1500" dirty="0"/>
          </a:p>
        </p:txBody>
      </p:sp>
      <p:sp>
        <p:nvSpPr>
          <p:cNvPr id="29" name="Text 27"/>
          <p:cNvSpPr/>
          <p:nvPr/>
        </p:nvSpPr>
        <p:spPr>
          <a:xfrm>
            <a:off x="1243584" y="3730752"/>
            <a:ext cx="4495648" cy="292608"/>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Create the maintenance channel and post the first message (scenario 4)</a:t>
            </a:r>
            <a:endParaRPr lang="en-US" sz="1250" dirty="0"/>
          </a:p>
        </p:txBody>
      </p:sp>
      <p:sp>
        <p:nvSpPr>
          <p:cNvPr id="30" name="Text 28"/>
          <p:cNvSpPr/>
          <p:nvPr/>
        </p:nvSpPr>
        <p:spPr>
          <a:xfrm>
            <a:off x="1243584" y="4005072"/>
            <a:ext cx="4495648" cy="411480"/>
          </a:xfrm>
          <a:prstGeom prst="rect">
            <a:avLst/>
          </a:prstGeom>
          <a:noFill/>
          <a:ln/>
        </p:spPr>
        <p:txBody>
          <a:bodyPr wrap="square" rtlCol="0" anchor="ctr"/>
          <a:lstStyle/>
          <a:p>
            <a:pPr indent="0" marL="0">
              <a:lnSpc>
                <a:spcPct val="112000"/>
              </a:lnSpc>
              <a:buNone/>
            </a:pPr>
            <a:r>
              <a:rPr lang="en-US" sz="1050" dirty="0">
                <a:solidFill>
                  <a:srgbClr val="5B6079"/>
                </a:solidFill>
                <a:latin typeface="Segoe UI" pitchFamily="34" charset="0"/>
                <a:ea typeface="Segoe UI" pitchFamily="34" charset="-122"/>
                <a:cs typeface="Segoe UI" pitchFamily="34" charset="-120"/>
              </a:rPr>
              <a:t>Create a channel called Maintenance Alerts in any team y…</a:t>
            </a:r>
            <a:endParaRPr lang="en-US" sz="1050" dirty="0"/>
          </a:p>
        </p:txBody>
      </p:sp>
      <p:sp>
        <p:nvSpPr>
          <p:cNvPr id="31" name="Shape 29"/>
          <p:cNvSpPr/>
          <p:nvPr/>
        </p:nvSpPr>
        <p:spPr>
          <a:xfrm>
            <a:off x="6278728" y="3685032"/>
            <a:ext cx="5272888" cy="777240"/>
          </a:xfrm>
          <a:prstGeom prst="rect">
            <a:avLst/>
          </a:prstGeom>
          <a:solidFill>
            <a:srgbClr val="FFFFFF"/>
          </a:solidFill>
          <a:ln w="12700">
            <a:solidFill>
              <a:srgbClr val="E4E7F2"/>
            </a:solidFill>
            <a:prstDash val="solid"/>
          </a:ln>
        </p:spPr>
      </p:sp>
      <p:sp>
        <p:nvSpPr>
          <p:cNvPr id="32" name="Shape 30"/>
          <p:cNvSpPr/>
          <p:nvPr/>
        </p:nvSpPr>
        <p:spPr>
          <a:xfrm>
            <a:off x="6278728" y="3685032"/>
            <a:ext cx="68580" cy="777240"/>
          </a:xfrm>
          <a:prstGeom prst="rect">
            <a:avLst/>
          </a:prstGeom>
          <a:solidFill>
            <a:srgbClr val="6366F1"/>
          </a:solidFill>
          <a:ln/>
        </p:spPr>
      </p:sp>
      <p:sp>
        <p:nvSpPr>
          <p:cNvPr id="33" name="Text 31"/>
          <p:cNvSpPr/>
          <p:nvPr/>
        </p:nvSpPr>
        <p:spPr>
          <a:xfrm>
            <a:off x="6443320" y="3739896"/>
            <a:ext cx="411480" cy="329184"/>
          </a:xfrm>
          <a:prstGeom prst="rect">
            <a:avLst/>
          </a:prstGeom>
          <a:noFill/>
          <a:ln/>
        </p:spPr>
        <p:txBody>
          <a:bodyPr wrap="square" rtlCol="0" anchor="ctr"/>
          <a:lstStyle/>
          <a:p>
            <a:pPr algn="ctr" indent="0" marL="0">
              <a:buNone/>
            </a:pPr>
            <a:r>
              <a:rPr lang="en-US" sz="1500" dirty="0">
                <a:solidFill>
                  <a:srgbClr val="000000"/>
                </a:solidFill>
                <a:latin typeface="Segoe UI" pitchFamily="34" charset="0"/>
                <a:ea typeface="Segoe UI" pitchFamily="34" charset="-122"/>
                <a:cs typeface="Segoe UI" pitchFamily="34" charset="-120"/>
              </a:rPr>
              <a:t>💾</a:t>
            </a:r>
            <a:endParaRPr lang="en-US" sz="1500" dirty="0"/>
          </a:p>
        </p:txBody>
      </p:sp>
      <p:sp>
        <p:nvSpPr>
          <p:cNvPr id="34" name="Text 32"/>
          <p:cNvSpPr/>
          <p:nvPr/>
        </p:nvSpPr>
        <p:spPr>
          <a:xfrm>
            <a:off x="6882232" y="3730752"/>
            <a:ext cx="4495648" cy="292608"/>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Download the two files in 上傳用/ to your PC — do not put them in OneDrive</a:t>
            </a:r>
            <a:endParaRPr lang="en-US" sz="1250" dirty="0"/>
          </a:p>
        </p:txBody>
      </p:sp>
      <p:sp>
        <p:nvSpPr>
          <p:cNvPr id="35" name="Text 33"/>
          <p:cNvSpPr/>
          <p:nvPr/>
        </p:nvSpPr>
        <p:spPr>
          <a:xfrm>
            <a:off x="6882232" y="4005072"/>
            <a:ext cx="4495648" cy="411480"/>
          </a:xfrm>
          <a:prstGeom prst="rect">
            <a:avLst/>
          </a:prstGeom>
          <a:noFill/>
          <a:ln/>
        </p:spPr>
        <p:txBody>
          <a:bodyPr wrap="square" rtlCol="0" anchor="ctr"/>
          <a:lstStyle/>
          <a:p>
            <a:pPr indent="0" marL="0">
              <a:lnSpc>
                <a:spcPct val="112000"/>
              </a:lnSpc>
              <a:buNone/>
            </a:pPr>
            <a:r>
              <a:rPr lang="en-US" sz="1050" dirty="0">
                <a:solidFill>
                  <a:srgbClr val="5B6079"/>
                </a:solidFill>
                <a:latin typeface="Segoe UI" pitchFamily="34" charset="0"/>
                <a:ea typeface="Segoe UI" pitchFamily="34" charset="-122"/>
                <a:cs typeface="Segoe UI" pitchFamily="34" charset="-120"/>
              </a:rPr>
              <a:t>AIR5_Service_Bulletin_NW350-28-1142.pdf (scenario 5) and…</a:t>
            </a:r>
            <a:endParaRPr lang="en-US" sz="1050" dirty="0"/>
          </a:p>
        </p:txBody>
      </p:sp>
      <p:sp>
        <p:nvSpPr>
          <p:cNvPr id="36" name="Shape 34"/>
          <p:cNvSpPr/>
          <p:nvPr/>
        </p:nvSpPr>
        <p:spPr>
          <a:xfrm>
            <a:off x="640080" y="4590288"/>
            <a:ext cx="5272888" cy="777240"/>
          </a:xfrm>
          <a:prstGeom prst="rect">
            <a:avLst/>
          </a:prstGeom>
          <a:solidFill>
            <a:srgbClr val="FFFFFF"/>
          </a:solidFill>
          <a:ln w="12700">
            <a:solidFill>
              <a:srgbClr val="E4E7F2"/>
            </a:solidFill>
            <a:prstDash val="solid"/>
          </a:ln>
        </p:spPr>
      </p:sp>
      <p:sp>
        <p:nvSpPr>
          <p:cNvPr id="37" name="Shape 35"/>
          <p:cNvSpPr/>
          <p:nvPr/>
        </p:nvSpPr>
        <p:spPr>
          <a:xfrm>
            <a:off x="640080" y="4590288"/>
            <a:ext cx="68580" cy="777240"/>
          </a:xfrm>
          <a:prstGeom prst="rect">
            <a:avLst/>
          </a:prstGeom>
          <a:solidFill>
            <a:srgbClr val="6366F1"/>
          </a:solidFill>
          <a:ln/>
        </p:spPr>
      </p:sp>
      <p:sp>
        <p:nvSpPr>
          <p:cNvPr id="38" name="Text 36"/>
          <p:cNvSpPr/>
          <p:nvPr/>
        </p:nvSpPr>
        <p:spPr>
          <a:xfrm>
            <a:off x="804672" y="4645152"/>
            <a:ext cx="411480" cy="329184"/>
          </a:xfrm>
          <a:prstGeom prst="rect">
            <a:avLst/>
          </a:prstGeom>
          <a:noFill/>
          <a:ln/>
        </p:spPr>
        <p:txBody>
          <a:bodyPr wrap="square" rtlCol="0" anchor="ctr"/>
          <a:lstStyle/>
          <a:p>
            <a:pPr algn="ctr" indent="0" marL="0">
              <a:buNone/>
            </a:pPr>
            <a:r>
              <a:rPr lang="en-US" sz="1500" dirty="0">
                <a:solidFill>
                  <a:srgbClr val="000000"/>
                </a:solidFill>
                <a:latin typeface="Segoe UI" pitchFamily="34" charset="0"/>
                <a:ea typeface="Segoe UI" pitchFamily="34" charset="-122"/>
                <a:cs typeface="Segoe UI" pitchFamily="34" charset="-120"/>
              </a:rPr>
              <a:t>🧩</a:t>
            </a:r>
            <a:endParaRPr lang="en-US" sz="1500" dirty="0"/>
          </a:p>
        </p:txBody>
      </p:sp>
      <p:sp>
        <p:nvSpPr>
          <p:cNvPr id="39" name="Text 37"/>
          <p:cNvSpPr/>
          <p:nvPr/>
        </p:nvSpPr>
        <p:spPr>
          <a:xfrm>
            <a:off x="1243584" y="4636008"/>
            <a:ext cx="4495648" cy="292608"/>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Check the skills path is writable, and do scenario 7 on desktop</a:t>
            </a:r>
            <a:endParaRPr lang="en-US" sz="1250" dirty="0"/>
          </a:p>
        </p:txBody>
      </p:sp>
      <p:sp>
        <p:nvSpPr>
          <p:cNvPr id="40" name="Text 38"/>
          <p:cNvSpPr/>
          <p:nvPr/>
        </p:nvSpPr>
        <p:spPr>
          <a:xfrm>
            <a:off x="1243584" y="4910328"/>
            <a:ext cx="4495648" cy="411480"/>
          </a:xfrm>
          <a:prstGeom prst="rect">
            <a:avLst/>
          </a:prstGeom>
          <a:noFill/>
          <a:ln/>
        </p:spPr>
        <p:txBody>
          <a:bodyPr wrap="square" rtlCol="0" anchor="ctr"/>
          <a:lstStyle/>
          <a:p>
            <a:pPr indent="0" marL="0">
              <a:lnSpc>
                <a:spcPct val="112000"/>
              </a:lnSpc>
              <a:buNone/>
            </a:pPr>
            <a:r>
              <a:rPr lang="en-US" sz="1050" dirty="0">
                <a:solidFill>
                  <a:srgbClr val="5B6079"/>
                </a:solidFill>
                <a:latin typeface="Segoe UI" pitchFamily="34" charset="0"/>
                <a:ea typeface="Segoe UI" pitchFamily="34" charset="-122"/>
                <a:cs typeface="Segoe UI" pitchFamily="34" charset="-120"/>
              </a:rPr>
              <a:t>Scenario 7 has Cowork create a custom skill at OneDrive/…</a:t>
            </a:r>
            <a:endParaRPr lang="en-US" sz="1050" dirty="0"/>
          </a:p>
        </p:txBody>
      </p:sp>
      <p:sp>
        <p:nvSpPr>
          <p:cNvPr id="41" name="Shape 39"/>
          <p:cNvSpPr/>
          <p:nvPr/>
        </p:nvSpPr>
        <p:spPr>
          <a:xfrm>
            <a:off x="640080" y="5532120"/>
            <a:ext cx="10911535" cy="749808"/>
          </a:xfrm>
          <a:prstGeom prst="rect">
            <a:avLst/>
          </a:prstGeom>
          <a:solidFill>
            <a:srgbClr val="FFFFFF"/>
          </a:solidFill>
          <a:ln w="12700">
            <a:solidFill>
              <a:srgbClr val="E4E7F2"/>
            </a:solidFill>
            <a:prstDash val="solid"/>
          </a:ln>
        </p:spPr>
      </p:sp>
      <p:sp>
        <p:nvSpPr>
          <p:cNvPr id="42" name="Shape 40"/>
          <p:cNvSpPr/>
          <p:nvPr/>
        </p:nvSpPr>
        <p:spPr>
          <a:xfrm>
            <a:off x="640080" y="5532120"/>
            <a:ext cx="91440" cy="749808"/>
          </a:xfrm>
          <a:prstGeom prst="rect">
            <a:avLst/>
          </a:prstGeom>
          <a:solidFill>
            <a:srgbClr val="6366F1"/>
          </a:solidFill>
          <a:ln/>
        </p:spPr>
      </p:sp>
      <p:sp>
        <p:nvSpPr>
          <p:cNvPr id="43" name="Text 41"/>
          <p:cNvSpPr/>
          <p:nvPr/>
        </p:nvSpPr>
        <p:spPr>
          <a:xfrm>
            <a:off x="914400" y="5614416"/>
            <a:ext cx="1828800" cy="274320"/>
          </a:xfrm>
          <a:prstGeom prst="rect">
            <a:avLst/>
          </a:prstGeom>
          <a:noFill/>
          <a:ln/>
        </p:spPr>
        <p:txBody>
          <a:bodyPr wrap="square" rtlCol="0" anchor="ctr"/>
          <a:lstStyle/>
          <a:p>
            <a:pPr indent="0" marL="0">
              <a:buNone/>
            </a:pPr>
            <a:r>
              <a:rPr lang="en-US" sz="1200" b="1" dirty="0">
                <a:solidFill>
                  <a:srgbClr val="1E2235"/>
                </a:solidFill>
                <a:latin typeface="Segoe UI" pitchFamily="34" charset="0"/>
                <a:ea typeface="Segoe UI" pitchFamily="34" charset="-122"/>
                <a:cs typeface="Segoe UI" pitchFamily="34" charset="-120"/>
              </a:rPr>
              <a:t>Final check before the session</a:t>
            </a:r>
            <a:endParaRPr lang="en-US" sz="1200" dirty="0"/>
          </a:p>
        </p:txBody>
      </p:sp>
      <p:pic>
        <p:nvPicPr>
          <p:cNvPr id="44" name="Image 0" descr="preencoded.png">    </p:cNvPr>
          <p:cNvPicPr>
            <a:picLocks noChangeAspect="1"/>
          </p:cNvPicPr>
          <p:nvPr/>
        </p:nvPicPr>
        <p:blipFill>
          <a:blip r:embed="rId1"/>
          <a:stretch>
            <a:fillRect/>
          </a:stretch>
        </p:blipFill>
        <p:spPr>
          <a:xfrm>
            <a:off x="2743200" y="5641848"/>
            <a:ext cx="155448" cy="155448"/>
          </a:xfrm>
          <a:prstGeom prst="rect">
            <a:avLst/>
          </a:prstGeom>
        </p:spPr>
      </p:pic>
      <p:sp>
        <p:nvSpPr>
          <p:cNvPr id="45" name="Text 42"/>
          <p:cNvSpPr/>
          <p:nvPr/>
        </p:nvSpPr>
        <p:spPr>
          <a:xfrm>
            <a:off x="2999232" y="5586984"/>
            <a:ext cx="8259775" cy="237744"/>
          </a:xfrm>
          <a:prstGeom prst="rect">
            <a:avLst/>
          </a:prstGeom>
          <a:noFill/>
          <a:ln/>
        </p:spPr>
        <p:txBody>
          <a:bodyPr wrap="square" rtlCol="0" anchor="ctr"/>
          <a:lstStyle/>
          <a:p>
            <a:pPr indent="0" marL="0">
              <a:buNone/>
            </a:pPr>
            <a:r>
              <a:rPr lang="en-US" sz="1050" dirty="0">
                <a:solidFill>
                  <a:srgbClr val="1E2235"/>
                </a:solidFill>
                <a:latin typeface="Segoe UI" pitchFamily="34" charset="0"/>
                <a:ea typeface="Segoe UI" pitchFamily="34" charset="-122"/>
                <a:cs typeface="Segoe UI" pitchFamily="34" charset="-120"/>
              </a:rPr>
              <a:t>All seven subfolders under AirlineEngineering exist in OneDrive and the files open</a:t>
            </a:r>
            <a:endParaRPr lang="en-US" sz="1050" dirty="0"/>
          </a:p>
        </p:txBody>
      </p:sp>
      <p:pic>
        <p:nvPicPr>
          <p:cNvPr id="46" name="Image 1" descr="preencoded.png">    </p:cNvPr>
          <p:cNvPicPr>
            <a:picLocks noChangeAspect="1"/>
          </p:cNvPicPr>
          <p:nvPr/>
        </p:nvPicPr>
        <p:blipFill>
          <a:blip r:embed="rId2"/>
          <a:stretch>
            <a:fillRect/>
          </a:stretch>
        </p:blipFill>
        <p:spPr>
          <a:xfrm>
            <a:off x="2743200" y="5852160"/>
            <a:ext cx="155448" cy="155448"/>
          </a:xfrm>
          <a:prstGeom prst="rect">
            <a:avLst/>
          </a:prstGeom>
        </p:spPr>
      </p:pic>
      <p:sp>
        <p:nvSpPr>
          <p:cNvPr id="47" name="Text 43"/>
          <p:cNvSpPr/>
          <p:nvPr/>
        </p:nvSpPr>
        <p:spPr>
          <a:xfrm>
            <a:off x="2999232" y="5797296"/>
            <a:ext cx="8259775" cy="237744"/>
          </a:xfrm>
          <a:prstGeom prst="rect">
            <a:avLst/>
          </a:prstGeom>
          <a:noFill/>
          <a:ln/>
        </p:spPr>
        <p:txBody>
          <a:bodyPr wrap="square" rtlCol="0" anchor="ctr"/>
          <a:lstStyle/>
          <a:p>
            <a:pPr indent="0" marL="0">
              <a:buNone/>
            </a:pPr>
            <a:r>
              <a:rPr lang="en-US" sz="1050" dirty="0">
                <a:solidFill>
                  <a:srgbClr val="1E2235"/>
                </a:solidFill>
                <a:latin typeface="Segoe UI" pitchFamily="34" charset="0"/>
                <a:ea typeface="Segoe UI" pitchFamily="34" charset="-122"/>
                <a:cs typeface="Segoe UI" pitchFamily="34" charset="-120"/>
              </a:rPr>
              <a:t>The contact list sits in the AirlineEngineering parent folder, not inside a subfolder, and the email column contains addresses that actually receive mail</a:t>
            </a:r>
            <a:endParaRPr lang="en-US" sz="1050" dirty="0"/>
          </a:p>
        </p:txBody>
      </p:sp>
      <p:pic>
        <p:nvPicPr>
          <p:cNvPr id="48" name="Image 2" descr="preencoded.png">    </p:cNvPr>
          <p:cNvPicPr>
            <a:picLocks noChangeAspect="1"/>
          </p:cNvPicPr>
          <p:nvPr/>
        </p:nvPicPr>
        <p:blipFill>
          <a:blip r:embed="rId3"/>
          <a:stretch>
            <a:fillRect/>
          </a:stretch>
        </p:blipFill>
        <p:spPr>
          <a:xfrm>
            <a:off x="2743200" y="6062472"/>
            <a:ext cx="155448" cy="155448"/>
          </a:xfrm>
          <a:prstGeom prst="rect">
            <a:avLst/>
          </a:prstGeom>
        </p:spPr>
      </p:pic>
      <p:sp>
        <p:nvSpPr>
          <p:cNvPr id="49" name="Text 44"/>
          <p:cNvSpPr/>
          <p:nvPr/>
        </p:nvSpPr>
        <p:spPr>
          <a:xfrm>
            <a:off x="2999232" y="6007608"/>
            <a:ext cx="8259775" cy="237744"/>
          </a:xfrm>
          <a:prstGeom prst="rect">
            <a:avLst/>
          </a:prstGeom>
          <a:noFill/>
          <a:ln/>
        </p:spPr>
        <p:txBody>
          <a:bodyPr wrap="square" rtlCol="0" anchor="ctr"/>
          <a:lstStyle/>
          <a:p>
            <a:pPr indent="0" marL="0">
              <a:buNone/>
            </a:pPr>
            <a:r>
              <a:rPr lang="en-US" sz="1050" dirty="0">
                <a:solidFill>
                  <a:srgbClr val="1E2235"/>
                </a:solidFill>
                <a:latin typeface="Segoe UI" pitchFamily="34" charset="0"/>
                <a:ea typeface="Segoe UI" pitchFamily="34" charset="-122"/>
                <a:cs typeface="Segoe UI" pitchFamily="34" charset="-120"/>
              </a:rPr>
              <a:t>The MOC night shift handover note is in the inbox, not in junk</a:t>
            </a:r>
            <a:endParaRPr lang="en-US" sz="1050" dirty="0"/>
          </a:p>
        </p:txBody>
      </p:sp>
      <p:sp>
        <p:nvSpPr>
          <p:cNvPr id="50" name="Text 45"/>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51" name="Text 46"/>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6366F1"/>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6366F1"/>
                </a:solidFill>
                <a:latin typeface="Segoe UI" pitchFamily="34" charset="0"/>
                <a:ea typeface="Segoe UI" pitchFamily="34" charset="-122"/>
                <a:cs typeface="Segoe UI" pitchFamily="34" charset="-120"/>
              </a:rPr>
              <a:t>7 SCENARIOS</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Seven hands-on scenarios</a:t>
            </a:r>
            <a:endParaRPr lang="en-US" sz="3000" dirty="0"/>
          </a:p>
        </p:txBody>
      </p:sp>
      <p:sp>
        <p:nvSpPr>
          <p:cNvPr id="5" name="Shape 3"/>
          <p:cNvSpPr/>
          <p:nvPr/>
        </p:nvSpPr>
        <p:spPr>
          <a:xfrm>
            <a:off x="640080" y="1828800"/>
            <a:ext cx="1355010" cy="3794760"/>
          </a:xfrm>
          <a:prstGeom prst="rect">
            <a:avLst/>
          </a:prstGeom>
          <a:solidFill>
            <a:srgbClr val="FFFFFF"/>
          </a:solidFill>
          <a:ln w="12700">
            <a:solidFill>
              <a:srgbClr val="E4E7F2"/>
            </a:solidFill>
            <a:prstDash val="solid"/>
          </a:ln>
          <a:effectLst>
            <a:outerShdw sx="100000" sy="100000" kx="0" ky="0" algn="bl" rotWithShape="0" blurRad="88900" dist="25400" dir="5400000">
              <a:srgbClr val="9AA0C0">
                <a:alpha val="16000"/>
              </a:srgbClr>
            </a:outerShdw>
          </a:effectLst>
        </p:spPr>
      </p:sp>
      <p:sp>
        <p:nvSpPr>
          <p:cNvPr id="6" name="Shape 4"/>
          <p:cNvSpPr/>
          <p:nvPr/>
        </p:nvSpPr>
        <p:spPr>
          <a:xfrm>
            <a:off x="640080" y="1828800"/>
            <a:ext cx="1355010" cy="109728"/>
          </a:xfrm>
          <a:prstGeom prst="rect">
            <a:avLst/>
          </a:prstGeom>
          <a:solidFill>
            <a:srgbClr val="0E2A47"/>
          </a:solidFill>
          <a:ln/>
        </p:spPr>
      </p:sp>
      <p:sp>
        <p:nvSpPr>
          <p:cNvPr id="7" name="Shape 5"/>
          <p:cNvSpPr/>
          <p:nvPr/>
        </p:nvSpPr>
        <p:spPr>
          <a:xfrm>
            <a:off x="860385" y="2194560"/>
            <a:ext cx="914400" cy="914400"/>
          </a:xfrm>
          <a:prstGeom prst="ellipse">
            <a:avLst/>
          </a:prstGeom>
          <a:solidFill>
            <a:srgbClr val="0E2A47"/>
          </a:solidFill>
          <a:ln/>
        </p:spPr>
      </p:sp>
      <p:pic>
        <p:nvPicPr>
          <p:cNvPr id="8" name="Image 0" descr="preencoded.png">    </p:cNvPr>
          <p:cNvPicPr>
            <a:picLocks noChangeAspect="1"/>
          </p:cNvPicPr>
          <p:nvPr/>
        </p:nvPicPr>
        <p:blipFill>
          <a:blip r:embed="rId1"/>
          <a:stretch>
            <a:fillRect/>
          </a:stretch>
        </p:blipFill>
        <p:spPr>
          <a:xfrm>
            <a:off x="1061553" y="2395728"/>
            <a:ext cx="512064" cy="512064"/>
          </a:xfrm>
          <a:prstGeom prst="rect">
            <a:avLst/>
          </a:prstGeom>
        </p:spPr>
      </p:pic>
      <p:sp>
        <p:nvSpPr>
          <p:cNvPr id="9" name="Text 6"/>
          <p:cNvSpPr/>
          <p:nvPr/>
        </p:nvSpPr>
        <p:spPr>
          <a:xfrm>
            <a:off x="731520" y="3163824"/>
            <a:ext cx="1172130" cy="296189"/>
          </a:xfrm>
          <a:prstGeom prst="rect">
            <a:avLst/>
          </a:prstGeom>
          <a:noFill/>
          <a:ln/>
        </p:spPr>
        <p:txBody>
          <a:bodyPr wrap="square" rtlCol="0" anchor="t"/>
          <a:lstStyle/>
          <a:p>
            <a:pPr algn="ctr" indent="0" marL="0">
              <a:buNone/>
            </a:pPr>
            <a:r>
              <a:rPr lang="en-US" sz="897" b="1" dirty="0">
                <a:solidFill>
                  <a:srgbClr val="0E2A47"/>
                </a:solidFill>
                <a:latin typeface="Segoe UI" pitchFamily="34" charset="0"/>
                <a:ea typeface="Segoe UI" pitchFamily="34" charset="-122"/>
                <a:cs typeface="Segoe UI" pitchFamily="34" charset="-120"/>
              </a:rPr>
              <a:t>Airline · Engineering</a:t>
            </a:r>
            <a:endParaRPr lang="en-US" sz="897" dirty="0"/>
          </a:p>
        </p:txBody>
      </p:sp>
      <p:sp>
        <p:nvSpPr>
          <p:cNvPr id="10" name="Text 7"/>
          <p:cNvSpPr/>
          <p:nvPr/>
        </p:nvSpPr>
        <p:spPr>
          <a:xfrm>
            <a:off x="731520" y="3514877"/>
            <a:ext cx="1172130" cy="965835"/>
          </a:xfrm>
          <a:prstGeom prst="rect">
            <a:avLst/>
          </a:prstGeom>
          <a:noFill/>
          <a:ln/>
        </p:spPr>
        <p:txBody>
          <a:bodyPr wrap="square" rtlCol="0" anchor="t"/>
          <a:lstStyle/>
          <a:p>
            <a:pPr algn="ctr" indent="0" marL="0">
              <a:buNone/>
            </a:pPr>
            <a:r>
              <a:rPr lang="en-US" sz="1170" b="1" dirty="0">
                <a:solidFill>
                  <a:srgbClr val="1E2235"/>
                </a:solidFill>
                <a:latin typeface="Segoe UI" pitchFamily="34" charset="0"/>
                <a:ea typeface="Segoe UI" pitchFamily="34" charset="-122"/>
                <a:cs typeface="Segoe UI" pitchFamily="34" charset="-120"/>
              </a:rPr>
              <a:t>The AD Radar: the Smallest Number Is Not the Nearest Deadline</a:t>
            </a:r>
            <a:endParaRPr lang="en-US" sz="1170" dirty="0"/>
          </a:p>
        </p:txBody>
      </p:sp>
      <p:sp>
        <p:nvSpPr>
          <p:cNvPr id="11" name="Text 8"/>
          <p:cNvSpPr/>
          <p:nvPr/>
        </p:nvSpPr>
        <p:spPr>
          <a:xfrm>
            <a:off x="731520" y="4563008"/>
            <a:ext cx="1172130" cy="463601"/>
          </a:xfrm>
          <a:prstGeom prst="rect">
            <a:avLst/>
          </a:prstGeom>
          <a:noFill/>
          <a:ln/>
        </p:spPr>
        <p:txBody>
          <a:bodyPr wrap="square" rtlCol="0" anchor="t"/>
          <a:lstStyle/>
          <a:p>
            <a:pPr algn="ctr" indent="0" marL="0">
              <a:lnSpc>
                <a:spcPct val="105000"/>
              </a:lnSpc>
              <a:buNone/>
            </a:pPr>
            <a:r>
              <a:rPr lang="en-US" sz="936" dirty="0">
                <a:solidFill>
                  <a:srgbClr val="5B6079"/>
                </a:solidFill>
                <a:latin typeface="Segoe UI" pitchFamily="34" charset="0"/>
                <a:ea typeface="Segoe UI" pitchFamily="34" charset="-122"/>
                <a:cs typeface="Segoe UI" pitchFamily="34" charset="-120"/>
              </a:rPr>
              <a:t>Daily Briefing · Excel · Scheduled prompt</a:t>
            </a:r>
            <a:endParaRPr lang="en-US" sz="936" dirty="0"/>
          </a:p>
        </p:txBody>
      </p:sp>
      <p:sp>
        <p:nvSpPr>
          <p:cNvPr id="12" name="Text 9"/>
          <p:cNvSpPr/>
          <p:nvPr/>
        </p:nvSpPr>
        <p:spPr>
          <a:xfrm>
            <a:off x="731520" y="5108905"/>
            <a:ext cx="1172130" cy="283312"/>
          </a:xfrm>
          <a:prstGeom prst="rect">
            <a:avLst/>
          </a:prstGeom>
          <a:noFill/>
          <a:ln/>
        </p:spPr>
        <p:txBody>
          <a:bodyPr wrap="square" rtlCol="0" anchor="t"/>
          <a:lstStyle/>
          <a:p>
            <a:pPr algn="ctr" indent="0" marL="0">
              <a:buNone/>
            </a:pPr>
            <a:r>
              <a:rPr lang="en-US" sz="858" dirty="0">
                <a:solidFill>
                  <a:srgbClr val="9AA0C0"/>
                </a:solidFill>
                <a:latin typeface="Segoe UI" pitchFamily="34" charset="0"/>
                <a:ea typeface="Segoe UI" pitchFamily="34" charset="-122"/>
                <a:cs typeface="Segoe UI" pitchFamily="34" charset="-120"/>
              </a:rPr>
              <a:t>~15 min</a:t>
            </a:r>
            <a:endParaRPr lang="en-US" sz="858" dirty="0"/>
          </a:p>
          <a:p>
            <a:pPr algn="ctr" indent="0" marL="0">
              <a:buNone/>
            </a:pPr>
            <a:r>
              <a:rPr lang="en-US" sz="858" dirty="0">
                <a:solidFill>
                  <a:srgbClr val="9AA0C0"/>
                </a:solidFill>
                <a:latin typeface="Segoe UI" pitchFamily="34" charset="0"/>
                <a:ea typeface="Segoe UI" pitchFamily="34" charset="-122"/>
                <a:cs typeface="Segoe UI" pitchFamily="34" charset="-120"/>
              </a:rPr>
              <a:t> ★★☆</a:t>
            </a:r>
            <a:endParaRPr lang="en-US" sz="858" dirty="0"/>
          </a:p>
        </p:txBody>
      </p:sp>
      <p:sp>
        <p:nvSpPr>
          <p:cNvPr id="13" name="Shape 10"/>
          <p:cNvSpPr/>
          <p:nvPr/>
        </p:nvSpPr>
        <p:spPr>
          <a:xfrm>
            <a:off x="2232834" y="1828800"/>
            <a:ext cx="1355010" cy="3794760"/>
          </a:xfrm>
          <a:prstGeom prst="rect">
            <a:avLst/>
          </a:prstGeom>
          <a:solidFill>
            <a:srgbClr val="FFFFFF"/>
          </a:solidFill>
          <a:ln w="12700">
            <a:solidFill>
              <a:srgbClr val="E4E7F2"/>
            </a:solidFill>
            <a:prstDash val="solid"/>
          </a:ln>
          <a:effectLst>
            <a:outerShdw sx="100000" sy="100000" kx="0" ky="0" algn="bl" rotWithShape="0" blurRad="88900" dist="25400" dir="5400000">
              <a:srgbClr val="9AA0C0">
                <a:alpha val="16000"/>
              </a:srgbClr>
            </a:outerShdw>
          </a:effectLst>
        </p:spPr>
      </p:sp>
      <p:sp>
        <p:nvSpPr>
          <p:cNvPr id="14" name="Shape 11"/>
          <p:cNvSpPr/>
          <p:nvPr/>
        </p:nvSpPr>
        <p:spPr>
          <a:xfrm>
            <a:off x="2232834" y="1828800"/>
            <a:ext cx="1355010" cy="109728"/>
          </a:xfrm>
          <a:prstGeom prst="rect">
            <a:avLst/>
          </a:prstGeom>
          <a:solidFill>
            <a:srgbClr val="0F5132"/>
          </a:solidFill>
          <a:ln/>
        </p:spPr>
      </p:sp>
      <p:sp>
        <p:nvSpPr>
          <p:cNvPr id="15" name="Shape 12"/>
          <p:cNvSpPr/>
          <p:nvPr/>
        </p:nvSpPr>
        <p:spPr>
          <a:xfrm>
            <a:off x="2453139" y="2194560"/>
            <a:ext cx="914400" cy="914400"/>
          </a:xfrm>
          <a:prstGeom prst="ellipse">
            <a:avLst/>
          </a:prstGeom>
          <a:solidFill>
            <a:srgbClr val="0F5132"/>
          </a:solidFill>
          <a:ln/>
        </p:spPr>
      </p:sp>
      <p:pic>
        <p:nvPicPr>
          <p:cNvPr id="16" name="Image 1" descr="preencoded.png">    </p:cNvPr>
          <p:cNvPicPr>
            <a:picLocks noChangeAspect="1"/>
          </p:cNvPicPr>
          <p:nvPr/>
        </p:nvPicPr>
        <p:blipFill>
          <a:blip r:embed="rId2"/>
          <a:stretch>
            <a:fillRect/>
          </a:stretch>
        </p:blipFill>
        <p:spPr>
          <a:xfrm>
            <a:off x="2654307" y="2395728"/>
            <a:ext cx="512064" cy="512064"/>
          </a:xfrm>
          <a:prstGeom prst="rect">
            <a:avLst/>
          </a:prstGeom>
        </p:spPr>
      </p:pic>
      <p:sp>
        <p:nvSpPr>
          <p:cNvPr id="17" name="Text 13"/>
          <p:cNvSpPr/>
          <p:nvPr/>
        </p:nvSpPr>
        <p:spPr>
          <a:xfrm>
            <a:off x="2324274" y="3163824"/>
            <a:ext cx="1172130" cy="273406"/>
          </a:xfrm>
          <a:prstGeom prst="rect">
            <a:avLst/>
          </a:prstGeom>
          <a:noFill/>
          <a:ln/>
        </p:spPr>
        <p:txBody>
          <a:bodyPr wrap="square" rtlCol="0" anchor="t"/>
          <a:lstStyle/>
          <a:p>
            <a:pPr algn="ctr" indent="0" marL="0">
              <a:buNone/>
            </a:pPr>
            <a:r>
              <a:rPr lang="en-US" sz="828" b="1" dirty="0">
                <a:solidFill>
                  <a:srgbClr val="0F5132"/>
                </a:solidFill>
                <a:latin typeface="Segoe UI" pitchFamily="34" charset="0"/>
                <a:ea typeface="Segoe UI" pitchFamily="34" charset="-122"/>
                <a:cs typeface="Segoe UI" pitchFamily="34" charset="-120"/>
              </a:rPr>
              <a:t>Airline · Engineering</a:t>
            </a:r>
            <a:endParaRPr lang="en-US" sz="828" dirty="0"/>
          </a:p>
        </p:txBody>
      </p:sp>
      <p:sp>
        <p:nvSpPr>
          <p:cNvPr id="18" name="Text 14"/>
          <p:cNvSpPr/>
          <p:nvPr/>
        </p:nvSpPr>
        <p:spPr>
          <a:xfrm>
            <a:off x="2324274" y="3492094"/>
            <a:ext cx="1172130" cy="1069848"/>
          </a:xfrm>
          <a:prstGeom prst="rect">
            <a:avLst/>
          </a:prstGeom>
          <a:noFill/>
          <a:ln/>
        </p:spPr>
        <p:txBody>
          <a:bodyPr wrap="square" rtlCol="0" anchor="t"/>
          <a:lstStyle/>
          <a:p>
            <a:pPr algn="ctr" indent="0" marL="0">
              <a:buNone/>
            </a:pPr>
            <a:r>
              <a:rPr lang="en-US" sz="1080" b="1" dirty="0">
                <a:solidFill>
                  <a:srgbClr val="1E2235"/>
                </a:solidFill>
                <a:latin typeface="Segoe UI" pitchFamily="34" charset="0"/>
                <a:ea typeface="Segoe UI" pitchFamily="34" charset="-122"/>
                <a:cs typeface="Segoe UI" pitchFamily="34" charset="-120"/>
              </a:rPr>
              <a:t>Deferred Items: the Strictest Category Is Not the Tightest Clock</a:t>
            </a:r>
            <a:endParaRPr lang="en-US" sz="1080" dirty="0"/>
          </a:p>
        </p:txBody>
      </p:sp>
      <p:sp>
        <p:nvSpPr>
          <p:cNvPr id="19" name="Text 15"/>
          <p:cNvSpPr/>
          <p:nvPr/>
        </p:nvSpPr>
        <p:spPr>
          <a:xfrm>
            <a:off x="2324274" y="4644238"/>
            <a:ext cx="1172130" cy="285293"/>
          </a:xfrm>
          <a:prstGeom prst="rect">
            <a:avLst/>
          </a:prstGeom>
          <a:noFill/>
          <a:ln/>
        </p:spPr>
        <p:txBody>
          <a:bodyPr wrap="square" rtlCol="0" anchor="t"/>
          <a:lstStyle/>
          <a:p>
            <a:pPr algn="ctr" indent="0" marL="0">
              <a:lnSpc>
                <a:spcPct val="105000"/>
              </a:lnSpc>
              <a:buNone/>
            </a:pPr>
            <a:r>
              <a:rPr lang="en-US" sz="864" dirty="0">
                <a:solidFill>
                  <a:srgbClr val="5B6079"/>
                </a:solidFill>
                <a:latin typeface="Segoe UI" pitchFamily="34" charset="0"/>
                <a:ea typeface="Segoe UI" pitchFamily="34" charset="-122"/>
                <a:cs typeface="Segoe UI" pitchFamily="34" charset="-120"/>
              </a:rPr>
              <a:t>Excel · Edit existing file</a:t>
            </a:r>
            <a:endParaRPr lang="en-US" sz="864" dirty="0"/>
          </a:p>
        </p:txBody>
      </p:sp>
      <p:sp>
        <p:nvSpPr>
          <p:cNvPr id="20" name="Text 16"/>
          <p:cNvSpPr/>
          <p:nvPr/>
        </p:nvSpPr>
        <p:spPr>
          <a:xfrm>
            <a:off x="2324274" y="5011826"/>
            <a:ext cx="1172130" cy="261518"/>
          </a:xfrm>
          <a:prstGeom prst="rect">
            <a:avLst/>
          </a:prstGeom>
          <a:noFill/>
          <a:ln/>
        </p:spPr>
        <p:txBody>
          <a:bodyPr wrap="square" rtlCol="0" anchor="t"/>
          <a:lstStyle/>
          <a:p>
            <a:pPr algn="ctr" indent="0" marL="0">
              <a:buNone/>
            </a:pPr>
            <a:r>
              <a:rPr lang="en-US" sz="792" dirty="0">
                <a:solidFill>
                  <a:srgbClr val="9AA0C0"/>
                </a:solidFill>
                <a:latin typeface="Segoe UI" pitchFamily="34" charset="0"/>
                <a:ea typeface="Segoe UI" pitchFamily="34" charset="-122"/>
                <a:cs typeface="Segoe UI" pitchFamily="34" charset="-120"/>
              </a:rPr>
              <a:t>~18 min</a:t>
            </a:r>
            <a:endParaRPr lang="en-US" sz="792" dirty="0"/>
          </a:p>
          <a:p>
            <a:pPr algn="ctr" indent="0" marL="0">
              <a:buNone/>
            </a:pPr>
            <a:r>
              <a:rPr lang="en-US" sz="792" dirty="0">
                <a:solidFill>
                  <a:srgbClr val="9AA0C0"/>
                </a:solidFill>
                <a:latin typeface="Segoe UI" pitchFamily="34" charset="0"/>
                <a:ea typeface="Segoe UI" pitchFamily="34" charset="-122"/>
                <a:cs typeface="Segoe UI" pitchFamily="34" charset="-120"/>
              </a:rPr>
              <a:t> ★★★</a:t>
            </a:r>
            <a:endParaRPr lang="en-US" sz="792" dirty="0"/>
          </a:p>
        </p:txBody>
      </p:sp>
      <p:sp>
        <p:nvSpPr>
          <p:cNvPr id="21" name="Shape 17"/>
          <p:cNvSpPr/>
          <p:nvPr/>
        </p:nvSpPr>
        <p:spPr>
          <a:xfrm>
            <a:off x="3825588" y="1828800"/>
            <a:ext cx="1355010" cy="3794760"/>
          </a:xfrm>
          <a:prstGeom prst="rect">
            <a:avLst/>
          </a:prstGeom>
          <a:solidFill>
            <a:srgbClr val="FFFFFF"/>
          </a:solidFill>
          <a:ln w="12700">
            <a:solidFill>
              <a:srgbClr val="E4E7F2"/>
            </a:solidFill>
            <a:prstDash val="solid"/>
          </a:ln>
          <a:effectLst>
            <a:outerShdw sx="100000" sy="100000" kx="0" ky="0" algn="bl" rotWithShape="0" blurRad="88900" dist="25400" dir="5400000">
              <a:srgbClr val="9AA0C0">
                <a:alpha val="16000"/>
              </a:srgbClr>
            </a:outerShdw>
          </a:effectLst>
        </p:spPr>
      </p:sp>
      <p:sp>
        <p:nvSpPr>
          <p:cNvPr id="22" name="Shape 18"/>
          <p:cNvSpPr/>
          <p:nvPr/>
        </p:nvSpPr>
        <p:spPr>
          <a:xfrm>
            <a:off x="3825588" y="1828800"/>
            <a:ext cx="1355010" cy="109728"/>
          </a:xfrm>
          <a:prstGeom prst="rect">
            <a:avLst/>
          </a:prstGeom>
          <a:solidFill>
            <a:srgbClr val="6B3FA0"/>
          </a:solidFill>
          <a:ln/>
        </p:spPr>
      </p:sp>
      <p:sp>
        <p:nvSpPr>
          <p:cNvPr id="23" name="Shape 19"/>
          <p:cNvSpPr/>
          <p:nvPr/>
        </p:nvSpPr>
        <p:spPr>
          <a:xfrm>
            <a:off x="4045893" y="2194560"/>
            <a:ext cx="914400" cy="914400"/>
          </a:xfrm>
          <a:prstGeom prst="ellipse">
            <a:avLst/>
          </a:prstGeom>
          <a:solidFill>
            <a:srgbClr val="6B3FA0"/>
          </a:solidFill>
          <a:ln/>
        </p:spPr>
      </p:sp>
      <p:pic>
        <p:nvPicPr>
          <p:cNvPr id="24" name="Image 2" descr="preencoded.png">    </p:cNvPr>
          <p:cNvPicPr>
            <a:picLocks noChangeAspect="1"/>
          </p:cNvPicPr>
          <p:nvPr/>
        </p:nvPicPr>
        <p:blipFill>
          <a:blip r:embed="rId3"/>
          <a:stretch>
            <a:fillRect/>
          </a:stretch>
        </p:blipFill>
        <p:spPr>
          <a:xfrm>
            <a:off x="4247061" y="2395728"/>
            <a:ext cx="512064" cy="512064"/>
          </a:xfrm>
          <a:prstGeom prst="rect">
            <a:avLst/>
          </a:prstGeom>
        </p:spPr>
      </p:pic>
      <p:sp>
        <p:nvSpPr>
          <p:cNvPr id="25" name="Text 20"/>
          <p:cNvSpPr/>
          <p:nvPr/>
        </p:nvSpPr>
        <p:spPr>
          <a:xfrm>
            <a:off x="3917028" y="3163824"/>
            <a:ext cx="1172130" cy="296189"/>
          </a:xfrm>
          <a:prstGeom prst="rect">
            <a:avLst/>
          </a:prstGeom>
          <a:noFill/>
          <a:ln/>
        </p:spPr>
        <p:txBody>
          <a:bodyPr wrap="square" rtlCol="0" anchor="t"/>
          <a:lstStyle/>
          <a:p>
            <a:pPr algn="ctr" indent="0" marL="0">
              <a:buNone/>
            </a:pPr>
            <a:r>
              <a:rPr lang="en-US" sz="897" b="1" dirty="0">
                <a:solidFill>
                  <a:srgbClr val="6B3FA0"/>
                </a:solidFill>
                <a:latin typeface="Segoe UI" pitchFamily="34" charset="0"/>
                <a:ea typeface="Segoe UI" pitchFamily="34" charset="-122"/>
                <a:cs typeface="Segoe UI" pitchFamily="34" charset="-120"/>
              </a:rPr>
              <a:t>Airline · Engineering</a:t>
            </a:r>
            <a:endParaRPr lang="en-US" sz="897" dirty="0"/>
          </a:p>
        </p:txBody>
      </p:sp>
      <p:sp>
        <p:nvSpPr>
          <p:cNvPr id="26" name="Text 21"/>
          <p:cNvSpPr/>
          <p:nvPr/>
        </p:nvSpPr>
        <p:spPr>
          <a:xfrm>
            <a:off x="3917028" y="3514877"/>
            <a:ext cx="1172130" cy="772668"/>
          </a:xfrm>
          <a:prstGeom prst="rect">
            <a:avLst/>
          </a:prstGeom>
          <a:noFill/>
          <a:ln/>
        </p:spPr>
        <p:txBody>
          <a:bodyPr wrap="square" rtlCol="0" anchor="t"/>
          <a:lstStyle/>
          <a:p>
            <a:pPr algn="ctr" indent="0" marL="0">
              <a:buNone/>
            </a:pPr>
            <a:r>
              <a:rPr lang="en-US" sz="1170" b="1" dirty="0">
                <a:solidFill>
                  <a:srgbClr val="1E2235"/>
                </a:solidFill>
                <a:latin typeface="Segoe UI" pitchFamily="34" charset="0"/>
                <a:ea typeface="Segoe UI" pitchFamily="34" charset="-122"/>
                <a:cs typeface="Segoe UI" pitchFamily="34" charset="-120"/>
              </a:rPr>
              <a:t>Three Check Slots: the Cheapest One Does Not Work</a:t>
            </a:r>
            <a:endParaRPr lang="en-US" sz="1170" dirty="0"/>
          </a:p>
        </p:txBody>
      </p:sp>
      <p:sp>
        <p:nvSpPr>
          <p:cNvPr id="27" name="Text 22"/>
          <p:cNvSpPr/>
          <p:nvPr/>
        </p:nvSpPr>
        <p:spPr>
          <a:xfrm>
            <a:off x="3917028" y="4369841"/>
            <a:ext cx="1172130" cy="463601"/>
          </a:xfrm>
          <a:prstGeom prst="rect">
            <a:avLst/>
          </a:prstGeom>
          <a:noFill/>
          <a:ln/>
        </p:spPr>
        <p:txBody>
          <a:bodyPr wrap="square" rtlCol="0" anchor="t"/>
          <a:lstStyle/>
          <a:p>
            <a:pPr algn="ctr" indent="0" marL="0">
              <a:lnSpc>
                <a:spcPct val="105000"/>
              </a:lnSpc>
              <a:buNone/>
            </a:pPr>
            <a:r>
              <a:rPr lang="en-US" sz="936" dirty="0">
                <a:solidFill>
                  <a:srgbClr val="5B6079"/>
                </a:solidFill>
                <a:latin typeface="Segoe UI" pitchFamily="34" charset="0"/>
                <a:ea typeface="Segoe UI" pitchFamily="34" charset="-122"/>
                <a:cs typeface="Segoe UI" pitchFamily="34" charset="-120"/>
              </a:rPr>
              <a:t>Adaptive Cards · Excel · Scheduling</a:t>
            </a:r>
            <a:endParaRPr lang="en-US" sz="936" dirty="0"/>
          </a:p>
        </p:txBody>
      </p:sp>
      <p:sp>
        <p:nvSpPr>
          <p:cNvPr id="28" name="Text 23"/>
          <p:cNvSpPr/>
          <p:nvPr/>
        </p:nvSpPr>
        <p:spPr>
          <a:xfrm>
            <a:off x="3917028" y="4915738"/>
            <a:ext cx="1172130" cy="283312"/>
          </a:xfrm>
          <a:prstGeom prst="rect">
            <a:avLst/>
          </a:prstGeom>
          <a:noFill/>
          <a:ln/>
        </p:spPr>
        <p:txBody>
          <a:bodyPr wrap="square" rtlCol="0" anchor="t"/>
          <a:lstStyle/>
          <a:p>
            <a:pPr algn="ctr" indent="0" marL="0">
              <a:buNone/>
            </a:pPr>
            <a:r>
              <a:rPr lang="en-US" sz="858" dirty="0">
                <a:solidFill>
                  <a:srgbClr val="9AA0C0"/>
                </a:solidFill>
                <a:latin typeface="Segoe UI" pitchFamily="34" charset="0"/>
                <a:ea typeface="Segoe UI" pitchFamily="34" charset="-122"/>
                <a:cs typeface="Segoe UI" pitchFamily="34" charset="-120"/>
              </a:rPr>
              <a:t>~15 min</a:t>
            </a:r>
            <a:endParaRPr lang="en-US" sz="858" dirty="0"/>
          </a:p>
          <a:p>
            <a:pPr algn="ctr" indent="0" marL="0">
              <a:buNone/>
            </a:pPr>
            <a:r>
              <a:rPr lang="en-US" sz="858" dirty="0">
                <a:solidFill>
                  <a:srgbClr val="9AA0C0"/>
                </a:solidFill>
                <a:latin typeface="Segoe UI" pitchFamily="34" charset="0"/>
                <a:ea typeface="Segoe UI" pitchFamily="34" charset="-122"/>
                <a:cs typeface="Segoe UI" pitchFamily="34" charset="-120"/>
              </a:rPr>
              <a:t> ★★☆</a:t>
            </a:r>
            <a:endParaRPr lang="en-US" sz="858" dirty="0"/>
          </a:p>
        </p:txBody>
      </p:sp>
      <p:sp>
        <p:nvSpPr>
          <p:cNvPr id="29" name="Shape 24"/>
          <p:cNvSpPr/>
          <p:nvPr/>
        </p:nvSpPr>
        <p:spPr>
          <a:xfrm>
            <a:off x="5418343" y="1828800"/>
            <a:ext cx="1355010" cy="3794760"/>
          </a:xfrm>
          <a:prstGeom prst="rect">
            <a:avLst/>
          </a:prstGeom>
          <a:solidFill>
            <a:srgbClr val="FFFFFF"/>
          </a:solidFill>
          <a:ln w="12700">
            <a:solidFill>
              <a:srgbClr val="E4E7F2"/>
            </a:solidFill>
            <a:prstDash val="solid"/>
          </a:ln>
          <a:effectLst>
            <a:outerShdw sx="100000" sy="100000" kx="0" ky="0" algn="bl" rotWithShape="0" blurRad="88900" dist="25400" dir="5400000">
              <a:srgbClr val="9AA0C0">
                <a:alpha val="16000"/>
              </a:srgbClr>
            </a:outerShdw>
          </a:effectLst>
        </p:spPr>
      </p:sp>
      <p:sp>
        <p:nvSpPr>
          <p:cNvPr id="30" name="Shape 25"/>
          <p:cNvSpPr/>
          <p:nvPr/>
        </p:nvSpPr>
        <p:spPr>
          <a:xfrm>
            <a:off x="5418343" y="1828800"/>
            <a:ext cx="1355010" cy="109728"/>
          </a:xfrm>
          <a:prstGeom prst="rect">
            <a:avLst/>
          </a:prstGeom>
          <a:solidFill>
            <a:srgbClr val="B42318"/>
          </a:solidFill>
          <a:ln/>
        </p:spPr>
      </p:sp>
      <p:sp>
        <p:nvSpPr>
          <p:cNvPr id="31" name="Shape 26"/>
          <p:cNvSpPr/>
          <p:nvPr/>
        </p:nvSpPr>
        <p:spPr>
          <a:xfrm>
            <a:off x="5638648" y="2194560"/>
            <a:ext cx="914400" cy="914400"/>
          </a:xfrm>
          <a:prstGeom prst="ellipse">
            <a:avLst/>
          </a:prstGeom>
          <a:solidFill>
            <a:srgbClr val="B42318"/>
          </a:solidFill>
          <a:ln/>
        </p:spPr>
      </p:sp>
      <p:pic>
        <p:nvPicPr>
          <p:cNvPr id="32" name="Image 3" descr="preencoded.png">    </p:cNvPr>
          <p:cNvPicPr>
            <a:picLocks noChangeAspect="1"/>
          </p:cNvPicPr>
          <p:nvPr/>
        </p:nvPicPr>
        <p:blipFill>
          <a:blip r:embed="rId4"/>
          <a:stretch>
            <a:fillRect/>
          </a:stretch>
        </p:blipFill>
        <p:spPr>
          <a:xfrm>
            <a:off x="5839816" y="2395728"/>
            <a:ext cx="512064" cy="512064"/>
          </a:xfrm>
          <a:prstGeom prst="rect">
            <a:avLst/>
          </a:prstGeom>
        </p:spPr>
      </p:pic>
      <p:sp>
        <p:nvSpPr>
          <p:cNvPr id="33" name="Text 27"/>
          <p:cNvSpPr/>
          <p:nvPr/>
        </p:nvSpPr>
        <p:spPr>
          <a:xfrm>
            <a:off x="5509783" y="3163824"/>
            <a:ext cx="1172130" cy="296189"/>
          </a:xfrm>
          <a:prstGeom prst="rect">
            <a:avLst/>
          </a:prstGeom>
          <a:noFill/>
          <a:ln/>
        </p:spPr>
        <p:txBody>
          <a:bodyPr wrap="square" rtlCol="0" anchor="t"/>
          <a:lstStyle/>
          <a:p>
            <a:pPr algn="ctr" indent="0" marL="0">
              <a:buNone/>
            </a:pPr>
            <a:r>
              <a:rPr lang="en-US" sz="897" b="1" dirty="0">
                <a:solidFill>
                  <a:srgbClr val="B42318"/>
                </a:solidFill>
                <a:latin typeface="Segoe UI" pitchFamily="34" charset="0"/>
                <a:ea typeface="Segoe UI" pitchFamily="34" charset="-122"/>
                <a:cs typeface="Segoe UI" pitchFamily="34" charset="-120"/>
              </a:rPr>
              <a:t>Airline · Engineering</a:t>
            </a:r>
            <a:endParaRPr lang="en-US" sz="897" dirty="0"/>
          </a:p>
        </p:txBody>
      </p:sp>
      <p:sp>
        <p:nvSpPr>
          <p:cNvPr id="34" name="Text 28"/>
          <p:cNvSpPr/>
          <p:nvPr/>
        </p:nvSpPr>
        <p:spPr>
          <a:xfrm>
            <a:off x="5509783" y="3514877"/>
            <a:ext cx="1172130" cy="579501"/>
          </a:xfrm>
          <a:prstGeom prst="rect">
            <a:avLst/>
          </a:prstGeom>
          <a:noFill/>
          <a:ln/>
        </p:spPr>
        <p:txBody>
          <a:bodyPr wrap="square" rtlCol="0" anchor="t"/>
          <a:lstStyle/>
          <a:p>
            <a:pPr algn="ctr" indent="0" marL="0">
              <a:buNone/>
            </a:pPr>
            <a:r>
              <a:rPr lang="en-US" sz="1170" b="1" dirty="0">
                <a:solidFill>
                  <a:srgbClr val="1E2235"/>
                </a:solidFill>
                <a:latin typeface="Segoe UI" pitchFamily="34" charset="0"/>
                <a:ea typeface="Segoe UI" pitchFamily="34" charset="-122"/>
                <a:cs typeface="Segoe UI" pitchFamily="34" charset="-120"/>
              </a:rPr>
              <a:t>AOG: the Four Hours Are Not the Problem</a:t>
            </a:r>
            <a:endParaRPr lang="en-US" sz="1170" dirty="0"/>
          </a:p>
        </p:txBody>
      </p:sp>
      <p:sp>
        <p:nvSpPr>
          <p:cNvPr id="35" name="Text 29"/>
          <p:cNvSpPr/>
          <p:nvPr/>
        </p:nvSpPr>
        <p:spPr>
          <a:xfrm>
            <a:off x="5509783" y="4176674"/>
            <a:ext cx="1172130" cy="618134"/>
          </a:xfrm>
          <a:prstGeom prst="rect">
            <a:avLst/>
          </a:prstGeom>
          <a:noFill/>
          <a:ln/>
        </p:spPr>
        <p:txBody>
          <a:bodyPr wrap="square" rtlCol="0" anchor="t"/>
          <a:lstStyle/>
          <a:p>
            <a:pPr algn="ctr" indent="0" marL="0">
              <a:lnSpc>
                <a:spcPct val="105000"/>
              </a:lnSpc>
              <a:buNone/>
            </a:pPr>
            <a:r>
              <a:rPr lang="en-US" sz="936" dirty="0">
                <a:solidFill>
                  <a:srgbClr val="5B6079"/>
                </a:solidFill>
                <a:latin typeface="Segoe UI" pitchFamily="34" charset="0"/>
                <a:ea typeface="Segoe UI" pitchFamily="34" charset="-122"/>
                <a:cs typeface="Segoe UI" pitchFamily="34" charset="-120"/>
              </a:rPr>
              <a:t>Event trigger · Excel · Email · Enterprise Search</a:t>
            </a:r>
            <a:endParaRPr lang="en-US" sz="936" dirty="0"/>
          </a:p>
        </p:txBody>
      </p:sp>
      <p:sp>
        <p:nvSpPr>
          <p:cNvPr id="36" name="Text 30"/>
          <p:cNvSpPr/>
          <p:nvPr/>
        </p:nvSpPr>
        <p:spPr>
          <a:xfrm>
            <a:off x="5509783" y="4877105"/>
            <a:ext cx="1172130" cy="283312"/>
          </a:xfrm>
          <a:prstGeom prst="rect">
            <a:avLst/>
          </a:prstGeom>
          <a:noFill/>
          <a:ln/>
        </p:spPr>
        <p:txBody>
          <a:bodyPr wrap="square" rtlCol="0" anchor="t"/>
          <a:lstStyle/>
          <a:p>
            <a:pPr algn="ctr" indent="0" marL="0">
              <a:buNone/>
            </a:pPr>
            <a:r>
              <a:rPr lang="en-US" sz="858" dirty="0">
                <a:solidFill>
                  <a:srgbClr val="9AA0C0"/>
                </a:solidFill>
                <a:latin typeface="Segoe UI" pitchFamily="34" charset="0"/>
                <a:ea typeface="Segoe UI" pitchFamily="34" charset="-122"/>
                <a:cs typeface="Segoe UI" pitchFamily="34" charset="-120"/>
              </a:rPr>
              <a:t>~25 min</a:t>
            </a:r>
            <a:endParaRPr lang="en-US" sz="858" dirty="0"/>
          </a:p>
          <a:p>
            <a:pPr algn="ctr" indent="0" marL="0">
              <a:buNone/>
            </a:pPr>
            <a:r>
              <a:rPr lang="en-US" sz="858" dirty="0">
                <a:solidFill>
                  <a:srgbClr val="9AA0C0"/>
                </a:solidFill>
                <a:latin typeface="Segoe UI" pitchFamily="34" charset="0"/>
                <a:ea typeface="Segoe UI" pitchFamily="34" charset="-122"/>
                <a:cs typeface="Segoe UI" pitchFamily="34" charset="-120"/>
              </a:rPr>
              <a:t> ★★★</a:t>
            </a:r>
            <a:endParaRPr lang="en-US" sz="858" dirty="0"/>
          </a:p>
        </p:txBody>
      </p:sp>
      <p:sp>
        <p:nvSpPr>
          <p:cNvPr id="37" name="Shape 31"/>
          <p:cNvSpPr/>
          <p:nvPr/>
        </p:nvSpPr>
        <p:spPr>
          <a:xfrm>
            <a:off x="7011097" y="1828800"/>
            <a:ext cx="1355010" cy="3794760"/>
          </a:xfrm>
          <a:prstGeom prst="rect">
            <a:avLst/>
          </a:prstGeom>
          <a:solidFill>
            <a:srgbClr val="FFFFFF"/>
          </a:solidFill>
          <a:ln w="12700">
            <a:solidFill>
              <a:srgbClr val="E4E7F2"/>
            </a:solidFill>
            <a:prstDash val="solid"/>
          </a:ln>
          <a:effectLst>
            <a:outerShdw sx="100000" sy="100000" kx="0" ky="0" algn="bl" rotWithShape="0" blurRad="88900" dist="25400" dir="5400000">
              <a:srgbClr val="9AA0C0">
                <a:alpha val="16000"/>
              </a:srgbClr>
            </a:outerShdw>
          </a:effectLst>
        </p:spPr>
      </p:sp>
      <p:sp>
        <p:nvSpPr>
          <p:cNvPr id="38" name="Shape 32"/>
          <p:cNvSpPr/>
          <p:nvPr/>
        </p:nvSpPr>
        <p:spPr>
          <a:xfrm>
            <a:off x="7011097" y="1828800"/>
            <a:ext cx="1355010" cy="109728"/>
          </a:xfrm>
          <a:prstGeom prst="rect">
            <a:avLst/>
          </a:prstGeom>
          <a:solidFill>
            <a:srgbClr val="1F4E79"/>
          </a:solidFill>
          <a:ln/>
        </p:spPr>
      </p:sp>
      <p:sp>
        <p:nvSpPr>
          <p:cNvPr id="39" name="Shape 33"/>
          <p:cNvSpPr/>
          <p:nvPr/>
        </p:nvSpPr>
        <p:spPr>
          <a:xfrm>
            <a:off x="7231402" y="2194560"/>
            <a:ext cx="914400" cy="914400"/>
          </a:xfrm>
          <a:prstGeom prst="ellipse">
            <a:avLst/>
          </a:prstGeom>
          <a:solidFill>
            <a:srgbClr val="1F4E79"/>
          </a:solidFill>
          <a:ln/>
        </p:spPr>
      </p:sp>
      <p:pic>
        <p:nvPicPr>
          <p:cNvPr id="40" name="Image 4" descr="preencoded.png">    </p:cNvPr>
          <p:cNvPicPr>
            <a:picLocks noChangeAspect="1"/>
          </p:cNvPicPr>
          <p:nvPr/>
        </p:nvPicPr>
        <p:blipFill>
          <a:blip r:embed="rId5"/>
          <a:stretch>
            <a:fillRect/>
          </a:stretch>
        </p:blipFill>
        <p:spPr>
          <a:xfrm>
            <a:off x="7432570" y="2395728"/>
            <a:ext cx="512064" cy="512064"/>
          </a:xfrm>
          <a:prstGeom prst="rect">
            <a:avLst/>
          </a:prstGeom>
        </p:spPr>
      </p:pic>
      <p:sp>
        <p:nvSpPr>
          <p:cNvPr id="41" name="Text 34"/>
          <p:cNvSpPr/>
          <p:nvPr/>
        </p:nvSpPr>
        <p:spPr>
          <a:xfrm>
            <a:off x="7102537" y="3163824"/>
            <a:ext cx="1172130" cy="273406"/>
          </a:xfrm>
          <a:prstGeom prst="rect">
            <a:avLst/>
          </a:prstGeom>
          <a:noFill/>
          <a:ln/>
        </p:spPr>
        <p:txBody>
          <a:bodyPr wrap="square" rtlCol="0" anchor="t"/>
          <a:lstStyle/>
          <a:p>
            <a:pPr algn="ctr" indent="0" marL="0">
              <a:buNone/>
            </a:pPr>
            <a:r>
              <a:rPr lang="en-US" sz="828" b="1" dirty="0">
                <a:solidFill>
                  <a:srgbClr val="1F4E79"/>
                </a:solidFill>
                <a:latin typeface="Segoe UI" pitchFamily="34" charset="0"/>
                <a:ea typeface="Segoe UI" pitchFamily="34" charset="-122"/>
                <a:cs typeface="Segoe UI" pitchFamily="34" charset="-120"/>
              </a:rPr>
              <a:t>Airline · Engineering</a:t>
            </a:r>
            <a:endParaRPr lang="en-US" sz="828" dirty="0"/>
          </a:p>
        </p:txBody>
      </p:sp>
      <p:sp>
        <p:nvSpPr>
          <p:cNvPr id="42" name="Text 35"/>
          <p:cNvSpPr/>
          <p:nvPr/>
        </p:nvSpPr>
        <p:spPr>
          <a:xfrm>
            <a:off x="7102537" y="3492094"/>
            <a:ext cx="1172130" cy="1069848"/>
          </a:xfrm>
          <a:prstGeom prst="rect">
            <a:avLst/>
          </a:prstGeom>
          <a:noFill/>
          <a:ln/>
        </p:spPr>
        <p:txBody>
          <a:bodyPr wrap="square" rtlCol="0" anchor="t"/>
          <a:lstStyle/>
          <a:p>
            <a:pPr algn="ctr" indent="0" marL="0">
              <a:buNone/>
            </a:pPr>
            <a:r>
              <a:rPr lang="en-US" sz="1080" b="1" dirty="0">
                <a:solidFill>
                  <a:srgbClr val="1E2235"/>
                </a:solidFill>
                <a:latin typeface="Segoe UI" pitchFamily="34" charset="0"/>
                <a:ea typeface="Segoe UI" pitchFamily="34" charset="-122"/>
                <a:cs typeface="Segoe UI" pitchFamily="34" charset="-120"/>
              </a:rPr>
              <a:t>Bulletin to Engineering Order: It Is the Component Serial, Not the MSN</a:t>
            </a:r>
            <a:endParaRPr lang="en-US" sz="1080" dirty="0"/>
          </a:p>
        </p:txBody>
      </p:sp>
      <p:sp>
        <p:nvSpPr>
          <p:cNvPr id="43" name="Text 36"/>
          <p:cNvSpPr/>
          <p:nvPr/>
        </p:nvSpPr>
        <p:spPr>
          <a:xfrm>
            <a:off x="7102537" y="4644238"/>
            <a:ext cx="1172130" cy="427939"/>
          </a:xfrm>
          <a:prstGeom prst="rect">
            <a:avLst/>
          </a:prstGeom>
          <a:noFill/>
          <a:ln/>
        </p:spPr>
        <p:txBody>
          <a:bodyPr wrap="square" rtlCol="0" anchor="t"/>
          <a:lstStyle/>
          <a:p>
            <a:pPr algn="ctr" indent="0" marL="0">
              <a:lnSpc>
                <a:spcPct val="105000"/>
              </a:lnSpc>
              <a:buNone/>
            </a:pPr>
            <a:r>
              <a:rPr lang="en-US" sz="864" dirty="0">
                <a:solidFill>
                  <a:srgbClr val="5B6079"/>
                </a:solidFill>
                <a:latin typeface="Segoe UI" pitchFamily="34" charset="0"/>
                <a:ea typeface="Segoe UI" pitchFamily="34" charset="-122"/>
                <a:cs typeface="Segoe UI" pitchFamily="34" charset="-120"/>
              </a:rPr>
              <a:t>Word · PDF · Enterprise Search · File upload</a:t>
            </a:r>
            <a:endParaRPr lang="en-US" sz="864" dirty="0"/>
          </a:p>
        </p:txBody>
      </p:sp>
      <p:sp>
        <p:nvSpPr>
          <p:cNvPr id="44" name="Text 37"/>
          <p:cNvSpPr/>
          <p:nvPr/>
        </p:nvSpPr>
        <p:spPr>
          <a:xfrm>
            <a:off x="7102537" y="5154473"/>
            <a:ext cx="1172130" cy="261518"/>
          </a:xfrm>
          <a:prstGeom prst="rect">
            <a:avLst/>
          </a:prstGeom>
          <a:noFill/>
          <a:ln/>
        </p:spPr>
        <p:txBody>
          <a:bodyPr wrap="square" rtlCol="0" anchor="t"/>
          <a:lstStyle/>
          <a:p>
            <a:pPr algn="ctr" indent="0" marL="0">
              <a:buNone/>
            </a:pPr>
            <a:r>
              <a:rPr lang="en-US" sz="792" dirty="0">
                <a:solidFill>
                  <a:srgbClr val="9AA0C0"/>
                </a:solidFill>
                <a:latin typeface="Segoe UI" pitchFamily="34" charset="0"/>
                <a:ea typeface="Segoe UI" pitchFamily="34" charset="-122"/>
                <a:cs typeface="Segoe UI" pitchFamily="34" charset="-120"/>
              </a:rPr>
              <a:t>~20 min</a:t>
            </a:r>
            <a:endParaRPr lang="en-US" sz="792" dirty="0"/>
          </a:p>
          <a:p>
            <a:pPr algn="ctr" indent="0" marL="0">
              <a:buNone/>
            </a:pPr>
            <a:r>
              <a:rPr lang="en-US" sz="792" dirty="0">
                <a:solidFill>
                  <a:srgbClr val="9AA0C0"/>
                </a:solidFill>
                <a:latin typeface="Segoe UI" pitchFamily="34" charset="0"/>
                <a:ea typeface="Segoe UI" pitchFamily="34" charset="-122"/>
                <a:cs typeface="Segoe UI" pitchFamily="34" charset="-120"/>
              </a:rPr>
              <a:t> ★★★</a:t>
            </a:r>
            <a:endParaRPr lang="en-US" sz="792" dirty="0"/>
          </a:p>
        </p:txBody>
      </p:sp>
      <p:sp>
        <p:nvSpPr>
          <p:cNvPr id="45" name="Shape 38"/>
          <p:cNvSpPr/>
          <p:nvPr/>
        </p:nvSpPr>
        <p:spPr>
          <a:xfrm>
            <a:off x="8603851" y="1828800"/>
            <a:ext cx="1355010" cy="3794760"/>
          </a:xfrm>
          <a:prstGeom prst="rect">
            <a:avLst/>
          </a:prstGeom>
          <a:solidFill>
            <a:srgbClr val="FFFFFF"/>
          </a:solidFill>
          <a:ln w="12700">
            <a:solidFill>
              <a:srgbClr val="E4E7F2"/>
            </a:solidFill>
            <a:prstDash val="solid"/>
          </a:ln>
          <a:effectLst>
            <a:outerShdw sx="100000" sy="100000" kx="0" ky="0" algn="bl" rotWithShape="0" blurRad="88900" dist="25400" dir="5400000">
              <a:srgbClr val="9AA0C0">
                <a:alpha val="16000"/>
              </a:srgbClr>
            </a:outerShdw>
          </a:effectLst>
        </p:spPr>
      </p:sp>
      <p:sp>
        <p:nvSpPr>
          <p:cNvPr id="46" name="Shape 39"/>
          <p:cNvSpPr/>
          <p:nvPr/>
        </p:nvSpPr>
        <p:spPr>
          <a:xfrm>
            <a:off x="8603851" y="1828800"/>
            <a:ext cx="1355010" cy="109728"/>
          </a:xfrm>
          <a:prstGeom prst="rect">
            <a:avLst/>
          </a:prstGeom>
          <a:solidFill>
            <a:srgbClr val="8A4B08"/>
          </a:solidFill>
          <a:ln/>
        </p:spPr>
      </p:sp>
      <p:sp>
        <p:nvSpPr>
          <p:cNvPr id="47" name="Shape 40"/>
          <p:cNvSpPr/>
          <p:nvPr/>
        </p:nvSpPr>
        <p:spPr>
          <a:xfrm>
            <a:off x="8824156" y="2194560"/>
            <a:ext cx="914400" cy="914400"/>
          </a:xfrm>
          <a:prstGeom prst="ellipse">
            <a:avLst/>
          </a:prstGeom>
          <a:solidFill>
            <a:srgbClr val="8A4B08"/>
          </a:solidFill>
          <a:ln/>
        </p:spPr>
      </p:sp>
      <p:pic>
        <p:nvPicPr>
          <p:cNvPr id="48" name="Image 5" descr="preencoded.png">    </p:cNvPr>
          <p:cNvPicPr>
            <a:picLocks noChangeAspect="1"/>
          </p:cNvPicPr>
          <p:nvPr/>
        </p:nvPicPr>
        <p:blipFill>
          <a:blip r:embed="rId6"/>
          <a:stretch>
            <a:fillRect/>
          </a:stretch>
        </p:blipFill>
        <p:spPr>
          <a:xfrm>
            <a:off x="9025324" y="2395728"/>
            <a:ext cx="512064" cy="512064"/>
          </a:xfrm>
          <a:prstGeom prst="rect">
            <a:avLst/>
          </a:prstGeom>
        </p:spPr>
      </p:pic>
      <p:sp>
        <p:nvSpPr>
          <p:cNvPr id="49" name="Text 41"/>
          <p:cNvSpPr/>
          <p:nvPr/>
        </p:nvSpPr>
        <p:spPr>
          <a:xfrm>
            <a:off x="8695291" y="3163824"/>
            <a:ext cx="1172130" cy="273406"/>
          </a:xfrm>
          <a:prstGeom prst="rect">
            <a:avLst/>
          </a:prstGeom>
          <a:noFill/>
          <a:ln/>
        </p:spPr>
        <p:txBody>
          <a:bodyPr wrap="square" rtlCol="0" anchor="t"/>
          <a:lstStyle/>
          <a:p>
            <a:pPr algn="ctr" indent="0" marL="0">
              <a:buNone/>
            </a:pPr>
            <a:r>
              <a:rPr lang="en-US" sz="828" b="1" dirty="0">
                <a:solidFill>
                  <a:srgbClr val="8A4B08"/>
                </a:solidFill>
                <a:latin typeface="Segoe UI" pitchFamily="34" charset="0"/>
                <a:ea typeface="Segoe UI" pitchFamily="34" charset="-122"/>
                <a:cs typeface="Segoe UI" pitchFamily="34" charset="-120"/>
              </a:rPr>
              <a:t>Airline · Engineering</a:t>
            </a:r>
            <a:endParaRPr lang="en-US" sz="828" dirty="0"/>
          </a:p>
        </p:txBody>
      </p:sp>
      <p:sp>
        <p:nvSpPr>
          <p:cNvPr id="50" name="Text 42"/>
          <p:cNvSpPr/>
          <p:nvPr/>
        </p:nvSpPr>
        <p:spPr>
          <a:xfrm>
            <a:off x="8695291" y="3492094"/>
            <a:ext cx="1172130" cy="1069848"/>
          </a:xfrm>
          <a:prstGeom prst="rect">
            <a:avLst/>
          </a:prstGeom>
          <a:noFill/>
          <a:ln/>
        </p:spPr>
        <p:txBody>
          <a:bodyPr wrap="square" rtlCol="0" anchor="t"/>
          <a:lstStyle/>
          <a:p>
            <a:pPr algn="ctr" indent="0" marL="0">
              <a:buNone/>
            </a:pPr>
            <a:r>
              <a:rPr lang="en-US" sz="1080" b="1" dirty="0">
                <a:solidFill>
                  <a:srgbClr val="1E2235"/>
                </a:solidFill>
                <a:latin typeface="Segoe UI" pitchFamily="34" charset="0"/>
                <a:ea typeface="Segoe UI" pitchFamily="34" charset="-122"/>
                <a:cs typeface="Segoe UI" pitchFamily="34" charset="-120"/>
              </a:rPr>
              <a:t>The Monthly Reliability Report: the Improvement Is in the Denominator</a:t>
            </a:r>
            <a:endParaRPr lang="en-US" sz="1080" dirty="0"/>
          </a:p>
        </p:txBody>
      </p:sp>
      <p:sp>
        <p:nvSpPr>
          <p:cNvPr id="51" name="Text 43"/>
          <p:cNvSpPr/>
          <p:nvPr/>
        </p:nvSpPr>
        <p:spPr>
          <a:xfrm>
            <a:off x="8695291" y="4644238"/>
            <a:ext cx="1172130" cy="427939"/>
          </a:xfrm>
          <a:prstGeom prst="rect">
            <a:avLst/>
          </a:prstGeom>
          <a:noFill/>
          <a:ln/>
        </p:spPr>
        <p:txBody>
          <a:bodyPr wrap="square" rtlCol="0" anchor="t"/>
          <a:lstStyle/>
          <a:p>
            <a:pPr algn="ctr" indent="0" marL="0">
              <a:lnSpc>
                <a:spcPct val="105000"/>
              </a:lnSpc>
              <a:buNone/>
            </a:pPr>
            <a:r>
              <a:rPr lang="en-US" sz="864" dirty="0">
                <a:solidFill>
                  <a:srgbClr val="5B6079"/>
                </a:solidFill>
                <a:latin typeface="Segoe UI" pitchFamily="34" charset="0"/>
                <a:ea typeface="Segoe UI" pitchFamily="34" charset="-122"/>
                <a:cs typeface="Segoe UI" pitchFamily="34" charset="-120"/>
              </a:rPr>
              <a:t>Communications · PowerPoint · Excel</a:t>
            </a:r>
            <a:endParaRPr lang="en-US" sz="864" dirty="0"/>
          </a:p>
        </p:txBody>
      </p:sp>
      <p:sp>
        <p:nvSpPr>
          <p:cNvPr id="52" name="Text 44"/>
          <p:cNvSpPr/>
          <p:nvPr/>
        </p:nvSpPr>
        <p:spPr>
          <a:xfrm>
            <a:off x="8695291" y="5154473"/>
            <a:ext cx="1172130" cy="261518"/>
          </a:xfrm>
          <a:prstGeom prst="rect">
            <a:avLst/>
          </a:prstGeom>
          <a:noFill/>
          <a:ln/>
        </p:spPr>
        <p:txBody>
          <a:bodyPr wrap="square" rtlCol="0" anchor="t"/>
          <a:lstStyle/>
          <a:p>
            <a:pPr algn="ctr" indent="0" marL="0">
              <a:buNone/>
            </a:pPr>
            <a:r>
              <a:rPr lang="en-US" sz="792" dirty="0">
                <a:solidFill>
                  <a:srgbClr val="9AA0C0"/>
                </a:solidFill>
                <a:latin typeface="Segoe UI" pitchFamily="34" charset="0"/>
                <a:ea typeface="Segoe UI" pitchFamily="34" charset="-122"/>
                <a:cs typeface="Segoe UI" pitchFamily="34" charset="-120"/>
              </a:rPr>
              <a:t>~22 min</a:t>
            </a:r>
            <a:endParaRPr lang="en-US" sz="792" dirty="0"/>
          </a:p>
          <a:p>
            <a:pPr algn="ctr" indent="0" marL="0">
              <a:buNone/>
            </a:pPr>
            <a:r>
              <a:rPr lang="en-US" sz="792" dirty="0">
                <a:solidFill>
                  <a:srgbClr val="9AA0C0"/>
                </a:solidFill>
                <a:latin typeface="Segoe UI" pitchFamily="34" charset="0"/>
                <a:ea typeface="Segoe UI" pitchFamily="34" charset="-122"/>
                <a:cs typeface="Segoe UI" pitchFamily="34" charset="-120"/>
              </a:rPr>
              <a:t> ★★★</a:t>
            </a:r>
            <a:endParaRPr lang="en-US" sz="792" dirty="0"/>
          </a:p>
        </p:txBody>
      </p:sp>
      <p:sp>
        <p:nvSpPr>
          <p:cNvPr id="53" name="Shape 45"/>
          <p:cNvSpPr/>
          <p:nvPr/>
        </p:nvSpPr>
        <p:spPr>
          <a:xfrm>
            <a:off x="10196605" y="1828800"/>
            <a:ext cx="1355010" cy="3794760"/>
          </a:xfrm>
          <a:prstGeom prst="rect">
            <a:avLst/>
          </a:prstGeom>
          <a:solidFill>
            <a:srgbClr val="FFFFFF"/>
          </a:solidFill>
          <a:ln w="12700">
            <a:solidFill>
              <a:srgbClr val="E4E7F2"/>
            </a:solidFill>
            <a:prstDash val="solid"/>
          </a:ln>
          <a:effectLst>
            <a:outerShdw sx="100000" sy="100000" kx="0" ky="0" algn="bl" rotWithShape="0" blurRad="88900" dist="25400" dir="5400000">
              <a:srgbClr val="9AA0C0">
                <a:alpha val="16000"/>
              </a:srgbClr>
            </a:outerShdw>
          </a:effectLst>
        </p:spPr>
      </p:sp>
      <p:sp>
        <p:nvSpPr>
          <p:cNvPr id="54" name="Shape 46"/>
          <p:cNvSpPr/>
          <p:nvPr/>
        </p:nvSpPr>
        <p:spPr>
          <a:xfrm>
            <a:off x="10196605" y="1828800"/>
            <a:ext cx="1355010" cy="109728"/>
          </a:xfrm>
          <a:prstGeom prst="rect">
            <a:avLst/>
          </a:prstGeom>
          <a:solidFill>
            <a:srgbClr val="0B6E6E"/>
          </a:solidFill>
          <a:ln/>
        </p:spPr>
      </p:sp>
      <p:sp>
        <p:nvSpPr>
          <p:cNvPr id="55" name="Shape 47"/>
          <p:cNvSpPr/>
          <p:nvPr/>
        </p:nvSpPr>
        <p:spPr>
          <a:xfrm>
            <a:off x="10416910" y="2194560"/>
            <a:ext cx="914400" cy="914400"/>
          </a:xfrm>
          <a:prstGeom prst="ellipse">
            <a:avLst/>
          </a:prstGeom>
          <a:solidFill>
            <a:srgbClr val="0B6E6E"/>
          </a:solidFill>
          <a:ln/>
        </p:spPr>
      </p:sp>
      <p:pic>
        <p:nvPicPr>
          <p:cNvPr id="56" name="Image 6" descr="preencoded.png">    </p:cNvPr>
          <p:cNvPicPr>
            <a:picLocks noChangeAspect="1"/>
          </p:cNvPicPr>
          <p:nvPr/>
        </p:nvPicPr>
        <p:blipFill>
          <a:blip r:embed="rId7"/>
          <a:stretch>
            <a:fillRect/>
          </a:stretch>
        </p:blipFill>
        <p:spPr>
          <a:xfrm>
            <a:off x="10618078" y="2395728"/>
            <a:ext cx="512064" cy="512064"/>
          </a:xfrm>
          <a:prstGeom prst="rect">
            <a:avLst/>
          </a:prstGeom>
        </p:spPr>
      </p:pic>
      <p:sp>
        <p:nvSpPr>
          <p:cNvPr id="57" name="Text 48"/>
          <p:cNvSpPr/>
          <p:nvPr/>
        </p:nvSpPr>
        <p:spPr>
          <a:xfrm>
            <a:off x="10288045" y="3163824"/>
            <a:ext cx="1172130" cy="273406"/>
          </a:xfrm>
          <a:prstGeom prst="rect">
            <a:avLst/>
          </a:prstGeom>
          <a:noFill/>
          <a:ln/>
        </p:spPr>
        <p:txBody>
          <a:bodyPr wrap="square" rtlCol="0" anchor="t"/>
          <a:lstStyle/>
          <a:p>
            <a:pPr algn="ctr" indent="0" marL="0">
              <a:buNone/>
            </a:pPr>
            <a:r>
              <a:rPr lang="en-US" sz="828" b="1" dirty="0">
                <a:solidFill>
                  <a:srgbClr val="0B6E6E"/>
                </a:solidFill>
                <a:latin typeface="Segoe UI" pitchFamily="34" charset="0"/>
                <a:ea typeface="Segoe UI" pitchFamily="34" charset="-122"/>
                <a:cs typeface="Segoe UI" pitchFamily="34" charset="-120"/>
              </a:rPr>
              <a:t>Airline · Engineering</a:t>
            </a:r>
            <a:endParaRPr lang="en-US" sz="828" dirty="0"/>
          </a:p>
        </p:txBody>
      </p:sp>
      <p:sp>
        <p:nvSpPr>
          <p:cNvPr id="58" name="Text 49"/>
          <p:cNvSpPr/>
          <p:nvPr/>
        </p:nvSpPr>
        <p:spPr>
          <a:xfrm>
            <a:off x="10288045" y="3492094"/>
            <a:ext cx="1172130" cy="1069848"/>
          </a:xfrm>
          <a:prstGeom prst="rect">
            <a:avLst/>
          </a:prstGeom>
          <a:noFill/>
          <a:ln/>
        </p:spPr>
        <p:txBody>
          <a:bodyPr wrap="square" rtlCol="0" anchor="t"/>
          <a:lstStyle/>
          <a:p>
            <a:pPr algn="ctr" indent="0" marL="0">
              <a:buNone/>
            </a:pPr>
            <a:r>
              <a:rPr lang="en-US" sz="1080" b="1" dirty="0">
                <a:solidFill>
                  <a:srgbClr val="1E2235"/>
                </a:solidFill>
                <a:latin typeface="Segoe UI" pitchFamily="34" charset="0"/>
                <a:ea typeface="Segoe UI" pitchFamily="34" charset="-122"/>
                <a:cs typeface="Segoe UI" pitchFamily="34" charset="-120"/>
              </a:rPr>
              <a:t>Turning the Applicability Test into a Skill: Knowing When Not to Answer</a:t>
            </a:r>
            <a:endParaRPr lang="en-US" sz="1080" dirty="0"/>
          </a:p>
        </p:txBody>
      </p:sp>
      <p:sp>
        <p:nvSpPr>
          <p:cNvPr id="59" name="Text 50"/>
          <p:cNvSpPr/>
          <p:nvPr/>
        </p:nvSpPr>
        <p:spPr>
          <a:xfrm>
            <a:off x="10288045" y="4644238"/>
            <a:ext cx="1172130" cy="427939"/>
          </a:xfrm>
          <a:prstGeom prst="rect">
            <a:avLst/>
          </a:prstGeom>
          <a:noFill/>
          <a:ln/>
        </p:spPr>
        <p:txBody>
          <a:bodyPr wrap="square" rtlCol="0" anchor="t"/>
          <a:lstStyle/>
          <a:p>
            <a:pPr algn="ctr" indent="0" marL="0">
              <a:lnSpc>
                <a:spcPct val="105000"/>
              </a:lnSpc>
              <a:buNone/>
            </a:pPr>
            <a:r>
              <a:rPr lang="en-US" sz="864" dirty="0">
                <a:solidFill>
                  <a:srgbClr val="5B6079"/>
                </a:solidFill>
                <a:latin typeface="Segoe UI" pitchFamily="34" charset="0"/>
                <a:ea typeface="Segoe UI" pitchFamily="34" charset="-122"/>
                <a:cs typeface="Segoe UI" pitchFamily="34" charset="-120"/>
              </a:rPr>
              <a:t>Custom skill · Skill Report · File upload</a:t>
            </a:r>
            <a:endParaRPr lang="en-US" sz="864" dirty="0"/>
          </a:p>
        </p:txBody>
      </p:sp>
      <p:sp>
        <p:nvSpPr>
          <p:cNvPr id="60" name="Text 51"/>
          <p:cNvSpPr/>
          <p:nvPr/>
        </p:nvSpPr>
        <p:spPr>
          <a:xfrm>
            <a:off x="10288045" y="5154473"/>
            <a:ext cx="1172130" cy="261518"/>
          </a:xfrm>
          <a:prstGeom prst="rect">
            <a:avLst/>
          </a:prstGeom>
          <a:noFill/>
          <a:ln/>
        </p:spPr>
        <p:txBody>
          <a:bodyPr wrap="square" rtlCol="0" anchor="t"/>
          <a:lstStyle/>
          <a:p>
            <a:pPr algn="ctr" indent="0" marL="0">
              <a:buNone/>
            </a:pPr>
            <a:r>
              <a:rPr lang="en-US" sz="792" dirty="0">
                <a:solidFill>
                  <a:srgbClr val="9AA0C0"/>
                </a:solidFill>
                <a:latin typeface="Segoe UI" pitchFamily="34" charset="0"/>
                <a:ea typeface="Segoe UI" pitchFamily="34" charset="-122"/>
                <a:cs typeface="Segoe UI" pitchFamily="34" charset="-120"/>
              </a:rPr>
              <a:t>~20 min</a:t>
            </a:r>
            <a:endParaRPr lang="en-US" sz="792" dirty="0"/>
          </a:p>
          <a:p>
            <a:pPr algn="ctr" indent="0" marL="0">
              <a:buNone/>
            </a:pPr>
            <a:r>
              <a:rPr lang="en-US" sz="792" dirty="0">
                <a:solidFill>
                  <a:srgbClr val="9AA0C0"/>
                </a:solidFill>
                <a:latin typeface="Segoe UI" pitchFamily="34" charset="0"/>
                <a:ea typeface="Segoe UI" pitchFamily="34" charset="-122"/>
                <a:cs typeface="Segoe UI" pitchFamily="34" charset="-120"/>
              </a:rPr>
              <a:t> ★★★</a:t>
            </a:r>
            <a:endParaRPr lang="en-US" sz="792" dirty="0"/>
          </a:p>
        </p:txBody>
      </p:sp>
      <p:sp>
        <p:nvSpPr>
          <p:cNvPr id="61" name="Text 52"/>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62" name="Text 53"/>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031"/>
        </a:solidFill>
      </p:bgPr>
    </p:bg>
    <p:spTree>
      <p:nvGrpSpPr>
        <p:cNvPr id="1" name=""/>
        <p:cNvGrpSpPr/>
        <p:nvPr/>
      </p:nvGrpSpPr>
      <p:grpSpPr>
        <a:xfrm>
          <a:off x="0" y="0"/>
          <a:ext cx="0" cy="0"/>
          <a:chOff x="0" y="0"/>
          <a:chExt cx="0" cy="0"/>
        </a:xfrm>
      </p:grpSpPr>
      <p:sp>
        <p:nvSpPr>
          <p:cNvPr id="2" name="Shape 0"/>
          <p:cNvSpPr/>
          <p:nvPr/>
        </p:nvSpPr>
        <p:spPr>
          <a:xfrm>
            <a:off x="0" y="0"/>
            <a:ext cx="4023360" cy="6858000"/>
          </a:xfrm>
          <a:prstGeom prst="rect">
            <a:avLst/>
          </a:prstGeom>
          <a:solidFill>
            <a:srgbClr val="1C1E4A"/>
          </a:solidFill>
          <a:ln/>
        </p:spPr>
      </p:sp>
      <p:sp>
        <p:nvSpPr>
          <p:cNvPr id="3" name="Shape 1"/>
          <p:cNvSpPr/>
          <p:nvPr/>
        </p:nvSpPr>
        <p:spPr>
          <a:xfrm>
            <a:off x="0" y="0"/>
            <a:ext cx="146304" cy="6858000"/>
          </a:xfrm>
          <a:prstGeom prst="rect">
            <a:avLst/>
          </a:prstGeom>
          <a:solidFill>
            <a:srgbClr val="0E2A47"/>
          </a:solidFill>
          <a:ln/>
        </p:spPr>
      </p:sp>
      <p:sp>
        <p:nvSpPr>
          <p:cNvPr id="4" name="Text 2"/>
          <p:cNvSpPr/>
          <p:nvPr/>
        </p:nvSpPr>
        <p:spPr>
          <a:xfrm>
            <a:off x="502920" y="640080"/>
            <a:ext cx="3200400" cy="365760"/>
          </a:xfrm>
          <a:prstGeom prst="rect">
            <a:avLst/>
          </a:prstGeom>
          <a:noFill/>
          <a:ln/>
        </p:spPr>
        <p:txBody>
          <a:bodyPr wrap="square" rtlCol="0" anchor="ctr"/>
          <a:lstStyle/>
          <a:p>
            <a:pPr indent="0" marL="0">
              <a:buNone/>
            </a:pPr>
            <a:r>
              <a:rPr lang="en-US" sz="1400" b="1" spc="200" kern="0" dirty="0">
                <a:solidFill>
                  <a:srgbClr val="0E2A47"/>
                </a:solidFill>
                <a:latin typeface="Segoe UI" pitchFamily="34" charset="0"/>
                <a:ea typeface="Segoe UI" pitchFamily="34" charset="-122"/>
                <a:cs typeface="Segoe UI" pitchFamily="34" charset="-120"/>
              </a:rPr>
              <a:t>Scenario 01</a:t>
            </a:r>
            <a:endParaRPr lang="en-US" sz="1400" dirty="0"/>
          </a:p>
        </p:txBody>
      </p:sp>
      <p:sp>
        <p:nvSpPr>
          <p:cNvPr id="5" name="Shape 3"/>
          <p:cNvSpPr/>
          <p:nvPr/>
        </p:nvSpPr>
        <p:spPr>
          <a:xfrm>
            <a:off x="502920" y="1143000"/>
            <a:ext cx="1097280" cy="1097280"/>
          </a:xfrm>
          <a:prstGeom prst="ellipse">
            <a:avLst/>
          </a:prstGeom>
          <a:solidFill>
            <a:srgbClr val="0E2A47"/>
          </a:solidFill>
          <a:ln/>
        </p:spPr>
      </p:sp>
      <p:pic>
        <p:nvPicPr>
          <p:cNvPr id="6" name="Image 0" descr="preencoded.png">    </p:cNvPr>
          <p:cNvPicPr>
            <a:picLocks noChangeAspect="1"/>
          </p:cNvPicPr>
          <p:nvPr/>
        </p:nvPicPr>
        <p:blipFill>
          <a:blip r:embed="rId1"/>
          <a:stretch>
            <a:fillRect/>
          </a:stretch>
        </p:blipFill>
        <p:spPr>
          <a:xfrm>
            <a:off x="804672" y="1444752"/>
            <a:ext cx="493776" cy="493776"/>
          </a:xfrm>
          <a:prstGeom prst="rect">
            <a:avLst/>
          </a:prstGeom>
        </p:spPr>
      </p:pic>
      <p:sp>
        <p:nvSpPr>
          <p:cNvPr id="7" name="Text 4"/>
          <p:cNvSpPr/>
          <p:nvPr/>
        </p:nvSpPr>
        <p:spPr>
          <a:xfrm>
            <a:off x="502920" y="2377440"/>
            <a:ext cx="3200400" cy="320040"/>
          </a:xfrm>
          <a:prstGeom prst="rect">
            <a:avLst/>
          </a:prstGeom>
          <a:noFill/>
          <a:ln/>
        </p:spPr>
        <p:txBody>
          <a:bodyPr wrap="square" rtlCol="0" anchor="ctr"/>
          <a:lstStyle/>
          <a:p>
            <a:pPr indent="0" marL="0">
              <a:buNone/>
            </a:pPr>
            <a:r>
              <a:rPr lang="en-US" sz="1300" b="1" dirty="0">
                <a:solidFill>
                  <a:srgbClr val="B9BCE0"/>
                </a:solidFill>
                <a:latin typeface="Segoe UI" pitchFamily="34" charset="0"/>
                <a:ea typeface="Segoe UI" pitchFamily="34" charset="-122"/>
                <a:cs typeface="Segoe UI" pitchFamily="34" charset="-120"/>
              </a:rPr>
              <a:t>Airline · Engineering</a:t>
            </a:r>
            <a:endParaRPr lang="en-US" sz="1300" dirty="0"/>
          </a:p>
        </p:txBody>
      </p:sp>
      <p:sp>
        <p:nvSpPr>
          <p:cNvPr id="8" name="Text 5"/>
          <p:cNvSpPr/>
          <p:nvPr/>
        </p:nvSpPr>
        <p:spPr>
          <a:xfrm>
            <a:off x="502920" y="2697480"/>
            <a:ext cx="3291840" cy="1325880"/>
          </a:xfrm>
          <a:prstGeom prst="rect">
            <a:avLst/>
          </a:prstGeom>
          <a:noFill/>
          <a:ln/>
        </p:spPr>
        <p:txBody>
          <a:bodyPr wrap="square" rtlCol="0" anchor="t"/>
          <a:lstStyle/>
          <a:p>
            <a:pPr indent="0" marL="0">
              <a:buNone/>
            </a:pPr>
            <a:r>
              <a:rPr lang="en-US" sz="2400" b="1" dirty="0">
                <a:solidFill>
                  <a:srgbClr val="FFFFFF"/>
                </a:solidFill>
                <a:latin typeface="Segoe UI" pitchFamily="34" charset="0"/>
                <a:ea typeface="Segoe UI" pitchFamily="34" charset="-122"/>
                <a:cs typeface="Segoe UI" pitchFamily="34" charset="-120"/>
              </a:rPr>
              <a:t>The AD Radar: the Smallest Number Is Not the Nearest Deadline</a:t>
            </a:r>
            <a:endParaRPr lang="en-US" sz="2400" dirty="0"/>
          </a:p>
        </p:txBody>
      </p:sp>
      <p:sp>
        <p:nvSpPr>
          <p:cNvPr id="9" name="Text 6"/>
          <p:cNvSpPr/>
          <p:nvPr/>
        </p:nvSpPr>
        <p:spPr>
          <a:xfrm>
            <a:off x="502920" y="4114800"/>
            <a:ext cx="3291840" cy="320040"/>
          </a:xfrm>
          <a:prstGeom prst="rect">
            <a:avLst/>
          </a:prstGeom>
          <a:noFill/>
          <a:ln/>
        </p:spPr>
        <p:txBody>
          <a:bodyPr wrap="square" rtlCol="0" anchor="ctr"/>
          <a:lstStyle/>
          <a:p>
            <a:pPr indent="0" marL="0">
              <a:buNone/>
            </a:pPr>
            <a:r>
              <a:rPr lang="en-US" sz="1300" dirty="0">
                <a:solidFill>
                  <a:srgbClr val="9FA3CC"/>
                </a:solidFill>
                <a:latin typeface="Segoe UI" pitchFamily="34" charset="0"/>
                <a:ea typeface="Segoe UI" pitchFamily="34" charset="-122"/>
                <a:cs typeface="Segoe UI" pitchFamily="34" charset="-120"/>
              </a:rPr>
              <a:t>⏱ ~15 min · Level ★★☆</a:t>
            </a:r>
            <a:endParaRPr lang="en-US" sz="1300" dirty="0"/>
          </a:p>
        </p:txBody>
      </p:sp>
      <p:sp>
        <p:nvSpPr>
          <p:cNvPr id="10" name="Shape 7"/>
          <p:cNvSpPr/>
          <p:nvPr/>
        </p:nvSpPr>
        <p:spPr>
          <a:xfrm>
            <a:off x="502920" y="4572000"/>
            <a:ext cx="1719072" cy="402336"/>
          </a:xfrm>
          <a:prstGeom prst="roundRect">
            <a:avLst>
              <a:gd name="adj" fmla="val 50000"/>
            </a:avLst>
          </a:prstGeom>
          <a:solidFill>
            <a:srgbClr val="6366F1"/>
          </a:solidFill>
          <a:ln/>
        </p:spPr>
      </p:sp>
      <p:sp>
        <p:nvSpPr>
          <p:cNvPr id="11" name="Text 8"/>
          <p:cNvSpPr/>
          <p:nvPr/>
        </p:nvSpPr>
        <p:spPr>
          <a:xfrm>
            <a:off x="502920" y="4572000"/>
            <a:ext cx="1719072"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Daily Briefing</a:t>
            </a:r>
            <a:endParaRPr lang="en-US" sz="1200" dirty="0"/>
          </a:p>
        </p:txBody>
      </p:sp>
      <p:sp>
        <p:nvSpPr>
          <p:cNvPr id="12" name="Shape 9"/>
          <p:cNvSpPr/>
          <p:nvPr/>
        </p:nvSpPr>
        <p:spPr>
          <a:xfrm>
            <a:off x="2404872" y="4572000"/>
            <a:ext cx="813816" cy="402336"/>
          </a:xfrm>
          <a:prstGeom prst="roundRect">
            <a:avLst>
              <a:gd name="adj" fmla="val 50000"/>
            </a:avLst>
          </a:prstGeom>
          <a:solidFill>
            <a:srgbClr val="217346"/>
          </a:solidFill>
          <a:ln/>
        </p:spPr>
      </p:sp>
      <p:sp>
        <p:nvSpPr>
          <p:cNvPr id="13" name="Text 10"/>
          <p:cNvSpPr/>
          <p:nvPr/>
        </p:nvSpPr>
        <p:spPr>
          <a:xfrm>
            <a:off x="2404872" y="4572000"/>
            <a:ext cx="813816"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Excel</a:t>
            </a:r>
            <a:endParaRPr lang="en-US" sz="1200" dirty="0"/>
          </a:p>
        </p:txBody>
      </p:sp>
      <p:sp>
        <p:nvSpPr>
          <p:cNvPr id="14" name="Shape 11"/>
          <p:cNvSpPr/>
          <p:nvPr/>
        </p:nvSpPr>
        <p:spPr>
          <a:xfrm>
            <a:off x="502920" y="5074920"/>
            <a:ext cx="1920240" cy="402336"/>
          </a:xfrm>
          <a:prstGeom prst="roundRect">
            <a:avLst>
              <a:gd name="adj" fmla="val 50000"/>
            </a:avLst>
          </a:prstGeom>
          <a:solidFill>
            <a:srgbClr val="6366F1"/>
          </a:solidFill>
          <a:ln/>
        </p:spPr>
      </p:sp>
      <p:sp>
        <p:nvSpPr>
          <p:cNvPr id="15" name="Text 12"/>
          <p:cNvSpPr/>
          <p:nvPr/>
        </p:nvSpPr>
        <p:spPr>
          <a:xfrm>
            <a:off x="502920" y="5074920"/>
            <a:ext cx="1920240"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Scheduled prompt</a:t>
            </a:r>
            <a:endParaRPr lang="en-US" sz="1200" dirty="0"/>
          </a:p>
        </p:txBody>
      </p:sp>
      <p:sp>
        <p:nvSpPr>
          <p:cNvPr id="16" name="Text 13"/>
          <p:cNvSpPr/>
          <p:nvPr/>
        </p:nvSpPr>
        <p:spPr>
          <a:xfrm>
            <a:off x="4526280" y="566928"/>
            <a:ext cx="7132320" cy="1819656"/>
          </a:xfrm>
          <a:prstGeom prst="rect">
            <a:avLst/>
          </a:prstGeom>
          <a:noFill/>
          <a:ln/>
        </p:spPr>
        <p:txBody>
          <a:bodyPr wrap="square" rtlCol="0" anchor="t"/>
          <a:lstStyle/>
          <a:p>
            <a:pPr indent="0" marL="0">
              <a:lnSpc>
                <a:spcPct val="130000"/>
              </a:lnSpc>
              <a:buNone/>
            </a:pPr>
            <a:r>
              <a:rPr lang="en-US" sz="1244" dirty="0">
                <a:solidFill>
                  <a:srgbClr val="D7D9F0"/>
                </a:solidFill>
                <a:latin typeface="Segoe UI" pitchFamily="34" charset="0"/>
                <a:ea typeface="Segoe UI" pitchFamily="34" charset="-122"/>
                <a:cs typeface="Segoe UI" pitchFamily="34" charset="-120"/>
              </a:rPr>
              <a:t>An overdue airworthiness directive grounds the aircraft that day. There is no extension and no alternative means. The difficulty is that deadlines come on three different bases — calendar days, flight hours, flight cycles — and the remaining quantities cannot be compared directly. The item showing “45 days”, which looks like the most urgent thing on the register, turns out to be second once you convert. This scenario ends by putting the sweep on a schedule, every morning.</a:t>
            </a:r>
            <a:endParaRPr lang="en-US" sz="1244" dirty="0"/>
          </a:p>
        </p:txBody>
      </p:sp>
      <p:sp>
        <p:nvSpPr>
          <p:cNvPr id="17" name="Text 14"/>
          <p:cNvSpPr/>
          <p:nvPr/>
        </p:nvSpPr>
        <p:spPr>
          <a:xfrm>
            <a:off x="4526280" y="2514600"/>
            <a:ext cx="7132320" cy="365760"/>
          </a:xfrm>
          <a:prstGeom prst="rect">
            <a:avLst/>
          </a:prstGeom>
          <a:noFill/>
          <a:ln/>
        </p:spPr>
        <p:txBody>
          <a:bodyPr wrap="square" rtlCol="0" anchor="ctr"/>
          <a:lstStyle/>
          <a:p>
            <a:pPr indent="0" marL="0">
              <a:buNone/>
            </a:pPr>
            <a:r>
              <a:rPr lang="en-US" sz="1500" b="1" dirty="0">
                <a:solidFill>
                  <a:srgbClr val="0E2A47"/>
                </a:solidFill>
                <a:latin typeface="Segoe UI" pitchFamily="34" charset="0"/>
                <a:ea typeface="Segoe UI" pitchFamily="34" charset="-122"/>
                <a:cs typeface="Segoe UI" pitchFamily="34" charset="-120"/>
              </a:rPr>
              <a:t>Agentic workflow</a:t>
            </a:r>
            <a:endParaRPr lang="en-US" sz="1500" dirty="0"/>
          </a:p>
        </p:txBody>
      </p:sp>
      <p:sp>
        <p:nvSpPr>
          <p:cNvPr id="18" name="Shape 15"/>
          <p:cNvSpPr/>
          <p:nvPr/>
        </p:nvSpPr>
        <p:spPr>
          <a:xfrm>
            <a:off x="4526280" y="2971800"/>
            <a:ext cx="457200" cy="457200"/>
          </a:xfrm>
          <a:prstGeom prst="ellipse">
            <a:avLst/>
          </a:prstGeom>
          <a:solidFill>
            <a:srgbClr val="FFFFFF">
              <a:alpha val="12000"/>
            </a:srgbClr>
          </a:solidFill>
          <a:ln w="19050">
            <a:solidFill>
              <a:srgbClr val="0E2A47"/>
            </a:solidFill>
            <a:prstDash val="solid"/>
          </a:ln>
        </p:spPr>
      </p:sp>
      <p:sp>
        <p:nvSpPr>
          <p:cNvPr id="19" name="Text 16"/>
          <p:cNvSpPr/>
          <p:nvPr/>
        </p:nvSpPr>
        <p:spPr>
          <a:xfrm>
            <a:off x="4526280" y="2971800"/>
            <a:ext cx="457200" cy="457200"/>
          </a:xfrm>
          <a:prstGeom prst="rect">
            <a:avLst/>
          </a:prstGeom>
          <a:noFill/>
          <a:ln/>
        </p:spPr>
        <p:txBody>
          <a:bodyPr wrap="square" rtlCol="0" anchor="ctr"/>
          <a:lstStyle/>
          <a:p>
            <a:pPr algn="ctr" indent="0" marL="0">
              <a:buNone/>
            </a:pPr>
            <a:r>
              <a:rPr lang="en-US" sz="1600" b="1" dirty="0">
                <a:solidFill>
                  <a:srgbClr val="0E2A47"/>
                </a:solidFill>
                <a:latin typeface="Segoe UI" pitchFamily="34" charset="0"/>
                <a:ea typeface="Segoe UI" pitchFamily="34" charset="-122"/>
                <a:cs typeface="Segoe UI" pitchFamily="34" charset="-120"/>
              </a:rPr>
              <a:t>1</a:t>
            </a:r>
            <a:endParaRPr lang="en-US" sz="1600" dirty="0"/>
          </a:p>
        </p:txBody>
      </p:sp>
      <p:sp>
        <p:nvSpPr>
          <p:cNvPr id="20" name="Text 17"/>
          <p:cNvSpPr/>
          <p:nvPr/>
        </p:nvSpPr>
        <p:spPr>
          <a:xfrm>
            <a:off x="5166360" y="2953512"/>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Get everything onto one scale</a:t>
            </a:r>
            <a:endParaRPr lang="en-US" sz="1600" dirty="0"/>
          </a:p>
        </p:txBody>
      </p:sp>
      <p:sp>
        <p:nvSpPr>
          <p:cNvPr id="21" name="Text 18"/>
          <p:cNvSpPr/>
          <p:nvPr/>
        </p:nvSpPr>
        <p:spPr>
          <a:xfrm>
            <a:off x="5166360" y="3319272"/>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Nothing to upload. Both files are in Cowork_Lab/AirlineE…</a:t>
            </a:r>
            <a:endParaRPr lang="en-US" sz="1300" dirty="0"/>
          </a:p>
        </p:txBody>
      </p:sp>
      <p:sp>
        <p:nvSpPr>
          <p:cNvPr id="22" name="Shape 19"/>
          <p:cNvSpPr/>
          <p:nvPr/>
        </p:nvSpPr>
        <p:spPr>
          <a:xfrm>
            <a:off x="4526280" y="3831336"/>
            <a:ext cx="457200" cy="457200"/>
          </a:xfrm>
          <a:prstGeom prst="ellipse">
            <a:avLst/>
          </a:prstGeom>
          <a:solidFill>
            <a:srgbClr val="FFFFFF">
              <a:alpha val="12000"/>
            </a:srgbClr>
          </a:solidFill>
          <a:ln w="19050">
            <a:solidFill>
              <a:srgbClr val="0E2A47"/>
            </a:solidFill>
            <a:prstDash val="solid"/>
          </a:ln>
        </p:spPr>
      </p:sp>
      <p:sp>
        <p:nvSpPr>
          <p:cNvPr id="23" name="Text 20"/>
          <p:cNvSpPr/>
          <p:nvPr/>
        </p:nvSpPr>
        <p:spPr>
          <a:xfrm>
            <a:off x="4526280" y="3831336"/>
            <a:ext cx="457200" cy="457200"/>
          </a:xfrm>
          <a:prstGeom prst="rect">
            <a:avLst/>
          </a:prstGeom>
          <a:noFill/>
          <a:ln/>
        </p:spPr>
        <p:txBody>
          <a:bodyPr wrap="square" rtlCol="0" anchor="ctr"/>
          <a:lstStyle/>
          <a:p>
            <a:pPr algn="ctr" indent="0" marL="0">
              <a:buNone/>
            </a:pPr>
            <a:r>
              <a:rPr lang="en-US" sz="1600" b="1" dirty="0">
                <a:solidFill>
                  <a:srgbClr val="0E2A47"/>
                </a:solidFill>
                <a:latin typeface="Segoe UI" pitchFamily="34" charset="0"/>
                <a:ea typeface="Segoe UI" pitchFamily="34" charset="-122"/>
                <a:cs typeface="Segoe UI" pitchFamily="34" charset="-120"/>
              </a:rPr>
              <a:t>2</a:t>
            </a:r>
            <a:endParaRPr lang="en-US" sz="1600" dirty="0"/>
          </a:p>
        </p:txBody>
      </p:sp>
      <p:sp>
        <p:nvSpPr>
          <p:cNvPr id="24" name="Text 21"/>
          <p:cNvSpPr/>
          <p:nvPr/>
        </p:nvSpPr>
        <p:spPr>
          <a:xfrm>
            <a:off x="5166360" y="3813048"/>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 Press on the two directives sitting on the same tail</a:t>
            </a:r>
            <a:endParaRPr lang="en-US" sz="1600" dirty="0"/>
          </a:p>
        </p:txBody>
      </p:sp>
      <p:sp>
        <p:nvSpPr>
          <p:cNvPr id="25" name="Text 22"/>
          <p:cNvSpPr/>
          <p:nvPr/>
        </p:nvSpPr>
        <p:spPr>
          <a:xfrm>
            <a:off x="5166360" y="4178808"/>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With the ranking in hand, pick the tail that carries two…</a:t>
            </a:r>
            <a:endParaRPr lang="en-US" sz="1300" dirty="0"/>
          </a:p>
        </p:txBody>
      </p:sp>
      <p:sp>
        <p:nvSpPr>
          <p:cNvPr id="26" name="Shape 23"/>
          <p:cNvSpPr/>
          <p:nvPr/>
        </p:nvSpPr>
        <p:spPr>
          <a:xfrm>
            <a:off x="4526280" y="4690872"/>
            <a:ext cx="457200" cy="457200"/>
          </a:xfrm>
          <a:prstGeom prst="ellipse">
            <a:avLst/>
          </a:prstGeom>
          <a:solidFill>
            <a:srgbClr val="FFFFFF">
              <a:alpha val="12000"/>
            </a:srgbClr>
          </a:solidFill>
          <a:ln w="19050">
            <a:solidFill>
              <a:srgbClr val="0E2A47"/>
            </a:solidFill>
            <a:prstDash val="solid"/>
          </a:ln>
        </p:spPr>
      </p:sp>
      <p:sp>
        <p:nvSpPr>
          <p:cNvPr id="27" name="Text 24"/>
          <p:cNvSpPr/>
          <p:nvPr/>
        </p:nvSpPr>
        <p:spPr>
          <a:xfrm>
            <a:off x="4526280" y="4690872"/>
            <a:ext cx="457200" cy="457200"/>
          </a:xfrm>
          <a:prstGeom prst="rect">
            <a:avLst/>
          </a:prstGeom>
          <a:noFill/>
          <a:ln/>
        </p:spPr>
        <p:txBody>
          <a:bodyPr wrap="square" rtlCol="0" anchor="ctr"/>
          <a:lstStyle/>
          <a:p>
            <a:pPr algn="ctr" indent="0" marL="0">
              <a:buNone/>
            </a:pPr>
            <a:r>
              <a:rPr lang="en-US" sz="1600" b="1" dirty="0">
                <a:solidFill>
                  <a:srgbClr val="0E2A47"/>
                </a:solidFill>
                <a:latin typeface="Segoe UI" pitchFamily="34" charset="0"/>
                <a:ea typeface="Segoe UI" pitchFamily="34" charset="-122"/>
                <a:cs typeface="Segoe UI" pitchFamily="34" charset="-120"/>
              </a:rPr>
              <a:t>3</a:t>
            </a:r>
            <a:endParaRPr lang="en-US" sz="1600" dirty="0"/>
          </a:p>
        </p:txBody>
      </p:sp>
      <p:sp>
        <p:nvSpPr>
          <p:cNvPr id="28" name="Text 25"/>
          <p:cNvSpPr/>
          <p:nvPr/>
        </p:nvSpPr>
        <p:spPr>
          <a:xfrm>
            <a:off x="5166360" y="4672584"/>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Turn it into something you can read in three seconds</a:t>
            </a:r>
            <a:endParaRPr lang="en-US" sz="1600" dirty="0"/>
          </a:p>
        </p:txBody>
      </p:sp>
      <p:sp>
        <p:nvSpPr>
          <p:cNvPr id="29" name="Text 26"/>
          <p:cNvSpPr/>
          <p:nvPr/>
        </p:nvSpPr>
        <p:spPr>
          <a:xfrm>
            <a:off x="5166360" y="5038344"/>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You will read this every day, so the format matters as m…</a:t>
            </a:r>
            <a:endParaRPr lang="en-US" sz="1300" dirty="0"/>
          </a:p>
        </p:txBody>
      </p:sp>
      <p:sp>
        <p:nvSpPr>
          <p:cNvPr id="30" name="Shape 27"/>
          <p:cNvSpPr/>
          <p:nvPr/>
        </p:nvSpPr>
        <p:spPr>
          <a:xfrm>
            <a:off x="4526280" y="5550408"/>
            <a:ext cx="457200" cy="457200"/>
          </a:xfrm>
          <a:prstGeom prst="ellipse">
            <a:avLst/>
          </a:prstGeom>
          <a:solidFill>
            <a:srgbClr val="FFFFFF">
              <a:alpha val="12000"/>
            </a:srgbClr>
          </a:solidFill>
          <a:ln w="19050">
            <a:solidFill>
              <a:srgbClr val="0E2A47"/>
            </a:solidFill>
            <a:prstDash val="solid"/>
          </a:ln>
        </p:spPr>
      </p:sp>
      <p:sp>
        <p:nvSpPr>
          <p:cNvPr id="31" name="Text 28"/>
          <p:cNvSpPr/>
          <p:nvPr/>
        </p:nvSpPr>
        <p:spPr>
          <a:xfrm>
            <a:off x="4526280" y="5550408"/>
            <a:ext cx="457200" cy="457200"/>
          </a:xfrm>
          <a:prstGeom prst="rect">
            <a:avLst/>
          </a:prstGeom>
          <a:noFill/>
          <a:ln/>
        </p:spPr>
        <p:txBody>
          <a:bodyPr wrap="square" rtlCol="0" anchor="ctr"/>
          <a:lstStyle/>
          <a:p>
            <a:pPr algn="ctr" indent="0" marL="0">
              <a:buNone/>
            </a:pPr>
            <a:r>
              <a:rPr lang="en-US" sz="1600" b="1" dirty="0">
                <a:solidFill>
                  <a:srgbClr val="0E2A47"/>
                </a:solidFill>
                <a:latin typeface="Segoe UI" pitchFamily="34" charset="0"/>
                <a:ea typeface="Segoe UI" pitchFamily="34" charset="-122"/>
                <a:cs typeface="Segoe UI" pitchFamily="34" charset="-120"/>
              </a:rPr>
              <a:t>4</a:t>
            </a:r>
            <a:endParaRPr lang="en-US" sz="1600" dirty="0"/>
          </a:p>
        </p:txBody>
      </p:sp>
      <p:sp>
        <p:nvSpPr>
          <p:cNvPr id="32" name="Text 29"/>
          <p:cNvSpPr/>
          <p:nvPr/>
        </p:nvSpPr>
        <p:spPr>
          <a:xfrm>
            <a:off x="5166360" y="5532120"/>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 Put it on a schedule</a:t>
            </a:r>
            <a:endParaRPr lang="en-US" sz="1600" dirty="0"/>
          </a:p>
        </p:txBody>
      </p:sp>
      <p:sp>
        <p:nvSpPr>
          <p:cNvPr id="33" name="Text 30"/>
          <p:cNvSpPr/>
          <p:nvPr/>
        </p:nvSpPr>
        <p:spPr>
          <a:xfrm>
            <a:off x="5166360" y="5897880"/>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This really does create a scheduled prompt. Pause it whe…</a:t>
            </a:r>
            <a:endParaRPr lang="en-US" sz="1300" dirty="0"/>
          </a:p>
        </p:txBody>
      </p:sp>
      <p:sp>
        <p:nvSpPr>
          <p:cNvPr id="34" name="Text 31"/>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8A8FB5"/>
                </a:solidFill>
                <a:latin typeface="Segoe UI" pitchFamily="34" charset="0"/>
                <a:ea typeface="Segoe UI" pitchFamily="34" charset="-122"/>
                <a:cs typeface="Segoe UI" pitchFamily="34" charset="-120"/>
              </a:rPr>
              <a:t>Microsoft 365 Copilot Cowork</a:t>
            </a:r>
            <a:endParaRPr lang="en-US" sz="900" dirty="0"/>
          </a:p>
        </p:txBody>
      </p:sp>
      <p:sp>
        <p:nvSpPr>
          <p:cNvPr id="35" name="Text 32"/>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8A8FB5"/>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0E2A47"/>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0E2A47"/>
                </a:solidFill>
                <a:latin typeface="Segoe UI" pitchFamily="34" charset="0"/>
                <a:ea typeface="Segoe UI" pitchFamily="34" charset="-122"/>
                <a:cs typeface="Segoe UI" pitchFamily="34" charset="-120"/>
              </a:rPr>
              <a:t>Scenario 01 · Live demo</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What Cowork does, and what it produces</a:t>
            </a:r>
            <a:endParaRPr lang="en-US" sz="3000" dirty="0"/>
          </a:p>
        </p:txBody>
      </p:sp>
      <p:sp>
        <p:nvSpPr>
          <p:cNvPr id="5" name="Shape 3"/>
          <p:cNvSpPr/>
          <p:nvPr/>
        </p:nvSpPr>
        <p:spPr>
          <a:xfrm>
            <a:off x="137754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6" name="Image 0" descr="C:\temp\CoworkLab\v3\_working\screenshots\air1_01_input_en.png">    </p:cNvPr>
          <p:cNvPicPr>
            <a:picLocks noChangeAspect="1"/>
          </p:cNvPicPr>
          <p:nvPr/>
        </p:nvPicPr>
        <p:blipFill>
          <a:blip r:embed="rId1"/>
          <a:stretch>
            <a:fillRect/>
          </a:stretch>
        </p:blipFill>
        <p:spPr>
          <a:xfrm>
            <a:off x="1432408" y="1828800"/>
            <a:ext cx="4434840" cy="2904283"/>
          </a:xfrm>
          <a:prstGeom prst="rect">
            <a:avLst/>
          </a:prstGeom>
        </p:spPr>
      </p:pic>
      <p:sp>
        <p:nvSpPr>
          <p:cNvPr id="7" name="Text 4"/>
          <p:cNvSpPr/>
          <p:nvPr/>
        </p:nvSpPr>
        <p:spPr>
          <a:xfrm>
            <a:off x="1432408" y="4824523"/>
            <a:ext cx="4434840" cy="292608"/>
          </a:xfrm>
          <a:prstGeom prst="rect">
            <a:avLst/>
          </a:prstGeom>
          <a:noFill/>
          <a:ln/>
        </p:spPr>
        <p:txBody>
          <a:bodyPr wrap="square" rtlCol="0" anchor="ctr"/>
          <a:lstStyle/>
          <a:p>
            <a:pPr algn="ctr" indent="0" marL="0">
              <a:buNone/>
            </a:pPr>
            <a:r>
              <a:rPr lang="en-US" sz="1350" b="1" dirty="0">
                <a:solidFill>
                  <a:srgbClr val="0E2A47"/>
                </a:solidFill>
                <a:latin typeface="Segoe UI" pitchFamily="34" charset="0"/>
                <a:ea typeface="Segoe UI" pitchFamily="34" charset="-122"/>
                <a:cs typeface="Segoe UI" pitchFamily="34" charset="-120"/>
              </a:rPr>
              <a:t>① Your input and prompt</a:t>
            </a:r>
            <a:endParaRPr lang="en-US" sz="1350" dirty="0"/>
          </a:p>
        </p:txBody>
      </p:sp>
      <p:sp>
        <p:nvSpPr>
          <p:cNvPr id="8" name="Shape 5"/>
          <p:cNvSpPr/>
          <p:nvPr/>
        </p:nvSpPr>
        <p:spPr>
          <a:xfrm>
            <a:off x="626958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9" name="Image 1" descr="C:\temp\CoworkLab\v3\_working\screenshots\air1_04b_automations_en.png">    </p:cNvPr>
          <p:cNvPicPr>
            <a:picLocks noChangeAspect="1"/>
          </p:cNvPicPr>
          <p:nvPr/>
        </p:nvPicPr>
        <p:blipFill>
          <a:blip r:embed="rId2"/>
          <a:stretch>
            <a:fillRect/>
          </a:stretch>
        </p:blipFill>
        <p:spPr>
          <a:xfrm>
            <a:off x="6324448" y="1828800"/>
            <a:ext cx="4434840" cy="2904283"/>
          </a:xfrm>
          <a:prstGeom prst="rect">
            <a:avLst/>
          </a:prstGeom>
        </p:spPr>
      </p:pic>
      <p:sp>
        <p:nvSpPr>
          <p:cNvPr id="10" name="Text 6"/>
          <p:cNvSpPr/>
          <p:nvPr/>
        </p:nvSpPr>
        <p:spPr>
          <a:xfrm>
            <a:off x="6324448" y="4824523"/>
            <a:ext cx="4434840" cy="292608"/>
          </a:xfrm>
          <a:prstGeom prst="rect">
            <a:avLst/>
          </a:prstGeom>
          <a:noFill/>
          <a:ln/>
        </p:spPr>
        <p:txBody>
          <a:bodyPr wrap="square" rtlCol="0" anchor="ctr"/>
          <a:lstStyle/>
          <a:p>
            <a:pPr algn="ctr" indent="0" marL="0">
              <a:buNone/>
            </a:pPr>
            <a:r>
              <a:rPr lang="en-US" sz="1350" b="1" dirty="0">
                <a:solidFill>
                  <a:srgbClr val="0E2A47"/>
                </a:solidFill>
                <a:latin typeface="Segoe UI" pitchFamily="34" charset="0"/>
                <a:ea typeface="Segoe UI" pitchFamily="34" charset="-122"/>
                <a:cs typeface="Segoe UI" pitchFamily="34" charset="-120"/>
              </a:rPr>
              <a:t>② The result</a:t>
            </a:r>
            <a:endParaRPr lang="en-US" sz="1350" dirty="0"/>
          </a:p>
        </p:txBody>
      </p:sp>
      <p:sp>
        <p:nvSpPr>
          <p:cNvPr id="11" name="Shape 7"/>
          <p:cNvSpPr/>
          <p:nvPr/>
        </p:nvSpPr>
        <p:spPr>
          <a:xfrm>
            <a:off x="640080" y="5226859"/>
            <a:ext cx="10911535" cy="1143000"/>
          </a:xfrm>
          <a:prstGeom prst="rect">
            <a:avLst/>
          </a:prstGeom>
          <a:solidFill>
            <a:srgbClr val="FFFFFF"/>
          </a:solidFill>
          <a:ln w="12700">
            <a:solidFill>
              <a:srgbClr val="E4E7F2"/>
            </a:solidFill>
            <a:prstDash val="solid"/>
          </a:ln>
        </p:spPr>
      </p:sp>
      <p:sp>
        <p:nvSpPr>
          <p:cNvPr id="12" name="Shape 8"/>
          <p:cNvSpPr/>
          <p:nvPr/>
        </p:nvSpPr>
        <p:spPr>
          <a:xfrm>
            <a:off x="640080" y="5226859"/>
            <a:ext cx="91440" cy="1143000"/>
          </a:xfrm>
          <a:prstGeom prst="rect">
            <a:avLst/>
          </a:prstGeom>
          <a:solidFill>
            <a:srgbClr val="0E2A47"/>
          </a:solidFill>
          <a:ln/>
        </p:spPr>
      </p:sp>
      <p:sp>
        <p:nvSpPr>
          <p:cNvPr id="13" name="Text 9"/>
          <p:cNvSpPr/>
          <p:nvPr/>
        </p:nvSpPr>
        <p:spPr>
          <a:xfrm>
            <a:off x="914400" y="5336587"/>
            <a:ext cx="1783080" cy="320040"/>
          </a:xfrm>
          <a:prstGeom prst="rect">
            <a:avLst/>
          </a:prstGeom>
          <a:noFill/>
          <a:ln/>
        </p:spPr>
        <p:txBody>
          <a:bodyPr wrap="square" rtlCol="0" anchor="ctr"/>
          <a:lstStyle/>
          <a:p>
            <a:pPr indent="0" marL="0">
              <a:buNone/>
            </a:pPr>
            <a:r>
              <a:rPr lang="en-US" sz="1400" b="1" dirty="0">
                <a:solidFill>
                  <a:srgbClr val="1E2235"/>
                </a:solidFill>
                <a:latin typeface="Segoe UI" pitchFamily="34" charset="0"/>
                <a:ea typeface="Segoe UI" pitchFamily="34" charset="-122"/>
                <a:cs typeface="Segoe UI" pitchFamily="34" charset="-120"/>
              </a:rPr>
              <a:t>Check the output</a:t>
            </a:r>
            <a:endParaRPr lang="en-US" sz="1400" dirty="0"/>
          </a:p>
        </p:txBody>
      </p:sp>
      <p:pic>
        <p:nvPicPr>
          <p:cNvPr id="14" name="Image 2" descr="preencoded.png">    </p:cNvPr>
          <p:cNvPicPr>
            <a:picLocks noChangeAspect="1"/>
          </p:cNvPicPr>
          <p:nvPr/>
        </p:nvPicPr>
        <p:blipFill>
          <a:blip r:embed="rId3"/>
          <a:stretch>
            <a:fillRect/>
          </a:stretch>
        </p:blipFill>
        <p:spPr>
          <a:xfrm>
            <a:off x="2880360" y="5373163"/>
            <a:ext cx="182880" cy="182880"/>
          </a:xfrm>
          <a:prstGeom prst="rect">
            <a:avLst/>
          </a:prstGeom>
        </p:spPr>
      </p:pic>
      <p:sp>
        <p:nvSpPr>
          <p:cNvPr id="15" name="Text 10"/>
          <p:cNvSpPr/>
          <p:nvPr/>
        </p:nvSpPr>
        <p:spPr>
          <a:xfrm>
            <a:off x="3154680" y="5318299"/>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All twelve directives have an estimated days-remaining figure — none skipped</a:t>
            </a:r>
            <a:endParaRPr lang="en-US" sz="1300" dirty="0"/>
          </a:p>
        </p:txBody>
      </p:sp>
      <p:pic>
        <p:nvPicPr>
          <p:cNvPr id="16" name="Image 3" descr="preencoded.png">    </p:cNvPr>
          <p:cNvPicPr>
            <a:picLocks noChangeAspect="1"/>
          </p:cNvPicPr>
          <p:nvPr/>
        </p:nvPicPr>
        <p:blipFill>
          <a:blip r:embed="rId4"/>
          <a:stretch>
            <a:fillRect/>
          </a:stretch>
        </p:blipFill>
        <p:spPr>
          <a:xfrm>
            <a:off x="2880360" y="5711491"/>
            <a:ext cx="182880" cy="182880"/>
          </a:xfrm>
          <a:prstGeom prst="rect">
            <a:avLst/>
          </a:prstGeom>
        </p:spPr>
      </p:pic>
      <p:sp>
        <p:nvSpPr>
          <p:cNvPr id="17" name="Text 11"/>
          <p:cNvSpPr/>
          <p:nvPr/>
        </p:nvSpPr>
        <p:spPr>
          <a:xfrm>
            <a:off x="3154680" y="5656627"/>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Flight-hour items used the FH average and flight-cycle items the FC average — not swapped</a:t>
            </a:r>
            <a:endParaRPr lang="en-US" sz="1300" dirty="0"/>
          </a:p>
        </p:txBody>
      </p:sp>
      <p:pic>
        <p:nvPicPr>
          <p:cNvPr id="18" name="Image 4" descr="preencoded.png">    </p:cNvPr>
          <p:cNvPicPr>
            <a:picLocks noChangeAspect="1"/>
          </p:cNvPicPr>
          <p:nvPr/>
        </p:nvPicPr>
        <p:blipFill>
          <a:blip r:embed="rId5"/>
          <a:stretch>
            <a:fillRect/>
          </a:stretch>
        </p:blipFill>
        <p:spPr>
          <a:xfrm>
            <a:off x="2880360" y="6049819"/>
            <a:ext cx="182880" cy="182880"/>
          </a:xfrm>
          <a:prstGeom prst="rect">
            <a:avLst/>
          </a:prstGeom>
        </p:spPr>
      </p:pic>
      <p:sp>
        <p:nvSpPr>
          <p:cNvPr id="19" name="Text 12"/>
          <p:cNvSpPr/>
          <p:nvPr/>
        </p:nvSpPr>
        <p:spPr>
          <a:xfrm>
            <a:off x="3154680" y="5994955"/>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The top of the ranking is not the item with the fewest calendar days on the register</a:t>
            </a:r>
            <a:endParaRPr lang="en-US" sz="1300" dirty="0"/>
          </a:p>
        </p:txBody>
      </p:sp>
      <p:sp>
        <p:nvSpPr>
          <p:cNvPr id="20" name="Text 13"/>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21" name="Text 14"/>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031"/>
        </a:solidFill>
      </p:bgPr>
    </p:bg>
    <p:spTree>
      <p:nvGrpSpPr>
        <p:cNvPr id="1" name=""/>
        <p:cNvGrpSpPr/>
        <p:nvPr/>
      </p:nvGrpSpPr>
      <p:grpSpPr>
        <a:xfrm>
          <a:off x="0" y="0"/>
          <a:ext cx="0" cy="0"/>
          <a:chOff x="0" y="0"/>
          <a:chExt cx="0" cy="0"/>
        </a:xfrm>
      </p:grpSpPr>
      <p:sp>
        <p:nvSpPr>
          <p:cNvPr id="2" name="Shape 0"/>
          <p:cNvSpPr/>
          <p:nvPr/>
        </p:nvSpPr>
        <p:spPr>
          <a:xfrm>
            <a:off x="0" y="0"/>
            <a:ext cx="4023360" cy="6858000"/>
          </a:xfrm>
          <a:prstGeom prst="rect">
            <a:avLst/>
          </a:prstGeom>
          <a:solidFill>
            <a:srgbClr val="1C1E4A"/>
          </a:solidFill>
          <a:ln/>
        </p:spPr>
      </p:sp>
      <p:sp>
        <p:nvSpPr>
          <p:cNvPr id="3" name="Shape 1"/>
          <p:cNvSpPr/>
          <p:nvPr/>
        </p:nvSpPr>
        <p:spPr>
          <a:xfrm>
            <a:off x="0" y="0"/>
            <a:ext cx="146304" cy="6858000"/>
          </a:xfrm>
          <a:prstGeom prst="rect">
            <a:avLst/>
          </a:prstGeom>
          <a:solidFill>
            <a:srgbClr val="0F5132"/>
          </a:solidFill>
          <a:ln/>
        </p:spPr>
      </p:sp>
      <p:sp>
        <p:nvSpPr>
          <p:cNvPr id="4" name="Text 2"/>
          <p:cNvSpPr/>
          <p:nvPr/>
        </p:nvSpPr>
        <p:spPr>
          <a:xfrm>
            <a:off x="502920" y="640080"/>
            <a:ext cx="3200400" cy="365760"/>
          </a:xfrm>
          <a:prstGeom prst="rect">
            <a:avLst/>
          </a:prstGeom>
          <a:noFill/>
          <a:ln/>
        </p:spPr>
        <p:txBody>
          <a:bodyPr wrap="square" rtlCol="0" anchor="ctr"/>
          <a:lstStyle/>
          <a:p>
            <a:pPr indent="0" marL="0">
              <a:buNone/>
            </a:pPr>
            <a:r>
              <a:rPr lang="en-US" sz="1400" b="1" spc="200" kern="0" dirty="0">
                <a:solidFill>
                  <a:srgbClr val="0F5132"/>
                </a:solidFill>
                <a:latin typeface="Segoe UI" pitchFamily="34" charset="0"/>
                <a:ea typeface="Segoe UI" pitchFamily="34" charset="-122"/>
                <a:cs typeface="Segoe UI" pitchFamily="34" charset="-120"/>
              </a:rPr>
              <a:t>Scenario 02</a:t>
            </a:r>
            <a:endParaRPr lang="en-US" sz="1400" dirty="0"/>
          </a:p>
        </p:txBody>
      </p:sp>
      <p:sp>
        <p:nvSpPr>
          <p:cNvPr id="5" name="Shape 3"/>
          <p:cNvSpPr/>
          <p:nvPr/>
        </p:nvSpPr>
        <p:spPr>
          <a:xfrm>
            <a:off x="502920" y="1143000"/>
            <a:ext cx="1097280" cy="1097280"/>
          </a:xfrm>
          <a:prstGeom prst="ellipse">
            <a:avLst/>
          </a:prstGeom>
          <a:solidFill>
            <a:srgbClr val="0F5132"/>
          </a:solidFill>
          <a:ln/>
        </p:spPr>
      </p:sp>
      <p:pic>
        <p:nvPicPr>
          <p:cNvPr id="6" name="Image 0" descr="preencoded.png">    </p:cNvPr>
          <p:cNvPicPr>
            <a:picLocks noChangeAspect="1"/>
          </p:cNvPicPr>
          <p:nvPr/>
        </p:nvPicPr>
        <p:blipFill>
          <a:blip r:embed="rId1"/>
          <a:stretch>
            <a:fillRect/>
          </a:stretch>
        </p:blipFill>
        <p:spPr>
          <a:xfrm>
            <a:off x="804672" y="1444752"/>
            <a:ext cx="493776" cy="493776"/>
          </a:xfrm>
          <a:prstGeom prst="rect">
            <a:avLst/>
          </a:prstGeom>
        </p:spPr>
      </p:pic>
      <p:sp>
        <p:nvSpPr>
          <p:cNvPr id="7" name="Text 4"/>
          <p:cNvSpPr/>
          <p:nvPr/>
        </p:nvSpPr>
        <p:spPr>
          <a:xfrm>
            <a:off x="502920" y="2377440"/>
            <a:ext cx="3200400" cy="320040"/>
          </a:xfrm>
          <a:prstGeom prst="rect">
            <a:avLst/>
          </a:prstGeom>
          <a:noFill/>
          <a:ln/>
        </p:spPr>
        <p:txBody>
          <a:bodyPr wrap="square" rtlCol="0" anchor="ctr"/>
          <a:lstStyle/>
          <a:p>
            <a:pPr indent="0" marL="0">
              <a:buNone/>
            </a:pPr>
            <a:r>
              <a:rPr lang="en-US" sz="1300" b="1" dirty="0">
                <a:solidFill>
                  <a:srgbClr val="B9BCE0"/>
                </a:solidFill>
                <a:latin typeface="Segoe UI" pitchFamily="34" charset="0"/>
                <a:ea typeface="Segoe UI" pitchFamily="34" charset="-122"/>
                <a:cs typeface="Segoe UI" pitchFamily="34" charset="-120"/>
              </a:rPr>
              <a:t>Airline · Engineering</a:t>
            </a:r>
            <a:endParaRPr lang="en-US" sz="1300" dirty="0"/>
          </a:p>
        </p:txBody>
      </p:sp>
      <p:sp>
        <p:nvSpPr>
          <p:cNvPr id="8" name="Text 5"/>
          <p:cNvSpPr/>
          <p:nvPr/>
        </p:nvSpPr>
        <p:spPr>
          <a:xfrm>
            <a:off x="502920" y="2697480"/>
            <a:ext cx="3291840" cy="1325880"/>
          </a:xfrm>
          <a:prstGeom prst="rect">
            <a:avLst/>
          </a:prstGeom>
          <a:noFill/>
          <a:ln/>
        </p:spPr>
        <p:txBody>
          <a:bodyPr wrap="square" rtlCol="0" anchor="t"/>
          <a:lstStyle/>
          <a:p>
            <a:pPr indent="0" marL="0">
              <a:buNone/>
            </a:pPr>
            <a:r>
              <a:rPr lang="en-US" sz="2400" b="1" dirty="0">
                <a:solidFill>
                  <a:srgbClr val="FFFFFF"/>
                </a:solidFill>
                <a:latin typeface="Segoe UI" pitchFamily="34" charset="0"/>
                <a:ea typeface="Segoe UI" pitchFamily="34" charset="-122"/>
                <a:cs typeface="Segoe UI" pitchFamily="34" charset="-120"/>
              </a:rPr>
              <a:t>Deferred Items: the Strictest Category Is Not the Tightest Clock</a:t>
            </a:r>
            <a:endParaRPr lang="en-US" sz="2400" dirty="0"/>
          </a:p>
        </p:txBody>
      </p:sp>
      <p:sp>
        <p:nvSpPr>
          <p:cNvPr id="9" name="Text 6"/>
          <p:cNvSpPr/>
          <p:nvPr/>
        </p:nvSpPr>
        <p:spPr>
          <a:xfrm>
            <a:off x="502920" y="4114800"/>
            <a:ext cx="3291840" cy="320040"/>
          </a:xfrm>
          <a:prstGeom prst="rect">
            <a:avLst/>
          </a:prstGeom>
          <a:noFill/>
          <a:ln/>
        </p:spPr>
        <p:txBody>
          <a:bodyPr wrap="square" rtlCol="0" anchor="ctr"/>
          <a:lstStyle/>
          <a:p>
            <a:pPr indent="0" marL="0">
              <a:buNone/>
            </a:pPr>
            <a:r>
              <a:rPr lang="en-US" sz="1300" dirty="0">
                <a:solidFill>
                  <a:srgbClr val="9FA3CC"/>
                </a:solidFill>
                <a:latin typeface="Segoe UI" pitchFamily="34" charset="0"/>
                <a:ea typeface="Segoe UI" pitchFamily="34" charset="-122"/>
                <a:cs typeface="Segoe UI" pitchFamily="34" charset="-120"/>
              </a:rPr>
              <a:t>⏱ ~18 min · Level ★★★</a:t>
            </a:r>
            <a:endParaRPr lang="en-US" sz="1300" dirty="0"/>
          </a:p>
        </p:txBody>
      </p:sp>
      <p:sp>
        <p:nvSpPr>
          <p:cNvPr id="10" name="Shape 7"/>
          <p:cNvSpPr/>
          <p:nvPr/>
        </p:nvSpPr>
        <p:spPr>
          <a:xfrm>
            <a:off x="502920" y="4572000"/>
            <a:ext cx="813816" cy="402336"/>
          </a:xfrm>
          <a:prstGeom prst="roundRect">
            <a:avLst>
              <a:gd name="adj" fmla="val 50000"/>
            </a:avLst>
          </a:prstGeom>
          <a:solidFill>
            <a:srgbClr val="217346"/>
          </a:solidFill>
          <a:ln/>
        </p:spPr>
      </p:sp>
      <p:sp>
        <p:nvSpPr>
          <p:cNvPr id="11" name="Text 8"/>
          <p:cNvSpPr/>
          <p:nvPr/>
        </p:nvSpPr>
        <p:spPr>
          <a:xfrm>
            <a:off x="502920" y="4572000"/>
            <a:ext cx="813816"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Excel</a:t>
            </a:r>
            <a:endParaRPr lang="en-US" sz="1200" dirty="0"/>
          </a:p>
        </p:txBody>
      </p:sp>
      <p:sp>
        <p:nvSpPr>
          <p:cNvPr id="12" name="Shape 9"/>
          <p:cNvSpPr/>
          <p:nvPr/>
        </p:nvSpPr>
        <p:spPr>
          <a:xfrm>
            <a:off x="1499616" y="4572000"/>
            <a:ext cx="2121408" cy="402336"/>
          </a:xfrm>
          <a:prstGeom prst="roundRect">
            <a:avLst>
              <a:gd name="adj" fmla="val 50000"/>
            </a:avLst>
          </a:prstGeom>
          <a:solidFill>
            <a:srgbClr val="6366F1"/>
          </a:solidFill>
          <a:ln/>
        </p:spPr>
      </p:sp>
      <p:sp>
        <p:nvSpPr>
          <p:cNvPr id="13" name="Text 10"/>
          <p:cNvSpPr/>
          <p:nvPr/>
        </p:nvSpPr>
        <p:spPr>
          <a:xfrm>
            <a:off x="1499616" y="4572000"/>
            <a:ext cx="2121408"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Edit existing file</a:t>
            </a:r>
            <a:endParaRPr lang="en-US" sz="1200" dirty="0"/>
          </a:p>
        </p:txBody>
      </p:sp>
      <p:sp>
        <p:nvSpPr>
          <p:cNvPr id="14" name="Text 11"/>
          <p:cNvSpPr/>
          <p:nvPr/>
        </p:nvSpPr>
        <p:spPr>
          <a:xfrm>
            <a:off x="4526280" y="566928"/>
            <a:ext cx="7132320" cy="1819656"/>
          </a:xfrm>
          <a:prstGeom prst="rect">
            <a:avLst/>
          </a:prstGeom>
          <a:noFill/>
          <a:ln/>
        </p:spPr>
        <p:txBody>
          <a:bodyPr wrap="square" rtlCol="0" anchor="t"/>
          <a:lstStyle/>
          <a:p>
            <a:pPr indent="0" marL="0">
              <a:lnSpc>
                <a:spcPct val="130000"/>
              </a:lnSpc>
              <a:buNone/>
            </a:pPr>
            <a:r>
              <a:rPr lang="en-US" sz="1244" dirty="0">
                <a:solidFill>
                  <a:srgbClr val="D7D9F0"/>
                </a:solidFill>
                <a:latin typeface="Segoe UI" pitchFamily="34" charset="0"/>
                <a:ea typeface="Segoe UI" pitchFamily="34" charset="-122"/>
                <a:cs typeface="Segoe UI" pitchFamily="34" charset="-120"/>
              </a:rPr>
              <a:t>Three deferred items sit on one aircraft, ranging from the strictest category A to the more generous C. Instinct says watch the A item — shortest interval, no extension permitted. But the part for the A item arrives tomorrow. What will actually ground this aircraft is the C item, where the part is two days late and the one permitted extension has already been used. The last step of this scenario edits the shared register on OneDrive itself, rather than producing a new copy.</a:t>
            </a:r>
            <a:endParaRPr lang="en-US" sz="1244" dirty="0"/>
          </a:p>
        </p:txBody>
      </p:sp>
      <p:sp>
        <p:nvSpPr>
          <p:cNvPr id="15" name="Text 12"/>
          <p:cNvSpPr/>
          <p:nvPr/>
        </p:nvSpPr>
        <p:spPr>
          <a:xfrm>
            <a:off x="4526280" y="2514600"/>
            <a:ext cx="7132320" cy="365760"/>
          </a:xfrm>
          <a:prstGeom prst="rect">
            <a:avLst/>
          </a:prstGeom>
          <a:noFill/>
          <a:ln/>
        </p:spPr>
        <p:txBody>
          <a:bodyPr wrap="square" rtlCol="0" anchor="ctr"/>
          <a:lstStyle/>
          <a:p>
            <a:pPr indent="0" marL="0">
              <a:buNone/>
            </a:pPr>
            <a:r>
              <a:rPr lang="en-US" sz="1500" b="1" dirty="0">
                <a:solidFill>
                  <a:srgbClr val="0F5132"/>
                </a:solidFill>
                <a:latin typeface="Segoe UI" pitchFamily="34" charset="0"/>
                <a:ea typeface="Segoe UI" pitchFamily="34" charset="-122"/>
                <a:cs typeface="Segoe UI" pitchFamily="34" charset="-120"/>
              </a:rPr>
              <a:t>Agentic workflow</a:t>
            </a:r>
            <a:endParaRPr lang="en-US" sz="1500" dirty="0"/>
          </a:p>
        </p:txBody>
      </p:sp>
      <p:sp>
        <p:nvSpPr>
          <p:cNvPr id="16" name="Shape 13"/>
          <p:cNvSpPr/>
          <p:nvPr/>
        </p:nvSpPr>
        <p:spPr>
          <a:xfrm>
            <a:off x="4526280" y="2971800"/>
            <a:ext cx="457200" cy="457200"/>
          </a:xfrm>
          <a:prstGeom prst="ellipse">
            <a:avLst/>
          </a:prstGeom>
          <a:solidFill>
            <a:srgbClr val="FFFFFF">
              <a:alpha val="12000"/>
            </a:srgbClr>
          </a:solidFill>
          <a:ln w="19050">
            <a:solidFill>
              <a:srgbClr val="0F5132"/>
            </a:solidFill>
            <a:prstDash val="solid"/>
          </a:ln>
        </p:spPr>
      </p:sp>
      <p:sp>
        <p:nvSpPr>
          <p:cNvPr id="17" name="Text 14"/>
          <p:cNvSpPr/>
          <p:nvPr/>
        </p:nvSpPr>
        <p:spPr>
          <a:xfrm>
            <a:off x="4526280" y="2971800"/>
            <a:ext cx="457200" cy="457200"/>
          </a:xfrm>
          <a:prstGeom prst="rect">
            <a:avLst/>
          </a:prstGeom>
          <a:noFill/>
          <a:ln/>
        </p:spPr>
        <p:txBody>
          <a:bodyPr wrap="square" rtlCol="0" anchor="ctr"/>
          <a:lstStyle/>
          <a:p>
            <a:pPr algn="ctr" indent="0" marL="0">
              <a:buNone/>
            </a:pPr>
            <a:r>
              <a:rPr lang="en-US" sz="1600" b="1" dirty="0">
                <a:solidFill>
                  <a:srgbClr val="0F5132"/>
                </a:solidFill>
                <a:latin typeface="Segoe UI" pitchFamily="34" charset="0"/>
                <a:ea typeface="Segoe UI" pitchFamily="34" charset="-122"/>
                <a:cs typeface="Segoe UI" pitchFamily="34" charset="-120"/>
              </a:rPr>
              <a:t>1</a:t>
            </a:r>
            <a:endParaRPr lang="en-US" sz="1600" dirty="0"/>
          </a:p>
        </p:txBody>
      </p:sp>
      <p:sp>
        <p:nvSpPr>
          <p:cNvPr id="18" name="Text 15"/>
          <p:cNvSpPr/>
          <p:nvPr/>
        </p:nvSpPr>
        <p:spPr>
          <a:xfrm>
            <a:off x="5166360" y="2953512"/>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Read the two clocks together</a:t>
            </a:r>
            <a:endParaRPr lang="en-US" sz="1600" dirty="0"/>
          </a:p>
        </p:txBody>
      </p:sp>
      <p:sp>
        <p:nvSpPr>
          <p:cNvPr id="19" name="Text 16"/>
          <p:cNvSpPr/>
          <p:nvPr/>
        </p:nvSpPr>
        <p:spPr>
          <a:xfrm>
            <a:off x="5166360" y="3319272"/>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Nothing to upload. Both files are in Cowork_Lab/AirlineE…</a:t>
            </a:r>
            <a:endParaRPr lang="en-US" sz="1300" dirty="0"/>
          </a:p>
        </p:txBody>
      </p:sp>
      <p:sp>
        <p:nvSpPr>
          <p:cNvPr id="20" name="Shape 17"/>
          <p:cNvSpPr/>
          <p:nvPr/>
        </p:nvSpPr>
        <p:spPr>
          <a:xfrm>
            <a:off x="4526280" y="3831336"/>
            <a:ext cx="457200" cy="457200"/>
          </a:xfrm>
          <a:prstGeom prst="ellipse">
            <a:avLst/>
          </a:prstGeom>
          <a:solidFill>
            <a:srgbClr val="FFFFFF">
              <a:alpha val="12000"/>
            </a:srgbClr>
          </a:solidFill>
          <a:ln w="19050">
            <a:solidFill>
              <a:srgbClr val="0F5132"/>
            </a:solidFill>
            <a:prstDash val="solid"/>
          </a:ln>
        </p:spPr>
      </p:sp>
      <p:sp>
        <p:nvSpPr>
          <p:cNvPr id="21" name="Text 18"/>
          <p:cNvSpPr/>
          <p:nvPr/>
        </p:nvSpPr>
        <p:spPr>
          <a:xfrm>
            <a:off x="4526280" y="3831336"/>
            <a:ext cx="457200" cy="457200"/>
          </a:xfrm>
          <a:prstGeom prst="rect">
            <a:avLst/>
          </a:prstGeom>
          <a:noFill/>
          <a:ln/>
        </p:spPr>
        <p:txBody>
          <a:bodyPr wrap="square" rtlCol="0" anchor="ctr"/>
          <a:lstStyle/>
          <a:p>
            <a:pPr algn="ctr" indent="0" marL="0">
              <a:buNone/>
            </a:pPr>
            <a:r>
              <a:rPr lang="en-US" sz="1600" b="1" dirty="0">
                <a:solidFill>
                  <a:srgbClr val="0F5132"/>
                </a:solidFill>
                <a:latin typeface="Segoe UI" pitchFamily="34" charset="0"/>
                <a:ea typeface="Segoe UI" pitchFamily="34" charset="-122"/>
                <a:cs typeface="Segoe UI" pitchFamily="34" charset="-120"/>
              </a:rPr>
              <a:t>2</a:t>
            </a:r>
            <a:endParaRPr lang="en-US" sz="1600" dirty="0"/>
          </a:p>
        </p:txBody>
      </p:sp>
      <p:sp>
        <p:nvSpPr>
          <p:cNvPr id="22" name="Text 19"/>
          <p:cNvSpPr/>
          <p:nvPr/>
        </p:nvSpPr>
        <p:spPr>
          <a:xfrm>
            <a:off x="5166360" y="3813048"/>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 Press on the tail carrying three items</a:t>
            </a:r>
            <a:endParaRPr lang="en-US" sz="1600" dirty="0"/>
          </a:p>
        </p:txBody>
      </p:sp>
      <p:sp>
        <p:nvSpPr>
          <p:cNvPr id="23" name="Text 20"/>
          <p:cNvSpPr/>
          <p:nvPr/>
        </p:nvSpPr>
        <p:spPr>
          <a:xfrm>
            <a:off x="5166360" y="4178808"/>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One aircraft carries three of the items. Ask again about…</a:t>
            </a:r>
            <a:endParaRPr lang="en-US" sz="1300" dirty="0"/>
          </a:p>
        </p:txBody>
      </p:sp>
      <p:sp>
        <p:nvSpPr>
          <p:cNvPr id="24" name="Shape 21"/>
          <p:cNvSpPr/>
          <p:nvPr/>
        </p:nvSpPr>
        <p:spPr>
          <a:xfrm>
            <a:off x="4526280" y="4690872"/>
            <a:ext cx="457200" cy="457200"/>
          </a:xfrm>
          <a:prstGeom prst="ellipse">
            <a:avLst/>
          </a:prstGeom>
          <a:solidFill>
            <a:srgbClr val="FFFFFF">
              <a:alpha val="12000"/>
            </a:srgbClr>
          </a:solidFill>
          <a:ln w="19050">
            <a:solidFill>
              <a:srgbClr val="0F5132"/>
            </a:solidFill>
            <a:prstDash val="solid"/>
          </a:ln>
        </p:spPr>
      </p:sp>
      <p:sp>
        <p:nvSpPr>
          <p:cNvPr id="25" name="Text 22"/>
          <p:cNvSpPr/>
          <p:nvPr/>
        </p:nvSpPr>
        <p:spPr>
          <a:xfrm>
            <a:off x="4526280" y="4690872"/>
            <a:ext cx="457200" cy="457200"/>
          </a:xfrm>
          <a:prstGeom prst="rect">
            <a:avLst/>
          </a:prstGeom>
          <a:noFill/>
          <a:ln/>
        </p:spPr>
        <p:txBody>
          <a:bodyPr wrap="square" rtlCol="0" anchor="ctr"/>
          <a:lstStyle/>
          <a:p>
            <a:pPr algn="ctr" indent="0" marL="0">
              <a:buNone/>
            </a:pPr>
            <a:r>
              <a:rPr lang="en-US" sz="1600" b="1" dirty="0">
                <a:solidFill>
                  <a:srgbClr val="0F5132"/>
                </a:solidFill>
                <a:latin typeface="Segoe UI" pitchFamily="34" charset="0"/>
                <a:ea typeface="Segoe UI" pitchFamily="34" charset="-122"/>
                <a:cs typeface="Segoe UI" pitchFamily="34" charset="-120"/>
              </a:rPr>
              <a:t>3</a:t>
            </a:r>
            <a:endParaRPr lang="en-US" sz="1600" dirty="0"/>
          </a:p>
        </p:txBody>
      </p:sp>
      <p:sp>
        <p:nvSpPr>
          <p:cNvPr id="26" name="Text 23"/>
          <p:cNvSpPr/>
          <p:nvPr/>
        </p:nvSpPr>
        <p:spPr>
          <a:xfrm>
            <a:off x="5166360" y="4672584"/>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 Write the verdict back into the shared register</a:t>
            </a:r>
            <a:endParaRPr lang="en-US" sz="1600" dirty="0"/>
          </a:p>
        </p:txBody>
      </p:sp>
      <p:sp>
        <p:nvSpPr>
          <p:cNvPr id="27" name="Text 24"/>
          <p:cNvSpPr/>
          <p:nvPr/>
        </p:nvSpPr>
        <p:spPr>
          <a:xfrm>
            <a:off x="5166360" y="5038344"/>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This step edits the file on OneDrive itself rather than …</a:t>
            </a:r>
            <a:endParaRPr lang="en-US" sz="1300" dirty="0"/>
          </a:p>
        </p:txBody>
      </p:sp>
      <p:sp>
        <p:nvSpPr>
          <p:cNvPr id="28" name="Shape 25"/>
          <p:cNvSpPr/>
          <p:nvPr/>
        </p:nvSpPr>
        <p:spPr>
          <a:xfrm>
            <a:off x="4526280" y="5550408"/>
            <a:ext cx="457200" cy="457200"/>
          </a:xfrm>
          <a:prstGeom prst="ellipse">
            <a:avLst/>
          </a:prstGeom>
          <a:solidFill>
            <a:srgbClr val="FFFFFF">
              <a:alpha val="12000"/>
            </a:srgbClr>
          </a:solidFill>
          <a:ln w="19050">
            <a:solidFill>
              <a:srgbClr val="0F5132"/>
            </a:solidFill>
            <a:prstDash val="solid"/>
          </a:ln>
        </p:spPr>
      </p:sp>
      <p:sp>
        <p:nvSpPr>
          <p:cNvPr id="29" name="Text 26"/>
          <p:cNvSpPr/>
          <p:nvPr/>
        </p:nvSpPr>
        <p:spPr>
          <a:xfrm>
            <a:off x="4526280" y="5550408"/>
            <a:ext cx="457200" cy="457200"/>
          </a:xfrm>
          <a:prstGeom prst="rect">
            <a:avLst/>
          </a:prstGeom>
          <a:noFill/>
          <a:ln/>
        </p:spPr>
        <p:txBody>
          <a:bodyPr wrap="square" rtlCol="0" anchor="ctr"/>
          <a:lstStyle/>
          <a:p>
            <a:pPr algn="ctr" indent="0" marL="0">
              <a:buNone/>
            </a:pPr>
            <a:r>
              <a:rPr lang="en-US" sz="1600" b="1" dirty="0">
                <a:solidFill>
                  <a:srgbClr val="0F5132"/>
                </a:solidFill>
                <a:latin typeface="Segoe UI" pitchFamily="34" charset="0"/>
                <a:ea typeface="Segoe UI" pitchFamily="34" charset="-122"/>
                <a:cs typeface="Segoe UI" pitchFamily="34" charset="-120"/>
              </a:rPr>
              <a:t>4</a:t>
            </a:r>
            <a:endParaRPr lang="en-US" sz="1600" dirty="0"/>
          </a:p>
        </p:txBody>
      </p:sp>
      <p:sp>
        <p:nvSpPr>
          <p:cNvPr id="30" name="Text 27"/>
          <p:cNvSpPr/>
          <p:nvPr/>
        </p:nvSpPr>
        <p:spPr>
          <a:xfrm>
            <a:off x="5166360" y="5532120"/>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Check on OneDrive that it really edited the same file</a:t>
            </a:r>
            <a:endParaRPr lang="en-US" sz="1600" dirty="0"/>
          </a:p>
        </p:txBody>
      </p:sp>
      <p:sp>
        <p:nvSpPr>
          <p:cNvPr id="31" name="Text 28"/>
          <p:cNvSpPr/>
          <p:nvPr/>
        </p:nvSpPr>
        <p:spPr>
          <a:xfrm>
            <a:off x="5166360" y="5897880"/>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Open the register in OneDrive, look at it, then come bac…</a:t>
            </a:r>
            <a:endParaRPr lang="en-US" sz="1300" dirty="0"/>
          </a:p>
        </p:txBody>
      </p:sp>
      <p:sp>
        <p:nvSpPr>
          <p:cNvPr id="32" name="Text 29"/>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8A8FB5"/>
                </a:solidFill>
                <a:latin typeface="Segoe UI" pitchFamily="34" charset="0"/>
                <a:ea typeface="Segoe UI" pitchFamily="34" charset="-122"/>
                <a:cs typeface="Segoe UI" pitchFamily="34" charset="-120"/>
              </a:rPr>
              <a:t>Microsoft 365 Copilot Cowork</a:t>
            </a:r>
            <a:endParaRPr lang="en-US" sz="900" dirty="0"/>
          </a:p>
        </p:txBody>
      </p:sp>
      <p:sp>
        <p:nvSpPr>
          <p:cNvPr id="33" name="Text 30"/>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8A8FB5"/>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0F5132"/>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0F5132"/>
                </a:solidFill>
                <a:latin typeface="Segoe UI" pitchFamily="34" charset="0"/>
                <a:ea typeface="Segoe UI" pitchFamily="34" charset="-122"/>
                <a:cs typeface="Segoe UI" pitchFamily="34" charset="-120"/>
              </a:rPr>
              <a:t>Scenario 02 · Live demo</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What Cowork does, and what it produces</a:t>
            </a:r>
            <a:endParaRPr lang="en-US" sz="3000" dirty="0"/>
          </a:p>
        </p:txBody>
      </p:sp>
      <p:sp>
        <p:nvSpPr>
          <p:cNvPr id="5" name="Shape 3"/>
          <p:cNvSpPr/>
          <p:nvPr/>
        </p:nvSpPr>
        <p:spPr>
          <a:xfrm>
            <a:off x="137754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6" name="Image 0" descr="C:\temp\CoworkLab\v3\_working\screenshots\air2_01_input_en.png">    </p:cNvPr>
          <p:cNvPicPr>
            <a:picLocks noChangeAspect="1"/>
          </p:cNvPicPr>
          <p:nvPr/>
        </p:nvPicPr>
        <p:blipFill>
          <a:blip r:embed="rId1"/>
          <a:stretch>
            <a:fillRect/>
          </a:stretch>
        </p:blipFill>
        <p:spPr>
          <a:xfrm>
            <a:off x="1432408" y="1828800"/>
            <a:ext cx="4434840" cy="2904283"/>
          </a:xfrm>
          <a:prstGeom prst="rect">
            <a:avLst/>
          </a:prstGeom>
        </p:spPr>
      </p:pic>
      <p:sp>
        <p:nvSpPr>
          <p:cNvPr id="7" name="Text 4"/>
          <p:cNvSpPr/>
          <p:nvPr/>
        </p:nvSpPr>
        <p:spPr>
          <a:xfrm>
            <a:off x="1432408" y="4824523"/>
            <a:ext cx="4434840" cy="292608"/>
          </a:xfrm>
          <a:prstGeom prst="rect">
            <a:avLst/>
          </a:prstGeom>
          <a:noFill/>
          <a:ln/>
        </p:spPr>
        <p:txBody>
          <a:bodyPr wrap="square" rtlCol="0" anchor="ctr"/>
          <a:lstStyle/>
          <a:p>
            <a:pPr algn="ctr" indent="0" marL="0">
              <a:buNone/>
            </a:pPr>
            <a:r>
              <a:rPr lang="en-US" sz="1350" b="1" dirty="0">
                <a:solidFill>
                  <a:srgbClr val="0F5132"/>
                </a:solidFill>
                <a:latin typeface="Segoe UI" pitchFamily="34" charset="0"/>
                <a:ea typeface="Segoe UI" pitchFamily="34" charset="-122"/>
                <a:cs typeface="Segoe UI" pitchFamily="34" charset="-120"/>
              </a:rPr>
              <a:t>① Your input and prompt</a:t>
            </a:r>
            <a:endParaRPr lang="en-US" sz="1350" dirty="0"/>
          </a:p>
        </p:txBody>
      </p:sp>
      <p:sp>
        <p:nvSpPr>
          <p:cNvPr id="8" name="Shape 5"/>
          <p:cNvSpPr/>
          <p:nvPr/>
        </p:nvSpPr>
        <p:spPr>
          <a:xfrm>
            <a:off x="626958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9" name="Image 1" descr="C:\temp\CoworkLab\v3\_working\screenshots\air2_04_review_en.png">    </p:cNvPr>
          <p:cNvPicPr>
            <a:picLocks noChangeAspect="1"/>
          </p:cNvPicPr>
          <p:nvPr/>
        </p:nvPicPr>
        <p:blipFill>
          <a:blip r:embed="rId2"/>
          <a:stretch>
            <a:fillRect/>
          </a:stretch>
        </p:blipFill>
        <p:spPr>
          <a:xfrm>
            <a:off x="6324448" y="1828800"/>
            <a:ext cx="4434840" cy="2904283"/>
          </a:xfrm>
          <a:prstGeom prst="rect">
            <a:avLst/>
          </a:prstGeom>
        </p:spPr>
      </p:pic>
      <p:sp>
        <p:nvSpPr>
          <p:cNvPr id="10" name="Text 6"/>
          <p:cNvSpPr/>
          <p:nvPr/>
        </p:nvSpPr>
        <p:spPr>
          <a:xfrm>
            <a:off x="6324448" y="4824523"/>
            <a:ext cx="4434840" cy="292608"/>
          </a:xfrm>
          <a:prstGeom prst="rect">
            <a:avLst/>
          </a:prstGeom>
          <a:noFill/>
          <a:ln/>
        </p:spPr>
        <p:txBody>
          <a:bodyPr wrap="square" rtlCol="0" anchor="ctr"/>
          <a:lstStyle/>
          <a:p>
            <a:pPr algn="ctr" indent="0" marL="0">
              <a:buNone/>
            </a:pPr>
            <a:r>
              <a:rPr lang="en-US" sz="1350" b="1" dirty="0">
                <a:solidFill>
                  <a:srgbClr val="0F5132"/>
                </a:solidFill>
                <a:latin typeface="Segoe UI" pitchFamily="34" charset="0"/>
                <a:ea typeface="Segoe UI" pitchFamily="34" charset="-122"/>
                <a:cs typeface="Segoe UI" pitchFamily="34" charset="-120"/>
              </a:rPr>
              <a:t>② The result</a:t>
            </a:r>
            <a:endParaRPr lang="en-US" sz="1350" dirty="0"/>
          </a:p>
        </p:txBody>
      </p:sp>
      <p:sp>
        <p:nvSpPr>
          <p:cNvPr id="11" name="Shape 7"/>
          <p:cNvSpPr/>
          <p:nvPr/>
        </p:nvSpPr>
        <p:spPr>
          <a:xfrm>
            <a:off x="640080" y="5226859"/>
            <a:ext cx="10911535" cy="1143000"/>
          </a:xfrm>
          <a:prstGeom prst="rect">
            <a:avLst/>
          </a:prstGeom>
          <a:solidFill>
            <a:srgbClr val="FFFFFF"/>
          </a:solidFill>
          <a:ln w="12700">
            <a:solidFill>
              <a:srgbClr val="E4E7F2"/>
            </a:solidFill>
            <a:prstDash val="solid"/>
          </a:ln>
        </p:spPr>
      </p:sp>
      <p:sp>
        <p:nvSpPr>
          <p:cNvPr id="12" name="Shape 8"/>
          <p:cNvSpPr/>
          <p:nvPr/>
        </p:nvSpPr>
        <p:spPr>
          <a:xfrm>
            <a:off x="640080" y="5226859"/>
            <a:ext cx="91440" cy="1143000"/>
          </a:xfrm>
          <a:prstGeom prst="rect">
            <a:avLst/>
          </a:prstGeom>
          <a:solidFill>
            <a:srgbClr val="0F5132"/>
          </a:solidFill>
          <a:ln/>
        </p:spPr>
      </p:sp>
      <p:sp>
        <p:nvSpPr>
          <p:cNvPr id="13" name="Text 9"/>
          <p:cNvSpPr/>
          <p:nvPr/>
        </p:nvSpPr>
        <p:spPr>
          <a:xfrm>
            <a:off x="914400" y="5336587"/>
            <a:ext cx="1783080" cy="320040"/>
          </a:xfrm>
          <a:prstGeom prst="rect">
            <a:avLst/>
          </a:prstGeom>
          <a:noFill/>
          <a:ln/>
        </p:spPr>
        <p:txBody>
          <a:bodyPr wrap="square" rtlCol="0" anchor="ctr"/>
          <a:lstStyle/>
          <a:p>
            <a:pPr indent="0" marL="0">
              <a:buNone/>
            </a:pPr>
            <a:r>
              <a:rPr lang="en-US" sz="1400" b="1" dirty="0">
                <a:solidFill>
                  <a:srgbClr val="1E2235"/>
                </a:solidFill>
                <a:latin typeface="Segoe UI" pitchFamily="34" charset="0"/>
                <a:ea typeface="Segoe UI" pitchFamily="34" charset="-122"/>
                <a:cs typeface="Segoe UI" pitchFamily="34" charset="-120"/>
              </a:rPr>
              <a:t>Check the output</a:t>
            </a:r>
            <a:endParaRPr lang="en-US" sz="1400" dirty="0"/>
          </a:p>
        </p:txBody>
      </p:sp>
      <p:pic>
        <p:nvPicPr>
          <p:cNvPr id="14" name="Image 2" descr="preencoded.png">    </p:cNvPr>
          <p:cNvPicPr>
            <a:picLocks noChangeAspect="1"/>
          </p:cNvPicPr>
          <p:nvPr/>
        </p:nvPicPr>
        <p:blipFill>
          <a:blip r:embed="rId3"/>
          <a:stretch>
            <a:fillRect/>
          </a:stretch>
        </p:blipFill>
        <p:spPr>
          <a:xfrm>
            <a:off x="2880360" y="5373163"/>
            <a:ext cx="182880" cy="182880"/>
          </a:xfrm>
          <a:prstGeom prst="rect">
            <a:avLst/>
          </a:prstGeom>
        </p:spPr>
      </p:pic>
      <p:sp>
        <p:nvSpPr>
          <p:cNvPr id="15" name="Text 10"/>
          <p:cNvSpPr/>
          <p:nvPr/>
        </p:nvSpPr>
        <p:spPr>
          <a:xfrm>
            <a:off x="3154680" y="5318299"/>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All eight items were compared deadline against ETA — not just a few</a:t>
            </a:r>
            <a:endParaRPr lang="en-US" sz="1300" dirty="0"/>
          </a:p>
        </p:txBody>
      </p:sp>
      <p:pic>
        <p:nvPicPr>
          <p:cNvPr id="16" name="Image 3" descr="preencoded.png">    </p:cNvPr>
          <p:cNvPicPr>
            <a:picLocks noChangeAspect="1"/>
          </p:cNvPicPr>
          <p:nvPr/>
        </p:nvPicPr>
        <p:blipFill>
          <a:blip r:embed="rId4"/>
          <a:stretch>
            <a:fillRect/>
          </a:stretch>
        </p:blipFill>
        <p:spPr>
          <a:xfrm>
            <a:off x="2880360" y="5711491"/>
            <a:ext cx="182880" cy="182880"/>
          </a:xfrm>
          <a:prstGeom prst="rect">
            <a:avLst/>
          </a:prstGeom>
        </p:spPr>
      </p:pic>
      <p:sp>
        <p:nvSpPr>
          <p:cNvPr id="17" name="Text 11"/>
          <p:cNvSpPr/>
          <p:nvPr/>
        </p:nvSpPr>
        <p:spPr>
          <a:xfrm>
            <a:off x="3154680" y="5656627"/>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Exactly one item has a part arriving after its deadline</a:t>
            </a:r>
            <a:endParaRPr lang="en-US" sz="1300" dirty="0"/>
          </a:p>
        </p:txBody>
      </p:sp>
      <p:pic>
        <p:nvPicPr>
          <p:cNvPr id="18" name="Image 4" descr="preencoded.png">    </p:cNvPr>
          <p:cNvPicPr>
            <a:picLocks noChangeAspect="1"/>
          </p:cNvPicPr>
          <p:nvPr/>
        </p:nvPicPr>
        <p:blipFill>
          <a:blip r:embed="rId5"/>
          <a:stretch>
            <a:fillRect/>
          </a:stretch>
        </p:blipFill>
        <p:spPr>
          <a:xfrm>
            <a:off x="2880360" y="6049819"/>
            <a:ext cx="182880" cy="182880"/>
          </a:xfrm>
          <a:prstGeom prst="rect">
            <a:avLst/>
          </a:prstGeom>
        </p:spPr>
      </p:pic>
      <p:sp>
        <p:nvSpPr>
          <p:cNvPr id="19" name="Text 12"/>
          <p:cNvSpPr/>
          <p:nvPr/>
        </p:nvSpPr>
        <p:spPr>
          <a:xfrm>
            <a:off x="3154680" y="5994955"/>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It states that the item has already been extended once and may not be extended again</a:t>
            </a:r>
            <a:endParaRPr lang="en-US" sz="1300" dirty="0"/>
          </a:p>
        </p:txBody>
      </p:sp>
      <p:sp>
        <p:nvSpPr>
          <p:cNvPr id="20" name="Text 13"/>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21" name="Text 14"/>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031"/>
        </a:solidFill>
      </p:bgPr>
    </p:bg>
    <p:spTree>
      <p:nvGrpSpPr>
        <p:cNvPr id="1" name=""/>
        <p:cNvGrpSpPr/>
        <p:nvPr/>
      </p:nvGrpSpPr>
      <p:grpSpPr>
        <a:xfrm>
          <a:off x="0" y="0"/>
          <a:ext cx="0" cy="0"/>
          <a:chOff x="0" y="0"/>
          <a:chExt cx="0" cy="0"/>
        </a:xfrm>
      </p:grpSpPr>
      <p:sp>
        <p:nvSpPr>
          <p:cNvPr id="2" name="Shape 0"/>
          <p:cNvSpPr/>
          <p:nvPr/>
        </p:nvSpPr>
        <p:spPr>
          <a:xfrm>
            <a:off x="0" y="0"/>
            <a:ext cx="4023360" cy="6858000"/>
          </a:xfrm>
          <a:prstGeom prst="rect">
            <a:avLst/>
          </a:prstGeom>
          <a:solidFill>
            <a:srgbClr val="1C1E4A"/>
          </a:solidFill>
          <a:ln/>
        </p:spPr>
      </p:sp>
      <p:sp>
        <p:nvSpPr>
          <p:cNvPr id="3" name="Shape 1"/>
          <p:cNvSpPr/>
          <p:nvPr/>
        </p:nvSpPr>
        <p:spPr>
          <a:xfrm>
            <a:off x="0" y="0"/>
            <a:ext cx="146304" cy="6858000"/>
          </a:xfrm>
          <a:prstGeom prst="rect">
            <a:avLst/>
          </a:prstGeom>
          <a:solidFill>
            <a:srgbClr val="6B3FA0"/>
          </a:solidFill>
          <a:ln/>
        </p:spPr>
      </p:sp>
      <p:sp>
        <p:nvSpPr>
          <p:cNvPr id="4" name="Text 2"/>
          <p:cNvSpPr/>
          <p:nvPr/>
        </p:nvSpPr>
        <p:spPr>
          <a:xfrm>
            <a:off x="502920" y="640080"/>
            <a:ext cx="3200400" cy="365760"/>
          </a:xfrm>
          <a:prstGeom prst="rect">
            <a:avLst/>
          </a:prstGeom>
          <a:noFill/>
          <a:ln/>
        </p:spPr>
        <p:txBody>
          <a:bodyPr wrap="square" rtlCol="0" anchor="ctr"/>
          <a:lstStyle/>
          <a:p>
            <a:pPr indent="0" marL="0">
              <a:buNone/>
            </a:pPr>
            <a:r>
              <a:rPr lang="en-US" sz="1400" b="1" spc="200" kern="0" dirty="0">
                <a:solidFill>
                  <a:srgbClr val="6B3FA0"/>
                </a:solidFill>
                <a:latin typeface="Segoe UI" pitchFamily="34" charset="0"/>
                <a:ea typeface="Segoe UI" pitchFamily="34" charset="-122"/>
                <a:cs typeface="Segoe UI" pitchFamily="34" charset="-120"/>
              </a:rPr>
              <a:t>Scenario 03</a:t>
            </a:r>
            <a:endParaRPr lang="en-US" sz="1400" dirty="0"/>
          </a:p>
        </p:txBody>
      </p:sp>
      <p:sp>
        <p:nvSpPr>
          <p:cNvPr id="5" name="Shape 3"/>
          <p:cNvSpPr/>
          <p:nvPr/>
        </p:nvSpPr>
        <p:spPr>
          <a:xfrm>
            <a:off x="502920" y="1143000"/>
            <a:ext cx="1097280" cy="1097280"/>
          </a:xfrm>
          <a:prstGeom prst="ellipse">
            <a:avLst/>
          </a:prstGeom>
          <a:solidFill>
            <a:srgbClr val="6B3FA0"/>
          </a:solidFill>
          <a:ln/>
        </p:spPr>
      </p:sp>
      <p:pic>
        <p:nvPicPr>
          <p:cNvPr id="6" name="Image 0" descr="preencoded.png">    </p:cNvPr>
          <p:cNvPicPr>
            <a:picLocks noChangeAspect="1"/>
          </p:cNvPicPr>
          <p:nvPr/>
        </p:nvPicPr>
        <p:blipFill>
          <a:blip r:embed="rId1"/>
          <a:stretch>
            <a:fillRect/>
          </a:stretch>
        </p:blipFill>
        <p:spPr>
          <a:xfrm>
            <a:off x="804672" y="1444752"/>
            <a:ext cx="493776" cy="493776"/>
          </a:xfrm>
          <a:prstGeom prst="rect">
            <a:avLst/>
          </a:prstGeom>
        </p:spPr>
      </p:pic>
      <p:sp>
        <p:nvSpPr>
          <p:cNvPr id="7" name="Text 4"/>
          <p:cNvSpPr/>
          <p:nvPr/>
        </p:nvSpPr>
        <p:spPr>
          <a:xfrm>
            <a:off x="502920" y="2377440"/>
            <a:ext cx="3200400" cy="320040"/>
          </a:xfrm>
          <a:prstGeom prst="rect">
            <a:avLst/>
          </a:prstGeom>
          <a:noFill/>
          <a:ln/>
        </p:spPr>
        <p:txBody>
          <a:bodyPr wrap="square" rtlCol="0" anchor="ctr"/>
          <a:lstStyle/>
          <a:p>
            <a:pPr indent="0" marL="0">
              <a:buNone/>
            </a:pPr>
            <a:r>
              <a:rPr lang="en-US" sz="1300" b="1" dirty="0">
                <a:solidFill>
                  <a:srgbClr val="B9BCE0"/>
                </a:solidFill>
                <a:latin typeface="Segoe UI" pitchFamily="34" charset="0"/>
                <a:ea typeface="Segoe UI" pitchFamily="34" charset="-122"/>
                <a:cs typeface="Segoe UI" pitchFamily="34" charset="-120"/>
              </a:rPr>
              <a:t>Airline · Engineering</a:t>
            </a:r>
            <a:endParaRPr lang="en-US" sz="1300" dirty="0"/>
          </a:p>
        </p:txBody>
      </p:sp>
      <p:sp>
        <p:nvSpPr>
          <p:cNvPr id="8" name="Text 5"/>
          <p:cNvSpPr/>
          <p:nvPr/>
        </p:nvSpPr>
        <p:spPr>
          <a:xfrm>
            <a:off x="502920" y="2697480"/>
            <a:ext cx="3291840" cy="1325880"/>
          </a:xfrm>
          <a:prstGeom prst="rect">
            <a:avLst/>
          </a:prstGeom>
          <a:noFill/>
          <a:ln/>
        </p:spPr>
        <p:txBody>
          <a:bodyPr wrap="square" rtlCol="0" anchor="t"/>
          <a:lstStyle/>
          <a:p>
            <a:pPr indent="0" marL="0">
              <a:buNone/>
            </a:pPr>
            <a:r>
              <a:rPr lang="en-US" sz="2400" b="1" dirty="0">
                <a:solidFill>
                  <a:srgbClr val="FFFFFF"/>
                </a:solidFill>
                <a:latin typeface="Segoe UI" pitchFamily="34" charset="0"/>
                <a:ea typeface="Segoe UI" pitchFamily="34" charset="-122"/>
                <a:cs typeface="Segoe UI" pitchFamily="34" charset="-120"/>
              </a:rPr>
              <a:t>Three Check Slots: the Cheapest One Does Not Work</a:t>
            </a:r>
            <a:endParaRPr lang="en-US" sz="2400" dirty="0"/>
          </a:p>
        </p:txBody>
      </p:sp>
      <p:sp>
        <p:nvSpPr>
          <p:cNvPr id="9" name="Text 6"/>
          <p:cNvSpPr/>
          <p:nvPr/>
        </p:nvSpPr>
        <p:spPr>
          <a:xfrm>
            <a:off x="502920" y="4114800"/>
            <a:ext cx="3291840" cy="320040"/>
          </a:xfrm>
          <a:prstGeom prst="rect">
            <a:avLst/>
          </a:prstGeom>
          <a:noFill/>
          <a:ln/>
        </p:spPr>
        <p:txBody>
          <a:bodyPr wrap="square" rtlCol="0" anchor="ctr"/>
          <a:lstStyle/>
          <a:p>
            <a:pPr indent="0" marL="0">
              <a:buNone/>
            </a:pPr>
            <a:r>
              <a:rPr lang="en-US" sz="1300" dirty="0">
                <a:solidFill>
                  <a:srgbClr val="9FA3CC"/>
                </a:solidFill>
                <a:latin typeface="Segoe UI" pitchFamily="34" charset="0"/>
                <a:ea typeface="Segoe UI" pitchFamily="34" charset="-122"/>
                <a:cs typeface="Segoe UI" pitchFamily="34" charset="-120"/>
              </a:rPr>
              <a:t>⏱ ~15 min · Level ★★☆</a:t>
            </a:r>
            <a:endParaRPr lang="en-US" sz="1300" dirty="0"/>
          </a:p>
        </p:txBody>
      </p:sp>
      <p:sp>
        <p:nvSpPr>
          <p:cNvPr id="10" name="Shape 7"/>
          <p:cNvSpPr/>
          <p:nvPr/>
        </p:nvSpPr>
        <p:spPr>
          <a:xfrm>
            <a:off x="502920" y="4572000"/>
            <a:ext cx="1719072" cy="402336"/>
          </a:xfrm>
          <a:prstGeom prst="roundRect">
            <a:avLst>
              <a:gd name="adj" fmla="val 50000"/>
            </a:avLst>
          </a:prstGeom>
          <a:solidFill>
            <a:srgbClr val="6366F1"/>
          </a:solidFill>
          <a:ln/>
        </p:spPr>
      </p:sp>
      <p:sp>
        <p:nvSpPr>
          <p:cNvPr id="11" name="Text 8"/>
          <p:cNvSpPr/>
          <p:nvPr/>
        </p:nvSpPr>
        <p:spPr>
          <a:xfrm>
            <a:off x="502920" y="4572000"/>
            <a:ext cx="1719072"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Adaptive Cards</a:t>
            </a:r>
            <a:endParaRPr lang="en-US" sz="1200" dirty="0"/>
          </a:p>
        </p:txBody>
      </p:sp>
      <p:sp>
        <p:nvSpPr>
          <p:cNvPr id="12" name="Shape 9"/>
          <p:cNvSpPr/>
          <p:nvPr/>
        </p:nvSpPr>
        <p:spPr>
          <a:xfrm>
            <a:off x="2404872" y="4572000"/>
            <a:ext cx="813816" cy="402336"/>
          </a:xfrm>
          <a:prstGeom prst="roundRect">
            <a:avLst>
              <a:gd name="adj" fmla="val 50000"/>
            </a:avLst>
          </a:prstGeom>
          <a:solidFill>
            <a:srgbClr val="217346"/>
          </a:solidFill>
          <a:ln/>
        </p:spPr>
      </p:sp>
      <p:sp>
        <p:nvSpPr>
          <p:cNvPr id="13" name="Text 10"/>
          <p:cNvSpPr/>
          <p:nvPr/>
        </p:nvSpPr>
        <p:spPr>
          <a:xfrm>
            <a:off x="2404872" y="4572000"/>
            <a:ext cx="813816"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Excel</a:t>
            </a:r>
            <a:endParaRPr lang="en-US" sz="1200" dirty="0"/>
          </a:p>
        </p:txBody>
      </p:sp>
      <p:sp>
        <p:nvSpPr>
          <p:cNvPr id="14" name="Shape 11"/>
          <p:cNvSpPr/>
          <p:nvPr/>
        </p:nvSpPr>
        <p:spPr>
          <a:xfrm>
            <a:off x="502920" y="5074920"/>
            <a:ext cx="1316736" cy="402336"/>
          </a:xfrm>
          <a:prstGeom prst="roundRect">
            <a:avLst>
              <a:gd name="adj" fmla="val 50000"/>
            </a:avLst>
          </a:prstGeom>
          <a:solidFill>
            <a:srgbClr val="6366F1"/>
          </a:solidFill>
          <a:ln/>
        </p:spPr>
      </p:sp>
      <p:sp>
        <p:nvSpPr>
          <p:cNvPr id="15" name="Text 12"/>
          <p:cNvSpPr/>
          <p:nvPr/>
        </p:nvSpPr>
        <p:spPr>
          <a:xfrm>
            <a:off x="502920" y="5074920"/>
            <a:ext cx="1316736"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Scheduling</a:t>
            </a:r>
            <a:endParaRPr lang="en-US" sz="1200" dirty="0"/>
          </a:p>
        </p:txBody>
      </p:sp>
      <p:sp>
        <p:nvSpPr>
          <p:cNvPr id="16" name="Text 13"/>
          <p:cNvSpPr/>
          <p:nvPr/>
        </p:nvSpPr>
        <p:spPr>
          <a:xfrm>
            <a:off x="4526280" y="566928"/>
            <a:ext cx="7132320" cy="1819656"/>
          </a:xfrm>
          <a:prstGeom prst="rect">
            <a:avLst/>
          </a:prstGeom>
          <a:noFill/>
          <a:ln/>
        </p:spPr>
        <p:txBody>
          <a:bodyPr wrap="square" rtlCol="0" anchor="t"/>
          <a:lstStyle/>
          <a:p>
            <a:pPr indent="0" marL="0">
              <a:lnSpc>
                <a:spcPct val="130000"/>
              </a:lnSpc>
              <a:buNone/>
            </a:pPr>
            <a:r>
              <a:rPr lang="en-US" sz="1421" dirty="0">
                <a:solidFill>
                  <a:srgbClr val="D7D9F0"/>
                </a:solidFill>
                <a:latin typeface="Segoe UI" pitchFamily="34" charset="0"/>
                <a:ea typeface="Segoe UI" pitchFamily="34" charset="-122"/>
                <a:cs typeface="Segoe UI" pitchFamily="34" charset="-120"/>
              </a:rPr>
              <a:t>A C check has to go somewhere. Operations has offered three windows, costing 14, 22 and 19 cancellations. Instinct picks 14. But cancellations are only better or worse; the hangar and the airworthiness deadline are pass or fail. Eliminate the failures and one option is left — and it is not the cheap one. What this scenario produces is a comparison card your manager can read in three seconds.</a:t>
            </a:r>
            <a:endParaRPr lang="en-US" sz="1421" dirty="0"/>
          </a:p>
        </p:txBody>
      </p:sp>
      <p:sp>
        <p:nvSpPr>
          <p:cNvPr id="17" name="Text 14"/>
          <p:cNvSpPr/>
          <p:nvPr/>
        </p:nvSpPr>
        <p:spPr>
          <a:xfrm>
            <a:off x="4526280" y="2514600"/>
            <a:ext cx="7132320" cy="365760"/>
          </a:xfrm>
          <a:prstGeom prst="rect">
            <a:avLst/>
          </a:prstGeom>
          <a:noFill/>
          <a:ln/>
        </p:spPr>
        <p:txBody>
          <a:bodyPr wrap="square" rtlCol="0" anchor="ctr"/>
          <a:lstStyle/>
          <a:p>
            <a:pPr indent="0" marL="0">
              <a:buNone/>
            </a:pPr>
            <a:r>
              <a:rPr lang="en-US" sz="1500" b="1" dirty="0">
                <a:solidFill>
                  <a:srgbClr val="6B3FA0"/>
                </a:solidFill>
                <a:latin typeface="Segoe UI" pitchFamily="34" charset="0"/>
                <a:ea typeface="Segoe UI" pitchFamily="34" charset="-122"/>
                <a:cs typeface="Segoe UI" pitchFamily="34" charset="-120"/>
              </a:rPr>
              <a:t>Agentic workflow</a:t>
            </a:r>
            <a:endParaRPr lang="en-US" sz="1500" dirty="0"/>
          </a:p>
        </p:txBody>
      </p:sp>
      <p:sp>
        <p:nvSpPr>
          <p:cNvPr id="18" name="Shape 15"/>
          <p:cNvSpPr/>
          <p:nvPr/>
        </p:nvSpPr>
        <p:spPr>
          <a:xfrm>
            <a:off x="4526280" y="2971800"/>
            <a:ext cx="457200" cy="457200"/>
          </a:xfrm>
          <a:prstGeom prst="ellipse">
            <a:avLst/>
          </a:prstGeom>
          <a:solidFill>
            <a:srgbClr val="FFFFFF">
              <a:alpha val="12000"/>
            </a:srgbClr>
          </a:solidFill>
          <a:ln w="19050">
            <a:solidFill>
              <a:srgbClr val="6B3FA0"/>
            </a:solidFill>
            <a:prstDash val="solid"/>
          </a:ln>
        </p:spPr>
      </p:sp>
      <p:sp>
        <p:nvSpPr>
          <p:cNvPr id="19" name="Text 16"/>
          <p:cNvSpPr/>
          <p:nvPr/>
        </p:nvSpPr>
        <p:spPr>
          <a:xfrm>
            <a:off x="4526280" y="2971800"/>
            <a:ext cx="457200" cy="457200"/>
          </a:xfrm>
          <a:prstGeom prst="rect">
            <a:avLst/>
          </a:prstGeom>
          <a:noFill/>
          <a:ln/>
        </p:spPr>
        <p:txBody>
          <a:bodyPr wrap="square" rtlCol="0" anchor="ctr"/>
          <a:lstStyle/>
          <a:p>
            <a:pPr algn="ctr" indent="0" marL="0">
              <a:buNone/>
            </a:pPr>
            <a:r>
              <a:rPr lang="en-US" sz="1600" b="1" dirty="0">
                <a:solidFill>
                  <a:srgbClr val="6B3FA0"/>
                </a:solidFill>
                <a:latin typeface="Segoe UI" pitchFamily="34" charset="0"/>
                <a:ea typeface="Segoe UI" pitchFamily="34" charset="-122"/>
                <a:cs typeface="Segoe UI" pitchFamily="34" charset="-120"/>
              </a:rPr>
              <a:t>1</a:t>
            </a:r>
            <a:endParaRPr lang="en-US" sz="1600" dirty="0"/>
          </a:p>
        </p:txBody>
      </p:sp>
      <p:sp>
        <p:nvSpPr>
          <p:cNvPr id="20" name="Text 17"/>
          <p:cNvSpPr/>
          <p:nvPr/>
        </p:nvSpPr>
        <p:spPr>
          <a:xfrm>
            <a:off x="5166360" y="2953512"/>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Eliminate on the hard conditions first, then compare</a:t>
            </a:r>
            <a:endParaRPr lang="en-US" sz="1600" dirty="0"/>
          </a:p>
        </p:txBody>
      </p:sp>
      <p:sp>
        <p:nvSpPr>
          <p:cNvPr id="21" name="Text 18"/>
          <p:cNvSpPr/>
          <p:nvPr/>
        </p:nvSpPr>
        <p:spPr>
          <a:xfrm>
            <a:off x="5166360" y="3319272"/>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Nothing to upload. The slot material is in AIR3_Check_Sl…</a:t>
            </a:r>
            <a:endParaRPr lang="en-US" sz="1300" dirty="0"/>
          </a:p>
        </p:txBody>
      </p:sp>
      <p:sp>
        <p:nvSpPr>
          <p:cNvPr id="22" name="Shape 19"/>
          <p:cNvSpPr/>
          <p:nvPr/>
        </p:nvSpPr>
        <p:spPr>
          <a:xfrm>
            <a:off x="4526280" y="3831336"/>
            <a:ext cx="457200" cy="457200"/>
          </a:xfrm>
          <a:prstGeom prst="ellipse">
            <a:avLst/>
          </a:prstGeom>
          <a:solidFill>
            <a:srgbClr val="FFFFFF">
              <a:alpha val="12000"/>
            </a:srgbClr>
          </a:solidFill>
          <a:ln w="19050">
            <a:solidFill>
              <a:srgbClr val="6B3FA0"/>
            </a:solidFill>
            <a:prstDash val="solid"/>
          </a:ln>
        </p:spPr>
      </p:sp>
      <p:sp>
        <p:nvSpPr>
          <p:cNvPr id="23" name="Text 20"/>
          <p:cNvSpPr/>
          <p:nvPr/>
        </p:nvSpPr>
        <p:spPr>
          <a:xfrm>
            <a:off x="4526280" y="3831336"/>
            <a:ext cx="457200" cy="457200"/>
          </a:xfrm>
          <a:prstGeom prst="rect">
            <a:avLst/>
          </a:prstGeom>
          <a:noFill/>
          <a:ln/>
        </p:spPr>
        <p:txBody>
          <a:bodyPr wrap="square" rtlCol="0" anchor="ctr"/>
          <a:lstStyle/>
          <a:p>
            <a:pPr algn="ctr" indent="0" marL="0">
              <a:buNone/>
            </a:pPr>
            <a:r>
              <a:rPr lang="en-US" sz="1600" b="1" dirty="0">
                <a:solidFill>
                  <a:srgbClr val="6B3FA0"/>
                </a:solidFill>
                <a:latin typeface="Segoe UI" pitchFamily="34" charset="0"/>
                <a:ea typeface="Segoe UI" pitchFamily="34" charset="-122"/>
                <a:cs typeface="Segoe UI" pitchFamily="34" charset="-120"/>
              </a:rPr>
              <a:t>2</a:t>
            </a:r>
            <a:endParaRPr lang="en-US" sz="1600" dirty="0"/>
          </a:p>
        </p:txBody>
      </p:sp>
      <p:sp>
        <p:nvSpPr>
          <p:cNvPr id="24" name="Text 21"/>
          <p:cNvSpPr/>
          <p:nvPr/>
        </p:nvSpPr>
        <p:spPr>
          <a:xfrm>
            <a:off x="5166360" y="3813048"/>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 Make the card your manager will actually read</a:t>
            </a:r>
            <a:endParaRPr lang="en-US" sz="1600" dirty="0"/>
          </a:p>
        </p:txBody>
      </p:sp>
      <p:sp>
        <p:nvSpPr>
          <p:cNvPr id="25" name="Text 22"/>
          <p:cNvSpPr/>
          <p:nvPr/>
        </p:nvSpPr>
        <p:spPr>
          <a:xfrm>
            <a:off x="5166360" y="4178808"/>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The card exists so somebody can decide. Format matters m…</a:t>
            </a:r>
            <a:endParaRPr lang="en-US" sz="1300" dirty="0"/>
          </a:p>
        </p:txBody>
      </p:sp>
      <p:sp>
        <p:nvSpPr>
          <p:cNvPr id="26" name="Shape 23"/>
          <p:cNvSpPr/>
          <p:nvPr/>
        </p:nvSpPr>
        <p:spPr>
          <a:xfrm>
            <a:off x="4526280" y="4690872"/>
            <a:ext cx="457200" cy="457200"/>
          </a:xfrm>
          <a:prstGeom prst="ellipse">
            <a:avLst/>
          </a:prstGeom>
          <a:solidFill>
            <a:srgbClr val="FFFFFF">
              <a:alpha val="12000"/>
            </a:srgbClr>
          </a:solidFill>
          <a:ln w="19050">
            <a:solidFill>
              <a:srgbClr val="6B3FA0"/>
            </a:solidFill>
            <a:prstDash val="solid"/>
          </a:ln>
        </p:spPr>
      </p:sp>
      <p:sp>
        <p:nvSpPr>
          <p:cNvPr id="27" name="Text 24"/>
          <p:cNvSpPr/>
          <p:nvPr/>
        </p:nvSpPr>
        <p:spPr>
          <a:xfrm>
            <a:off x="4526280" y="4690872"/>
            <a:ext cx="457200" cy="457200"/>
          </a:xfrm>
          <a:prstGeom prst="rect">
            <a:avLst/>
          </a:prstGeom>
          <a:noFill/>
          <a:ln/>
        </p:spPr>
        <p:txBody>
          <a:bodyPr wrap="square" rtlCol="0" anchor="ctr"/>
          <a:lstStyle/>
          <a:p>
            <a:pPr algn="ctr" indent="0" marL="0">
              <a:buNone/>
            </a:pPr>
            <a:r>
              <a:rPr lang="en-US" sz="1600" b="1" dirty="0">
                <a:solidFill>
                  <a:srgbClr val="6B3FA0"/>
                </a:solidFill>
                <a:latin typeface="Segoe UI" pitchFamily="34" charset="0"/>
                <a:ea typeface="Segoe UI" pitchFamily="34" charset="-122"/>
                <a:cs typeface="Segoe UI" pitchFamily="34" charset="-120"/>
              </a:rPr>
              <a:t>3</a:t>
            </a:r>
            <a:endParaRPr lang="en-US" sz="1600" dirty="0"/>
          </a:p>
        </p:txBody>
      </p:sp>
      <p:sp>
        <p:nvSpPr>
          <p:cNvPr id="28" name="Text 25"/>
          <p:cNvSpPr/>
          <p:nvPr/>
        </p:nvSpPr>
        <p:spPr>
          <a:xfrm>
            <a:off x="5166360" y="4672584"/>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Set up the decision meeting</a:t>
            </a:r>
            <a:endParaRPr lang="en-US" sz="1600" dirty="0"/>
          </a:p>
        </p:txBody>
      </p:sp>
      <p:sp>
        <p:nvSpPr>
          <p:cNvPr id="29" name="Text 26"/>
          <p:cNvSpPr/>
          <p:nvPr/>
        </p:nvSpPr>
        <p:spPr>
          <a:xfrm>
            <a:off x="5166360" y="5038344"/>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This really does send a meeting invitation. Recipients c…</a:t>
            </a:r>
            <a:endParaRPr lang="en-US" sz="1300" dirty="0"/>
          </a:p>
        </p:txBody>
      </p:sp>
      <p:sp>
        <p:nvSpPr>
          <p:cNvPr id="30" name="Shape 27"/>
          <p:cNvSpPr/>
          <p:nvPr/>
        </p:nvSpPr>
        <p:spPr>
          <a:xfrm>
            <a:off x="4526280" y="5550408"/>
            <a:ext cx="457200" cy="457200"/>
          </a:xfrm>
          <a:prstGeom prst="ellipse">
            <a:avLst/>
          </a:prstGeom>
          <a:solidFill>
            <a:srgbClr val="FFFFFF">
              <a:alpha val="12000"/>
            </a:srgbClr>
          </a:solidFill>
          <a:ln w="19050">
            <a:solidFill>
              <a:srgbClr val="6B3FA0"/>
            </a:solidFill>
            <a:prstDash val="solid"/>
          </a:ln>
        </p:spPr>
      </p:sp>
      <p:sp>
        <p:nvSpPr>
          <p:cNvPr id="31" name="Text 28"/>
          <p:cNvSpPr/>
          <p:nvPr/>
        </p:nvSpPr>
        <p:spPr>
          <a:xfrm>
            <a:off x="4526280" y="5550408"/>
            <a:ext cx="457200" cy="457200"/>
          </a:xfrm>
          <a:prstGeom prst="rect">
            <a:avLst/>
          </a:prstGeom>
          <a:noFill/>
          <a:ln/>
        </p:spPr>
        <p:txBody>
          <a:bodyPr wrap="square" rtlCol="0" anchor="ctr"/>
          <a:lstStyle/>
          <a:p>
            <a:pPr algn="ctr" indent="0" marL="0">
              <a:buNone/>
            </a:pPr>
            <a:r>
              <a:rPr lang="en-US" sz="1600" b="1" dirty="0">
                <a:solidFill>
                  <a:srgbClr val="6B3FA0"/>
                </a:solidFill>
                <a:latin typeface="Segoe UI" pitchFamily="34" charset="0"/>
                <a:ea typeface="Segoe UI" pitchFamily="34" charset="-122"/>
                <a:cs typeface="Segoe UI" pitchFamily="34" charset="-120"/>
              </a:rPr>
              <a:t>4</a:t>
            </a:r>
            <a:endParaRPr lang="en-US" sz="1600" dirty="0"/>
          </a:p>
        </p:txBody>
      </p:sp>
      <p:sp>
        <p:nvSpPr>
          <p:cNvPr id="32" name="Text 29"/>
          <p:cNvSpPr/>
          <p:nvPr/>
        </p:nvSpPr>
        <p:spPr>
          <a:xfrm>
            <a:off x="5166360" y="5532120"/>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Check whether the card could mislead</a:t>
            </a:r>
            <a:endParaRPr lang="en-US" sz="1600" dirty="0"/>
          </a:p>
        </p:txBody>
      </p:sp>
      <p:sp>
        <p:nvSpPr>
          <p:cNvPr id="33" name="Text 30"/>
          <p:cNvSpPr/>
          <p:nvPr/>
        </p:nvSpPr>
        <p:spPr>
          <a:xfrm>
            <a:off x="5166360" y="5897880"/>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Somebody will decide from this card. Find the holes your…</a:t>
            </a:r>
            <a:endParaRPr lang="en-US" sz="1300" dirty="0"/>
          </a:p>
        </p:txBody>
      </p:sp>
      <p:sp>
        <p:nvSpPr>
          <p:cNvPr id="34" name="Text 31"/>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8A8FB5"/>
                </a:solidFill>
                <a:latin typeface="Segoe UI" pitchFamily="34" charset="0"/>
                <a:ea typeface="Segoe UI" pitchFamily="34" charset="-122"/>
                <a:cs typeface="Segoe UI" pitchFamily="34" charset="-120"/>
              </a:rPr>
              <a:t>Microsoft 365 Copilot Cowork</a:t>
            </a:r>
            <a:endParaRPr lang="en-US" sz="900" dirty="0"/>
          </a:p>
        </p:txBody>
      </p:sp>
      <p:sp>
        <p:nvSpPr>
          <p:cNvPr id="35" name="Text 32"/>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8A8FB5"/>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6B3FA0"/>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6B3FA0"/>
                </a:solidFill>
                <a:latin typeface="Segoe UI" pitchFamily="34" charset="0"/>
                <a:ea typeface="Segoe UI" pitchFamily="34" charset="-122"/>
                <a:cs typeface="Segoe UI" pitchFamily="34" charset="-120"/>
              </a:rPr>
              <a:t>Scenario 03 · Live demo</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What Cowork does, and what it produces</a:t>
            </a:r>
            <a:endParaRPr lang="en-US" sz="3000" dirty="0"/>
          </a:p>
        </p:txBody>
      </p:sp>
      <p:sp>
        <p:nvSpPr>
          <p:cNvPr id="5" name="Shape 3"/>
          <p:cNvSpPr/>
          <p:nvPr/>
        </p:nvSpPr>
        <p:spPr>
          <a:xfrm>
            <a:off x="137754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6" name="Image 0" descr="C:\temp\CoworkLab\v3\_working\screenshots\air3_01_input_en.png">    </p:cNvPr>
          <p:cNvPicPr>
            <a:picLocks noChangeAspect="1"/>
          </p:cNvPicPr>
          <p:nvPr/>
        </p:nvPicPr>
        <p:blipFill>
          <a:blip r:embed="rId1"/>
          <a:stretch>
            <a:fillRect/>
          </a:stretch>
        </p:blipFill>
        <p:spPr>
          <a:xfrm>
            <a:off x="1432408" y="1828800"/>
            <a:ext cx="4434840" cy="2904283"/>
          </a:xfrm>
          <a:prstGeom prst="rect">
            <a:avLst/>
          </a:prstGeom>
        </p:spPr>
      </p:pic>
      <p:sp>
        <p:nvSpPr>
          <p:cNvPr id="7" name="Text 4"/>
          <p:cNvSpPr/>
          <p:nvPr/>
        </p:nvSpPr>
        <p:spPr>
          <a:xfrm>
            <a:off x="1432408" y="4824523"/>
            <a:ext cx="4434840" cy="292608"/>
          </a:xfrm>
          <a:prstGeom prst="rect">
            <a:avLst/>
          </a:prstGeom>
          <a:noFill/>
          <a:ln/>
        </p:spPr>
        <p:txBody>
          <a:bodyPr wrap="square" rtlCol="0" anchor="ctr"/>
          <a:lstStyle/>
          <a:p>
            <a:pPr algn="ctr" indent="0" marL="0">
              <a:buNone/>
            </a:pPr>
            <a:r>
              <a:rPr lang="en-US" sz="1350" b="1" dirty="0">
                <a:solidFill>
                  <a:srgbClr val="6B3FA0"/>
                </a:solidFill>
                <a:latin typeface="Segoe UI" pitchFamily="34" charset="0"/>
                <a:ea typeface="Segoe UI" pitchFamily="34" charset="-122"/>
                <a:cs typeface="Segoe UI" pitchFamily="34" charset="-120"/>
              </a:rPr>
              <a:t>① Your input and prompt</a:t>
            </a:r>
            <a:endParaRPr lang="en-US" sz="1350" dirty="0"/>
          </a:p>
        </p:txBody>
      </p:sp>
      <p:sp>
        <p:nvSpPr>
          <p:cNvPr id="8" name="Shape 5"/>
          <p:cNvSpPr/>
          <p:nvPr/>
        </p:nvSpPr>
        <p:spPr>
          <a:xfrm>
            <a:off x="626958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9" name="Image 1" descr="C:\temp\CoworkLab\v3\_working\screenshots\air3_04_review_en.png">    </p:cNvPr>
          <p:cNvPicPr>
            <a:picLocks noChangeAspect="1"/>
          </p:cNvPicPr>
          <p:nvPr/>
        </p:nvPicPr>
        <p:blipFill>
          <a:blip r:embed="rId2"/>
          <a:stretch>
            <a:fillRect/>
          </a:stretch>
        </p:blipFill>
        <p:spPr>
          <a:xfrm>
            <a:off x="6324448" y="1828800"/>
            <a:ext cx="4434840" cy="2904283"/>
          </a:xfrm>
          <a:prstGeom prst="rect">
            <a:avLst/>
          </a:prstGeom>
        </p:spPr>
      </p:pic>
      <p:sp>
        <p:nvSpPr>
          <p:cNvPr id="10" name="Text 6"/>
          <p:cNvSpPr/>
          <p:nvPr/>
        </p:nvSpPr>
        <p:spPr>
          <a:xfrm>
            <a:off x="6324448" y="4824523"/>
            <a:ext cx="4434840" cy="292608"/>
          </a:xfrm>
          <a:prstGeom prst="rect">
            <a:avLst/>
          </a:prstGeom>
          <a:noFill/>
          <a:ln/>
        </p:spPr>
        <p:txBody>
          <a:bodyPr wrap="square" rtlCol="0" anchor="ctr"/>
          <a:lstStyle/>
          <a:p>
            <a:pPr algn="ctr" indent="0" marL="0">
              <a:buNone/>
            </a:pPr>
            <a:r>
              <a:rPr lang="en-US" sz="1350" b="1" dirty="0">
                <a:solidFill>
                  <a:srgbClr val="6B3FA0"/>
                </a:solidFill>
                <a:latin typeface="Segoe UI" pitchFamily="34" charset="0"/>
                <a:ea typeface="Segoe UI" pitchFamily="34" charset="-122"/>
                <a:cs typeface="Segoe UI" pitchFamily="34" charset="-120"/>
              </a:rPr>
              <a:t>② The result</a:t>
            </a:r>
            <a:endParaRPr lang="en-US" sz="1350" dirty="0"/>
          </a:p>
        </p:txBody>
      </p:sp>
      <p:sp>
        <p:nvSpPr>
          <p:cNvPr id="11" name="Shape 7"/>
          <p:cNvSpPr/>
          <p:nvPr/>
        </p:nvSpPr>
        <p:spPr>
          <a:xfrm>
            <a:off x="640080" y="5226859"/>
            <a:ext cx="10911535" cy="1143000"/>
          </a:xfrm>
          <a:prstGeom prst="rect">
            <a:avLst/>
          </a:prstGeom>
          <a:solidFill>
            <a:srgbClr val="FFFFFF"/>
          </a:solidFill>
          <a:ln w="12700">
            <a:solidFill>
              <a:srgbClr val="E4E7F2"/>
            </a:solidFill>
            <a:prstDash val="solid"/>
          </a:ln>
        </p:spPr>
      </p:sp>
      <p:sp>
        <p:nvSpPr>
          <p:cNvPr id="12" name="Shape 8"/>
          <p:cNvSpPr/>
          <p:nvPr/>
        </p:nvSpPr>
        <p:spPr>
          <a:xfrm>
            <a:off x="640080" y="5226859"/>
            <a:ext cx="91440" cy="1143000"/>
          </a:xfrm>
          <a:prstGeom prst="rect">
            <a:avLst/>
          </a:prstGeom>
          <a:solidFill>
            <a:srgbClr val="6B3FA0"/>
          </a:solidFill>
          <a:ln/>
        </p:spPr>
      </p:sp>
      <p:sp>
        <p:nvSpPr>
          <p:cNvPr id="13" name="Text 9"/>
          <p:cNvSpPr/>
          <p:nvPr/>
        </p:nvSpPr>
        <p:spPr>
          <a:xfrm>
            <a:off x="914400" y="5336587"/>
            <a:ext cx="1783080" cy="320040"/>
          </a:xfrm>
          <a:prstGeom prst="rect">
            <a:avLst/>
          </a:prstGeom>
          <a:noFill/>
          <a:ln/>
        </p:spPr>
        <p:txBody>
          <a:bodyPr wrap="square" rtlCol="0" anchor="ctr"/>
          <a:lstStyle/>
          <a:p>
            <a:pPr indent="0" marL="0">
              <a:buNone/>
            </a:pPr>
            <a:r>
              <a:rPr lang="en-US" sz="1400" b="1" dirty="0">
                <a:solidFill>
                  <a:srgbClr val="1E2235"/>
                </a:solidFill>
                <a:latin typeface="Segoe UI" pitchFamily="34" charset="0"/>
                <a:ea typeface="Segoe UI" pitchFamily="34" charset="-122"/>
                <a:cs typeface="Segoe UI" pitchFamily="34" charset="-120"/>
              </a:rPr>
              <a:t>Check the output</a:t>
            </a:r>
            <a:endParaRPr lang="en-US" sz="1400" dirty="0"/>
          </a:p>
        </p:txBody>
      </p:sp>
      <p:pic>
        <p:nvPicPr>
          <p:cNvPr id="14" name="Image 2" descr="preencoded.png">    </p:cNvPr>
          <p:cNvPicPr>
            <a:picLocks noChangeAspect="1"/>
          </p:cNvPicPr>
          <p:nvPr/>
        </p:nvPicPr>
        <p:blipFill>
          <a:blip r:embed="rId3"/>
          <a:stretch>
            <a:fillRect/>
          </a:stretch>
        </p:blipFill>
        <p:spPr>
          <a:xfrm>
            <a:off x="2880360" y="5373163"/>
            <a:ext cx="182880" cy="182880"/>
          </a:xfrm>
          <a:prstGeom prst="rect">
            <a:avLst/>
          </a:prstGeom>
        </p:spPr>
      </p:pic>
      <p:sp>
        <p:nvSpPr>
          <p:cNvPr id="15" name="Text 10"/>
          <p:cNvSpPr/>
          <p:nvPr/>
        </p:nvSpPr>
        <p:spPr>
          <a:xfrm>
            <a:off x="3154680" y="5318299"/>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All three options were assessed, hard conditions before cancellations</a:t>
            </a:r>
            <a:endParaRPr lang="en-US" sz="1300" dirty="0"/>
          </a:p>
        </p:txBody>
      </p:sp>
      <p:pic>
        <p:nvPicPr>
          <p:cNvPr id="16" name="Image 3" descr="preencoded.png">    </p:cNvPr>
          <p:cNvPicPr>
            <a:picLocks noChangeAspect="1"/>
          </p:cNvPicPr>
          <p:nvPr/>
        </p:nvPicPr>
        <p:blipFill>
          <a:blip r:embed="rId4"/>
          <a:stretch>
            <a:fillRect/>
          </a:stretch>
        </p:blipFill>
        <p:spPr>
          <a:xfrm>
            <a:off x="2880360" y="5711491"/>
            <a:ext cx="182880" cy="182880"/>
          </a:xfrm>
          <a:prstGeom prst="rect">
            <a:avLst/>
          </a:prstGeom>
        </p:spPr>
      </p:pic>
      <p:sp>
        <p:nvSpPr>
          <p:cNvPr id="17" name="Text 11"/>
          <p:cNvSpPr/>
          <p:nvPr/>
        </p:nvSpPr>
        <p:spPr>
          <a:xfrm>
            <a:off x="3154680" y="5656627"/>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For the option blocked by the hangar, it names the aircraft holding it and the overlapping days</a:t>
            </a:r>
            <a:endParaRPr lang="en-US" sz="1300" dirty="0"/>
          </a:p>
        </p:txBody>
      </p:sp>
      <p:pic>
        <p:nvPicPr>
          <p:cNvPr id="18" name="Image 4" descr="preencoded.png">    </p:cNvPr>
          <p:cNvPicPr>
            <a:picLocks noChangeAspect="1"/>
          </p:cNvPicPr>
          <p:nvPr/>
        </p:nvPicPr>
        <p:blipFill>
          <a:blip r:embed="rId5"/>
          <a:stretch>
            <a:fillRect/>
          </a:stretch>
        </p:blipFill>
        <p:spPr>
          <a:xfrm>
            <a:off x="2880360" y="6049819"/>
            <a:ext cx="182880" cy="182880"/>
          </a:xfrm>
          <a:prstGeom prst="rect">
            <a:avLst/>
          </a:prstGeom>
        </p:spPr>
      </p:pic>
      <p:sp>
        <p:nvSpPr>
          <p:cNvPr id="19" name="Text 12"/>
          <p:cNvSpPr/>
          <p:nvPr/>
        </p:nvSpPr>
        <p:spPr>
          <a:xfrm>
            <a:off x="3154680" y="5994955"/>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For the option blocked by the deadline, it produces the actual due date</a:t>
            </a:r>
            <a:endParaRPr lang="en-US" sz="1300" dirty="0"/>
          </a:p>
        </p:txBody>
      </p:sp>
      <p:sp>
        <p:nvSpPr>
          <p:cNvPr id="20" name="Text 13"/>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21" name="Text 14"/>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031"/>
        </a:solidFill>
      </p:bgPr>
    </p:bg>
    <p:spTree>
      <p:nvGrpSpPr>
        <p:cNvPr id="1" name=""/>
        <p:cNvGrpSpPr/>
        <p:nvPr/>
      </p:nvGrpSpPr>
      <p:grpSpPr>
        <a:xfrm>
          <a:off x="0" y="0"/>
          <a:ext cx="0" cy="0"/>
          <a:chOff x="0" y="0"/>
          <a:chExt cx="0" cy="0"/>
        </a:xfrm>
      </p:grpSpPr>
      <p:sp>
        <p:nvSpPr>
          <p:cNvPr id="2" name="Shape 0"/>
          <p:cNvSpPr/>
          <p:nvPr/>
        </p:nvSpPr>
        <p:spPr>
          <a:xfrm>
            <a:off x="0" y="0"/>
            <a:ext cx="4023360" cy="6858000"/>
          </a:xfrm>
          <a:prstGeom prst="rect">
            <a:avLst/>
          </a:prstGeom>
          <a:solidFill>
            <a:srgbClr val="1C1E4A"/>
          </a:solidFill>
          <a:ln/>
        </p:spPr>
      </p:sp>
      <p:sp>
        <p:nvSpPr>
          <p:cNvPr id="3" name="Shape 1"/>
          <p:cNvSpPr/>
          <p:nvPr/>
        </p:nvSpPr>
        <p:spPr>
          <a:xfrm>
            <a:off x="0" y="0"/>
            <a:ext cx="146304" cy="6858000"/>
          </a:xfrm>
          <a:prstGeom prst="rect">
            <a:avLst/>
          </a:prstGeom>
          <a:solidFill>
            <a:srgbClr val="B42318"/>
          </a:solidFill>
          <a:ln/>
        </p:spPr>
      </p:sp>
      <p:sp>
        <p:nvSpPr>
          <p:cNvPr id="4" name="Text 2"/>
          <p:cNvSpPr/>
          <p:nvPr/>
        </p:nvSpPr>
        <p:spPr>
          <a:xfrm>
            <a:off x="502920" y="640080"/>
            <a:ext cx="3200400" cy="365760"/>
          </a:xfrm>
          <a:prstGeom prst="rect">
            <a:avLst/>
          </a:prstGeom>
          <a:noFill/>
          <a:ln/>
        </p:spPr>
        <p:txBody>
          <a:bodyPr wrap="square" rtlCol="0" anchor="ctr"/>
          <a:lstStyle/>
          <a:p>
            <a:pPr indent="0" marL="0">
              <a:buNone/>
            </a:pPr>
            <a:r>
              <a:rPr lang="en-US" sz="1400" b="1" spc="200" kern="0" dirty="0">
                <a:solidFill>
                  <a:srgbClr val="B42318"/>
                </a:solidFill>
                <a:latin typeface="Segoe UI" pitchFamily="34" charset="0"/>
                <a:ea typeface="Segoe UI" pitchFamily="34" charset="-122"/>
                <a:cs typeface="Segoe UI" pitchFamily="34" charset="-120"/>
              </a:rPr>
              <a:t>Scenario 04</a:t>
            </a:r>
            <a:endParaRPr lang="en-US" sz="1400" dirty="0"/>
          </a:p>
        </p:txBody>
      </p:sp>
      <p:sp>
        <p:nvSpPr>
          <p:cNvPr id="5" name="Shape 3"/>
          <p:cNvSpPr/>
          <p:nvPr/>
        </p:nvSpPr>
        <p:spPr>
          <a:xfrm>
            <a:off x="502920" y="1143000"/>
            <a:ext cx="1097280" cy="1097280"/>
          </a:xfrm>
          <a:prstGeom prst="ellipse">
            <a:avLst/>
          </a:prstGeom>
          <a:solidFill>
            <a:srgbClr val="B42318"/>
          </a:solidFill>
          <a:ln/>
        </p:spPr>
      </p:sp>
      <p:pic>
        <p:nvPicPr>
          <p:cNvPr id="6" name="Image 0" descr="preencoded.png">    </p:cNvPr>
          <p:cNvPicPr>
            <a:picLocks noChangeAspect="1"/>
          </p:cNvPicPr>
          <p:nvPr/>
        </p:nvPicPr>
        <p:blipFill>
          <a:blip r:embed="rId1"/>
          <a:stretch>
            <a:fillRect/>
          </a:stretch>
        </p:blipFill>
        <p:spPr>
          <a:xfrm>
            <a:off x="804672" y="1444752"/>
            <a:ext cx="493776" cy="493776"/>
          </a:xfrm>
          <a:prstGeom prst="rect">
            <a:avLst/>
          </a:prstGeom>
        </p:spPr>
      </p:pic>
      <p:sp>
        <p:nvSpPr>
          <p:cNvPr id="7" name="Text 4"/>
          <p:cNvSpPr/>
          <p:nvPr/>
        </p:nvSpPr>
        <p:spPr>
          <a:xfrm>
            <a:off x="502920" y="2377440"/>
            <a:ext cx="3200400" cy="320040"/>
          </a:xfrm>
          <a:prstGeom prst="rect">
            <a:avLst/>
          </a:prstGeom>
          <a:noFill/>
          <a:ln/>
        </p:spPr>
        <p:txBody>
          <a:bodyPr wrap="square" rtlCol="0" anchor="ctr"/>
          <a:lstStyle/>
          <a:p>
            <a:pPr indent="0" marL="0">
              <a:buNone/>
            </a:pPr>
            <a:r>
              <a:rPr lang="en-US" sz="1300" b="1" dirty="0">
                <a:solidFill>
                  <a:srgbClr val="B9BCE0"/>
                </a:solidFill>
                <a:latin typeface="Segoe UI" pitchFamily="34" charset="0"/>
                <a:ea typeface="Segoe UI" pitchFamily="34" charset="-122"/>
                <a:cs typeface="Segoe UI" pitchFamily="34" charset="-120"/>
              </a:rPr>
              <a:t>Airline · Engineering</a:t>
            </a:r>
            <a:endParaRPr lang="en-US" sz="1300" dirty="0"/>
          </a:p>
        </p:txBody>
      </p:sp>
      <p:sp>
        <p:nvSpPr>
          <p:cNvPr id="8" name="Text 5"/>
          <p:cNvSpPr/>
          <p:nvPr/>
        </p:nvSpPr>
        <p:spPr>
          <a:xfrm>
            <a:off x="502920" y="2697480"/>
            <a:ext cx="3291840" cy="1325880"/>
          </a:xfrm>
          <a:prstGeom prst="rect">
            <a:avLst/>
          </a:prstGeom>
          <a:noFill/>
          <a:ln/>
        </p:spPr>
        <p:txBody>
          <a:bodyPr wrap="square" rtlCol="0" anchor="t"/>
          <a:lstStyle/>
          <a:p>
            <a:pPr indent="0" marL="0">
              <a:buNone/>
            </a:pPr>
            <a:r>
              <a:rPr lang="en-US" sz="2400" b="1" dirty="0">
                <a:solidFill>
                  <a:srgbClr val="FFFFFF"/>
                </a:solidFill>
                <a:latin typeface="Segoe UI" pitchFamily="34" charset="0"/>
                <a:ea typeface="Segoe UI" pitchFamily="34" charset="-122"/>
                <a:cs typeface="Segoe UI" pitchFamily="34" charset="-120"/>
              </a:rPr>
              <a:t>AOG: the Four Hours Are Not the Problem</a:t>
            </a:r>
            <a:endParaRPr lang="en-US" sz="2400" dirty="0"/>
          </a:p>
        </p:txBody>
      </p:sp>
      <p:sp>
        <p:nvSpPr>
          <p:cNvPr id="9" name="Text 6"/>
          <p:cNvSpPr/>
          <p:nvPr/>
        </p:nvSpPr>
        <p:spPr>
          <a:xfrm>
            <a:off x="502920" y="4114800"/>
            <a:ext cx="3291840" cy="320040"/>
          </a:xfrm>
          <a:prstGeom prst="rect">
            <a:avLst/>
          </a:prstGeom>
          <a:noFill/>
          <a:ln/>
        </p:spPr>
        <p:txBody>
          <a:bodyPr wrap="square" rtlCol="0" anchor="ctr"/>
          <a:lstStyle/>
          <a:p>
            <a:pPr indent="0" marL="0">
              <a:buNone/>
            </a:pPr>
            <a:r>
              <a:rPr lang="en-US" sz="1300" dirty="0">
                <a:solidFill>
                  <a:srgbClr val="9FA3CC"/>
                </a:solidFill>
                <a:latin typeface="Segoe UI" pitchFamily="34" charset="0"/>
                <a:ea typeface="Segoe UI" pitchFamily="34" charset="-122"/>
                <a:cs typeface="Segoe UI" pitchFamily="34" charset="-120"/>
              </a:rPr>
              <a:t>⏱ ~25 min · Level ★★★</a:t>
            </a:r>
            <a:endParaRPr lang="en-US" sz="1300" dirty="0"/>
          </a:p>
        </p:txBody>
      </p:sp>
      <p:sp>
        <p:nvSpPr>
          <p:cNvPr id="10" name="Shape 7"/>
          <p:cNvSpPr/>
          <p:nvPr/>
        </p:nvSpPr>
        <p:spPr>
          <a:xfrm>
            <a:off x="502920" y="4572000"/>
            <a:ext cx="1618488" cy="402336"/>
          </a:xfrm>
          <a:prstGeom prst="roundRect">
            <a:avLst>
              <a:gd name="adj" fmla="val 50000"/>
            </a:avLst>
          </a:prstGeom>
          <a:solidFill>
            <a:srgbClr val="6366F1"/>
          </a:solidFill>
          <a:ln/>
        </p:spPr>
      </p:sp>
      <p:sp>
        <p:nvSpPr>
          <p:cNvPr id="11" name="Text 8"/>
          <p:cNvSpPr/>
          <p:nvPr/>
        </p:nvSpPr>
        <p:spPr>
          <a:xfrm>
            <a:off x="502920" y="4572000"/>
            <a:ext cx="1618488"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Event trigger</a:t>
            </a:r>
            <a:endParaRPr lang="en-US" sz="1200" dirty="0"/>
          </a:p>
        </p:txBody>
      </p:sp>
      <p:sp>
        <p:nvSpPr>
          <p:cNvPr id="12" name="Shape 9"/>
          <p:cNvSpPr/>
          <p:nvPr/>
        </p:nvSpPr>
        <p:spPr>
          <a:xfrm>
            <a:off x="2304288" y="4572000"/>
            <a:ext cx="813816" cy="402336"/>
          </a:xfrm>
          <a:prstGeom prst="roundRect">
            <a:avLst>
              <a:gd name="adj" fmla="val 50000"/>
            </a:avLst>
          </a:prstGeom>
          <a:solidFill>
            <a:srgbClr val="217346"/>
          </a:solidFill>
          <a:ln/>
        </p:spPr>
      </p:sp>
      <p:sp>
        <p:nvSpPr>
          <p:cNvPr id="13" name="Text 10"/>
          <p:cNvSpPr/>
          <p:nvPr/>
        </p:nvSpPr>
        <p:spPr>
          <a:xfrm>
            <a:off x="2304288" y="4572000"/>
            <a:ext cx="813816"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Excel</a:t>
            </a:r>
            <a:endParaRPr lang="en-US" sz="1200" dirty="0"/>
          </a:p>
        </p:txBody>
      </p:sp>
      <p:sp>
        <p:nvSpPr>
          <p:cNvPr id="14" name="Shape 11"/>
          <p:cNvSpPr/>
          <p:nvPr/>
        </p:nvSpPr>
        <p:spPr>
          <a:xfrm>
            <a:off x="502920" y="5074920"/>
            <a:ext cx="813816" cy="402336"/>
          </a:xfrm>
          <a:prstGeom prst="roundRect">
            <a:avLst>
              <a:gd name="adj" fmla="val 50000"/>
            </a:avLst>
          </a:prstGeom>
          <a:solidFill>
            <a:srgbClr val="6366F1"/>
          </a:solidFill>
          <a:ln/>
        </p:spPr>
      </p:sp>
      <p:sp>
        <p:nvSpPr>
          <p:cNvPr id="15" name="Text 12"/>
          <p:cNvSpPr/>
          <p:nvPr/>
        </p:nvSpPr>
        <p:spPr>
          <a:xfrm>
            <a:off x="502920" y="5074920"/>
            <a:ext cx="813816"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Email</a:t>
            </a:r>
            <a:endParaRPr lang="en-US" sz="1200" dirty="0"/>
          </a:p>
        </p:txBody>
      </p:sp>
      <p:sp>
        <p:nvSpPr>
          <p:cNvPr id="16" name="Shape 13"/>
          <p:cNvSpPr/>
          <p:nvPr/>
        </p:nvSpPr>
        <p:spPr>
          <a:xfrm>
            <a:off x="1499616" y="5074920"/>
            <a:ext cx="2020824" cy="402336"/>
          </a:xfrm>
          <a:prstGeom prst="roundRect">
            <a:avLst>
              <a:gd name="adj" fmla="val 50000"/>
            </a:avLst>
          </a:prstGeom>
          <a:solidFill>
            <a:srgbClr val="6366F1"/>
          </a:solidFill>
          <a:ln/>
        </p:spPr>
      </p:sp>
      <p:sp>
        <p:nvSpPr>
          <p:cNvPr id="17" name="Text 14"/>
          <p:cNvSpPr/>
          <p:nvPr/>
        </p:nvSpPr>
        <p:spPr>
          <a:xfrm>
            <a:off x="1499616" y="5074920"/>
            <a:ext cx="2020824"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Enterprise Search</a:t>
            </a:r>
            <a:endParaRPr lang="en-US" sz="1200" dirty="0"/>
          </a:p>
        </p:txBody>
      </p:sp>
      <p:sp>
        <p:nvSpPr>
          <p:cNvPr id="18" name="Text 15"/>
          <p:cNvSpPr/>
          <p:nvPr/>
        </p:nvSpPr>
        <p:spPr>
          <a:xfrm>
            <a:off x="4526280" y="566928"/>
            <a:ext cx="7132320" cy="960120"/>
          </a:xfrm>
          <a:prstGeom prst="rect">
            <a:avLst/>
          </a:prstGeom>
          <a:noFill/>
          <a:ln/>
        </p:spPr>
        <p:txBody>
          <a:bodyPr wrap="square" rtlCol="0" anchor="t"/>
          <a:lstStyle/>
          <a:p>
            <a:pPr indent="0" marL="0">
              <a:lnSpc>
                <a:spcPct val="130000"/>
              </a:lnSpc>
              <a:buNone/>
            </a:pPr>
            <a:r>
              <a:rPr lang="en-US" sz="1200" dirty="0">
                <a:solidFill>
                  <a:srgbClr val="D7D9F0"/>
                </a:solidFill>
                <a:latin typeface="Segoe UI" pitchFamily="34" charset="0"/>
                <a:ea typeface="Segoe UI" pitchFamily="34" charset="-122"/>
                <a:cs typeface="Segoe UI" pitchFamily="34" charset="-120"/>
              </a:rPr>
              <a:t>A freighter goes AOG at pushback. The part is in stock, four hours of work, and on the face of it one flight slips. But this flight is carrying 2–8°C pharmaceuticals, and acceptance for temperature-controlled cargo is measured as cumulative excursion across the whole chain. Four hours on its own still fits inside the window. What blows it is that those four hours cause the shipment to miss the cold-chain truck's cut-off at destination. This scenario runs on an event trigger: the moment the notification from MOC arrives, Cowork picks it up.</a:t>
            </a:r>
            <a:endParaRPr lang="en-US" sz="1200" dirty="0"/>
          </a:p>
        </p:txBody>
      </p:sp>
      <p:sp>
        <p:nvSpPr>
          <p:cNvPr id="19" name="Text 16"/>
          <p:cNvSpPr/>
          <p:nvPr/>
        </p:nvSpPr>
        <p:spPr>
          <a:xfrm>
            <a:off x="4526280" y="1655064"/>
            <a:ext cx="7132320" cy="365760"/>
          </a:xfrm>
          <a:prstGeom prst="rect">
            <a:avLst/>
          </a:prstGeom>
          <a:noFill/>
          <a:ln/>
        </p:spPr>
        <p:txBody>
          <a:bodyPr wrap="square" rtlCol="0" anchor="ctr"/>
          <a:lstStyle/>
          <a:p>
            <a:pPr indent="0" marL="0">
              <a:buNone/>
            </a:pPr>
            <a:r>
              <a:rPr lang="en-US" sz="1500" b="1" dirty="0">
                <a:solidFill>
                  <a:srgbClr val="B42318"/>
                </a:solidFill>
                <a:latin typeface="Segoe UI" pitchFamily="34" charset="0"/>
                <a:ea typeface="Segoe UI" pitchFamily="34" charset="-122"/>
                <a:cs typeface="Segoe UI" pitchFamily="34" charset="-120"/>
              </a:rPr>
              <a:t>Agentic workflow</a:t>
            </a:r>
            <a:endParaRPr lang="en-US" sz="1500" dirty="0"/>
          </a:p>
        </p:txBody>
      </p:sp>
      <p:sp>
        <p:nvSpPr>
          <p:cNvPr id="20" name="Shape 17"/>
          <p:cNvSpPr/>
          <p:nvPr/>
        </p:nvSpPr>
        <p:spPr>
          <a:xfrm>
            <a:off x="4526280" y="2112264"/>
            <a:ext cx="457200" cy="457200"/>
          </a:xfrm>
          <a:prstGeom prst="ellipse">
            <a:avLst/>
          </a:prstGeom>
          <a:solidFill>
            <a:srgbClr val="FFFFFF">
              <a:alpha val="12000"/>
            </a:srgbClr>
          </a:solidFill>
          <a:ln w="19050">
            <a:solidFill>
              <a:srgbClr val="B42318"/>
            </a:solidFill>
            <a:prstDash val="solid"/>
          </a:ln>
        </p:spPr>
      </p:sp>
      <p:sp>
        <p:nvSpPr>
          <p:cNvPr id="21" name="Text 18"/>
          <p:cNvSpPr/>
          <p:nvPr/>
        </p:nvSpPr>
        <p:spPr>
          <a:xfrm>
            <a:off x="4526280" y="2112264"/>
            <a:ext cx="457200" cy="457200"/>
          </a:xfrm>
          <a:prstGeom prst="rect">
            <a:avLst/>
          </a:prstGeom>
          <a:noFill/>
          <a:ln/>
        </p:spPr>
        <p:txBody>
          <a:bodyPr wrap="square" rtlCol="0" anchor="ctr"/>
          <a:lstStyle/>
          <a:p>
            <a:pPr algn="ctr" indent="0" marL="0">
              <a:buNone/>
            </a:pPr>
            <a:r>
              <a:rPr lang="en-US" sz="1600" b="1" dirty="0">
                <a:solidFill>
                  <a:srgbClr val="B42318"/>
                </a:solidFill>
                <a:latin typeface="Segoe UI" pitchFamily="34" charset="0"/>
                <a:ea typeface="Segoe UI" pitchFamily="34" charset="-122"/>
                <a:cs typeface="Segoe UI" pitchFamily="34" charset="-120"/>
              </a:rPr>
              <a:t>1</a:t>
            </a:r>
            <a:endParaRPr lang="en-US" sz="1600" dirty="0"/>
          </a:p>
        </p:txBody>
      </p:sp>
      <p:sp>
        <p:nvSpPr>
          <p:cNvPr id="22" name="Text 19"/>
          <p:cNvSpPr/>
          <p:nvPr/>
        </p:nvSpPr>
        <p:spPr>
          <a:xfrm>
            <a:off x="5166360" y="2093976"/>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Arm the event trigger first</a:t>
            </a:r>
            <a:endParaRPr lang="en-US" sz="1600" dirty="0"/>
          </a:p>
        </p:txBody>
      </p:sp>
      <p:sp>
        <p:nvSpPr>
          <p:cNvPr id="23" name="Text 20"/>
          <p:cNvSpPr/>
          <p:nvPr/>
        </p:nvSpPr>
        <p:spPr>
          <a:xfrm>
            <a:off x="5166360" y="2459736"/>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This only arms the trigger; nothing happens yet. ⚠️ Do n…</a:t>
            </a:r>
            <a:endParaRPr lang="en-US" sz="1300" dirty="0"/>
          </a:p>
        </p:txBody>
      </p:sp>
      <p:sp>
        <p:nvSpPr>
          <p:cNvPr id="24" name="Shape 21"/>
          <p:cNvSpPr/>
          <p:nvPr/>
        </p:nvSpPr>
        <p:spPr>
          <a:xfrm>
            <a:off x="4526280" y="2971800"/>
            <a:ext cx="457200" cy="457200"/>
          </a:xfrm>
          <a:prstGeom prst="ellipse">
            <a:avLst/>
          </a:prstGeom>
          <a:solidFill>
            <a:srgbClr val="FFFFFF">
              <a:alpha val="12000"/>
            </a:srgbClr>
          </a:solidFill>
          <a:ln w="19050">
            <a:solidFill>
              <a:srgbClr val="B42318"/>
            </a:solidFill>
            <a:prstDash val="solid"/>
          </a:ln>
        </p:spPr>
      </p:sp>
      <p:sp>
        <p:nvSpPr>
          <p:cNvPr id="25" name="Text 22"/>
          <p:cNvSpPr/>
          <p:nvPr/>
        </p:nvSpPr>
        <p:spPr>
          <a:xfrm>
            <a:off x="4526280" y="2971800"/>
            <a:ext cx="457200" cy="457200"/>
          </a:xfrm>
          <a:prstGeom prst="rect">
            <a:avLst/>
          </a:prstGeom>
          <a:noFill/>
          <a:ln/>
        </p:spPr>
        <p:txBody>
          <a:bodyPr wrap="square" rtlCol="0" anchor="ctr"/>
          <a:lstStyle/>
          <a:p>
            <a:pPr algn="ctr" indent="0" marL="0">
              <a:buNone/>
            </a:pPr>
            <a:r>
              <a:rPr lang="en-US" sz="1600" b="1" dirty="0">
                <a:solidFill>
                  <a:srgbClr val="B42318"/>
                </a:solidFill>
                <a:latin typeface="Segoe UI" pitchFamily="34" charset="0"/>
                <a:ea typeface="Segoe UI" pitchFamily="34" charset="-122"/>
                <a:cs typeface="Segoe UI" pitchFamily="34" charset="-120"/>
              </a:rPr>
              <a:t>2</a:t>
            </a:r>
            <a:endParaRPr lang="en-US" sz="1600" dirty="0"/>
          </a:p>
        </p:txBody>
      </p:sp>
      <p:sp>
        <p:nvSpPr>
          <p:cNvPr id="26" name="Text 23"/>
          <p:cNvSpPr/>
          <p:nvPr/>
        </p:nvSpPr>
        <p:spPr>
          <a:xfrm>
            <a:off x="5166360" y="2953512"/>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 Send a real AOG notification from Outlook</a:t>
            </a:r>
            <a:endParaRPr lang="en-US" sz="1600" dirty="0"/>
          </a:p>
        </p:txBody>
      </p:sp>
      <p:sp>
        <p:nvSpPr>
          <p:cNvPr id="27" name="Text 24"/>
          <p:cNvSpPr/>
          <p:nvPr/>
        </p:nvSpPr>
        <p:spPr>
          <a:xfrm>
            <a:off x="5166360" y="3319272"/>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Open Outlook and send yourself the email in 信箱_種入用/AIR4_…</a:t>
            </a:r>
            <a:endParaRPr lang="en-US" sz="1300" dirty="0"/>
          </a:p>
        </p:txBody>
      </p:sp>
      <p:sp>
        <p:nvSpPr>
          <p:cNvPr id="28" name="Shape 25"/>
          <p:cNvSpPr/>
          <p:nvPr/>
        </p:nvSpPr>
        <p:spPr>
          <a:xfrm>
            <a:off x="4526280" y="3831336"/>
            <a:ext cx="457200" cy="457200"/>
          </a:xfrm>
          <a:prstGeom prst="ellipse">
            <a:avLst/>
          </a:prstGeom>
          <a:solidFill>
            <a:srgbClr val="FFFFFF">
              <a:alpha val="12000"/>
            </a:srgbClr>
          </a:solidFill>
          <a:ln w="19050">
            <a:solidFill>
              <a:srgbClr val="B42318"/>
            </a:solidFill>
            <a:prstDash val="solid"/>
          </a:ln>
        </p:spPr>
      </p:sp>
      <p:sp>
        <p:nvSpPr>
          <p:cNvPr id="29" name="Text 26"/>
          <p:cNvSpPr/>
          <p:nvPr/>
        </p:nvSpPr>
        <p:spPr>
          <a:xfrm>
            <a:off x="4526280" y="3831336"/>
            <a:ext cx="457200" cy="457200"/>
          </a:xfrm>
          <a:prstGeom prst="rect">
            <a:avLst/>
          </a:prstGeom>
          <a:noFill/>
          <a:ln/>
        </p:spPr>
        <p:txBody>
          <a:bodyPr wrap="square" rtlCol="0" anchor="ctr"/>
          <a:lstStyle/>
          <a:p>
            <a:pPr algn="ctr" indent="0" marL="0">
              <a:buNone/>
            </a:pPr>
            <a:r>
              <a:rPr lang="en-US" sz="1600" b="1" dirty="0">
                <a:solidFill>
                  <a:srgbClr val="B42318"/>
                </a:solidFill>
                <a:latin typeface="Segoe UI" pitchFamily="34" charset="0"/>
                <a:ea typeface="Segoe UI" pitchFamily="34" charset="-122"/>
                <a:cs typeface="Segoe UI" pitchFamily="34" charset="-120"/>
              </a:rPr>
              <a:t>3</a:t>
            </a:r>
            <a:endParaRPr lang="en-US" sz="1600" dirty="0"/>
          </a:p>
        </p:txBody>
      </p:sp>
      <p:sp>
        <p:nvSpPr>
          <p:cNvPr id="30" name="Text 27"/>
          <p:cNvSpPr/>
          <p:nvPr/>
        </p:nvSpPr>
        <p:spPr>
          <a:xfrm>
            <a:off x="5166360" y="3813048"/>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 Watch it chase the impact outside engineering</a:t>
            </a:r>
            <a:endParaRPr lang="en-US" sz="1600" dirty="0"/>
          </a:p>
        </p:txBody>
      </p:sp>
      <p:sp>
        <p:nvSpPr>
          <p:cNvPr id="31" name="Text 28"/>
          <p:cNvSpPr/>
          <p:nvPr/>
        </p:nvSpPr>
        <p:spPr>
          <a:xfrm>
            <a:off x="5166360" y="4178808"/>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Once it fires, Cowork opens a new task and works through…</a:t>
            </a:r>
            <a:endParaRPr lang="en-US" sz="1300" dirty="0"/>
          </a:p>
        </p:txBody>
      </p:sp>
      <p:sp>
        <p:nvSpPr>
          <p:cNvPr id="32" name="Shape 29"/>
          <p:cNvSpPr/>
          <p:nvPr/>
        </p:nvSpPr>
        <p:spPr>
          <a:xfrm>
            <a:off x="4526280" y="4690872"/>
            <a:ext cx="457200" cy="457200"/>
          </a:xfrm>
          <a:prstGeom prst="ellipse">
            <a:avLst/>
          </a:prstGeom>
          <a:solidFill>
            <a:srgbClr val="FFFFFF">
              <a:alpha val="12000"/>
            </a:srgbClr>
          </a:solidFill>
          <a:ln w="19050">
            <a:solidFill>
              <a:srgbClr val="B42318"/>
            </a:solidFill>
            <a:prstDash val="solid"/>
          </a:ln>
        </p:spPr>
      </p:sp>
      <p:sp>
        <p:nvSpPr>
          <p:cNvPr id="33" name="Text 30"/>
          <p:cNvSpPr/>
          <p:nvPr/>
        </p:nvSpPr>
        <p:spPr>
          <a:xfrm>
            <a:off x="4526280" y="4690872"/>
            <a:ext cx="457200" cy="457200"/>
          </a:xfrm>
          <a:prstGeom prst="rect">
            <a:avLst/>
          </a:prstGeom>
          <a:noFill/>
          <a:ln/>
        </p:spPr>
        <p:txBody>
          <a:bodyPr wrap="square" rtlCol="0" anchor="ctr"/>
          <a:lstStyle/>
          <a:p>
            <a:pPr algn="ctr" indent="0" marL="0">
              <a:buNone/>
            </a:pPr>
            <a:r>
              <a:rPr lang="en-US" sz="1600" b="1" dirty="0">
                <a:solidFill>
                  <a:srgbClr val="B42318"/>
                </a:solidFill>
                <a:latin typeface="Segoe UI" pitchFamily="34" charset="0"/>
                <a:ea typeface="Segoe UI" pitchFamily="34" charset="-122"/>
                <a:cs typeface="Segoe UI" pitchFamily="34" charset="-120"/>
              </a:rPr>
              <a:t>4</a:t>
            </a:r>
            <a:endParaRPr lang="en-US" sz="1600" dirty="0"/>
          </a:p>
        </p:txBody>
      </p:sp>
      <p:sp>
        <p:nvSpPr>
          <p:cNvPr id="34" name="Text 31"/>
          <p:cNvSpPr/>
          <p:nvPr/>
        </p:nvSpPr>
        <p:spPr>
          <a:xfrm>
            <a:off x="5166360" y="4672584"/>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Have it tell the people who need to know</a:t>
            </a:r>
            <a:endParaRPr lang="en-US" sz="1600" dirty="0"/>
          </a:p>
        </p:txBody>
      </p:sp>
      <p:sp>
        <p:nvSpPr>
          <p:cNvPr id="35" name="Text 32"/>
          <p:cNvSpPr/>
          <p:nvPr/>
        </p:nvSpPr>
        <p:spPr>
          <a:xfrm>
            <a:off x="5166360" y="5038344"/>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This step really sends mail and posts to Teams. Check th…</a:t>
            </a:r>
            <a:endParaRPr lang="en-US" sz="1300" dirty="0"/>
          </a:p>
        </p:txBody>
      </p:sp>
      <p:sp>
        <p:nvSpPr>
          <p:cNvPr id="36" name="Shape 33"/>
          <p:cNvSpPr/>
          <p:nvPr/>
        </p:nvSpPr>
        <p:spPr>
          <a:xfrm>
            <a:off x="4526280" y="5550408"/>
            <a:ext cx="457200" cy="457200"/>
          </a:xfrm>
          <a:prstGeom prst="ellipse">
            <a:avLst/>
          </a:prstGeom>
          <a:solidFill>
            <a:srgbClr val="FFFFFF">
              <a:alpha val="12000"/>
            </a:srgbClr>
          </a:solidFill>
          <a:ln w="19050">
            <a:solidFill>
              <a:srgbClr val="B42318"/>
            </a:solidFill>
            <a:prstDash val="solid"/>
          </a:ln>
        </p:spPr>
      </p:sp>
      <p:sp>
        <p:nvSpPr>
          <p:cNvPr id="37" name="Text 34"/>
          <p:cNvSpPr/>
          <p:nvPr/>
        </p:nvSpPr>
        <p:spPr>
          <a:xfrm>
            <a:off x="4526280" y="5550408"/>
            <a:ext cx="457200" cy="457200"/>
          </a:xfrm>
          <a:prstGeom prst="rect">
            <a:avLst/>
          </a:prstGeom>
          <a:noFill/>
          <a:ln/>
        </p:spPr>
        <p:txBody>
          <a:bodyPr wrap="square" rtlCol="0" anchor="ctr"/>
          <a:lstStyle/>
          <a:p>
            <a:pPr algn="ctr" indent="0" marL="0">
              <a:buNone/>
            </a:pPr>
            <a:r>
              <a:rPr lang="en-US" sz="1600" b="1" dirty="0">
                <a:solidFill>
                  <a:srgbClr val="B42318"/>
                </a:solidFill>
                <a:latin typeface="Segoe UI" pitchFamily="34" charset="0"/>
                <a:ea typeface="Segoe UI" pitchFamily="34" charset="-122"/>
                <a:cs typeface="Segoe UI" pitchFamily="34" charset="-120"/>
              </a:rPr>
              <a:t>5</a:t>
            </a:r>
            <a:endParaRPr lang="en-US" sz="1600" dirty="0"/>
          </a:p>
        </p:txBody>
      </p:sp>
      <p:sp>
        <p:nvSpPr>
          <p:cNvPr id="38" name="Text 35"/>
          <p:cNvSpPr/>
          <p:nvPr/>
        </p:nvSpPr>
        <p:spPr>
          <a:xfrm>
            <a:off x="5166360" y="5532120"/>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Pause the trigger</a:t>
            </a:r>
            <a:endParaRPr lang="en-US" sz="1600" dirty="0"/>
          </a:p>
        </p:txBody>
      </p:sp>
      <p:sp>
        <p:nvSpPr>
          <p:cNvPr id="39" name="Text 36"/>
          <p:cNvSpPr/>
          <p:nvPr/>
        </p:nvSpPr>
        <p:spPr>
          <a:xfrm>
            <a:off x="5166360" y="5897880"/>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Pause it when you are done, or every future email starti…</a:t>
            </a:r>
            <a:endParaRPr lang="en-US" sz="1300" dirty="0"/>
          </a:p>
        </p:txBody>
      </p:sp>
      <p:sp>
        <p:nvSpPr>
          <p:cNvPr id="40" name="Text 37"/>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8A8FB5"/>
                </a:solidFill>
                <a:latin typeface="Segoe UI" pitchFamily="34" charset="0"/>
                <a:ea typeface="Segoe UI" pitchFamily="34" charset="-122"/>
                <a:cs typeface="Segoe UI" pitchFamily="34" charset="-120"/>
              </a:rPr>
              <a:t>Microsoft 365 Copilot Cowork</a:t>
            </a:r>
            <a:endParaRPr lang="en-US" sz="900" dirty="0"/>
          </a:p>
        </p:txBody>
      </p:sp>
      <p:sp>
        <p:nvSpPr>
          <p:cNvPr id="41" name="Text 38"/>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8A8FB5"/>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B42318"/>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B42318"/>
                </a:solidFill>
                <a:latin typeface="Segoe UI" pitchFamily="34" charset="0"/>
                <a:ea typeface="Segoe UI" pitchFamily="34" charset="-122"/>
                <a:cs typeface="Segoe UI" pitchFamily="34" charset="-120"/>
              </a:rPr>
              <a:t>Scenario 04 · Live demo</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What Cowork does, and what it produces</a:t>
            </a:r>
            <a:endParaRPr lang="en-US" sz="3000" dirty="0"/>
          </a:p>
        </p:txBody>
      </p:sp>
      <p:sp>
        <p:nvSpPr>
          <p:cNvPr id="5" name="Shape 3"/>
          <p:cNvSpPr/>
          <p:nvPr/>
        </p:nvSpPr>
        <p:spPr>
          <a:xfrm>
            <a:off x="137754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6" name="Image 0" descr="C:\temp\CoworkLab\v3\_working\screenshots\air4_01_trigger_setup_en.png">    </p:cNvPr>
          <p:cNvPicPr>
            <a:picLocks noChangeAspect="1"/>
          </p:cNvPicPr>
          <p:nvPr/>
        </p:nvPicPr>
        <p:blipFill>
          <a:blip r:embed="rId1"/>
          <a:stretch>
            <a:fillRect/>
          </a:stretch>
        </p:blipFill>
        <p:spPr>
          <a:xfrm>
            <a:off x="1432408" y="1828800"/>
            <a:ext cx="4434840" cy="2904283"/>
          </a:xfrm>
          <a:prstGeom prst="rect">
            <a:avLst/>
          </a:prstGeom>
        </p:spPr>
      </p:pic>
      <p:sp>
        <p:nvSpPr>
          <p:cNvPr id="7" name="Text 4"/>
          <p:cNvSpPr/>
          <p:nvPr/>
        </p:nvSpPr>
        <p:spPr>
          <a:xfrm>
            <a:off x="1432408" y="4824523"/>
            <a:ext cx="4434840" cy="292608"/>
          </a:xfrm>
          <a:prstGeom prst="rect">
            <a:avLst/>
          </a:prstGeom>
          <a:noFill/>
          <a:ln/>
        </p:spPr>
        <p:txBody>
          <a:bodyPr wrap="square" rtlCol="0" anchor="ctr"/>
          <a:lstStyle/>
          <a:p>
            <a:pPr algn="ctr" indent="0" marL="0">
              <a:buNone/>
            </a:pPr>
            <a:r>
              <a:rPr lang="en-US" sz="1350" b="1" dirty="0">
                <a:solidFill>
                  <a:srgbClr val="B42318"/>
                </a:solidFill>
                <a:latin typeface="Segoe UI" pitchFamily="34" charset="0"/>
                <a:ea typeface="Segoe UI" pitchFamily="34" charset="-122"/>
                <a:cs typeface="Segoe UI" pitchFamily="34" charset="-120"/>
              </a:rPr>
              <a:t>① Your input and prompt</a:t>
            </a:r>
            <a:endParaRPr lang="en-US" sz="1350" dirty="0"/>
          </a:p>
        </p:txBody>
      </p:sp>
      <p:sp>
        <p:nvSpPr>
          <p:cNvPr id="8" name="Shape 5"/>
          <p:cNvSpPr/>
          <p:nvPr/>
        </p:nvSpPr>
        <p:spPr>
          <a:xfrm>
            <a:off x="626958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9" name="Image 1" descr="C:\temp\CoworkLab\v3\_working\screenshots\air4_05_paused_en.png">    </p:cNvPr>
          <p:cNvPicPr>
            <a:picLocks noChangeAspect="1"/>
          </p:cNvPicPr>
          <p:nvPr/>
        </p:nvPicPr>
        <p:blipFill>
          <a:blip r:embed="rId2"/>
          <a:stretch>
            <a:fillRect/>
          </a:stretch>
        </p:blipFill>
        <p:spPr>
          <a:xfrm>
            <a:off x="6324448" y="1828800"/>
            <a:ext cx="4434840" cy="2904283"/>
          </a:xfrm>
          <a:prstGeom prst="rect">
            <a:avLst/>
          </a:prstGeom>
        </p:spPr>
      </p:pic>
      <p:sp>
        <p:nvSpPr>
          <p:cNvPr id="10" name="Text 6"/>
          <p:cNvSpPr/>
          <p:nvPr/>
        </p:nvSpPr>
        <p:spPr>
          <a:xfrm>
            <a:off x="6324448" y="4824523"/>
            <a:ext cx="4434840" cy="292608"/>
          </a:xfrm>
          <a:prstGeom prst="rect">
            <a:avLst/>
          </a:prstGeom>
          <a:noFill/>
          <a:ln/>
        </p:spPr>
        <p:txBody>
          <a:bodyPr wrap="square" rtlCol="0" anchor="ctr"/>
          <a:lstStyle/>
          <a:p>
            <a:pPr algn="ctr" indent="0" marL="0">
              <a:buNone/>
            </a:pPr>
            <a:r>
              <a:rPr lang="en-US" sz="1350" b="1" dirty="0">
                <a:solidFill>
                  <a:srgbClr val="B42318"/>
                </a:solidFill>
                <a:latin typeface="Segoe UI" pitchFamily="34" charset="0"/>
                <a:ea typeface="Segoe UI" pitchFamily="34" charset="-122"/>
                <a:cs typeface="Segoe UI" pitchFamily="34" charset="-120"/>
              </a:rPr>
              <a:t>② The result</a:t>
            </a:r>
            <a:endParaRPr lang="en-US" sz="1350" dirty="0"/>
          </a:p>
        </p:txBody>
      </p:sp>
      <p:sp>
        <p:nvSpPr>
          <p:cNvPr id="11" name="Shape 7"/>
          <p:cNvSpPr/>
          <p:nvPr/>
        </p:nvSpPr>
        <p:spPr>
          <a:xfrm>
            <a:off x="640080" y="5226859"/>
            <a:ext cx="10911535" cy="1143000"/>
          </a:xfrm>
          <a:prstGeom prst="rect">
            <a:avLst/>
          </a:prstGeom>
          <a:solidFill>
            <a:srgbClr val="FFFFFF"/>
          </a:solidFill>
          <a:ln w="12700">
            <a:solidFill>
              <a:srgbClr val="E4E7F2"/>
            </a:solidFill>
            <a:prstDash val="solid"/>
          </a:ln>
        </p:spPr>
      </p:sp>
      <p:sp>
        <p:nvSpPr>
          <p:cNvPr id="12" name="Shape 8"/>
          <p:cNvSpPr/>
          <p:nvPr/>
        </p:nvSpPr>
        <p:spPr>
          <a:xfrm>
            <a:off x="640080" y="5226859"/>
            <a:ext cx="91440" cy="1143000"/>
          </a:xfrm>
          <a:prstGeom prst="rect">
            <a:avLst/>
          </a:prstGeom>
          <a:solidFill>
            <a:srgbClr val="B42318"/>
          </a:solidFill>
          <a:ln/>
        </p:spPr>
      </p:sp>
      <p:sp>
        <p:nvSpPr>
          <p:cNvPr id="13" name="Text 9"/>
          <p:cNvSpPr/>
          <p:nvPr/>
        </p:nvSpPr>
        <p:spPr>
          <a:xfrm>
            <a:off x="914400" y="5336587"/>
            <a:ext cx="1783080" cy="320040"/>
          </a:xfrm>
          <a:prstGeom prst="rect">
            <a:avLst/>
          </a:prstGeom>
          <a:noFill/>
          <a:ln/>
        </p:spPr>
        <p:txBody>
          <a:bodyPr wrap="square" rtlCol="0" anchor="ctr"/>
          <a:lstStyle/>
          <a:p>
            <a:pPr indent="0" marL="0">
              <a:buNone/>
            </a:pPr>
            <a:r>
              <a:rPr lang="en-US" sz="1400" b="1" dirty="0">
                <a:solidFill>
                  <a:srgbClr val="1E2235"/>
                </a:solidFill>
                <a:latin typeface="Segoe UI" pitchFamily="34" charset="0"/>
                <a:ea typeface="Segoe UI" pitchFamily="34" charset="-122"/>
                <a:cs typeface="Segoe UI" pitchFamily="34" charset="-120"/>
              </a:rPr>
              <a:t>Check the output</a:t>
            </a:r>
            <a:endParaRPr lang="en-US" sz="1400" dirty="0"/>
          </a:p>
        </p:txBody>
      </p:sp>
      <p:pic>
        <p:nvPicPr>
          <p:cNvPr id="14" name="Image 2" descr="preencoded.png">    </p:cNvPr>
          <p:cNvPicPr>
            <a:picLocks noChangeAspect="1"/>
          </p:cNvPicPr>
          <p:nvPr/>
        </p:nvPicPr>
        <p:blipFill>
          <a:blip r:embed="rId3"/>
          <a:stretch>
            <a:fillRect/>
          </a:stretch>
        </p:blipFill>
        <p:spPr>
          <a:xfrm>
            <a:off x="2880360" y="5373163"/>
            <a:ext cx="182880" cy="182880"/>
          </a:xfrm>
          <a:prstGeom prst="rect">
            <a:avLst/>
          </a:prstGeom>
        </p:spPr>
      </p:pic>
      <p:sp>
        <p:nvSpPr>
          <p:cNvPr id="15" name="Text 10"/>
          <p:cNvSpPr/>
          <p:nvPr/>
        </p:nvSpPr>
        <p:spPr>
          <a:xfrm>
            <a:off x="3154680" y="5318299"/>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The trigger was created, with the condition “email whose subject starts with [AOG]”</a:t>
            </a:r>
            <a:endParaRPr lang="en-US" sz="1300" dirty="0"/>
          </a:p>
        </p:txBody>
      </p:sp>
      <p:pic>
        <p:nvPicPr>
          <p:cNvPr id="16" name="Image 3" descr="preencoded.png">    </p:cNvPr>
          <p:cNvPicPr>
            <a:picLocks noChangeAspect="1"/>
          </p:cNvPicPr>
          <p:nvPr/>
        </p:nvPicPr>
        <p:blipFill>
          <a:blip r:embed="rId4"/>
          <a:stretch>
            <a:fillRect/>
          </a:stretch>
        </p:blipFill>
        <p:spPr>
          <a:xfrm>
            <a:off x="2880360" y="5711491"/>
            <a:ext cx="182880" cy="182880"/>
          </a:xfrm>
          <a:prstGeom prst="rect">
            <a:avLst/>
          </a:prstGeom>
        </p:spPr>
      </p:pic>
      <p:sp>
        <p:nvSpPr>
          <p:cNvPr id="17" name="Text 11"/>
          <p:cNvSpPr/>
          <p:nvPr/>
        </p:nvSpPr>
        <p:spPr>
          <a:xfrm>
            <a:off x="3154680" y="5656627"/>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The trigger fired on the email you sent from Outlook, not one Cowork sent itself</a:t>
            </a:r>
            <a:endParaRPr lang="en-US" sz="1300" dirty="0"/>
          </a:p>
        </p:txBody>
      </p:sp>
      <p:pic>
        <p:nvPicPr>
          <p:cNvPr id="18" name="Image 4" descr="preencoded.png">    </p:cNvPr>
          <p:cNvPicPr>
            <a:picLocks noChangeAspect="1"/>
          </p:cNvPicPr>
          <p:nvPr/>
        </p:nvPicPr>
        <p:blipFill>
          <a:blip r:embed="rId5"/>
          <a:stretch>
            <a:fillRect/>
          </a:stretch>
        </p:blipFill>
        <p:spPr>
          <a:xfrm>
            <a:off x="2880360" y="6049819"/>
            <a:ext cx="182880" cy="182880"/>
          </a:xfrm>
          <a:prstGeom prst="rect">
            <a:avLst/>
          </a:prstGeom>
        </p:spPr>
      </p:pic>
      <p:sp>
        <p:nvSpPr>
          <p:cNvPr id="19" name="Text 12"/>
          <p:cNvSpPr/>
          <p:nvPr/>
        </p:nvSpPr>
        <p:spPr>
          <a:xfrm>
            <a:off x="3154680" y="5994955"/>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It states that a four-hour delay on its own still sits inside the acceptance window</a:t>
            </a:r>
            <a:endParaRPr lang="en-US" sz="1300" dirty="0"/>
          </a:p>
        </p:txBody>
      </p:sp>
      <p:sp>
        <p:nvSpPr>
          <p:cNvPr id="20" name="Text 13"/>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21" name="Text 14"/>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031"/>
        </a:solidFill>
      </p:bgPr>
    </p:bg>
    <p:spTree>
      <p:nvGrpSpPr>
        <p:cNvPr id="1" name=""/>
        <p:cNvGrpSpPr/>
        <p:nvPr/>
      </p:nvGrpSpPr>
      <p:grpSpPr>
        <a:xfrm>
          <a:off x="0" y="0"/>
          <a:ext cx="0" cy="0"/>
          <a:chOff x="0" y="0"/>
          <a:chExt cx="0" cy="0"/>
        </a:xfrm>
      </p:grpSpPr>
      <p:sp>
        <p:nvSpPr>
          <p:cNvPr id="2" name="Shape 0"/>
          <p:cNvSpPr/>
          <p:nvPr/>
        </p:nvSpPr>
        <p:spPr>
          <a:xfrm>
            <a:off x="0" y="0"/>
            <a:ext cx="4023360" cy="6858000"/>
          </a:xfrm>
          <a:prstGeom prst="rect">
            <a:avLst/>
          </a:prstGeom>
          <a:solidFill>
            <a:srgbClr val="1C1E4A"/>
          </a:solidFill>
          <a:ln/>
        </p:spPr>
      </p:sp>
      <p:sp>
        <p:nvSpPr>
          <p:cNvPr id="3" name="Shape 1"/>
          <p:cNvSpPr/>
          <p:nvPr/>
        </p:nvSpPr>
        <p:spPr>
          <a:xfrm>
            <a:off x="0" y="0"/>
            <a:ext cx="146304" cy="6858000"/>
          </a:xfrm>
          <a:prstGeom prst="rect">
            <a:avLst/>
          </a:prstGeom>
          <a:solidFill>
            <a:srgbClr val="1F4E79"/>
          </a:solidFill>
          <a:ln/>
        </p:spPr>
      </p:sp>
      <p:sp>
        <p:nvSpPr>
          <p:cNvPr id="4" name="Text 2"/>
          <p:cNvSpPr/>
          <p:nvPr/>
        </p:nvSpPr>
        <p:spPr>
          <a:xfrm>
            <a:off x="502920" y="640080"/>
            <a:ext cx="3200400" cy="365760"/>
          </a:xfrm>
          <a:prstGeom prst="rect">
            <a:avLst/>
          </a:prstGeom>
          <a:noFill/>
          <a:ln/>
        </p:spPr>
        <p:txBody>
          <a:bodyPr wrap="square" rtlCol="0" anchor="ctr"/>
          <a:lstStyle/>
          <a:p>
            <a:pPr indent="0" marL="0">
              <a:buNone/>
            </a:pPr>
            <a:r>
              <a:rPr lang="en-US" sz="1400" b="1" spc="200" kern="0" dirty="0">
                <a:solidFill>
                  <a:srgbClr val="1F4E79"/>
                </a:solidFill>
                <a:latin typeface="Segoe UI" pitchFamily="34" charset="0"/>
                <a:ea typeface="Segoe UI" pitchFamily="34" charset="-122"/>
                <a:cs typeface="Segoe UI" pitchFamily="34" charset="-120"/>
              </a:rPr>
              <a:t>Scenario 05</a:t>
            </a:r>
            <a:endParaRPr lang="en-US" sz="1400" dirty="0"/>
          </a:p>
        </p:txBody>
      </p:sp>
      <p:sp>
        <p:nvSpPr>
          <p:cNvPr id="5" name="Shape 3"/>
          <p:cNvSpPr/>
          <p:nvPr/>
        </p:nvSpPr>
        <p:spPr>
          <a:xfrm>
            <a:off x="502920" y="1143000"/>
            <a:ext cx="1097280" cy="1097280"/>
          </a:xfrm>
          <a:prstGeom prst="ellipse">
            <a:avLst/>
          </a:prstGeom>
          <a:solidFill>
            <a:srgbClr val="1F4E79"/>
          </a:solidFill>
          <a:ln/>
        </p:spPr>
      </p:sp>
      <p:pic>
        <p:nvPicPr>
          <p:cNvPr id="6" name="Image 0" descr="preencoded.png">    </p:cNvPr>
          <p:cNvPicPr>
            <a:picLocks noChangeAspect="1"/>
          </p:cNvPicPr>
          <p:nvPr/>
        </p:nvPicPr>
        <p:blipFill>
          <a:blip r:embed="rId1"/>
          <a:stretch>
            <a:fillRect/>
          </a:stretch>
        </p:blipFill>
        <p:spPr>
          <a:xfrm>
            <a:off x="804672" y="1444752"/>
            <a:ext cx="493776" cy="493776"/>
          </a:xfrm>
          <a:prstGeom prst="rect">
            <a:avLst/>
          </a:prstGeom>
        </p:spPr>
      </p:pic>
      <p:sp>
        <p:nvSpPr>
          <p:cNvPr id="7" name="Text 4"/>
          <p:cNvSpPr/>
          <p:nvPr/>
        </p:nvSpPr>
        <p:spPr>
          <a:xfrm>
            <a:off x="502920" y="2377440"/>
            <a:ext cx="3200400" cy="320040"/>
          </a:xfrm>
          <a:prstGeom prst="rect">
            <a:avLst/>
          </a:prstGeom>
          <a:noFill/>
          <a:ln/>
        </p:spPr>
        <p:txBody>
          <a:bodyPr wrap="square" rtlCol="0" anchor="ctr"/>
          <a:lstStyle/>
          <a:p>
            <a:pPr indent="0" marL="0">
              <a:buNone/>
            </a:pPr>
            <a:r>
              <a:rPr lang="en-US" sz="1300" b="1" dirty="0">
                <a:solidFill>
                  <a:srgbClr val="B9BCE0"/>
                </a:solidFill>
                <a:latin typeface="Segoe UI" pitchFamily="34" charset="0"/>
                <a:ea typeface="Segoe UI" pitchFamily="34" charset="-122"/>
                <a:cs typeface="Segoe UI" pitchFamily="34" charset="-120"/>
              </a:rPr>
              <a:t>Airline · Engineering</a:t>
            </a:r>
            <a:endParaRPr lang="en-US" sz="1300" dirty="0"/>
          </a:p>
        </p:txBody>
      </p:sp>
      <p:sp>
        <p:nvSpPr>
          <p:cNvPr id="8" name="Text 5"/>
          <p:cNvSpPr/>
          <p:nvPr/>
        </p:nvSpPr>
        <p:spPr>
          <a:xfrm>
            <a:off x="502920" y="2697480"/>
            <a:ext cx="3291840" cy="1325880"/>
          </a:xfrm>
          <a:prstGeom prst="rect">
            <a:avLst/>
          </a:prstGeom>
          <a:noFill/>
          <a:ln/>
        </p:spPr>
        <p:txBody>
          <a:bodyPr wrap="square" rtlCol="0" anchor="t"/>
          <a:lstStyle/>
          <a:p>
            <a:pPr indent="0" marL="0">
              <a:buNone/>
            </a:pPr>
            <a:r>
              <a:rPr lang="en-US" sz="2400" b="1" dirty="0">
                <a:solidFill>
                  <a:srgbClr val="FFFFFF"/>
                </a:solidFill>
                <a:latin typeface="Segoe UI" pitchFamily="34" charset="0"/>
                <a:ea typeface="Segoe UI" pitchFamily="34" charset="-122"/>
                <a:cs typeface="Segoe UI" pitchFamily="34" charset="-120"/>
              </a:rPr>
              <a:t>Bulletin to Engineering Order: It Is the Component Serial, Not the MSN</a:t>
            </a:r>
            <a:endParaRPr lang="en-US" sz="2400" dirty="0"/>
          </a:p>
        </p:txBody>
      </p:sp>
      <p:sp>
        <p:nvSpPr>
          <p:cNvPr id="9" name="Text 6"/>
          <p:cNvSpPr/>
          <p:nvPr/>
        </p:nvSpPr>
        <p:spPr>
          <a:xfrm>
            <a:off x="502920" y="4114800"/>
            <a:ext cx="3291840" cy="320040"/>
          </a:xfrm>
          <a:prstGeom prst="rect">
            <a:avLst/>
          </a:prstGeom>
          <a:noFill/>
          <a:ln/>
        </p:spPr>
        <p:txBody>
          <a:bodyPr wrap="square" rtlCol="0" anchor="ctr"/>
          <a:lstStyle/>
          <a:p>
            <a:pPr indent="0" marL="0">
              <a:buNone/>
            </a:pPr>
            <a:r>
              <a:rPr lang="en-US" sz="1300" dirty="0">
                <a:solidFill>
                  <a:srgbClr val="9FA3CC"/>
                </a:solidFill>
                <a:latin typeface="Segoe UI" pitchFamily="34" charset="0"/>
                <a:ea typeface="Segoe UI" pitchFamily="34" charset="-122"/>
                <a:cs typeface="Segoe UI" pitchFamily="34" charset="-120"/>
              </a:rPr>
              <a:t>⏱ ~20 min · Level ★★★</a:t>
            </a:r>
            <a:endParaRPr lang="en-US" sz="1300" dirty="0"/>
          </a:p>
        </p:txBody>
      </p:sp>
      <p:sp>
        <p:nvSpPr>
          <p:cNvPr id="10" name="Shape 7"/>
          <p:cNvSpPr/>
          <p:nvPr/>
        </p:nvSpPr>
        <p:spPr>
          <a:xfrm>
            <a:off x="502920" y="4572000"/>
            <a:ext cx="713232" cy="402336"/>
          </a:xfrm>
          <a:prstGeom prst="roundRect">
            <a:avLst>
              <a:gd name="adj" fmla="val 50000"/>
            </a:avLst>
          </a:prstGeom>
          <a:solidFill>
            <a:srgbClr val="2B579A"/>
          </a:solidFill>
          <a:ln/>
        </p:spPr>
      </p:sp>
      <p:sp>
        <p:nvSpPr>
          <p:cNvPr id="11" name="Text 8"/>
          <p:cNvSpPr/>
          <p:nvPr/>
        </p:nvSpPr>
        <p:spPr>
          <a:xfrm>
            <a:off x="502920" y="4572000"/>
            <a:ext cx="713232"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Word</a:t>
            </a:r>
            <a:endParaRPr lang="en-US" sz="1200" dirty="0"/>
          </a:p>
        </p:txBody>
      </p:sp>
      <p:sp>
        <p:nvSpPr>
          <p:cNvPr id="12" name="Shape 9"/>
          <p:cNvSpPr/>
          <p:nvPr/>
        </p:nvSpPr>
        <p:spPr>
          <a:xfrm>
            <a:off x="1399032" y="4572000"/>
            <a:ext cx="612648" cy="402336"/>
          </a:xfrm>
          <a:prstGeom prst="roundRect">
            <a:avLst>
              <a:gd name="adj" fmla="val 50000"/>
            </a:avLst>
          </a:prstGeom>
          <a:solidFill>
            <a:srgbClr val="6366F1"/>
          </a:solidFill>
          <a:ln/>
        </p:spPr>
      </p:sp>
      <p:sp>
        <p:nvSpPr>
          <p:cNvPr id="13" name="Text 10"/>
          <p:cNvSpPr/>
          <p:nvPr/>
        </p:nvSpPr>
        <p:spPr>
          <a:xfrm>
            <a:off x="1399032" y="4572000"/>
            <a:ext cx="612648"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PDF</a:t>
            </a:r>
            <a:endParaRPr lang="en-US" sz="1200" dirty="0"/>
          </a:p>
        </p:txBody>
      </p:sp>
      <p:sp>
        <p:nvSpPr>
          <p:cNvPr id="14" name="Shape 11"/>
          <p:cNvSpPr/>
          <p:nvPr/>
        </p:nvSpPr>
        <p:spPr>
          <a:xfrm>
            <a:off x="502920" y="5074920"/>
            <a:ext cx="2020824" cy="402336"/>
          </a:xfrm>
          <a:prstGeom prst="roundRect">
            <a:avLst>
              <a:gd name="adj" fmla="val 50000"/>
            </a:avLst>
          </a:prstGeom>
          <a:solidFill>
            <a:srgbClr val="6366F1"/>
          </a:solidFill>
          <a:ln/>
        </p:spPr>
      </p:sp>
      <p:sp>
        <p:nvSpPr>
          <p:cNvPr id="15" name="Text 12"/>
          <p:cNvSpPr/>
          <p:nvPr/>
        </p:nvSpPr>
        <p:spPr>
          <a:xfrm>
            <a:off x="502920" y="5074920"/>
            <a:ext cx="2020824"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Enterprise Search</a:t>
            </a:r>
            <a:endParaRPr lang="en-US" sz="1200" dirty="0"/>
          </a:p>
        </p:txBody>
      </p:sp>
      <p:sp>
        <p:nvSpPr>
          <p:cNvPr id="16" name="Shape 13"/>
          <p:cNvSpPr/>
          <p:nvPr/>
        </p:nvSpPr>
        <p:spPr>
          <a:xfrm>
            <a:off x="502920" y="5577840"/>
            <a:ext cx="1417320" cy="402336"/>
          </a:xfrm>
          <a:prstGeom prst="roundRect">
            <a:avLst>
              <a:gd name="adj" fmla="val 50000"/>
            </a:avLst>
          </a:prstGeom>
          <a:solidFill>
            <a:srgbClr val="6366F1"/>
          </a:solidFill>
          <a:ln/>
        </p:spPr>
      </p:sp>
      <p:sp>
        <p:nvSpPr>
          <p:cNvPr id="17" name="Text 14"/>
          <p:cNvSpPr/>
          <p:nvPr/>
        </p:nvSpPr>
        <p:spPr>
          <a:xfrm>
            <a:off x="502920" y="5577840"/>
            <a:ext cx="1417320"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File upload</a:t>
            </a:r>
            <a:endParaRPr lang="en-US" sz="1200" dirty="0"/>
          </a:p>
        </p:txBody>
      </p:sp>
      <p:sp>
        <p:nvSpPr>
          <p:cNvPr id="18" name="Text 15"/>
          <p:cNvSpPr/>
          <p:nvPr/>
        </p:nvSpPr>
        <p:spPr>
          <a:xfrm>
            <a:off x="4526280" y="566928"/>
            <a:ext cx="7132320" cy="960120"/>
          </a:xfrm>
          <a:prstGeom prst="rect">
            <a:avLst/>
          </a:prstGeom>
          <a:noFill/>
          <a:ln/>
        </p:spPr>
        <p:txBody>
          <a:bodyPr wrap="square" rtlCol="0" anchor="t"/>
          <a:lstStyle/>
          <a:p>
            <a:pPr indent="0" marL="0">
              <a:lnSpc>
                <a:spcPct val="130000"/>
              </a:lnSpc>
              <a:buNone/>
            </a:pPr>
            <a:r>
              <a:rPr lang="en-US" sz="1200" dirty="0">
                <a:solidFill>
                  <a:srgbClr val="D7D9F0"/>
                </a:solidFill>
                <a:latin typeface="Segoe UI" pitchFamily="34" charset="0"/>
                <a:ea typeface="Segoe UI" pitchFamily="34" charset="-122"/>
                <a:cs typeface="Segoe UI" pitchFamily="34" charset="-120"/>
              </a:rPr>
              <a:t>The manufacturer has issued a service bulletin with a clear effectivity: MSN 5001 to 5400. On that reading, five of the six are in range; take away the two modified at delivery and the answer is three. Wrong. It is four. Because what actually decides applicability is the serial number of the component installed right now — and one aircraft, MSN 5418, plainly outside the range, is affected anyway because the part was changed in July. This scenario has you upload the PDF and produce an engineering order fit to issue.</a:t>
            </a:r>
            <a:endParaRPr lang="en-US" sz="1200" dirty="0"/>
          </a:p>
        </p:txBody>
      </p:sp>
      <p:sp>
        <p:nvSpPr>
          <p:cNvPr id="19" name="Text 16"/>
          <p:cNvSpPr/>
          <p:nvPr/>
        </p:nvSpPr>
        <p:spPr>
          <a:xfrm>
            <a:off x="4526280" y="1655064"/>
            <a:ext cx="7132320" cy="365760"/>
          </a:xfrm>
          <a:prstGeom prst="rect">
            <a:avLst/>
          </a:prstGeom>
          <a:noFill/>
          <a:ln/>
        </p:spPr>
        <p:txBody>
          <a:bodyPr wrap="square" rtlCol="0" anchor="ctr"/>
          <a:lstStyle/>
          <a:p>
            <a:pPr indent="0" marL="0">
              <a:buNone/>
            </a:pPr>
            <a:r>
              <a:rPr lang="en-US" sz="1500" b="1" dirty="0">
                <a:solidFill>
                  <a:srgbClr val="1F4E79"/>
                </a:solidFill>
                <a:latin typeface="Segoe UI" pitchFamily="34" charset="0"/>
                <a:ea typeface="Segoe UI" pitchFamily="34" charset="-122"/>
                <a:cs typeface="Segoe UI" pitchFamily="34" charset="-120"/>
              </a:rPr>
              <a:t>Agentic workflow</a:t>
            </a:r>
            <a:endParaRPr lang="en-US" sz="1500" dirty="0"/>
          </a:p>
        </p:txBody>
      </p:sp>
      <p:sp>
        <p:nvSpPr>
          <p:cNvPr id="20" name="Shape 17"/>
          <p:cNvSpPr/>
          <p:nvPr/>
        </p:nvSpPr>
        <p:spPr>
          <a:xfrm>
            <a:off x="4526280" y="2112264"/>
            <a:ext cx="457200" cy="457200"/>
          </a:xfrm>
          <a:prstGeom prst="ellipse">
            <a:avLst/>
          </a:prstGeom>
          <a:solidFill>
            <a:srgbClr val="FFFFFF">
              <a:alpha val="12000"/>
            </a:srgbClr>
          </a:solidFill>
          <a:ln w="19050">
            <a:solidFill>
              <a:srgbClr val="1F4E79"/>
            </a:solidFill>
            <a:prstDash val="solid"/>
          </a:ln>
        </p:spPr>
      </p:sp>
      <p:sp>
        <p:nvSpPr>
          <p:cNvPr id="21" name="Text 18"/>
          <p:cNvSpPr/>
          <p:nvPr/>
        </p:nvSpPr>
        <p:spPr>
          <a:xfrm>
            <a:off x="4526280" y="2112264"/>
            <a:ext cx="457200" cy="457200"/>
          </a:xfrm>
          <a:prstGeom prst="rect">
            <a:avLst/>
          </a:prstGeom>
          <a:noFill/>
          <a:ln/>
        </p:spPr>
        <p:txBody>
          <a:bodyPr wrap="square" rtlCol="0" anchor="ctr"/>
          <a:lstStyle/>
          <a:p>
            <a:pPr algn="ctr" indent="0" marL="0">
              <a:buNone/>
            </a:pPr>
            <a:r>
              <a:rPr lang="en-US" sz="1600" b="1" dirty="0">
                <a:solidFill>
                  <a:srgbClr val="1F4E79"/>
                </a:solidFill>
                <a:latin typeface="Segoe UI" pitchFamily="34" charset="0"/>
                <a:ea typeface="Segoe UI" pitchFamily="34" charset="-122"/>
                <a:cs typeface="Segoe UI" pitchFamily="34" charset="-120"/>
              </a:rPr>
              <a:t>1</a:t>
            </a:r>
            <a:endParaRPr lang="en-US" sz="1600" dirty="0"/>
          </a:p>
        </p:txBody>
      </p:sp>
      <p:sp>
        <p:nvSpPr>
          <p:cNvPr id="22" name="Text 19"/>
          <p:cNvSpPr/>
          <p:nvPr/>
        </p:nvSpPr>
        <p:spPr>
          <a:xfrm>
            <a:off x="5166360" y="2093976"/>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Upload the bulletin and get the effectivity out of it</a:t>
            </a:r>
            <a:endParaRPr lang="en-US" sz="1600" dirty="0"/>
          </a:p>
        </p:txBody>
      </p:sp>
      <p:sp>
        <p:nvSpPr>
          <p:cNvPr id="23" name="Text 20"/>
          <p:cNvSpPr/>
          <p:nvPr/>
        </p:nvSpPr>
        <p:spPr>
          <a:xfrm>
            <a:off x="5166360" y="2459736"/>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Drag AIR5_Service_Bulletin_NW350-28-1142.pdf into the ch…</a:t>
            </a:r>
            <a:endParaRPr lang="en-US" sz="1300" dirty="0"/>
          </a:p>
        </p:txBody>
      </p:sp>
      <p:sp>
        <p:nvSpPr>
          <p:cNvPr id="24" name="Shape 21"/>
          <p:cNvSpPr/>
          <p:nvPr/>
        </p:nvSpPr>
        <p:spPr>
          <a:xfrm>
            <a:off x="4526280" y="2971800"/>
            <a:ext cx="457200" cy="457200"/>
          </a:xfrm>
          <a:prstGeom prst="ellipse">
            <a:avLst/>
          </a:prstGeom>
          <a:solidFill>
            <a:srgbClr val="FFFFFF">
              <a:alpha val="12000"/>
            </a:srgbClr>
          </a:solidFill>
          <a:ln w="19050">
            <a:solidFill>
              <a:srgbClr val="1F4E79"/>
            </a:solidFill>
            <a:prstDash val="solid"/>
          </a:ln>
        </p:spPr>
      </p:sp>
      <p:sp>
        <p:nvSpPr>
          <p:cNvPr id="25" name="Text 22"/>
          <p:cNvSpPr/>
          <p:nvPr/>
        </p:nvSpPr>
        <p:spPr>
          <a:xfrm>
            <a:off x="4526280" y="2971800"/>
            <a:ext cx="457200" cy="457200"/>
          </a:xfrm>
          <a:prstGeom prst="rect">
            <a:avLst/>
          </a:prstGeom>
          <a:noFill/>
          <a:ln/>
        </p:spPr>
        <p:txBody>
          <a:bodyPr wrap="square" rtlCol="0" anchor="ctr"/>
          <a:lstStyle/>
          <a:p>
            <a:pPr algn="ctr" indent="0" marL="0">
              <a:buNone/>
            </a:pPr>
            <a:r>
              <a:rPr lang="en-US" sz="1600" b="1" dirty="0">
                <a:solidFill>
                  <a:srgbClr val="1F4E79"/>
                </a:solidFill>
                <a:latin typeface="Segoe UI" pitchFamily="34" charset="0"/>
                <a:ea typeface="Segoe UI" pitchFamily="34" charset="-122"/>
                <a:cs typeface="Segoe UI" pitchFamily="34" charset="-120"/>
              </a:rPr>
              <a:t>2</a:t>
            </a:r>
            <a:endParaRPr lang="en-US" sz="1600" dirty="0"/>
          </a:p>
        </p:txBody>
      </p:sp>
      <p:sp>
        <p:nvSpPr>
          <p:cNvPr id="26" name="Text 23"/>
          <p:cNvSpPr/>
          <p:nvPr/>
        </p:nvSpPr>
        <p:spPr>
          <a:xfrm>
            <a:off x="5166360" y="2953512"/>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Assess the fleet against the configuration record</a:t>
            </a:r>
            <a:endParaRPr lang="en-US" sz="1600" dirty="0"/>
          </a:p>
        </p:txBody>
      </p:sp>
      <p:sp>
        <p:nvSpPr>
          <p:cNvPr id="27" name="Text 24"/>
          <p:cNvSpPr/>
          <p:nvPr/>
        </p:nvSpPr>
        <p:spPr>
          <a:xfrm>
            <a:off x="5166360" y="3319272"/>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The configuration record is in AIR5_Service_Bulletin on …</a:t>
            </a:r>
            <a:endParaRPr lang="en-US" sz="1300" dirty="0"/>
          </a:p>
        </p:txBody>
      </p:sp>
      <p:sp>
        <p:nvSpPr>
          <p:cNvPr id="28" name="Shape 25"/>
          <p:cNvSpPr/>
          <p:nvPr/>
        </p:nvSpPr>
        <p:spPr>
          <a:xfrm>
            <a:off x="4526280" y="3831336"/>
            <a:ext cx="457200" cy="457200"/>
          </a:xfrm>
          <a:prstGeom prst="ellipse">
            <a:avLst/>
          </a:prstGeom>
          <a:solidFill>
            <a:srgbClr val="FFFFFF">
              <a:alpha val="12000"/>
            </a:srgbClr>
          </a:solidFill>
          <a:ln w="19050">
            <a:solidFill>
              <a:srgbClr val="1F4E79"/>
            </a:solidFill>
            <a:prstDash val="solid"/>
          </a:ln>
        </p:spPr>
      </p:sp>
      <p:sp>
        <p:nvSpPr>
          <p:cNvPr id="29" name="Text 26"/>
          <p:cNvSpPr/>
          <p:nvPr/>
        </p:nvSpPr>
        <p:spPr>
          <a:xfrm>
            <a:off x="4526280" y="3831336"/>
            <a:ext cx="457200" cy="457200"/>
          </a:xfrm>
          <a:prstGeom prst="rect">
            <a:avLst/>
          </a:prstGeom>
          <a:noFill/>
          <a:ln/>
        </p:spPr>
        <p:txBody>
          <a:bodyPr wrap="square" rtlCol="0" anchor="ctr"/>
          <a:lstStyle/>
          <a:p>
            <a:pPr algn="ctr" indent="0" marL="0">
              <a:buNone/>
            </a:pPr>
            <a:r>
              <a:rPr lang="en-US" sz="1600" b="1" dirty="0">
                <a:solidFill>
                  <a:srgbClr val="1F4E79"/>
                </a:solidFill>
                <a:latin typeface="Segoe UI" pitchFamily="34" charset="0"/>
                <a:ea typeface="Segoe UI" pitchFamily="34" charset="-122"/>
                <a:cs typeface="Segoe UI" pitchFamily="34" charset="-120"/>
              </a:rPr>
              <a:t>3</a:t>
            </a:r>
            <a:endParaRPr lang="en-US" sz="1600" dirty="0"/>
          </a:p>
        </p:txBody>
      </p:sp>
      <p:sp>
        <p:nvSpPr>
          <p:cNvPr id="30" name="Text 27"/>
          <p:cNvSpPr/>
          <p:nvPr/>
        </p:nvSpPr>
        <p:spPr>
          <a:xfrm>
            <a:off x="5166360" y="3813048"/>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 Press on the tail whose MSN is out of range</a:t>
            </a:r>
            <a:endParaRPr lang="en-US" sz="1600" dirty="0"/>
          </a:p>
        </p:txBody>
      </p:sp>
      <p:sp>
        <p:nvSpPr>
          <p:cNvPr id="31" name="Text 28"/>
          <p:cNvSpPr/>
          <p:nvPr/>
        </p:nvSpPr>
        <p:spPr>
          <a:xfrm>
            <a:off x="5166360" y="4178808"/>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One tail's MSN is outside the bulletin's range. Ask agai…</a:t>
            </a:r>
            <a:endParaRPr lang="en-US" sz="1300" dirty="0"/>
          </a:p>
        </p:txBody>
      </p:sp>
      <p:sp>
        <p:nvSpPr>
          <p:cNvPr id="32" name="Shape 29"/>
          <p:cNvSpPr/>
          <p:nvPr/>
        </p:nvSpPr>
        <p:spPr>
          <a:xfrm>
            <a:off x="4526280" y="4690872"/>
            <a:ext cx="457200" cy="457200"/>
          </a:xfrm>
          <a:prstGeom prst="ellipse">
            <a:avLst/>
          </a:prstGeom>
          <a:solidFill>
            <a:srgbClr val="FFFFFF">
              <a:alpha val="12000"/>
            </a:srgbClr>
          </a:solidFill>
          <a:ln w="19050">
            <a:solidFill>
              <a:srgbClr val="1F4E79"/>
            </a:solidFill>
            <a:prstDash val="solid"/>
          </a:ln>
        </p:spPr>
      </p:sp>
      <p:sp>
        <p:nvSpPr>
          <p:cNvPr id="33" name="Text 30"/>
          <p:cNvSpPr/>
          <p:nvPr/>
        </p:nvSpPr>
        <p:spPr>
          <a:xfrm>
            <a:off x="4526280" y="4690872"/>
            <a:ext cx="457200" cy="457200"/>
          </a:xfrm>
          <a:prstGeom prst="rect">
            <a:avLst/>
          </a:prstGeom>
          <a:noFill/>
          <a:ln/>
        </p:spPr>
        <p:txBody>
          <a:bodyPr wrap="square" rtlCol="0" anchor="ctr"/>
          <a:lstStyle/>
          <a:p>
            <a:pPr algn="ctr" indent="0" marL="0">
              <a:buNone/>
            </a:pPr>
            <a:r>
              <a:rPr lang="en-US" sz="1600" b="1" dirty="0">
                <a:solidFill>
                  <a:srgbClr val="1F4E79"/>
                </a:solidFill>
                <a:latin typeface="Segoe UI" pitchFamily="34" charset="0"/>
                <a:ea typeface="Segoe UI" pitchFamily="34" charset="-122"/>
                <a:cs typeface="Segoe UI" pitchFamily="34" charset="-120"/>
              </a:rPr>
              <a:t>4</a:t>
            </a:r>
            <a:endParaRPr lang="en-US" sz="1600" dirty="0"/>
          </a:p>
        </p:txBody>
      </p:sp>
      <p:sp>
        <p:nvSpPr>
          <p:cNvPr id="34" name="Text 31"/>
          <p:cNvSpPr/>
          <p:nvPr/>
        </p:nvSpPr>
        <p:spPr>
          <a:xfrm>
            <a:off x="5166360" y="4672584"/>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Draft the engineering order to the standard</a:t>
            </a:r>
            <a:endParaRPr lang="en-US" sz="1600" dirty="0"/>
          </a:p>
        </p:txBody>
      </p:sp>
      <p:sp>
        <p:nvSpPr>
          <p:cNvPr id="35" name="Text 32"/>
          <p:cNvSpPr/>
          <p:nvPr/>
        </p:nvSpPr>
        <p:spPr>
          <a:xfrm>
            <a:off x="5166360" y="5038344"/>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Have it write the Word document to the six points in the…</a:t>
            </a:r>
            <a:endParaRPr lang="en-US" sz="1300" dirty="0"/>
          </a:p>
        </p:txBody>
      </p:sp>
      <p:sp>
        <p:nvSpPr>
          <p:cNvPr id="36" name="Shape 33"/>
          <p:cNvSpPr/>
          <p:nvPr/>
        </p:nvSpPr>
        <p:spPr>
          <a:xfrm>
            <a:off x="4526280" y="5550408"/>
            <a:ext cx="457200" cy="457200"/>
          </a:xfrm>
          <a:prstGeom prst="ellipse">
            <a:avLst/>
          </a:prstGeom>
          <a:solidFill>
            <a:srgbClr val="FFFFFF">
              <a:alpha val="12000"/>
            </a:srgbClr>
          </a:solidFill>
          <a:ln w="19050">
            <a:solidFill>
              <a:srgbClr val="1F4E79"/>
            </a:solidFill>
            <a:prstDash val="solid"/>
          </a:ln>
        </p:spPr>
      </p:sp>
      <p:sp>
        <p:nvSpPr>
          <p:cNvPr id="37" name="Text 34"/>
          <p:cNvSpPr/>
          <p:nvPr/>
        </p:nvSpPr>
        <p:spPr>
          <a:xfrm>
            <a:off x="4526280" y="5550408"/>
            <a:ext cx="457200" cy="457200"/>
          </a:xfrm>
          <a:prstGeom prst="rect">
            <a:avLst/>
          </a:prstGeom>
          <a:noFill/>
          <a:ln/>
        </p:spPr>
        <p:txBody>
          <a:bodyPr wrap="square" rtlCol="0" anchor="ctr"/>
          <a:lstStyle/>
          <a:p>
            <a:pPr algn="ctr" indent="0" marL="0">
              <a:buNone/>
            </a:pPr>
            <a:r>
              <a:rPr lang="en-US" sz="1600" b="1" dirty="0">
                <a:solidFill>
                  <a:srgbClr val="1F4E79"/>
                </a:solidFill>
                <a:latin typeface="Segoe UI" pitchFamily="34" charset="0"/>
                <a:ea typeface="Segoe UI" pitchFamily="34" charset="-122"/>
                <a:cs typeface="Segoe UI" pitchFamily="34" charset="-120"/>
              </a:rPr>
              <a:t>5</a:t>
            </a:r>
            <a:endParaRPr lang="en-US" sz="1600" dirty="0"/>
          </a:p>
        </p:txBody>
      </p:sp>
      <p:sp>
        <p:nvSpPr>
          <p:cNvPr id="38" name="Text 35"/>
          <p:cNvSpPr/>
          <p:nvPr/>
        </p:nvSpPr>
        <p:spPr>
          <a:xfrm>
            <a:off x="5166360" y="5532120"/>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Check the reasoning would survive an audit</a:t>
            </a:r>
            <a:endParaRPr lang="en-US" sz="1600" dirty="0"/>
          </a:p>
        </p:txBody>
      </p:sp>
      <p:sp>
        <p:nvSpPr>
          <p:cNvPr id="39" name="Text 36"/>
          <p:cNvSpPr/>
          <p:nvPr/>
        </p:nvSpPr>
        <p:spPr>
          <a:xfrm>
            <a:off x="5166360" y="5897880"/>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An audit reads the reasoning, not the conclusion. Check …</a:t>
            </a:r>
            <a:endParaRPr lang="en-US" sz="1300" dirty="0"/>
          </a:p>
        </p:txBody>
      </p:sp>
      <p:sp>
        <p:nvSpPr>
          <p:cNvPr id="40" name="Text 37"/>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8A8FB5"/>
                </a:solidFill>
                <a:latin typeface="Segoe UI" pitchFamily="34" charset="0"/>
                <a:ea typeface="Segoe UI" pitchFamily="34" charset="-122"/>
                <a:cs typeface="Segoe UI" pitchFamily="34" charset="-120"/>
              </a:rPr>
              <a:t>Microsoft 365 Copilot Cowork</a:t>
            </a:r>
            <a:endParaRPr lang="en-US" sz="900" dirty="0"/>
          </a:p>
        </p:txBody>
      </p:sp>
      <p:sp>
        <p:nvSpPr>
          <p:cNvPr id="41" name="Text 38"/>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8A8FB5"/>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1F4E79"/>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1F4E79"/>
                </a:solidFill>
                <a:latin typeface="Segoe UI" pitchFamily="34" charset="0"/>
                <a:ea typeface="Segoe UI" pitchFamily="34" charset="-122"/>
                <a:cs typeface="Segoe UI" pitchFamily="34" charset="-120"/>
              </a:rPr>
              <a:t>Scenario 05 · Live demo</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What Cowork does, and what it produces</a:t>
            </a:r>
            <a:endParaRPr lang="en-US" sz="3000" dirty="0"/>
          </a:p>
        </p:txBody>
      </p:sp>
      <p:sp>
        <p:nvSpPr>
          <p:cNvPr id="5" name="Shape 3"/>
          <p:cNvSpPr/>
          <p:nvPr/>
        </p:nvSpPr>
        <p:spPr>
          <a:xfrm>
            <a:off x="137754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6" name="Image 0" descr="C:\temp\CoworkLab\v3\_working\screenshots\air5_01_upload_en.png">    </p:cNvPr>
          <p:cNvPicPr>
            <a:picLocks noChangeAspect="1"/>
          </p:cNvPicPr>
          <p:nvPr/>
        </p:nvPicPr>
        <p:blipFill>
          <a:blip r:embed="rId1"/>
          <a:stretch>
            <a:fillRect/>
          </a:stretch>
        </p:blipFill>
        <p:spPr>
          <a:xfrm>
            <a:off x="1432408" y="1828800"/>
            <a:ext cx="4434840" cy="2904283"/>
          </a:xfrm>
          <a:prstGeom prst="rect">
            <a:avLst/>
          </a:prstGeom>
        </p:spPr>
      </p:pic>
      <p:sp>
        <p:nvSpPr>
          <p:cNvPr id="7" name="Text 4"/>
          <p:cNvSpPr/>
          <p:nvPr/>
        </p:nvSpPr>
        <p:spPr>
          <a:xfrm>
            <a:off x="1432408" y="4824523"/>
            <a:ext cx="4434840" cy="292608"/>
          </a:xfrm>
          <a:prstGeom prst="rect">
            <a:avLst/>
          </a:prstGeom>
          <a:noFill/>
          <a:ln/>
        </p:spPr>
        <p:txBody>
          <a:bodyPr wrap="square" rtlCol="0" anchor="ctr"/>
          <a:lstStyle/>
          <a:p>
            <a:pPr algn="ctr" indent="0" marL="0">
              <a:buNone/>
            </a:pPr>
            <a:r>
              <a:rPr lang="en-US" sz="1350" b="1" dirty="0">
                <a:solidFill>
                  <a:srgbClr val="1F4E79"/>
                </a:solidFill>
                <a:latin typeface="Segoe UI" pitchFamily="34" charset="0"/>
                <a:ea typeface="Segoe UI" pitchFamily="34" charset="-122"/>
                <a:cs typeface="Segoe UI" pitchFamily="34" charset="-120"/>
              </a:rPr>
              <a:t>① Your input and prompt</a:t>
            </a:r>
            <a:endParaRPr lang="en-US" sz="1350" dirty="0"/>
          </a:p>
        </p:txBody>
      </p:sp>
      <p:sp>
        <p:nvSpPr>
          <p:cNvPr id="8" name="Shape 5"/>
          <p:cNvSpPr/>
          <p:nvPr/>
        </p:nvSpPr>
        <p:spPr>
          <a:xfrm>
            <a:off x="626958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9" name="Image 1" descr="C:\temp\CoworkLab\v3\_working\screenshots\air5_05_review_en.png">    </p:cNvPr>
          <p:cNvPicPr>
            <a:picLocks noChangeAspect="1"/>
          </p:cNvPicPr>
          <p:nvPr/>
        </p:nvPicPr>
        <p:blipFill>
          <a:blip r:embed="rId2"/>
          <a:stretch>
            <a:fillRect/>
          </a:stretch>
        </p:blipFill>
        <p:spPr>
          <a:xfrm>
            <a:off x="6324448" y="1828800"/>
            <a:ext cx="4434840" cy="2904283"/>
          </a:xfrm>
          <a:prstGeom prst="rect">
            <a:avLst/>
          </a:prstGeom>
        </p:spPr>
      </p:pic>
      <p:sp>
        <p:nvSpPr>
          <p:cNvPr id="10" name="Text 6"/>
          <p:cNvSpPr/>
          <p:nvPr/>
        </p:nvSpPr>
        <p:spPr>
          <a:xfrm>
            <a:off x="6324448" y="4824523"/>
            <a:ext cx="4434840" cy="292608"/>
          </a:xfrm>
          <a:prstGeom prst="rect">
            <a:avLst/>
          </a:prstGeom>
          <a:noFill/>
          <a:ln/>
        </p:spPr>
        <p:txBody>
          <a:bodyPr wrap="square" rtlCol="0" anchor="ctr"/>
          <a:lstStyle/>
          <a:p>
            <a:pPr algn="ctr" indent="0" marL="0">
              <a:buNone/>
            </a:pPr>
            <a:r>
              <a:rPr lang="en-US" sz="1350" b="1" dirty="0">
                <a:solidFill>
                  <a:srgbClr val="1F4E79"/>
                </a:solidFill>
                <a:latin typeface="Segoe UI" pitchFamily="34" charset="0"/>
                <a:ea typeface="Segoe UI" pitchFamily="34" charset="-122"/>
                <a:cs typeface="Segoe UI" pitchFamily="34" charset="-120"/>
              </a:rPr>
              <a:t>② The result</a:t>
            </a:r>
            <a:endParaRPr lang="en-US" sz="1350" dirty="0"/>
          </a:p>
        </p:txBody>
      </p:sp>
      <p:sp>
        <p:nvSpPr>
          <p:cNvPr id="11" name="Shape 7"/>
          <p:cNvSpPr/>
          <p:nvPr/>
        </p:nvSpPr>
        <p:spPr>
          <a:xfrm>
            <a:off x="640080" y="5226859"/>
            <a:ext cx="10911535" cy="1143000"/>
          </a:xfrm>
          <a:prstGeom prst="rect">
            <a:avLst/>
          </a:prstGeom>
          <a:solidFill>
            <a:srgbClr val="FFFFFF"/>
          </a:solidFill>
          <a:ln w="12700">
            <a:solidFill>
              <a:srgbClr val="E4E7F2"/>
            </a:solidFill>
            <a:prstDash val="solid"/>
          </a:ln>
        </p:spPr>
      </p:sp>
      <p:sp>
        <p:nvSpPr>
          <p:cNvPr id="12" name="Shape 8"/>
          <p:cNvSpPr/>
          <p:nvPr/>
        </p:nvSpPr>
        <p:spPr>
          <a:xfrm>
            <a:off x="640080" y="5226859"/>
            <a:ext cx="91440" cy="1143000"/>
          </a:xfrm>
          <a:prstGeom prst="rect">
            <a:avLst/>
          </a:prstGeom>
          <a:solidFill>
            <a:srgbClr val="1F4E79"/>
          </a:solidFill>
          <a:ln/>
        </p:spPr>
      </p:sp>
      <p:sp>
        <p:nvSpPr>
          <p:cNvPr id="13" name="Text 9"/>
          <p:cNvSpPr/>
          <p:nvPr/>
        </p:nvSpPr>
        <p:spPr>
          <a:xfrm>
            <a:off x="914400" y="5336587"/>
            <a:ext cx="1783080" cy="320040"/>
          </a:xfrm>
          <a:prstGeom prst="rect">
            <a:avLst/>
          </a:prstGeom>
          <a:noFill/>
          <a:ln/>
        </p:spPr>
        <p:txBody>
          <a:bodyPr wrap="square" rtlCol="0" anchor="ctr"/>
          <a:lstStyle/>
          <a:p>
            <a:pPr indent="0" marL="0">
              <a:buNone/>
            </a:pPr>
            <a:r>
              <a:rPr lang="en-US" sz="1400" b="1" dirty="0">
                <a:solidFill>
                  <a:srgbClr val="1E2235"/>
                </a:solidFill>
                <a:latin typeface="Segoe UI" pitchFamily="34" charset="0"/>
                <a:ea typeface="Segoe UI" pitchFamily="34" charset="-122"/>
                <a:cs typeface="Segoe UI" pitchFamily="34" charset="-120"/>
              </a:rPr>
              <a:t>Check the output</a:t>
            </a:r>
            <a:endParaRPr lang="en-US" sz="1400" dirty="0"/>
          </a:p>
        </p:txBody>
      </p:sp>
      <p:pic>
        <p:nvPicPr>
          <p:cNvPr id="14" name="Image 2" descr="preencoded.png">    </p:cNvPr>
          <p:cNvPicPr>
            <a:picLocks noChangeAspect="1"/>
          </p:cNvPicPr>
          <p:nvPr/>
        </p:nvPicPr>
        <p:blipFill>
          <a:blip r:embed="rId3"/>
          <a:stretch>
            <a:fillRect/>
          </a:stretch>
        </p:blipFill>
        <p:spPr>
          <a:xfrm>
            <a:off x="2880360" y="5373163"/>
            <a:ext cx="182880" cy="182880"/>
          </a:xfrm>
          <a:prstGeom prst="rect">
            <a:avLst/>
          </a:prstGeom>
        </p:spPr>
      </p:pic>
      <p:sp>
        <p:nvSpPr>
          <p:cNvPr id="15" name="Text 10"/>
          <p:cNvSpPr/>
          <p:nvPr/>
        </p:nvSpPr>
        <p:spPr>
          <a:xfrm>
            <a:off x="3154680" y="5318299"/>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It extracted both serial ranges from the PDF — MSN range and affected component serial range</a:t>
            </a:r>
            <a:endParaRPr lang="en-US" sz="1300" dirty="0"/>
          </a:p>
        </p:txBody>
      </p:sp>
      <p:pic>
        <p:nvPicPr>
          <p:cNvPr id="16" name="Image 3" descr="preencoded.png">    </p:cNvPr>
          <p:cNvPicPr>
            <a:picLocks noChangeAspect="1"/>
          </p:cNvPicPr>
          <p:nvPr/>
        </p:nvPicPr>
        <p:blipFill>
          <a:blip r:embed="rId4"/>
          <a:stretch>
            <a:fillRect/>
          </a:stretch>
        </p:blipFill>
        <p:spPr>
          <a:xfrm>
            <a:off x="2880360" y="5711491"/>
            <a:ext cx="182880" cy="182880"/>
          </a:xfrm>
          <a:prstGeom prst="rect">
            <a:avLst/>
          </a:prstGeom>
        </p:spPr>
      </p:pic>
      <p:sp>
        <p:nvSpPr>
          <p:cNvPr id="17" name="Text 11"/>
          <p:cNvSpPr/>
          <p:nvPr/>
        </p:nvSpPr>
        <p:spPr>
          <a:xfrm>
            <a:off x="3154680" y="5656627"/>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All six tails were assessed, and the verdict is four requiring the work</a:t>
            </a:r>
            <a:endParaRPr lang="en-US" sz="1300" dirty="0"/>
          </a:p>
        </p:txBody>
      </p:sp>
      <p:pic>
        <p:nvPicPr>
          <p:cNvPr id="18" name="Image 4" descr="preencoded.png">    </p:cNvPr>
          <p:cNvPicPr>
            <a:picLocks noChangeAspect="1"/>
          </p:cNvPicPr>
          <p:nvPr/>
        </p:nvPicPr>
        <p:blipFill>
          <a:blip r:embed="rId5"/>
          <a:stretch>
            <a:fillRect/>
          </a:stretch>
        </p:blipFill>
        <p:spPr>
          <a:xfrm>
            <a:off x="2880360" y="6049819"/>
            <a:ext cx="182880" cy="182880"/>
          </a:xfrm>
          <a:prstGeom prst="rect">
            <a:avLst/>
          </a:prstGeom>
        </p:spPr>
      </p:pic>
      <p:sp>
        <p:nvSpPr>
          <p:cNvPr id="19" name="Text 12"/>
          <p:cNvSpPr/>
          <p:nvPr/>
        </p:nvSpPr>
        <p:spPr>
          <a:xfrm>
            <a:off x="3154680" y="5994955"/>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It identifies that MSN 5418, though out of range, is applicable because of its installed component serial</a:t>
            </a:r>
            <a:endParaRPr lang="en-US" sz="1300" dirty="0"/>
          </a:p>
        </p:txBody>
      </p:sp>
      <p:sp>
        <p:nvSpPr>
          <p:cNvPr id="20" name="Text 13"/>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21" name="Text 14"/>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1031"/>
        </a:solidFill>
      </p:bgPr>
    </p:bg>
    <p:spTree>
      <p:nvGrpSpPr>
        <p:cNvPr id="1" name=""/>
        <p:cNvGrpSpPr/>
        <p:nvPr/>
      </p:nvGrpSpPr>
      <p:grpSpPr>
        <a:xfrm>
          <a:off x="0" y="0"/>
          <a:ext cx="0" cy="0"/>
          <a:chOff x="0" y="0"/>
          <a:chExt cx="0" cy="0"/>
        </a:xfrm>
      </p:grpSpPr>
      <p:sp>
        <p:nvSpPr>
          <p:cNvPr id="2" name="Shape 0"/>
          <p:cNvSpPr/>
          <p:nvPr/>
        </p:nvSpPr>
        <p:spPr>
          <a:xfrm>
            <a:off x="0" y="0"/>
            <a:ext cx="4023360" cy="6858000"/>
          </a:xfrm>
          <a:prstGeom prst="rect">
            <a:avLst/>
          </a:prstGeom>
          <a:solidFill>
            <a:srgbClr val="1C1E4A"/>
          </a:solidFill>
          <a:ln/>
        </p:spPr>
      </p:sp>
      <p:sp>
        <p:nvSpPr>
          <p:cNvPr id="3" name="Shape 1"/>
          <p:cNvSpPr/>
          <p:nvPr/>
        </p:nvSpPr>
        <p:spPr>
          <a:xfrm>
            <a:off x="0" y="0"/>
            <a:ext cx="146304" cy="6858000"/>
          </a:xfrm>
          <a:prstGeom prst="rect">
            <a:avLst/>
          </a:prstGeom>
          <a:solidFill>
            <a:srgbClr val="8A4B08"/>
          </a:solidFill>
          <a:ln/>
        </p:spPr>
      </p:sp>
      <p:sp>
        <p:nvSpPr>
          <p:cNvPr id="4" name="Text 2"/>
          <p:cNvSpPr/>
          <p:nvPr/>
        </p:nvSpPr>
        <p:spPr>
          <a:xfrm>
            <a:off x="502920" y="640080"/>
            <a:ext cx="3200400" cy="365760"/>
          </a:xfrm>
          <a:prstGeom prst="rect">
            <a:avLst/>
          </a:prstGeom>
          <a:noFill/>
          <a:ln/>
        </p:spPr>
        <p:txBody>
          <a:bodyPr wrap="square" rtlCol="0" anchor="ctr"/>
          <a:lstStyle/>
          <a:p>
            <a:pPr indent="0" marL="0">
              <a:buNone/>
            </a:pPr>
            <a:r>
              <a:rPr lang="en-US" sz="1400" b="1" spc="200" kern="0" dirty="0">
                <a:solidFill>
                  <a:srgbClr val="8A4B08"/>
                </a:solidFill>
                <a:latin typeface="Segoe UI" pitchFamily="34" charset="0"/>
                <a:ea typeface="Segoe UI" pitchFamily="34" charset="-122"/>
                <a:cs typeface="Segoe UI" pitchFamily="34" charset="-120"/>
              </a:rPr>
              <a:t>Scenario 06</a:t>
            </a:r>
            <a:endParaRPr lang="en-US" sz="1400" dirty="0"/>
          </a:p>
        </p:txBody>
      </p:sp>
      <p:sp>
        <p:nvSpPr>
          <p:cNvPr id="5" name="Shape 3"/>
          <p:cNvSpPr/>
          <p:nvPr/>
        </p:nvSpPr>
        <p:spPr>
          <a:xfrm>
            <a:off x="502920" y="1143000"/>
            <a:ext cx="1097280" cy="1097280"/>
          </a:xfrm>
          <a:prstGeom prst="ellipse">
            <a:avLst/>
          </a:prstGeom>
          <a:solidFill>
            <a:srgbClr val="8A4B08"/>
          </a:solidFill>
          <a:ln/>
        </p:spPr>
      </p:sp>
      <p:pic>
        <p:nvPicPr>
          <p:cNvPr id="6" name="Image 0" descr="preencoded.png">    </p:cNvPr>
          <p:cNvPicPr>
            <a:picLocks noChangeAspect="1"/>
          </p:cNvPicPr>
          <p:nvPr/>
        </p:nvPicPr>
        <p:blipFill>
          <a:blip r:embed="rId1"/>
          <a:stretch>
            <a:fillRect/>
          </a:stretch>
        </p:blipFill>
        <p:spPr>
          <a:xfrm>
            <a:off x="804672" y="1444752"/>
            <a:ext cx="493776" cy="493776"/>
          </a:xfrm>
          <a:prstGeom prst="rect">
            <a:avLst/>
          </a:prstGeom>
        </p:spPr>
      </p:pic>
      <p:sp>
        <p:nvSpPr>
          <p:cNvPr id="7" name="Text 4"/>
          <p:cNvSpPr/>
          <p:nvPr/>
        </p:nvSpPr>
        <p:spPr>
          <a:xfrm>
            <a:off x="502920" y="2377440"/>
            <a:ext cx="3200400" cy="320040"/>
          </a:xfrm>
          <a:prstGeom prst="rect">
            <a:avLst/>
          </a:prstGeom>
          <a:noFill/>
          <a:ln/>
        </p:spPr>
        <p:txBody>
          <a:bodyPr wrap="square" rtlCol="0" anchor="ctr"/>
          <a:lstStyle/>
          <a:p>
            <a:pPr indent="0" marL="0">
              <a:buNone/>
            </a:pPr>
            <a:r>
              <a:rPr lang="en-US" sz="1300" b="1" dirty="0">
                <a:solidFill>
                  <a:srgbClr val="B9BCE0"/>
                </a:solidFill>
                <a:latin typeface="Segoe UI" pitchFamily="34" charset="0"/>
                <a:ea typeface="Segoe UI" pitchFamily="34" charset="-122"/>
                <a:cs typeface="Segoe UI" pitchFamily="34" charset="-120"/>
              </a:rPr>
              <a:t>Airline · Engineering</a:t>
            </a:r>
            <a:endParaRPr lang="en-US" sz="1300" dirty="0"/>
          </a:p>
        </p:txBody>
      </p:sp>
      <p:sp>
        <p:nvSpPr>
          <p:cNvPr id="8" name="Text 5"/>
          <p:cNvSpPr/>
          <p:nvPr/>
        </p:nvSpPr>
        <p:spPr>
          <a:xfrm>
            <a:off x="502920" y="2697480"/>
            <a:ext cx="3291840" cy="1325880"/>
          </a:xfrm>
          <a:prstGeom prst="rect">
            <a:avLst/>
          </a:prstGeom>
          <a:noFill/>
          <a:ln/>
        </p:spPr>
        <p:txBody>
          <a:bodyPr wrap="square" rtlCol="0" anchor="t"/>
          <a:lstStyle/>
          <a:p>
            <a:pPr indent="0" marL="0">
              <a:buNone/>
            </a:pPr>
            <a:r>
              <a:rPr lang="en-US" sz="2400" b="1" dirty="0">
                <a:solidFill>
                  <a:srgbClr val="FFFFFF"/>
                </a:solidFill>
                <a:latin typeface="Segoe UI" pitchFamily="34" charset="0"/>
                <a:ea typeface="Segoe UI" pitchFamily="34" charset="-122"/>
                <a:cs typeface="Segoe UI" pitchFamily="34" charset="-120"/>
              </a:rPr>
              <a:t>The Monthly Reliability Report: the Improvement Is in the Denominator</a:t>
            </a:r>
            <a:endParaRPr lang="en-US" sz="2400" dirty="0"/>
          </a:p>
        </p:txBody>
      </p:sp>
      <p:sp>
        <p:nvSpPr>
          <p:cNvPr id="9" name="Text 6"/>
          <p:cNvSpPr/>
          <p:nvPr/>
        </p:nvSpPr>
        <p:spPr>
          <a:xfrm>
            <a:off x="502920" y="4114800"/>
            <a:ext cx="3291840" cy="320040"/>
          </a:xfrm>
          <a:prstGeom prst="rect">
            <a:avLst/>
          </a:prstGeom>
          <a:noFill/>
          <a:ln/>
        </p:spPr>
        <p:txBody>
          <a:bodyPr wrap="square" rtlCol="0" anchor="ctr"/>
          <a:lstStyle/>
          <a:p>
            <a:pPr indent="0" marL="0">
              <a:buNone/>
            </a:pPr>
            <a:r>
              <a:rPr lang="en-US" sz="1300" dirty="0">
                <a:solidFill>
                  <a:srgbClr val="9FA3CC"/>
                </a:solidFill>
                <a:latin typeface="Segoe UI" pitchFamily="34" charset="0"/>
                <a:ea typeface="Segoe UI" pitchFamily="34" charset="-122"/>
                <a:cs typeface="Segoe UI" pitchFamily="34" charset="-120"/>
              </a:rPr>
              <a:t>⏱ ~22 min · Level ★★★</a:t>
            </a:r>
            <a:endParaRPr lang="en-US" sz="1300" dirty="0"/>
          </a:p>
        </p:txBody>
      </p:sp>
      <p:sp>
        <p:nvSpPr>
          <p:cNvPr id="10" name="Shape 7"/>
          <p:cNvSpPr/>
          <p:nvPr/>
        </p:nvSpPr>
        <p:spPr>
          <a:xfrm>
            <a:off x="502920" y="4572000"/>
            <a:ext cx="1719072" cy="402336"/>
          </a:xfrm>
          <a:prstGeom prst="roundRect">
            <a:avLst>
              <a:gd name="adj" fmla="val 50000"/>
            </a:avLst>
          </a:prstGeom>
          <a:solidFill>
            <a:srgbClr val="6366F1"/>
          </a:solidFill>
          <a:ln/>
        </p:spPr>
      </p:sp>
      <p:sp>
        <p:nvSpPr>
          <p:cNvPr id="11" name="Text 8"/>
          <p:cNvSpPr/>
          <p:nvPr/>
        </p:nvSpPr>
        <p:spPr>
          <a:xfrm>
            <a:off x="502920" y="4572000"/>
            <a:ext cx="1719072"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Communications</a:t>
            </a:r>
            <a:endParaRPr lang="en-US" sz="1200" dirty="0"/>
          </a:p>
        </p:txBody>
      </p:sp>
      <p:sp>
        <p:nvSpPr>
          <p:cNvPr id="12" name="Shape 9"/>
          <p:cNvSpPr/>
          <p:nvPr/>
        </p:nvSpPr>
        <p:spPr>
          <a:xfrm>
            <a:off x="2404872" y="4572000"/>
            <a:ext cx="1316736" cy="402336"/>
          </a:xfrm>
          <a:prstGeom prst="roundRect">
            <a:avLst>
              <a:gd name="adj" fmla="val 50000"/>
            </a:avLst>
          </a:prstGeom>
          <a:solidFill>
            <a:srgbClr val="C43E1C"/>
          </a:solidFill>
          <a:ln/>
        </p:spPr>
      </p:sp>
      <p:sp>
        <p:nvSpPr>
          <p:cNvPr id="13" name="Text 10"/>
          <p:cNvSpPr/>
          <p:nvPr/>
        </p:nvSpPr>
        <p:spPr>
          <a:xfrm>
            <a:off x="2404872" y="4572000"/>
            <a:ext cx="1316736"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PowerPoint</a:t>
            </a:r>
            <a:endParaRPr lang="en-US" sz="1200" dirty="0"/>
          </a:p>
        </p:txBody>
      </p:sp>
      <p:sp>
        <p:nvSpPr>
          <p:cNvPr id="14" name="Shape 11"/>
          <p:cNvSpPr/>
          <p:nvPr/>
        </p:nvSpPr>
        <p:spPr>
          <a:xfrm>
            <a:off x="502920" y="5074920"/>
            <a:ext cx="813816" cy="402336"/>
          </a:xfrm>
          <a:prstGeom prst="roundRect">
            <a:avLst>
              <a:gd name="adj" fmla="val 50000"/>
            </a:avLst>
          </a:prstGeom>
          <a:solidFill>
            <a:srgbClr val="217346"/>
          </a:solidFill>
          <a:ln/>
        </p:spPr>
      </p:sp>
      <p:sp>
        <p:nvSpPr>
          <p:cNvPr id="15" name="Text 12"/>
          <p:cNvSpPr/>
          <p:nvPr/>
        </p:nvSpPr>
        <p:spPr>
          <a:xfrm>
            <a:off x="502920" y="5074920"/>
            <a:ext cx="813816"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Excel</a:t>
            </a:r>
            <a:endParaRPr lang="en-US" sz="1200" dirty="0"/>
          </a:p>
        </p:txBody>
      </p:sp>
      <p:sp>
        <p:nvSpPr>
          <p:cNvPr id="16" name="Text 13"/>
          <p:cNvSpPr/>
          <p:nvPr/>
        </p:nvSpPr>
        <p:spPr>
          <a:xfrm>
            <a:off x="4526280" y="566928"/>
            <a:ext cx="7132320" cy="960120"/>
          </a:xfrm>
          <a:prstGeom prst="rect">
            <a:avLst/>
          </a:prstGeom>
          <a:noFill/>
          <a:ln/>
        </p:spPr>
        <p:txBody>
          <a:bodyPr wrap="square" rtlCol="0" anchor="t"/>
          <a:lstStyle/>
          <a:p>
            <a:pPr indent="0" marL="0">
              <a:lnSpc>
                <a:spcPct val="130000"/>
              </a:lnSpc>
              <a:buNone/>
            </a:pPr>
            <a:r>
              <a:rPr lang="en-US" sz="1200" dirty="0">
                <a:solidFill>
                  <a:srgbClr val="D7D9F0"/>
                </a:solidFill>
                <a:latin typeface="Segoe UI" pitchFamily="34" charset="0"/>
                <a:ea typeface="Segoe UI" pitchFamily="34" charset="-122"/>
                <a:cs typeface="Segoe UI" pitchFamily="34" charset="-120"/>
              </a:rPr>
              <a:t>The technical delay rate has come down from 1.48% to 1.31% — the sort of number you take upstairs. But one aircraft spent the whole month in the hangar on a C check. It was not flying, so its usually unflattering numbers vanished with it. Recalculate with that tail excluded from both months and the direction reverses. This scenario is about saying so — in a deck and an email, to people who would rather hear the first number.</a:t>
            </a:r>
            <a:endParaRPr lang="en-US" sz="1200" dirty="0"/>
          </a:p>
        </p:txBody>
      </p:sp>
      <p:sp>
        <p:nvSpPr>
          <p:cNvPr id="17" name="Text 14"/>
          <p:cNvSpPr/>
          <p:nvPr/>
        </p:nvSpPr>
        <p:spPr>
          <a:xfrm>
            <a:off x="4526280" y="1655064"/>
            <a:ext cx="7132320" cy="365760"/>
          </a:xfrm>
          <a:prstGeom prst="rect">
            <a:avLst/>
          </a:prstGeom>
          <a:noFill/>
          <a:ln/>
        </p:spPr>
        <p:txBody>
          <a:bodyPr wrap="square" rtlCol="0" anchor="ctr"/>
          <a:lstStyle/>
          <a:p>
            <a:pPr indent="0" marL="0">
              <a:buNone/>
            </a:pPr>
            <a:r>
              <a:rPr lang="en-US" sz="1500" b="1" dirty="0">
                <a:solidFill>
                  <a:srgbClr val="8A4B08"/>
                </a:solidFill>
                <a:latin typeface="Segoe UI" pitchFamily="34" charset="0"/>
                <a:ea typeface="Segoe UI" pitchFamily="34" charset="-122"/>
                <a:cs typeface="Segoe UI" pitchFamily="34" charset="-120"/>
              </a:rPr>
              <a:t>Agentic workflow</a:t>
            </a:r>
            <a:endParaRPr lang="en-US" sz="1500" dirty="0"/>
          </a:p>
        </p:txBody>
      </p:sp>
      <p:sp>
        <p:nvSpPr>
          <p:cNvPr id="18" name="Shape 15"/>
          <p:cNvSpPr/>
          <p:nvPr/>
        </p:nvSpPr>
        <p:spPr>
          <a:xfrm>
            <a:off x="4526280" y="2112264"/>
            <a:ext cx="457200" cy="457200"/>
          </a:xfrm>
          <a:prstGeom prst="ellipse">
            <a:avLst/>
          </a:prstGeom>
          <a:solidFill>
            <a:srgbClr val="FFFFFF">
              <a:alpha val="12000"/>
            </a:srgbClr>
          </a:solidFill>
          <a:ln w="19050">
            <a:solidFill>
              <a:srgbClr val="8A4B08"/>
            </a:solidFill>
            <a:prstDash val="solid"/>
          </a:ln>
        </p:spPr>
      </p:sp>
      <p:sp>
        <p:nvSpPr>
          <p:cNvPr id="19" name="Text 16"/>
          <p:cNvSpPr/>
          <p:nvPr/>
        </p:nvSpPr>
        <p:spPr>
          <a:xfrm>
            <a:off x="4526280" y="2112264"/>
            <a:ext cx="457200" cy="457200"/>
          </a:xfrm>
          <a:prstGeom prst="rect">
            <a:avLst/>
          </a:prstGeom>
          <a:noFill/>
          <a:ln/>
        </p:spPr>
        <p:txBody>
          <a:bodyPr wrap="square" rtlCol="0" anchor="ctr"/>
          <a:lstStyle/>
          <a:p>
            <a:pPr algn="ctr" indent="0" marL="0">
              <a:buNone/>
            </a:pPr>
            <a:r>
              <a:rPr lang="en-US" sz="1600" b="1" dirty="0">
                <a:solidFill>
                  <a:srgbClr val="8A4B08"/>
                </a:solidFill>
                <a:latin typeface="Segoe UI" pitchFamily="34" charset="0"/>
                <a:ea typeface="Segoe UI" pitchFamily="34" charset="-122"/>
                <a:cs typeface="Segoe UI" pitchFamily="34" charset="-120"/>
              </a:rPr>
              <a:t>1</a:t>
            </a:r>
            <a:endParaRPr lang="en-US" sz="1600" dirty="0"/>
          </a:p>
        </p:txBody>
      </p:sp>
      <p:sp>
        <p:nvSpPr>
          <p:cNvPr id="20" name="Text 17"/>
          <p:cNvSpPr/>
          <p:nvPr/>
        </p:nvSpPr>
        <p:spPr>
          <a:xfrm>
            <a:off x="5166360" y="2093976"/>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Get the headline numbers first</a:t>
            </a:r>
            <a:endParaRPr lang="en-US" sz="1600" dirty="0"/>
          </a:p>
        </p:txBody>
      </p:sp>
      <p:sp>
        <p:nvSpPr>
          <p:cNvPr id="21" name="Text 18"/>
          <p:cNvSpPr/>
          <p:nvPr/>
        </p:nvSpPr>
        <p:spPr>
          <a:xfrm>
            <a:off x="5166360" y="2459736"/>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Nothing to upload. Both files are in AIR6_Reliability_Re…</a:t>
            </a:r>
            <a:endParaRPr lang="en-US" sz="1300" dirty="0"/>
          </a:p>
        </p:txBody>
      </p:sp>
      <p:sp>
        <p:nvSpPr>
          <p:cNvPr id="22" name="Shape 19"/>
          <p:cNvSpPr/>
          <p:nvPr/>
        </p:nvSpPr>
        <p:spPr>
          <a:xfrm>
            <a:off x="4526280" y="2971800"/>
            <a:ext cx="457200" cy="457200"/>
          </a:xfrm>
          <a:prstGeom prst="ellipse">
            <a:avLst/>
          </a:prstGeom>
          <a:solidFill>
            <a:srgbClr val="FFFFFF">
              <a:alpha val="12000"/>
            </a:srgbClr>
          </a:solidFill>
          <a:ln w="19050">
            <a:solidFill>
              <a:srgbClr val="8A4B08"/>
            </a:solidFill>
            <a:prstDash val="solid"/>
          </a:ln>
        </p:spPr>
      </p:sp>
      <p:sp>
        <p:nvSpPr>
          <p:cNvPr id="23" name="Text 20"/>
          <p:cNvSpPr/>
          <p:nvPr/>
        </p:nvSpPr>
        <p:spPr>
          <a:xfrm>
            <a:off x="4526280" y="2971800"/>
            <a:ext cx="457200" cy="457200"/>
          </a:xfrm>
          <a:prstGeom prst="rect">
            <a:avLst/>
          </a:prstGeom>
          <a:noFill/>
          <a:ln/>
        </p:spPr>
        <p:txBody>
          <a:bodyPr wrap="square" rtlCol="0" anchor="ctr"/>
          <a:lstStyle/>
          <a:p>
            <a:pPr algn="ctr" indent="0" marL="0">
              <a:buNone/>
            </a:pPr>
            <a:r>
              <a:rPr lang="en-US" sz="1600" b="1" dirty="0">
                <a:solidFill>
                  <a:srgbClr val="8A4B08"/>
                </a:solidFill>
                <a:latin typeface="Segoe UI" pitchFamily="34" charset="0"/>
                <a:ea typeface="Segoe UI" pitchFamily="34" charset="-122"/>
                <a:cs typeface="Segoe UI" pitchFamily="34" charset="-120"/>
              </a:rPr>
              <a:t>2</a:t>
            </a:r>
            <a:endParaRPr lang="en-US" sz="1600" dirty="0"/>
          </a:p>
        </p:txBody>
      </p:sp>
      <p:sp>
        <p:nvSpPr>
          <p:cNvPr id="24" name="Text 21"/>
          <p:cNvSpPr/>
          <p:nvPr/>
        </p:nvSpPr>
        <p:spPr>
          <a:xfrm>
            <a:off x="5166360" y="2953512"/>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 Ask whether the fleet composition changed</a:t>
            </a:r>
            <a:endParaRPr lang="en-US" sz="1600" dirty="0"/>
          </a:p>
        </p:txBody>
      </p:sp>
      <p:sp>
        <p:nvSpPr>
          <p:cNvPr id="25" name="Text 22"/>
          <p:cNvSpPr/>
          <p:nvPr/>
        </p:nvSpPr>
        <p:spPr>
          <a:xfrm>
            <a:off x="5166360" y="3319272"/>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The programme summary has a section on comparison basis.…</a:t>
            </a:r>
            <a:endParaRPr lang="en-US" sz="1300" dirty="0"/>
          </a:p>
        </p:txBody>
      </p:sp>
      <p:sp>
        <p:nvSpPr>
          <p:cNvPr id="26" name="Shape 23"/>
          <p:cNvSpPr/>
          <p:nvPr/>
        </p:nvSpPr>
        <p:spPr>
          <a:xfrm>
            <a:off x="4526280" y="3831336"/>
            <a:ext cx="457200" cy="457200"/>
          </a:xfrm>
          <a:prstGeom prst="ellipse">
            <a:avLst/>
          </a:prstGeom>
          <a:solidFill>
            <a:srgbClr val="FFFFFF">
              <a:alpha val="12000"/>
            </a:srgbClr>
          </a:solidFill>
          <a:ln w="19050">
            <a:solidFill>
              <a:srgbClr val="8A4B08"/>
            </a:solidFill>
            <a:prstDash val="solid"/>
          </a:ln>
        </p:spPr>
      </p:sp>
      <p:sp>
        <p:nvSpPr>
          <p:cNvPr id="27" name="Text 24"/>
          <p:cNvSpPr/>
          <p:nvPr/>
        </p:nvSpPr>
        <p:spPr>
          <a:xfrm>
            <a:off x="4526280" y="3831336"/>
            <a:ext cx="457200" cy="457200"/>
          </a:xfrm>
          <a:prstGeom prst="rect">
            <a:avLst/>
          </a:prstGeom>
          <a:noFill/>
          <a:ln/>
        </p:spPr>
        <p:txBody>
          <a:bodyPr wrap="square" rtlCol="0" anchor="ctr"/>
          <a:lstStyle/>
          <a:p>
            <a:pPr algn="ctr" indent="0" marL="0">
              <a:buNone/>
            </a:pPr>
            <a:r>
              <a:rPr lang="en-US" sz="1600" b="1" dirty="0">
                <a:solidFill>
                  <a:srgbClr val="8A4B08"/>
                </a:solidFill>
                <a:latin typeface="Segoe UI" pitchFamily="34" charset="0"/>
                <a:ea typeface="Segoe UI" pitchFamily="34" charset="-122"/>
                <a:cs typeface="Segoe UI" pitchFamily="34" charset="-120"/>
              </a:rPr>
              <a:t>3</a:t>
            </a:r>
            <a:endParaRPr lang="en-US" sz="1600" dirty="0"/>
          </a:p>
        </p:txBody>
      </p:sp>
      <p:sp>
        <p:nvSpPr>
          <p:cNvPr id="28" name="Text 25"/>
          <p:cNvSpPr/>
          <p:nvPr/>
        </p:nvSpPr>
        <p:spPr>
          <a:xfrm>
            <a:off x="5166360" y="3813048"/>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Look for something shared across tails</a:t>
            </a:r>
            <a:endParaRPr lang="en-US" sz="1600" dirty="0"/>
          </a:p>
        </p:txBody>
      </p:sp>
      <p:sp>
        <p:nvSpPr>
          <p:cNvPr id="29" name="Text 26"/>
          <p:cNvSpPr/>
          <p:nvPr/>
        </p:nvSpPr>
        <p:spPr>
          <a:xfrm>
            <a:off x="5166360" y="4178808"/>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The list is on the second sheet of the same workbook.。</a:t>
            </a:r>
            <a:endParaRPr lang="en-US" sz="1300" dirty="0"/>
          </a:p>
        </p:txBody>
      </p:sp>
      <p:sp>
        <p:nvSpPr>
          <p:cNvPr id="30" name="Shape 27"/>
          <p:cNvSpPr/>
          <p:nvPr/>
        </p:nvSpPr>
        <p:spPr>
          <a:xfrm>
            <a:off x="4526280" y="4690872"/>
            <a:ext cx="457200" cy="457200"/>
          </a:xfrm>
          <a:prstGeom prst="ellipse">
            <a:avLst/>
          </a:prstGeom>
          <a:solidFill>
            <a:srgbClr val="FFFFFF">
              <a:alpha val="12000"/>
            </a:srgbClr>
          </a:solidFill>
          <a:ln w="19050">
            <a:solidFill>
              <a:srgbClr val="8A4B08"/>
            </a:solidFill>
            <a:prstDash val="solid"/>
          </a:ln>
        </p:spPr>
      </p:sp>
      <p:sp>
        <p:nvSpPr>
          <p:cNvPr id="31" name="Text 28"/>
          <p:cNvSpPr/>
          <p:nvPr/>
        </p:nvSpPr>
        <p:spPr>
          <a:xfrm>
            <a:off x="4526280" y="4690872"/>
            <a:ext cx="457200" cy="457200"/>
          </a:xfrm>
          <a:prstGeom prst="rect">
            <a:avLst/>
          </a:prstGeom>
          <a:noFill/>
          <a:ln/>
        </p:spPr>
        <p:txBody>
          <a:bodyPr wrap="square" rtlCol="0" anchor="ctr"/>
          <a:lstStyle/>
          <a:p>
            <a:pPr algn="ctr" indent="0" marL="0">
              <a:buNone/>
            </a:pPr>
            <a:r>
              <a:rPr lang="en-US" sz="1600" b="1" dirty="0">
                <a:solidFill>
                  <a:srgbClr val="8A4B08"/>
                </a:solidFill>
                <a:latin typeface="Segoe UI" pitchFamily="34" charset="0"/>
                <a:ea typeface="Segoe UI" pitchFamily="34" charset="-122"/>
                <a:cs typeface="Segoe UI" pitchFamily="34" charset="-120"/>
              </a:rPr>
              <a:t>4</a:t>
            </a:r>
            <a:endParaRPr lang="en-US" sz="1600" dirty="0"/>
          </a:p>
        </p:txBody>
      </p:sp>
      <p:sp>
        <p:nvSpPr>
          <p:cNvPr id="32" name="Text 29"/>
          <p:cNvSpPr/>
          <p:nvPr/>
        </p:nvSpPr>
        <p:spPr>
          <a:xfrm>
            <a:off x="5166360" y="4672584"/>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Build the deck for the review board</a:t>
            </a:r>
            <a:endParaRPr lang="en-US" sz="1600" dirty="0"/>
          </a:p>
        </p:txBody>
      </p:sp>
      <p:sp>
        <p:nvSpPr>
          <p:cNvPr id="33" name="Text 30"/>
          <p:cNvSpPr/>
          <p:nvPr/>
        </p:nvSpPr>
        <p:spPr>
          <a:xfrm>
            <a:off x="5166360" y="5038344"/>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This step produces a PowerPoint deck.。</a:t>
            </a:r>
            <a:endParaRPr lang="en-US" sz="1300" dirty="0"/>
          </a:p>
        </p:txBody>
      </p:sp>
      <p:sp>
        <p:nvSpPr>
          <p:cNvPr id="34" name="Shape 31"/>
          <p:cNvSpPr/>
          <p:nvPr/>
        </p:nvSpPr>
        <p:spPr>
          <a:xfrm>
            <a:off x="4526280" y="5550408"/>
            <a:ext cx="457200" cy="457200"/>
          </a:xfrm>
          <a:prstGeom prst="ellipse">
            <a:avLst/>
          </a:prstGeom>
          <a:solidFill>
            <a:srgbClr val="FFFFFF">
              <a:alpha val="12000"/>
            </a:srgbClr>
          </a:solidFill>
          <a:ln w="19050">
            <a:solidFill>
              <a:srgbClr val="8A4B08"/>
            </a:solidFill>
            <a:prstDash val="solid"/>
          </a:ln>
        </p:spPr>
      </p:sp>
      <p:sp>
        <p:nvSpPr>
          <p:cNvPr id="35" name="Text 32"/>
          <p:cNvSpPr/>
          <p:nvPr/>
        </p:nvSpPr>
        <p:spPr>
          <a:xfrm>
            <a:off x="4526280" y="5550408"/>
            <a:ext cx="457200" cy="457200"/>
          </a:xfrm>
          <a:prstGeom prst="rect">
            <a:avLst/>
          </a:prstGeom>
          <a:noFill/>
          <a:ln/>
        </p:spPr>
        <p:txBody>
          <a:bodyPr wrap="square" rtlCol="0" anchor="ctr"/>
          <a:lstStyle/>
          <a:p>
            <a:pPr algn="ctr" indent="0" marL="0">
              <a:buNone/>
            </a:pPr>
            <a:r>
              <a:rPr lang="en-US" sz="1600" b="1" dirty="0">
                <a:solidFill>
                  <a:srgbClr val="8A4B08"/>
                </a:solidFill>
                <a:latin typeface="Segoe UI" pitchFamily="34" charset="0"/>
                <a:ea typeface="Segoe UI" pitchFamily="34" charset="-122"/>
                <a:cs typeface="Segoe UI" pitchFamily="34" charset="-120"/>
              </a:rPr>
              <a:t>5</a:t>
            </a:r>
            <a:endParaRPr lang="en-US" sz="1600" dirty="0"/>
          </a:p>
        </p:txBody>
      </p:sp>
      <p:sp>
        <p:nvSpPr>
          <p:cNvPr id="36" name="Text 33"/>
          <p:cNvSpPr/>
          <p:nvPr/>
        </p:nvSpPr>
        <p:spPr>
          <a:xfrm>
            <a:off x="5166360" y="5532120"/>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 Write the email that says the uncomfortable part</a:t>
            </a:r>
            <a:endParaRPr lang="en-US" sz="1600" dirty="0"/>
          </a:p>
        </p:txBody>
      </p:sp>
      <p:sp>
        <p:nvSpPr>
          <p:cNvPr id="37" name="Text 34"/>
          <p:cNvSpPr/>
          <p:nvPr/>
        </p:nvSpPr>
        <p:spPr>
          <a:xfrm>
            <a:off x="5166360" y="5897880"/>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This step really sends mail; recipients come from the co…</a:t>
            </a:r>
            <a:endParaRPr lang="en-US" sz="1300" dirty="0"/>
          </a:p>
        </p:txBody>
      </p:sp>
      <p:sp>
        <p:nvSpPr>
          <p:cNvPr id="38" name="Text 35"/>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8A8FB5"/>
                </a:solidFill>
                <a:latin typeface="Segoe UI" pitchFamily="34" charset="0"/>
                <a:ea typeface="Segoe UI" pitchFamily="34" charset="-122"/>
                <a:cs typeface="Segoe UI" pitchFamily="34" charset="-120"/>
              </a:rPr>
              <a:t>Microsoft 365 Copilot Cowork</a:t>
            </a:r>
            <a:endParaRPr lang="en-US" sz="900" dirty="0"/>
          </a:p>
        </p:txBody>
      </p:sp>
      <p:sp>
        <p:nvSpPr>
          <p:cNvPr id="39" name="Text 36"/>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8A8FB5"/>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8A4B08"/>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8A4B08"/>
                </a:solidFill>
                <a:latin typeface="Segoe UI" pitchFamily="34" charset="0"/>
                <a:ea typeface="Segoe UI" pitchFamily="34" charset="-122"/>
                <a:cs typeface="Segoe UI" pitchFamily="34" charset="-120"/>
              </a:rPr>
              <a:t>Scenario 06 · Live demo</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What Cowork does, and what it produces</a:t>
            </a:r>
            <a:endParaRPr lang="en-US" sz="3000" dirty="0"/>
          </a:p>
        </p:txBody>
      </p:sp>
      <p:sp>
        <p:nvSpPr>
          <p:cNvPr id="5" name="Shape 3"/>
          <p:cNvSpPr/>
          <p:nvPr/>
        </p:nvSpPr>
        <p:spPr>
          <a:xfrm>
            <a:off x="137754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6" name="Image 0" descr="C:\temp\CoworkLab\v3\_working\screenshots\air6_01_input_en.png">    </p:cNvPr>
          <p:cNvPicPr>
            <a:picLocks noChangeAspect="1"/>
          </p:cNvPicPr>
          <p:nvPr/>
        </p:nvPicPr>
        <p:blipFill>
          <a:blip r:embed="rId1"/>
          <a:stretch>
            <a:fillRect/>
          </a:stretch>
        </p:blipFill>
        <p:spPr>
          <a:xfrm>
            <a:off x="1432408" y="1828800"/>
            <a:ext cx="4434840" cy="2904283"/>
          </a:xfrm>
          <a:prstGeom prst="rect">
            <a:avLst/>
          </a:prstGeom>
        </p:spPr>
      </p:pic>
      <p:sp>
        <p:nvSpPr>
          <p:cNvPr id="7" name="Text 4"/>
          <p:cNvSpPr/>
          <p:nvPr/>
        </p:nvSpPr>
        <p:spPr>
          <a:xfrm>
            <a:off x="1432408" y="4824523"/>
            <a:ext cx="4434840" cy="292608"/>
          </a:xfrm>
          <a:prstGeom prst="rect">
            <a:avLst/>
          </a:prstGeom>
          <a:noFill/>
          <a:ln/>
        </p:spPr>
        <p:txBody>
          <a:bodyPr wrap="square" rtlCol="0" anchor="ctr"/>
          <a:lstStyle/>
          <a:p>
            <a:pPr algn="ctr" indent="0" marL="0">
              <a:buNone/>
            </a:pPr>
            <a:r>
              <a:rPr lang="en-US" sz="1350" b="1" dirty="0">
                <a:solidFill>
                  <a:srgbClr val="8A4B08"/>
                </a:solidFill>
                <a:latin typeface="Segoe UI" pitchFamily="34" charset="0"/>
                <a:ea typeface="Segoe UI" pitchFamily="34" charset="-122"/>
                <a:cs typeface="Segoe UI" pitchFamily="34" charset="-120"/>
              </a:rPr>
              <a:t>① Your input and prompt</a:t>
            </a:r>
            <a:endParaRPr lang="en-US" sz="1350" dirty="0"/>
          </a:p>
        </p:txBody>
      </p:sp>
      <p:sp>
        <p:nvSpPr>
          <p:cNvPr id="8" name="Shape 5"/>
          <p:cNvSpPr/>
          <p:nvPr/>
        </p:nvSpPr>
        <p:spPr>
          <a:xfrm>
            <a:off x="626958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9" name="Image 1" descr="C:\temp\CoworkLab\v3\_working\screenshots\air6_05b_sent_en.png">    </p:cNvPr>
          <p:cNvPicPr>
            <a:picLocks noChangeAspect="1"/>
          </p:cNvPicPr>
          <p:nvPr/>
        </p:nvPicPr>
        <p:blipFill>
          <a:blip r:embed="rId2"/>
          <a:stretch>
            <a:fillRect/>
          </a:stretch>
        </p:blipFill>
        <p:spPr>
          <a:xfrm>
            <a:off x="6324448" y="1828800"/>
            <a:ext cx="4434840" cy="2904283"/>
          </a:xfrm>
          <a:prstGeom prst="rect">
            <a:avLst/>
          </a:prstGeom>
        </p:spPr>
      </p:pic>
      <p:sp>
        <p:nvSpPr>
          <p:cNvPr id="10" name="Text 6"/>
          <p:cNvSpPr/>
          <p:nvPr/>
        </p:nvSpPr>
        <p:spPr>
          <a:xfrm>
            <a:off x="6324448" y="4824523"/>
            <a:ext cx="4434840" cy="292608"/>
          </a:xfrm>
          <a:prstGeom prst="rect">
            <a:avLst/>
          </a:prstGeom>
          <a:noFill/>
          <a:ln/>
        </p:spPr>
        <p:txBody>
          <a:bodyPr wrap="square" rtlCol="0" anchor="ctr"/>
          <a:lstStyle/>
          <a:p>
            <a:pPr algn="ctr" indent="0" marL="0">
              <a:buNone/>
            </a:pPr>
            <a:r>
              <a:rPr lang="en-US" sz="1350" b="1" dirty="0">
                <a:solidFill>
                  <a:srgbClr val="8A4B08"/>
                </a:solidFill>
                <a:latin typeface="Segoe UI" pitchFamily="34" charset="0"/>
                <a:ea typeface="Segoe UI" pitchFamily="34" charset="-122"/>
                <a:cs typeface="Segoe UI" pitchFamily="34" charset="-120"/>
              </a:rPr>
              <a:t>② The result</a:t>
            </a:r>
            <a:endParaRPr lang="en-US" sz="1350" dirty="0"/>
          </a:p>
        </p:txBody>
      </p:sp>
      <p:sp>
        <p:nvSpPr>
          <p:cNvPr id="11" name="Shape 7"/>
          <p:cNvSpPr/>
          <p:nvPr/>
        </p:nvSpPr>
        <p:spPr>
          <a:xfrm>
            <a:off x="640080" y="5226859"/>
            <a:ext cx="10911535" cy="1143000"/>
          </a:xfrm>
          <a:prstGeom prst="rect">
            <a:avLst/>
          </a:prstGeom>
          <a:solidFill>
            <a:srgbClr val="FFFFFF"/>
          </a:solidFill>
          <a:ln w="12700">
            <a:solidFill>
              <a:srgbClr val="E4E7F2"/>
            </a:solidFill>
            <a:prstDash val="solid"/>
          </a:ln>
        </p:spPr>
      </p:sp>
      <p:sp>
        <p:nvSpPr>
          <p:cNvPr id="12" name="Shape 8"/>
          <p:cNvSpPr/>
          <p:nvPr/>
        </p:nvSpPr>
        <p:spPr>
          <a:xfrm>
            <a:off x="640080" y="5226859"/>
            <a:ext cx="91440" cy="1143000"/>
          </a:xfrm>
          <a:prstGeom prst="rect">
            <a:avLst/>
          </a:prstGeom>
          <a:solidFill>
            <a:srgbClr val="8A4B08"/>
          </a:solidFill>
          <a:ln/>
        </p:spPr>
      </p:sp>
      <p:sp>
        <p:nvSpPr>
          <p:cNvPr id="13" name="Text 9"/>
          <p:cNvSpPr/>
          <p:nvPr/>
        </p:nvSpPr>
        <p:spPr>
          <a:xfrm>
            <a:off x="914400" y="5336587"/>
            <a:ext cx="1783080" cy="320040"/>
          </a:xfrm>
          <a:prstGeom prst="rect">
            <a:avLst/>
          </a:prstGeom>
          <a:noFill/>
          <a:ln/>
        </p:spPr>
        <p:txBody>
          <a:bodyPr wrap="square" rtlCol="0" anchor="ctr"/>
          <a:lstStyle/>
          <a:p>
            <a:pPr indent="0" marL="0">
              <a:buNone/>
            </a:pPr>
            <a:r>
              <a:rPr lang="en-US" sz="1400" b="1" dirty="0">
                <a:solidFill>
                  <a:srgbClr val="1E2235"/>
                </a:solidFill>
                <a:latin typeface="Segoe UI" pitchFamily="34" charset="0"/>
                <a:ea typeface="Segoe UI" pitchFamily="34" charset="-122"/>
                <a:cs typeface="Segoe UI" pitchFamily="34" charset="-120"/>
              </a:rPr>
              <a:t>Check the output</a:t>
            </a:r>
            <a:endParaRPr lang="en-US" sz="1400" dirty="0"/>
          </a:p>
        </p:txBody>
      </p:sp>
      <p:pic>
        <p:nvPicPr>
          <p:cNvPr id="14" name="Image 2" descr="preencoded.png">    </p:cNvPr>
          <p:cNvPicPr>
            <a:picLocks noChangeAspect="1"/>
          </p:cNvPicPr>
          <p:nvPr/>
        </p:nvPicPr>
        <p:blipFill>
          <a:blip r:embed="rId3"/>
          <a:stretch>
            <a:fillRect/>
          </a:stretch>
        </p:blipFill>
        <p:spPr>
          <a:xfrm>
            <a:off x="2880360" y="5373163"/>
            <a:ext cx="182880" cy="182880"/>
          </a:xfrm>
          <a:prstGeom prst="rect">
            <a:avLst/>
          </a:prstGeom>
        </p:spPr>
      </p:pic>
      <p:sp>
        <p:nvSpPr>
          <p:cNvPr id="15" name="Text 10"/>
          <p:cNvSpPr/>
          <p:nvPr/>
        </p:nvSpPr>
        <p:spPr>
          <a:xfrm>
            <a:off x="3154680" y="5318299"/>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Both headline rates were calculated and reconcile with the sectors in the data</a:t>
            </a:r>
            <a:endParaRPr lang="en-US" sz="1300" dirty="0"/>
          </a:p>
        </p:txBody>
      </p:sp>
      <p:pic>
        <p:nvPicPr>
          <p:cNvPr id="16" name="Image 3" descr="preencoded.png">    </p:cNvPr>
          <p:cNvPicPr>
            <a:picLocks noChangeAspect="1"/>
          </p:cNvPicPr>
          <p:nvPr/>
        </p:nvPicPr>
        <p:blipFill>
          <a:blip r:embed="rId4"/>
          <a:stretch>
            <a:fillRect/>
          </a:stretch>
        </p:blipFill>
        <p:spPr>
          <a:xfrm>
            <a:off x="2880360" y="5711491"/>
            <a:ext cx="182880" cy="182880"/>
          </a:xfrm>
          <a:prstGeom prst="rect">
            <a:avLst/>
          </a:prstGeom>
        </p:spPr>
      </p:pic>
      <p:sp>
        <p:nvSpPr>
          <p:cNvPr id="17" name="Text 11"/>
          <p:cNvSpPr/>
          <p:nvPr/>
        </p:nvSpPr>
        <p:spPr>
          <a:xfrm>
            <a:off x="3154680" y="5656627"/>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It spotted the tail with zero sectors in one month and can say why</a:t>
            </a:r>
            <a:endParaRPr lang="en-US" sz="1300" dirty="0"/>
          </a:p>
        </p:txBody>
      </p:sp>
      <p:pic>
        <p:nvPicPr>
          <p:cNvPr id="18" name="Image 4" descr="preencoded.png">    </p:cNvPr>
          <p:cNvPicPr>
            <a:picLocks noChangeAspect="1"/>
          </p:cNvPicPr>
          <p:nvPr/>
        </p:nvPicPr>
        <p:blipFill>
          <a:blip r:embed="rId5"/>
          <a:stretch>
            <a:fillRect/>
          </a:stretch>
        </p:blipFill>
        <p:spPr>
          <a:xfrm>
            <a:off x="2880360" y="6049819"/>
            <a:ext cx="182880" cy="182880"/>
          </a:xfrm>
          <a:prstGeom prst="rect">
            <a:avLst/>
          </a:prstGeom>
        </p:spPr>
      </p:pic>
      <p:sp>
        <p:nvSpPr>
          <p:cNvPr id="19" name="Text 12"/>
          <p:cNvSpPr/>
          <p:nvPr/>
        </p:nvSpPr>
        <p:spPr>
          <a:xfrm>
            <a:off x="3154680" y="5994955"/>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The like-for-like recalculation excludes that tail from both months, not just one</a:t>
            </a:r>
            <a:endParaRPr lang="en-US" sz="1300" dirty="0"/>
          </a:p>
        </p:txBody>
      </p:sp>
      <p:sp>
        <p:nvSpPr>
          <p:cNvPr id="20" name="Text 13"/>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21" name="Text 14"/>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1031"/>
        </a:solidFill>
      </p:bgPr>
    </p:bg>
    <p:spTree>
      <p:nvGrpSpPr>
        <p:cNvPr id="1" name=""/>
        <p:cNvGrpSpPr/>
        <p:nvPr/>
      </p:nvGrpSpPr>
      <p:grpSpPr>
        <a:xfrm>
          <a:off x="0" y="0"/>
          <a:ext cx="0" cy="0"/>
          <a:chOff x="0" y="0"/>
          <a:chExt cx="0" cy="0"/>
        </a:xfrm>
      </p:grpSpPr>
      <p:sp>
        <p:nvSpPr>
          <p:cNvPr id="2" name="Shape 0"/>
          <p:cNvSpPr/>
          <p:nvPr/>
        </p:nvSpPr>
        <p:spPr>
          <a:xfrm>
            <a:off x="0" y="0"/>
            <a:ext cx="4023360" cy="6858000"/>
          </a:xfrm>
          <a:prstGeom prst="rect">
            <a:avLst/>
          </a:prstGeom>
          <a:solidFill>
            <a:srgbClr val="1C1E4A"/>
          </a:solidFill>
          <a:ln/>
        </p:spPr>
      </p:sp>
      <p:sp>
        <p:nvSpPr>
          <p:cNvPr id="3" name="Shape 1"/>
          <p:cNvSpPr/>
          <p:nvPr/>
        </p:nvSpPr>
        <p:spPr>
          <a:xfrm>
            <a:off x="0" y="0"/>
            <a:ext cx="146304" cy="6858000"/>
          </a:xfrm>
          <a:prstGeom prst="rect">
            <a:avLst/>
          </a:prstGeom>
          <a:solidFill>
            <a:srgbClr val="0B6E6E"/>
          </a:solidFill>
          <a:ln/>
        </p:spPr>
      </p:sp>
      <p:sp>
        <p:nvSpPr>
          <p:cNvPr id="4" name="Text 2"/>
          <p:cNvSpPr/>
          <p:nvPr/>
        </p:nvSpPr>
        <p:spPr>
          <a:xfrm>
            <a:off x="502920" y="640080"/>
            <a:ext cx="3200400" cy="365760"/>
          </a:xfrm>
          <a:prstGeom prst="rect">
            <a:avLst/>
          </a:prstGeom>
          <a:noFill/>
          <a:ln/>
        </p:spPr>
        <p:txBody>
          <a:bodyPr wrap="square" rtlCol="0" anchor="ctr"/>
          <a:lstStyle/>
          <a:p>
            <a:pPr indent="0" marL="0">
              <a:buNone/>
            </a:pPr>
            <a:r>
              <a:rPr lang="en-US" sz="1400" b="1" spc="200" kern="0" dirty="0">
                <a:solidFill>
                  <a:srgbClr val="0B6E6E"/>
                </a:solidFill>
                <a:latin typeface="Segoe UI" pitchFamily="34" charset="0"/>
                <a:ea typeface="Segoe UI" pitchFamily="34" charset="-122"/>
                <a:cs typeface="Segoe UI" pitchFamily="34" charset="-120"/>
              </a:rPr>
              <a:t>Scenario 07</a:t>
            </a:r>
            <a:endParaRPr lang="en-US" sz="1400" dirty="0"/>
          </a:p>
        </p:txBody>
      </p:sp>
      <p:sp>
        <p:nvSpPr>
          <p:cNvPr id="5" name="Shape 3"/>
          <p:cNvSpPr/>
          <p:nvPr/>
        </p:nvSpPr>
        <p:spPr>
          <a:xfrm>
            <a:off x="502920" y="1143000"/>
            <a:ext cx="1097280" cy="1097280"/>
          </a:xfrm>
          <a:prstGeom prst="ellipse">
            <a:avLst/>
          </a:prstGeom>
          <a:solidFill>
            <a:srgbClr val="0B6E6E"/>
          </a:solidFill>
          <a:ln/>
        </p:spPr>
      </p:sp>
      <p:pic>
        <p:nvPicPr>
          <p:cNvPr id="6" name="Image 0" descr="preencoded.png">    </p:cNvPr>
          <p:cNvPicPr>
            <a:picLocks noChangeAspect="1"/>
          </p:cNvPicPr>
          <p:nvPr/>
        </p:nvPicPr>
        <p:blipFill>
          <a:blip r:embed="rId1"/>
          <a:stretch>
            <a:fillRect/>
          </a:stretch>
        </p:blipFill>
        <p:spPr>
          <a:xfrm>
            <a:off x="804672" y="1444752"/>
            <a:ext cx="493776" cy="493776"/>
          </a:xfrm>
          <a:prstGeom prst="rect">
            <a:avLst/>
          </a:prstGeom>
        </p:spPr>
      </p:pic>
      <p:sp>
        <p:nvSpPr>
          <p:cNvPr id="7" name="Text 4"/>
          <p:cNvSpPr/>
          <p:nvPr/>
        </p:nvSpPr>
        <p:spPr>
          <a:xfrm>
            <a:off x="502920" y="2377440"/>
            <a:ext cx="3200400" cy="320040"/>
          </a:xfrm>
          <a:prstGeom prst="rect">
            <a:avLst/>
          </a:prstGeom>
          <a:noFill/>
          <a:ln/>
        </p:spPr>
        <p:txBody>
          <a:bodyPr wrap="square" rtlCol="0" anchor="ctr"/>
          <a:lstStyle/>
          <a:p>
            <a:pPr indent="0" marL="0">
              <a:buNone/>
            </a:pPr>
            <a:r>
              <a:rPr lang="en-US" sz="1300" b="1" dirty="0">
                <a:solidFill>
                  <a:srgbClr val="B9BCE0"/>
                </a:solidFill>
                <a:latin typeface="Segoe UI" pitchFamily="34" charset="0"/>
                <a:ea typeface="Segoe UI" pitchFamily="34" charset="-122"/>
                <a:cs typeface="Segoe UI" pitchFamily="34" charset="-120"/>
              </a:rPr>
              <a:t>Airline · Engineering</a:t>
            </a:r>
            <a:endParaRPr lang="en-US" sz="1300" dirty="0"/>
          </a:p>
        </p:txBody>
      </p:sp>
      <p:sp>
        <p:nvSpPr>
          <p:cNvPr id="8" name="Text 5"/>
          <p:cNvSpPr/>
          <p:nvPr/>
        </p:nvSpPr>
        <p:spPr>
          <a:xfrm>
            <a:off x="502920" y="2697480"/>
            <a:ext cx="3291840" cy="1325880"/>
          </a:xfrm>
          <a:prstGeom prst="rect">
            <a:avLst/>
          </a:prstGeom>
          <a:noFill/>
          <a:ln/>
        </p:spPr>
        <p:txBody>
          <a:bodyPr wrap="square" rtlCol="0" anchor="t"/>
          <a:lstStyle/>
          <a:p>
            <a:pPr indent="0" marL="0">
              <a:buNone/>
            </a:pPr>
            <a:r>
              <a:rPr lang="en-US" sz="2400" b="1" dirty="0">
                <a:solidFill>
                  <a:srgbClr val="FFFFFF"/>
                </a:solidFill>
                <a:latin typeface="Segoe UI" pitchFamily="34" charset="0"/>
                <a:ea typeface="Segoe UI" pitchFamily="34" charset="-122"/>
                <a:cs typeface="Segoe UI" pitchFamily="34" charset="-120"/>
              </a:rPr>
              <a:t>Turning the Applicability Test into a Skill: Knowing When Not to Answer</a:t>
            </a:r>
            <a:endParaRPr lang="en-US" sz="2400" dirty="0"/>
          </a:p>
        </p:txBody>
      </p:sp>
      <p:sp>
        <p:nvSpPr>
          <p:cNvPr id="9" name="Text 6"/>
          <p:cNvSpPr/>
          <p:nvPr/>
        </p:nvSpPr>
        <p:spPr>
          <a:xfrm>
            <a:off x="502920" y="4114800"/>
            <a:ext cx="3291840" cy="320040"/>
          </a:xfrm>
          <a:prstGeom prst="rect">
            <a:avLst/>
          </a:prstGeom>
          <a:noFill/>
          <a:ln/>
        </p:spPr>
        <p:txBody>
          <a:bodyPr wrap="square" rtlCol="0" anchor="ctr"/>
          <a:lstStyle/>
          <a:p>
            <a:pPr indent="0" marL="0">
              <a:buNone/>
            </a:pPr>
            <a:r>
              <a:rPr lang="en-US" sz="1300" dirty="0">
                <a:solidFill>
                  <a:srgbClr val="9FA3CC"/>
                </a:solidFill>
                <a:latin typeface="Segoe UI" pitchFamily="34" charset="0"/>
                <a:ea typeface="Segoe UI" pitchFamily="34" charset="-122"/>
                <a:cs typeface="Segoe UI" pitchFamily="34" charset="-120"/>
              </a:rPr>
              <a:t>⏱ ~20 min · Level ★★★</a:t>
            </a:r>
            <a:endParaRPr lang="en-US" sz="1300" dirty="0"/>
          </a:p>
        </p:txBody>
      </p:sp>
      <p:sp>
        <p:nvSpPr>
          <p:cNvPr id="10" name="Shape 7"/>
          <p:cNvSpPr/>
          <p:nvPr/>
        </p:nvSpPr>
        <p:spPr>
          <a:xfrm>
            <a:off x="502920" y="4572000"/>
            <a:ext cx="1517904" cy="402336"/>
          </a:xfrm>
          <a:prstGeom prst="roundRect">
            <a:avLst>
              <a:gd name="adj" fmla="val 50000"/>
            </a:avLst>
          </a:prstGeom>
          <a:solidFill>
            <a:srgbClr val="7A4DDB"/>
          </a:solidFill>
          <a:ln/>
        </p:spPr>
      </p:sp>
      <p:sp>
        <p:nvSpPr>
          <p:cNvPr id="11" name="Text 8"/>
          <p:cNvSpPr/>
          <p:nvPr/>
        </p:nvSpPr>
        <p:spPr>
          <a:xfrm>
            <a:off x="502920" y="4572000"/>
            <a:ext cx="1517904"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Custom skill</a:t>
            </a:r>
            <a:endParaRPr lang="en-US" sz="1200" dirty="0"/>
          </a:p>
        </p:txBody>
      </p:sp>
      <p:sp>
        <p:nvSpPr>
          <p:cNvPr id="12" name="Shape 9"/>
          <p:cNvSpPr/>
          <p:nvPr/>
        </p:nvSpPr>
        <p:spPr>
          <a:xfrm>
            <a:off x="2203704" y="4572000"/>
            <a:ext cx="1517904" cy="402336"/>
          </a:xfrm>
          <a:prstGeom prst="roundRect">
            <a:avLst>
              <a:gd name="adj" fmla="val 50000"/>
            </a:avLst>
          </a:prstGeom>
          <a:solidFill>
            <a:srgbClr val="6366F1"/>
          </a:solidFill>
          <a:ln/>
        </p:spPr>
      </p:sp>
      <p:sp>
        <p:nvSpPr>
          <p:cNvPr id="13" name="Text 10"/>
          <p:cNvSpPr/>
          <p:nvPr/>
        </p:nvSpPr>
        <p:spPr>
          <a:xfrm>
            <a:off x="2203704" y="4572000"/>
            <a:ext cx="1517904"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Skill Report</a:t>
            </a:r>
            <a:endParaRPr lang="en-US" sz="1200" dirty="0"/>
          </a:p>
        </p:txBody>
      </p:sp>
      <p:sp>
        <p:nvSpPr>
          <p:cNvPr id="14" name="Shape 11"/>
          <p:cNvSpPr/>
          <p:nvPr/>
        </p:nvSpPr>
        <p:spPr>
          <a:xfrm>
            <a:off x="502920" y="5074920"/>
            <a:ext cx="1417320" cy="402336"/>
          </a:xfrm>
          <a:prstGeom prst="roundRect">
            <a:avLst>
              <a:gd name="adj" fmla="val 50000"/>
            </a:avLst>
          </a:prstGeom>
          <a:solidFill>
            <a:srgbClr val="6366F1"/>
          </a:solidFill>
          <a:ln/>
        </p:spPr>
      </p:sp>
      <p:sp>
        <p:nvSpPr>
          <p:cNvPr id="15" name="Text 12"/>
          <p:cNvSpPr/>
          <p:nvPr/>
        </p:nvSpPr>
        <p:spPr>
          <a:xfrm>
            <a:off x="502920" y="5074920"/>
            <a:ext cx="1417320"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File upload</a:t>
            </a:r>
            <a:endParaRPr lang="en-US" sz="1200" dirty="0"/>
          </a:p>
        </p:txBody>
      </p:sp>
      <p:sp>
        <p:nvSpPr>
          <p:cNvPr id="16" name="Text 13"/>
          <p:cNvSpPr/>
          <p:nvPr/>
        </p:nvSpPr>
        <p:spPr>
          <a:xfrm>
            <a:off x="4526280" y="566928"/>
            <a:ext cx="7132320" cy="1819656"/>
          </a:xfrm>
          <a:prstGeom prst="rect">
            <a:avLst/>
          </a:prstGeom>
          <a:noFill/>
          <a:ln/>
        </p:spPr>
        <p:txBody>
          <a:bodyPr wrap="square" rtlCol="0" anchor="t"/>
          <a:lstStyle/>
          <a:p>
            <a:pPr indent="0" marL="0">
              <a:lnSpc>
                <a:spcPct val="130000"/>
              </a:lnSpc>
              <a:buNone/>
            </a:pPr>
            <a:r>
              <a:rPr lang="en-US" sz="1200" dirty="0">
                <a:solidFill>
                  <a:srgbClr val="D7D9F0"/>
                </a:solidFill>
                <a:latin typeface="Segoe UI" pitchFamily="34" charset="0"/>
                <a:ea typeface="Segoe UI" pitchFamily="34" charset="-122"/>
                <a:cs typeface="Segoe UI" pitchFamily="34" charset="-120"/>
              </a:rPr>
              <a:t>The test from scenario 5 runs every time a bulletin arrives, so making it a skill is obvious. But a safety-adjacent skill differs from an ordinary one in kind: when an ordinary skill is wrong the output is poor, whereas when this one is wrong, required work gets assessed as not required. So what matters here is not how elegant the trigger phrases are. It is whether the skill shuts up when the data is incomplete. You will test it with an aircraft just transferred in from another operator, with incomplete records.</a:t>
            </a:r>
            <a:endParaRPr lang="en-US" sz="1200" dirty="0"/>
          </a:p>
        </p:txBody>
      </p:sp>
      <p:sp>
        <p:nvSpPr>
          <p:cNvPr id="17" name="Text 14"/>
          <p:cNvSpPr/>
          <p:nvPr/>
        </p:nvSpPr>
        <p:spPr>
          <a:xfrm>
            <a:off x="4526280" y="2514600"/>
            <a:ext cx="7132320" cy="365760"/>
          </a:xfrm>
          <a:prstGeom prst="rect">
            <a:avLst/>
          </a:prstGeom>
          <a:noFill/>
          <a:ln/>
        </p:spPr>
        <p:txBody>
          <a:bodyPr wrap="square" rtlCol="0" anchor="ctr"/>
          <a:lstStyle/>
          <a:p>
            <a:pPr indent="0" marL="0">
              <a:buNone/>
            </a:pPr>
            <a:r>
              <a:rPr lang="en-US" sz="1500" b="1" dirty="0">
                <a:solidFill>
                  <a:srgbClr val="0B6E6E"/>
                </a:solidFill>
                <a:latin typeface="Segoe UI" pitchFamily="34" charset="0"/>
                <a:ea typeface="Segoe UI" pitchFamily="34" charset="-122"/>
                <a:cs typeface="Segoe UI" pitchFamily="34" charset="-120"/>
              </a:rPr>
              <a:t>Agentic workflow</a:t>
            </a:r>
            <a:endParaRPr lang="en-US" sz="1500" dirty="0"/>
          </a:p>
        </p:txBody>
      </p:sp>
      <p:sp>
        <p:nvSpPr>
          <p:cNvPr id="18" name="Shape 15"/>
          <p:cNvSpPr/>
          <p:nvPr/>
        </p:nvSpPr>
        <p:spPr>
          <a:xfrm>
            <a:off x="4526280" y="2971800"/>
            <a:ext cx="457200" cy="457200"/>
          </a:xfrm>
          <a:prstGeom prst="ellipse">
            <a:avLst/>
          </a:prstGeom>
          <a:solidFill>
            <a:srgbClr val="FFFFFF">
              <a:alpha val="12000"/>
            </a:srgbClr>
          </a:solidFill>
          <a:ln w="19050">
            <a:solidFill>
              <a:srgbClr val="0B6E6E"/>
            </a:solidFill>
            <a:prstDash val="solid"/>
          </a:ln>
        </p:spPr>
      </p:sp>
      <p:sp>
        <p:nvSpPr>
          <p:cNvPr id="19" name="Text 16"/>
          <p:cNvSpPr/>
          <p:nvPr/>
        </p:nvSpPr>
        <p:spPr>
          <a:xfrm>
            <a:off x="4526280" y="2971800"/>
            <a:ext cx="457200" cy="457200"/>
          </a:xfrm>
          <a:prstGeom prst="rect">
            <a:avLst/>
          </a:prstGeom>
          <a:noFill/>
          <a:ln/>
        </p:spPr>
        <p:txBody>
          <a:bodyPr wrap="square" rtlCol="0" anchor="ctr"/>
          <a:lstStyle/>
          <a:p>
            <a:pPr algn="ctr" indent="0" marL="0">
              <a:buNone/>
            </a:pPr>
            <a:r>
              <a:rPr lang="en-US" sz="1600" b="1" dirty="0">
                <a:solidFill>
                  <a:srgbClr val="0B6E6E"/>
                </a:solidFill>
                <a:latin typeface="Segoe UI" pitchFamily="34" charset="0"/>
                <a:ea typeface="Segoe UI" pitchFamily="34" charset="-122"/>
                <a:cs typeface="Segoe UI" pitchFamily="34" charset="-120"/>
              </a:rPr>
              <a:t>1</a:t>
            </a:r>
            <a:endParaRPr lang="en-US" sz="1600" dirty="0"/>
          </a:p>
        </p:txBody>
      </p:sp>
      <p:sp>
        <p:nvSpPr>
          <p:cNvPr id="20" name="Text 17"/>
          <p:cNvSpPr/>
          <p:nvPr/>
        </p:nvSpPr>
        <p:spPr>
          <a:xfrm>
            <a:off x="5166360" y="2953512"/>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Build the skill together</a:t>
            </a:r>
            <a:endParaRPr lang="en-US" sz="1600" dirty="0"/>
          </a:p>
        </p:txBody>
      </p:sp>
      <p:sp>
        <p:nvSpPr>
          <p:cNvPr id="21" name="Text 18"/>
          <p:cNvSpPr/>
          <p:nvPr/>
        </p:nvSpPr>
        <p:spPr>
          <a:xfrm>
            <a:off x="5166360" y="3319272"/>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This creates a file under Documents/Cowork/skills/ in On…</a:t>
            </a:r>
            <a:endParaRPr lang="en-US" sz="1300" dirty="0"/>
          </a:p>
        </p:txBody>
      </p:sp>
      <p:sp>
        <p:nvSpPr>
          <p:cNvPr id="22" name="Shape 19"/>
          <p:cNvSpPr/>
          <p:nvPr/>
        </p:nvSpPr>
        <p:spPr>
          <a:xfrm>
            <a:off x="4526280" y="3831336"/>
            <a:ext cx="457200" cy="457200"/>
          </a:xfrm>
          <a:prstGeom prst="ellipse">
            <a:avLst/>
          </a:prstGeom>
          <a:solidFill>
            <a:srgbClr val="FFFFFF">
              <a:alpha val="12000"/>
            </a:srgbClr>
          </a:solidFill>
          <a:ln w="19050">
            <a:solidFill>
              <a:srgbClr val="0B6E6E"/>
            </a:solidFill>
            <a:prstDash val="solid"/>
          </a:ln>
        </p:spPr>
      </p:sp>
      <p:sp>
        <p:nvSpPr>
          <p:cNvPr id="23" name="Text 20"/>
          <p:cNvSpPr/>
          <p:nvPr/>
        </p:nvSpPr>
        <p:spPr>
          <a:xfrm>
            <a:off x="4526280" y="3831336"/>
            <a:ext cx="457200" cy="457200"/>
          </a:xfrm>
          <a:prstGeom prst="rect">
            <a:avLst/>
          </a:prstGeom>
          <a:noFill/>
          <a:ln/>
        </p:spPr>
        <p:txBody>
          <a:bodyPr wrap="square" rtlCol="0" anchor="ctr"/>
          <a:lstStyle/>
          <a:p>
            <a:pPr algn="ctr" indent="0" marL="0">
              <a:buNone/>
            </a:pPr>
            <a:r>
              <a:rPr lang="en-US" sz="1600" b="1" dirty="0">
                <a:solidFill>
                  <a:srgbClr val="0B6E6E"/>
                </a:solidFill>
                <a:latin typeface="Segoe UI" pitchFamily="34" charset="0"/>
                <a:ea typeface="Segoe UI" pitchFamily="34" charset="-122"/>
                <a:cs typeface="Segoe UI" pitchFamily="34" charset="-120"/>
              </a:rPr>
              <a:t>2</a:t>
            </a:r>
            <a:endParaRPr lang="en-US" sz="1600" dirty="0"/>
          </a:p>
        </p:txBody>
      </p:sp>
      <p:sp>
        <p:nvSpPr>
          <p:cNvPr id="24" name="Text 21"/>
          <p:cNvSpPr/>
          <p:nvPr/>
        </p:nvSpPr>
        <p:spPr>
          <a:xfrm>
            <a:off x="5166360" y="3813048"/>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Read the skill report</a:t>
            </a:r>
            <a:endParaRPr lang="en-US" sz="1600" dirty="0"/>
          </a:p>
        </p:txBody>
      </p:sp>
      <p:sp>
        <p:nvSpPr>
          <p:cNvPr id="25" name="Text 22"/>
          <p:cNvSpPr/>
          <p:nvPr/>
        </p:nvSpPr>
        <p:spPr>
          <a:xfrm>
            <a:off x="5166360" y="4178808"/>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Cowork evaluates the skill automatically on creation — y…</a:t>
            </a:r>
            <a:endParaRPr lang="en-US" sz="1300" dirty="0"/>
          </a:p>
        </p:txBody>
      </p:sp>
      <p:sp>
        <p:nvSpPr>
          <p:cNvPr id="26" name="Shape 23"/>
          <p:cNvSpPr/>
          <p:nvPr/>
        </p:nvSpPr>
        <p:spPr>
          <a:xfrm>
            <a:off x="4526280" y="4690872"/>
            <a:ext cx="457200" cy="457200"/>
          </a:xfrm>
          <a:prstGeom prst="ellipse">
            <a:avLst/>
          </a:prstGeom>
          <a:solidFill>
            <a:srgbClr val="FFFFFF">
              <a:alpha val="12000"/>
            </a:srgbClr>
          </a:solidFill>
          <a:ln w="19050">
            <a:solidFill>
              <a:srgbClr val="0B6E6E"/>
            </a:solidFill>
            <a:prstDash val="solid"/>
          </a:ln>
        </p:spPr>
      </p:sp>
      <p:sp>
        <p:nvSpPr>
          <p:cNvPr id="27" name="Text 24"/>
          <p:cNvSpPr/>
          <p:nvPr/>
        </p:nvSpPr>
        <p:spPr>
          <a:xfrm>
            <a:off x="4526280" y="4690872"/>
            <a:ext cx="457200" cy="457200"/>
          </a:xfrm>
          <a:prstGeom prst="rect">
            <a:avLst/>
          </a:prstGeom>
          <a:noFill/>
          <a:ln/>
        </p:spPr>
        <p:txBody>
          <a:bodyPr wrap="square" rtlCol="0" anchor="ctr"/>
          <a:lstStyle/>
          <a:p>
            <a:pPr algn="ctr" indent="0" marL="0">
              <a:buNone/>
            </a:pPr>
            <a:r>
              <a:rPr lang="en-US" sz="1600" b="1" dirty="0">
                <a:solidFill>
                  <a:srgbClr val="0B6E6E"/>
                </a:solidFill>
                <a:latin typeface="Segoe UI" pitchFamily="34" charset="0"/>
                <a:ea typeface="Segoe UI" pitchFamily="34" charset="-122"/>
                <a:cs typeface="Segoe UI" pitchFamily="34" charset="-120"/>
              </a:rPr>
              <a:t>3</a:t>
            </a:r>
            <a:endParaRPr lang="en-US" sz="1600" dirty="0"/>
          </a:p>
        </p:txBody>
      </p:sp>
      <p:sp>
        <p:nvSpPr>
          <p:cNvPr id="28" name="Text 25"/>
          <p:cNvSpPr/>
          <p:nvPr/>
        </p:nvSpPr>
        <p:spPr>
          <a:xfrm>
            <a:off x="5166360" y="4672584"/>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 Start a new task and test it with the incomplete record</a:t>
            </a:r>
            <a:endParaRPr lang="en-US" sz="1600" dirty="0"/>
          </a:p>
        </p:txBody>
      </p:sp>
      <p:sp>
        <p:nvSpPr>
          <p:cNvPr id="29" name="Text 26"/>
          <p:cNvSpPr/>
          <p:nvPr/>
        </p:nvSpPr>
        <p:spPr>
          <a:xfrm>
            <a:off x="5166360" y="5038344"/>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 Start a new task. A skill just created cannot be call…</a:t>
            </a:r>
            <a:endParaRPr lang="en-US" sz="1300" dirty="0"/>
          </a:p>
        </p:txBody>
      </p:sp>
      <p:sp>
        <p:nvSpPr>
          <p:cNvPr id="30" name="Shape 27"/>
          <p:cNvSpPr/>
          <p:nvPr/>
        </p:nvSpPr>
        <p:spPr>
          <a:xfrm>
            <a:off x="4526280" y="5550408"/>
            <a:ext cx="457200" cy="457200"/>
          </a:xfrm>
          <a:prstGeom prst="ellipse">
            <a:avLst/>
          </a:prstGeom>
          <a:solidFill>
            <a:srgbClr val="FFFFFF">
              <a:alpha val="12000"/>
            </a:srgbClr>
          </a:solidFill>
          <a:ln w="19050">
            <a:solidFill>
              <a:srgbClr val="0B6E6E"/>
            </a:solidFill>
            <a:prstDash val="solid"/>
          </a:ln>
        </p:spPr>
      </p:sp>
      <p:sp>
        <p:nvSpPr>
          <p:cNvPr id="31" name="Text 28"/>
          <p:cNvSpPr/>
          <p:nvPr/>
        </p:nvSpPr>
        <p:spPr>
          <a:xfrm>
            <a:off x="4526280" y="5550408"/>
            <a:ext cx="457200" cy="457200"/>
          </a:xfrm>
          <a:prstGeom prst="rect">
            <a:avLst/>
          </a:prstGeom>
          <a:noFill/>
          <a:ln/>
        </p:spPr>
        <p:txBody>
          <a:bodyPr wrap="square" rtlCol="0" anchor="ctr"/>
          <a:lstStyle/>
          <a:p>
            <a:pPr algn="ctr" indent="0" marL="0">
              <a:buNone/>
            </a:pPr>
            <a:r>
              <a:rPr lang="en-US" sz="1600" b="1" dirty="0">
                <a:solidFill>
                  <a:srgbClr val="0B6E6E"/>
                </a:solidFill>
                <a:latin typeface="Segoe UI" pitchFamily="34" charset="0"/>
                <a:ea typeface="Segoe UI" pitchFamily="34" charset="-122"/>
                <a:cs typeface="Segoe UI" pitchFamily="34" charset="-120"/>
              </a:rPr>
              <a:t>4</a:t>
            </a:r>
            <a:endParaRPr lang="en-US" sz="1600" dirty="0"/>
          </a:p>
        </p:txBody>
      </p:sp>
      <p:sp>
        <p:nvSpPr>
          <p:cNvPr id="32" name="Text 29"/>
          <p:cNvSpPr/>
          <p:nvPr/>
        </p:nvSpPr>
        <p:spPr>
          <a:xfrm>
            <a:off x="5166360" y="5532120"/>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 Ask why it did not just call it applicable</a:t>
            </a:r>
            <a:endParaRPr lang="en-US" sz="1600" dirty="0"/>
          </a:p>
        </p:txBody>
      </p:sp>
      <p:sp>
        <p:nvSpPr>
          <p:cNvPr id="33" name="Text 30"/>
          <p:cNvSpPr/>
          <p:nvPr/>
        </p:nvSpPr>
        <p:spPr>
          <a:xfrm>
            <a:off x="5166360" y="5897880"/>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This question is the point of the whole scenario. Do not…</a:t>
            </a:r>
            <a:endParaRPr lang="en-US" sz="1300" dirty="0"/>
          </a:p>
        </p:txBody>
      </p:sp>
      <p:sp>
        <p:nvSpPr>
          <p:cNvPr id="34" name="Text 31"/>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8A8FB5"/>
                </a:solidFill>
                <a:latin typeface="Segoe UI" pitchFamily="34" charset="0"/>
                <a:ea typeface="Segoe UI" pitchFamily="34" charset="-122"/>
                <a:cs typeface="Segoe UI" pitchFamily="34" charset="-120"/>
              </a:rPr>
              <a:t>Microsoft 365 Copilot Cowork</a:t>
            </a:r>
            <a:endParaRPr lang="en-US" sz="900" dirty="0"/>
          </a:p>
        </p:txBody>
      </p:sp>
      <p:sp>
        <p:nvSpPr>
          <p:cNvPr id="35" name="Text 32"/>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8A8FB5"/>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0B6E6E"/>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0B6E6E"/>
                </a:solidFill>
                <a:latin typeface="Segoe UI" pitchFamily="34" charset="0"/>
                <a:ea typeface="Segoe UI" pitchFamily="34" charset="-122"/>
                <a:cs typeface="Segoe UI" pitchFamily="34" charset="-120"/>
              </a:rPr>
              <a:t>Scenario 07 · Live demo</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What Cowork does, and what it produces</a:t>
            </a:r>
            <a:endParaRPr lang="en-US" sz="3000" dirty="0"/>
          </a:p>
        </p:txBody>
      </p:sp>
      <p:sp>
        <p:nvSpPr>
          <p:cNvPr id="5" name="Shape 3"/>
          <p:cNvSpPr/>
          <p:nvPr/>
        </p:nvSpPr>
        <p:spPr>
          <a:xfrm>
            <a:off x="137754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6" name="Image 0" descr="C:\temp\CoworkLab\v3\_working\screenshots\air7_01_build_en.png">    </p:cNvPr>
          <p:cNvPicPr>
            <a:picLocks noChangeAspect="1"/>
          </p:cNvPicPr>
          <p:nvPr/>
        </p:nvPicPr>
        <p:blipFill>
          <a:blip r:embed="rId1"/>
          <a:stretch>
            <a:fillRect/>
          </a:stretch>
        </p:blipFill>
        <p:spPr>
          <a:xfrm>
            <a:off x="1432408" y="1828800"/>
            <a:ext cx="4434840" cy="2904283"/>
          </a:xfrm>
          <a:prstGeom prst="rect">
            <a:avLst/>
          </a:prstGeom>
        </p:spPr>
      </p:pic>
      <p:sp>
        <p:nvSpPr>
          <p:cNvPr id="7" name="Text 4"/>
          <p:cNvSpPr/>
          <p:nvPr/>
        </p:nvSpPr>
        <p:spPr>
          <a:xfrm>
            <a:off x="1432408" y="4824523"/>
            <a:ext cx="4434840" cy="292608"/>
          </a:xfrm>
          <a:prstGeom prst="rect">
            <a:avLst/>
          </a:prstGeom>
          <a:noFill/>
          <a:ln/>
        </p:spPr>
        <p:txBody>
          <a:bodyPr wrap="square" rtlCol="0" anchor="ctr"/>
          <a:lstStyle/>
          <a:p>
            <a:pPr algn="ctr" indent="0" marL="0">
              <a:buNone/>
            </a:pPr>
            <a:r>
              <a:rPr lang="en-US" sz="1350" b="1" dirty="0">
                <a:solidFill>
                  <a:srgbClr val="0B6E6E"/>
                </a:solidFill>
                <a:latin typeface="Segoe UI" pitchFamily="34" charset="0"/>
                <a:ea typeface="Segoe UI" pitchFamily="34" charset="-122"/>
                <a:cs typeface="Segoe UI" pitchFamily="34" charset="-120"/>
              </a:rPr>
              <a:t>① Your input and prompt</a:t>
            </a:r>
            <a:endParaRPr lang="en-US" sz="1350" dirty="0"/>
          </a:p>
        </p:txBody>
      </p:sp>
      <p:sp>
        <p:nvSpPr>
          <p:cNvPr id="8" name="Shape 5"/>
          <p:cNvSpPr/>
          <p:nvPr/>
        </p:nvSpPr>
        <p:spPr>
          <a:xfrm>
            <a:off x="626958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9" name="Image 1" descr="C:\temp\CoworkLab\v3\_working\screenshots\air7_04_why_en.png">    </p:cNvPr>
          <p:cNvPicPr>
            <a:picLocks noChangeAspect="1"/>
          </p:cNvPicPr>
          <p:nvPr/>
        </p:nvPicPr>
        <p:blipFill>
          <a:blip r:embed="rId2"/>
          <a:stretch>
            <a:fillRect/>
          </a:stretch>
        </p:blipFill>
        <p:spPr>
          <a:xfrm>
            <a:off x="6324448" y="1828800"/>
            <a:ext cx="4434840" cy="2904283"/>
          </a:xfrm>
          <a:prstGeom prst="rect">
            <a:avLst/>
          </a:prstGeom>
        </p:spPr>
      </p:pic>
      <p:sp>
        <p:nvSpPr>
          <p:cNvPr id="10" name="Text 6"/>
          <p:cNvSpPr/>
          <p:nvPr/>
        </p:nvSpPr>
        <p:spPr>
          <a:xfrm>
            <a:off x="6324448" y="4824523"/>
            <a:ext cx="4434840" cy="292608"/>
          </a:xfrm>
          <a:prstGeom prst="rect">
            <a:avLst/>
          </a:prstGeom>
          <a:noFill/>
          <a:ln/>
        </p:spPr>
        <p:txBody>
          <a:bodyPr wrap="square" rtlCol="0" anchor="ctr"/>
          <a:lstStyle/>
          <a:p>
            <a:pPr algn="ctr" indent="0" marL="0">
              <a:buNone/>
            </a:pPr>
            <a:r>
              <a:rPr lang="en-US" sz="1350" b="1" dirty="0">
                <a:solidFill>
                  <a:srgbClr val="0B6E6E"/>
                </a:solidFill>
                <a:latin typeface="Segoe UI" pitchFamily="34" charset="0"/>
                <a:ea typeface="Segoe UI" pitchFamily="34" charset="-122"/>
                <a:cs typeface="Segoe UI" pitchFamily="34" charset="-120"/>
              </a:rPr>
              <a:t>② The result</a:t>
            </a:r>
            <a:endParaRPr lang="en-US" sz="1350" dirty="0"/>
          </a:p>
        </p:txBody>
      </p:sp>
      <p:sp>
        <p:nvSpPr>
          <p:cNvPr id="11" name="Shape 7"/>
          <p:cNvSpPr/>
          <p:nvPr/>
        </p:nvSpPr>
        <p:spPr>
          <a:xfrm>
            <a:off x="640080" y="5226859"/>
            <a:ext cx="10911535" cy="1143000"/>
          </a:xfrm>
          <a:prstGeom prst="rect">
            <a:avLst/>
          </a:prstGeom>
          <a:solidFill>
            <a:srgbClr val="FFFFFF"/>
          </a:solidFill>
          <a:ln w="12700">
            <a:solidFill>
              <a:srgbClr val="E4E7F2"/>
            </a:solidFill>
            <a:prstDash val="solid"/>
          </a:ln>
        </p:spPr>
      </p:sp>
      <p:sp>
        <p:nvSpPr>
          <p:cNvPr id="12" name="Shape 8"/>
          <p:cNvSpPr/>
          <p:nvPr/>
        </p:nvSpPr>
        <p:spPr>
          <a:xfrm>
            <a:off x="640080" y="5226859"/>
            <a:ext cx="91440" cy="1143000"/>
          </a:xfrm>
          <a:prstGeom prst="rect">
            <a:avLst/>
          </a:prstGeom>
          <a:solidFill>
            <a:srgbClr val="0B6E6E"/>
          </a:solidFill>
          <a:ln/>
        </p:spPr>
      </p:sp>
      <p:sp>
        <p:nvSpPr>
          <p:cNvPr id="13" name="Text 9"/>
          <p:cNvSpPr/>
          <p:nvPr/>
        </p:nvSpPr>
        <p:spPr>
          <a:xfrm>
            <a:off x="914400" y="5336587"/>
            <a:ext cx="1783080" cy="320040"/>
          </a:xfrm>
          <a:prstGeom prst="rect">
            <a:avLst/>
          </a:prstGeom>
          <a:noFill/>
          <a:ln/>
        </p:spPr>
        <p:txBody>
          <a:bodyPr wrap="square" rtlCol="0" anchor="ctr"/>
          <a:lstStyle/>
          <a:p>
            <a:pPr indent="0" marL="0">
              <a:buNone/>
            </a:pPr>
            <a:r>
              <a:rPr lang="en-US" sz="1400" b="1" dirty="0">
                <a:solidFill>
                  <a:srgbClr val="1E2235"/>
                </a:solidFill>
                <a:latin typeface="Segoe UI" pitchFamily="34" charset="0"/>
                <a:ea typeface="Segoe UI" pitchFamily="34" charset="-122"/>
                <a:cs typeface="Segoe UI" pitchFamily="34" charset="-120"/>
              </a:rPr>
              <a:t>Check the output</a:t>
            </a:r>
            <a:endParaRPr lang="en-US" sz="1400" dirty="0"/>
          </a:p>
        </p:txBody>
      </p:sp>
      <p:pic>
        <p:nvPicPr>
          <p:cNvPr id="14" name="Image 2" descr="preencoded.png">    </p:cNvPr>
          <p:cNvPicPr>
            <a:picLocks noChangeAspect="1"/>
          </p:cNvPicPr>
          <p:nvPr/>
        </p:nvPicPr>
        <p:blipFill>
          <a:blip r:embed="rId3"/>
          <a:stretch>
            <a:fillRect/>
          </a:stretch>
        </p:blipFill>
        <p:spPr>
          <a:xfrm>
            <a:off x="2880360" y="5373163"/>
            <a:ext cx="182880" cy="182880"/>
          </a:xfrm>
          <a:prstGeom prst="rect">
            <a:avLst/>
          </a:prstGeom>
        </p:spPr>
      </p:pic>
      <p:sp>
        <p:nvSpPr>
          <p:cNvPr id="15" name="Text 10"/>
          <p:cNvSpPr/>
          <p:nvPr/>
        </p:nvSpPr>
        <p:spPr>
          <a:xfrm>
            <a:off x="3154680" y="5318299"/>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The skill was created and saved under Documents/Cowork/skills/ in OneDrive</a:t>
            </a:r>
            <a:endParaRPr lang="en-US" sz="1300" dirty="0"/>
          </a:p>
        </p:txBody>
      </p:sp>
      <p:pic>
        <p:nvPicPr>
          <p:cNvPr id="16" name="Image 3" descr="preencoded.png">    </p:cNvPr>
          <p:cNvPicPr>
            <a:picLocks noChangeAspect="1"/>
          </p:cNvPicPr>
          <p:nvPr/>
        </p:nvPicPr>
        <p:blipFill>
          <a:blip r:embed="rId4"/>
          <a:stretch>
            <a:fillRect/>
          </a:stretch>
        </p:blipFill>
        <p:spPr>
          <a:xfrm>
            <a:off x="2880360" y="5711491"/>
            <a:ext cx="182880" cy="182880"/>
          </a:xfrm>
          <a:prstGeom prst="rect">
            <a:avLst/>
          </a:prstGeom>
        </p:spPr>
      </p:pic>
      <p:sp>
        <p:nvSpPr>
          <p:cNvPr id="17" name="Text 11"/>
          <p:cNvSpPr/>
          <p:nvPr/>
        </p:nvSpPr>
        <p:spPr>
          <a:xfrm>
            <a:off x="3154680" y="5656627"/>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The skill states the decision sequence and keeps the three steps in order</a:t>
            </a:r>
            <a:endParaRPr lang="en-US" sz="1300" dirty="0"/>
          </a:p>
        </p:txBody>
      </p:sp>
      <p:pic>
        <p:nvPicPr>
          <p:cNvPr id="18" name="Image 4" descr="preencoded.png">    </p:cNvPr>
          <p:cNvPicPr>
            <a:picLocks noChangeAspect="1"/>
          </p:cNvPicPr>
          <p:nvPr/>
        </p:nvPicPr>
        <p:blipFill>
          <a:blip r:embed="rId5"/>
          <a:stretch>
            <a:fillRect/>
          </a:stretch>
        </p:blipFill>
        <p:spPr>
          <a:xfrm>
            <a:off x="2880360" y="6049819"/>
            <a:ext cx="182880" cy="182880"/>
          </a:xfrm>
          <a:prstGeom prst="rect">
            <a:avLst/>
          </a:prstGeom>
        </p:spPr>
      </p:pic>
      <p:sp>
        <p:nvSpPr>
          <p:cNvPr id="19" name="Text 12"/>
          <p:cNvSpPr/>
          <p:nvPr/>
        </p:nvSpPr>
        <p:spPr>
          <a:xfrm>
            <a:off x="3154680" y="5994955"/>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The skill states that the basis is the installed component serial and the MSN must not drive it</a:t>
            </a:r>
            <a:endParaRPr lang="en-US" sz="1300" dirty="0"/>
          </a:p>
        </p:txBody>
      </p:sp>
      <p:sp>
        <p:nvSpPr>
          <p:cNvPr id="20" name="Text 13"/>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21" name="Text 14"/>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6366F1"/>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6366F1"/>
                </a:solidFill>
                <a:latin typeface="Segoe UI" pitchFamily="34" charset="0"/>
                <a:ea typeface="Segoe UI" pitchFamily="34" charset="-122"/>
                <a:cs typeface="Segoe UI" pitchFamily="34" charset="-120"/>
              </a:rPr>
              <a:t>MAKE IT YOURS</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Extend it to your own work</a:t>
            </a:r>
            <a:endParaRPr lang="en-US" sz="3000" dirty="0"/>
          </a:p>
        </p:txBody>
      </p:sp>
      <p:sp>
        <p:nvSpPr>
          <p:cNvPr id="5" name="Shape 3"/>
          <p:cNvSpPr/>
          <p:nvPr/>
        </p:nvSpPr>
        <p:spPr>
          <a:xfrm>
            <a:off x="640080" y="1783080"/>
            <a:ext cx="10911535" cy="549946"/>
          </a:xfrm>
          <a:prstGeom prst="rect">
            <a:avLst/>
          </a:prstGeom>
          <a:solidFill>
            <a:srgbClr val="FFFFFF"/>
          </a:solidFill>
          <a:ln w="12700">
            <a:solidFill>
              <a:srgbClr val="E4E7F2"/>
            </a:solidFill>
            <a:prstDash val="solid"/>
          </a:ln>
        </p:spPr>
      </p:sp>
      <p:sp>
        <p:nvSpPr>
          <p:cNvPr id="6" name="Shape 4"/>
          <p:cNvSpPr/>
          <p:nvPr/>
        </p:nvSpPr>
        <p:spPr>
          <a:xfrm>
            <a:off x="868680" y="1811165"/>
            <a:ext cx="493776" cy="493776"/>
          </a:xfrm>
          <a:prstGeom prst="ellipse">
            <a:avLst/>
          </a:prstGeom>
          <a:solidFill>
            <a:srgbClr val="0E2A47"/>
          </a:solidFill>
          <a:ln/>
        </p:spPr>
      </p:sp>
      <p:pic>
        <p:nvPicPr>
          <p:cNvPr id="7" name="Image 0" descr="preencoded.png">    </p:cNvPr>
          <p:cNvPicPr>
            <a:picLocks noChangeAspect="1"/>
          </p:cNvPicPr>
          <p:nvPr/>
        </p:nvPicPr>
        <p:blipFill>
          <a:blip r:embed="rId1"/>
          <a:stretch>
            <a:fillRect/>
          </a:stretch>
        </p:blipFill>
        <p:spPr>
          <a:xfrm>
            <a:off x="996696" y="1939181"/>
            <a:ext cx="237744" cy="237744"/>
          </a:xfrm>
          <a:prstGeom prst="rect">
            <a:avLst/>
          </a:prstGeom>
        </p:spPr>
      </p:pic>
      <p:sp>
        <p:nvSpPr>
          <p:cNvPr id="8" name="Text 5"/>
          <p:cNvSpPr/>
          <p:nvPr/>
        </p:nvSpPr>
        <p:spPr>
          <a:xfrm>
            <a:off x="1554480" y="1819656"/>
            <a:ext cx="2286000" cy="476794"/>
          </a:xfrm>
          <a:prstGeom prst="rect">
            <a:avLst/>
          </a:prstGeom>
          <a:noFill/>
          <a:ln/>
        </p:spPr>
        <p:txBody>
          <a:bodyPr wrap="square" rtlCol="0" anchor="ctr"/>
          <a:lstStyle/>
          <a:p>
            <a:pPr indent="0" marL="0">
              <a:buNone/>
            </a:pPr>
            <a:r>
              <a:rPr lang="en-US" sz="1300" b="1" dirty="0">
                <a:solidFill>
                  <a:srgbClr val="0E2A47"/>
                </a:solidFill>
                <a:latin typeface="Segoe UI" pitchFamily="34" charset="0"/>
                <a:ea typeface="Segoe UI" pitchFamily="34" charset="-122"/>
                <a:cs typeface="Segoe UI" pitchFamily="34" charset="-120"/>
              </a:rPr>
              <a:t>Airline · Engineering</a:t>
            </a:r>
            <a:endParaRPr lang="en-US" sz="1300" dirty="0"/>
          </a:p>
        </p:txBody>
      </p:sp>
      <p:sp>
        <p:nvSpPr>
          <p:cNvPr id="9" name="Text 6"/>
          <p:cNvSpPr/>
          <p:nvPr/>
        </p:nvSpPr>
        <p:spPr>
          <a:xfrm>
            <a:off x="3749040" y="1819656"/>
            <a:ext cx="7619695" cy="476794"/>
          </a:xfrm>
          <a:prstGeom prst="rect">
            <a:avLst/>
          </a:prstGeom>
          <a:noFill/>
          <a:ln/>
        </p:spPr>
        <p:txBody>
          <a:bodyPr wrap="square" rtlCol="0" anchor="ctr"/>
          <a:lstStyle/>
          <a:p>
            <a:pPr indent="0" marL="0">
              <a:lnSpc>
                <a:spcPct val="110000"/>
              </a:lnSpc>
              <a:buNone/>
            </a:pPr>
            <a:r>
              <a:rPr lang="en-US" sz="1250" dirty="0">
                <a:solidFill>
                  <a:srgbClr val="1E2235"/>
                </a:solidFill>
                <a:latin typeface="Segoe UI" pitchFamily="34" charset="0"/>
                <a:ea typeface="Segoe UI" pitchFamily="34" charset="-122"/>
                <a:cs typeface="Segoe UI" pitchFamily="34" charset="-120"/>
              </a:rPr>
              <a:t>💡 Double one tail's daily utilisation and see whether the whole ranking flips.</a:t>
            </a:r>
            <a:endParaRPr lang="en-US" sz="1250" dirty="0"/>
          </a:p>
        </p:txBody>
      </p:sp>
      <p:sp>
        <p:nvSpPr>
          <p:cNvPr id="10" name="Shape 7"/>
          <p:cNvSpPr/>
          <p:nvPr/>
        </p:nvSpPr>
        <p:spPr>
          <a:xfrm>
            <a:off x="640080" y="2442754"/>
            <a:ext cx="10911535" cy="549946"/>
          </a:xfrm>
          <a:prstGeom prst="rect">
            <a:avLst/>
          </a:prstGeom>
          <a:solidFill>
            <a:srgbClr val="FFFFFF"/>
          </a:solidFill>
          <a:ln w="12700">
            <a:solidFill>
              <a:srgbClr val="E4E7F2"/>
            </a:solidFill>
            <a:prstDash val="solid"/>
          </a:ln>
        </p:spPr>
      </p:sp>
      <p:sp>
        <p:nvSpPr>
          <p:cNvPr id="11" name="Shape 8"/>
          <p:cNvSpPr/>
          <p:nvPr/>
        </p:nvSpPr>
        <p:spPr>
          <a:xfrm>
            <a:off x="868680" y="2470839"/>
            <a:ext cx="493776" cy="493776"/>
          </a:xfrm>
          <a:prstGeom prst="ellipse">
            <a:avLst/>
          </a:prstGeom>
          <a:solidFill>
            <a:srgbClr val="0F5132"/>
          </a:solidFill>
          <a:ln/>
        </p:spPr>
      </p:sp>
      <p:pic>
        <p:nvPicPr>
          <p:cNvPr id="12" name="Image 1" descr="preencoded.png">    </p:cNvPr>
          <p:cNvPicPr>
            <a:picLocks noChangeAspect="1"/>
          </p:cNvPicPr>
          <p:nvPr/>
        </p:nvPicPr>
        <p:blipFill>
          <a:blip r:embed="rId2"/>
          <a:stretch>
            <a:fillRect/>
          </a:stretch>
        </p:blipFill>
        <p:spPr>
          <a:xfrm>
            <a:off x="996696" y="2598855"/>
            <a:ext cx="237744" cy="237744"/>
          </a:xfrm>
          <a:prstGeom prst="rect">
            <a:avLst/>
          </a:prstGeom>
        </p:spPr>
      </p:pic>
      <p:sp>
        <p:nvSpPr>
          <p:cNvPr id="13" name="Text 9"/>
          <p:cNvSpPr/>
          <p:nvPr/>
        </p:nvSpPr>
        <p:spPr>
          <a:xfrm>
            <a:off x="1554480" y="2479330"/>
            <a:ext cx="2286000" cy="476794"/>
          </a:xfrm>
          <a:prstGeom prst="rect">
            <a:avLst/>
          </a:prstGeom>
          <a:noFill/>
          <a:ln/>
        </p:spPr>
        <p:txBody>
          <a:bodyPr wrap="square" rtlCol="0" anchor="ctr"/>
          <a:lstStyle/>
          <a:p>
            <a:pPr indent="0" marL="0">
              <a:buNone/>
            </a:pPr>
            <a:r>
              <a:rPr lang="en-US" sz="1300" b="1" dirty="0">
                <a:solidFill>
                  <a:srgbClr val="0F5132"/>
                </a:solidFill>
                <a:latin typeface="Segoe UI" pitchFamily="34" charset="0"/>
                <a:ea typeface="Segoe UI" pitchFamily="34" charset="-122"/>
                <a:cs typeface="Segoe UI" pitchFamily="34" charset="-120"/>
              </a:rPr>
              <a:t>Airline · Engineering</a:t>
            </a:r>
            <a:endParaRPr lang="en-US" sz="1300" dirty="0"/>
          </a:p>
        </p:txBody>
      </p:sp>
      <p:sp>
        <p:nvSpPr>
          <p:cNvPr id="14" name="Text 10"/>
          <p:cNvSpPr/>
          <p:nvPr/>
        </p:nvSpPr>
        <p:spPr>
          <a:xfrm>
            <a:off x="3749040" y="2479330"/>
            <a:ext cx="7619695" cy="476794"/>
          </a:xfrm>
          <a:prstGeom prst="rect">
            <a:avLst/>
          </a:prstGeom>
          <a:noFill/>
          <a:ln/>
        </p:spPr>
        <p:txBody>
          <a:bodyPr wrap="square" rtlCol="0" anchor="ctr"/>
          <a:lstStyle/>
          <a:p>
            <a:pPr indent="0" marL="0">
              <a:lnSpc>
                <a:spcPct val="110000"/>
              </a:lnSpc>
              <a:buNone/>
            </a:pPr>
            <a:r>
              <a:rPr lang="en-US" sz="1250" dirty="0">
                <a:solidFill>
                  <a:srgbClr val="1E2235"/>
                </a:solidFill>
                <a:latin typeface="Segoe UI" pitchFamily="34" charset="0"/>
                <a:ea typeface="Segoe UI" pitchFamily="34" charset="-122"/>
                <a:cs typeface="Segoe UI" pitchFamily="34" charset="-120"/>
              </a:rPr>
              <a:t>💡 Mark the C item as not yet extended and see whether the conclusion flips.</a:t>
            </a:r>
            <a:endParaRPr lang="en-US" sz="1250" dirty="0"/>
          </a:p>
        </p:txBody>
      </p:sp>
      <p:sp>
        <p:nvSpPr>
          <p:cNvPr id="15" name="Shape 11"/>
          <p:cNvSpPr/>
          <p:nvPr/>
        </p:nvSpPr>
        <p:spPr>
          <a:xfrm>
            <a:off x="640080" y="3102429"/>
            <a:ext cx="10911535" cy="549946"/>
          </a:xfrm>
          <a:prstGeom prst="rect">
            <a:avLst/>
          </a:prstGeom>
          <a:solidFill>
            <a:srgbClr val="FFFFFF"/>
          </a:solidFill>
          <a:ln w="12700">
            <a:solidFill>
              <a:srgbClr val="E4E7F2"/>
            </a:solidFill>
            <a:prstDash val="solid"/>
          </a:ln>
        </p:spPr>
      </p:sp>
      <p:sp>
        <p:nvSpPr>
          <p:cNvPr id="16" name="Shape 12"/>
          <p:cNvSpPr/>
          <p:nvPr/>
        </p:nvSpPr>
        <p:spPr>
          <a:xfrm>
            <a:off x="868680" y="3130514"/>
            <a:ext cx="493776" cy="493776"/>
          </a:xfrm>
          <a:prstGeom prst="ellipse">
            <a:avLst/>
          </a:prstGeom>
          <a:solidFill>
            <a:srgbClr val="6B3FA0"/>
          </a:solidFill>
          <a:ln/>
        </p:spPr>
      </p:sp>
      <p:pic>
        <p:nvPicPr>
          <p:cNvPr id="17" name="Image 2" descr="preencoded.png">    </p:cNvPr>
          <p:cNvPicPr>
            <a:picLocks noChangeAspect="1"/>
          </p:cNvPicPr>
          <p:nvPr/>
        </p:nvPicPr>
        <p:blipFill>
          <a:blip r:embed="rId3"/>
          <a:stretch>
            <a:fillRect/>
          </a:stretch>
        </p:blipFill>
        <p:spPr>
          <a:xfrm>
            <a:off x="996696" y="3258530"/>
            <a:ext cx="237744" cy="237744"/>
          </a:xfrm>
          <a:prstGeom prst="rect">
            <a:avLst/>
          </a:prstGeom>
        </p:spPr>
      </p:pic>
      <p:sp>
        <p:nvSpPr>
          <p:cNvPr id="18" name="Text 13"/>
          <p:cNvSpPr/>
          <p:nvPr/>
        </p:nvSpPr>
        <p:spPr>
          <a:xfrm>
            <a:off x="1554480" y="3139005"/>
            <a:ext cx="2286000" cy="476794"/>
          </a:xfrm>
          <a:prstGeom prst="rect">
            <a:avLst/>
          </a:prstGeom>
          <a:noFill/>
          <a:ln/>
        </p:spPr>
        <p:txBody>
          <a:bodyPr wrap="square" rtlCol="0" anchor="ctr"/>
          <a:lstStyle/>
          <a:p>
            <a:pPr indent="0" marL="0">
              <a:buNone/>
            </a:pPr>
            <a:r>
              <a:rPr lang="en-US" sz="1300" b="1" dirty="0">
                <a:solidFill>
                  <a:srgbClr val="6B3FA0"/>
                </a:solidFill>
                <a:latin typeface="Segoe UI" pitchFamily="34" charset="0"/>
                <a:ea typeface="Segoe UI" pitchFamily="34" charset="-122"/>
                <a:cs typeface="Segoe UI" pitchFamily="34" charset="-120"/>
              </a:rPr>
              <a:t>Airline · Engineering</a:t>
            </a:r>
            <a:endParaRPr lang="en-US" sz="1300" dirty="0"/>
          </a:p>
        </p:txBody>
      </p:sp>
      <p:sp>
        <p:nvSpPr>
          <p:cNvPr id="19" name="Text 14"/>
          <p:cNvSpPr/>
          <p:nvPr/>
        </p:nvSpPr>
        <p:spPr>
          <a:xfrm>
            <a:off x="3749040" y="3139005"/>
            <a:ext cx="7619695" cy="476794"/>
          </a:xfrm>
          <a:prstGeom prst="rect">
            <a:avLst/>
          </a:prstGeom>
          <a:noFill/>
          <a:ln/>
        </p:spPr>
        <p:txBody>
          <a:bodyPr wrap="square" rtlCol="0" anchor="ctr"/>
          <a:lstStyle/>
          <a:p>
            <a:pPr indent="0" marL="0">
              <a:lnSpc>
                <a:spcPct val="110000"/>
              </a:lnSpc>
              <a:buNone/>
            </a:pPr>
            <a:r>
              <a:rPr lang="en-US" sz="1250" dirty="0">
                <a:solidFill>
                  <a:srgbClr val="1E2235"/>
                </a:solidFill>
                <a:latin typeface="Segoe UI" pitchFamily="34" charset="0"/>
                <a:ea typeface="Segoe UI" pitchFamily="34" charset="-122"/>
                <a:cs typeface="Segoe UI" pitchFamily="34" charset="-120"/>
              </a:rPr>
              <a:t>💡 Move the hangar block two weeks earlier and see how the three verdicts change.</a:t>
            </a:r>
            <a:endParaRPr lang="en-US" sz="1250" dirty="0"/>
          </a:p>
        </p:txBody>
      </p:sp>
      <p:sp>
        <p:nvSpPr>
          <p:cNvPr id="20" name="Shape 15"/>
          <p:cNvSpPr/>
          <p:nvPr/>
        </p:nvSpPr>
        <p:spPr>
          <a:xfrm>
            <a:off x="640080" y="3762103"/>
            <a:ext cx="10911535" cy="549946"/>
          </a:xfrm>
          <a:prstGeom prst="rect">
            <a:avLst/>
          </a:prstGeom>
          <a:solidFill>
            <a:srgbClr val="FFFFFF"/>
          </a:solidFill>
          <a:ln w="12700">
            <a:solidFill>
              <a:srgbClr val="E4E7F2"/>
            </a:solidFill>
            <a:prstDash val="solid"/>
          </a:ln>
        </p:spPr>
      </p:sp>
      <p:sp>
        <p:nvSpPr>
          <p:cNvPr id="21" name="Shape 16"/>
          <p:cNvSpPr/>
          <p:nvPr/>
        </p:nvSpPr>
        <p:spPr>
          <a:xfrm>
            <a:off x="868680" y="3790188"/>
            <a:ext cx="493776" cy="493776"/>
          </a:xfrm>
          <a:prstGeom prst="ellipse">
            <a:avLst/>
          </a:prstGeom>
          <a:solidFill>
            <a:srgbClr val="B42318"/>
          </a:solidFill>
          <a:ln/>
        </p:spPr>
      </p:sp>
      <p:pic>
        <p:nvPicPr>
          <p:cNvPr id="22" name="Image 3" descr="preencoded.png">    </p:cNvPr>
          <p:cNvPicPr>
            <a:picLocks noChangeAspect="1"/>
          </p:cNvPicPr>
          <p:nvPr/>
        </p:nvPicPr>
        <p:blipFill>
          <a:blip r:embed="rId4"/>
          <a:stretch>
            <a:fillRect/>
          </a:stretch>
        </p:blipFill>
        <p:spPr>
          <a:xfrm>
            <a:off x="996696" y="3918204"/>
            <a:ext cx="237744" cy="237744"/>
          </a:xfrm>
          <a:prstGeom prst="rect">
            <a:avLst/>
          </a:prstGeom>
        </p:spPr>
      </p:pic>
      <p:sp>
        <p:nvSpPr>
          <p:cNvPr id="23" name="Text 17"/>
          <p:cNvSpPr/>
          <p:nvPr/>
        </p:nvSpPr>
        <p:spPr>
          <a:xfrm>
            <a:off x="1554480" y="3798679"/>
            <a:ext cx="2286000" cy="476794"/>
          </a:xfrm>
          <a:prstGeom prst="rect">
            <a:avLst/>
          </a:prstGeom>
          <a:noFill/>
          <a:ln/>
        </p:spPr>
        <p:txBody>
          <a:bodyPr wrap="square" rtlCol="0" anchor="ctr"/>
          <a:lstStyle/>
          <a:p>
            <a:pPr indent="0" marL="0">
              <a:buNone/>
            </a:pPr>
            <a:r>
              <a:rPr lang="en-US" sz="1300" b="1" dirty="0">
                <a:solidFill>
                  <a:srgbClr val="B42318"/>
                </a:solidFill>
                <a:latin typeface="Segoe UI" pitchFamily="34" charset="0"/>
                <a:ea typeface="Segoe UI" pitchFamily="34" charset="-122"/>
                <a:cs typeface="Segoe UI" pitchFamily="34" charset="-120"/>
              </a:rPr>
              <a:t>Airline · Engineering</a:t>
            </a:r>
            <a:endParaRPr lang="en-US" sz="1300" dirty="0"/>
          </a:p>
        </p:txBody>
      </p:sp>
      <p:sp>
        <p:nvSpPr>
          <p:cNvPr id="24" name="Text 18"/>
          <p:cNvSpPr/>
          <p:nvPr/>
        </p:nvSpPr>
        <p:spPr>
          <a:xfrm>
            <a:off x="3749040" y="3798679"/>
            <a:ext cx="7619695" cy="476794"/>
          </a:xfrm>
          <a:prstGeom prst="rect">
            <a:avLst/>
          </a:prstGeom>
          <a:noFill/>
          <a:ln/>
        </p:spPr>
        <p:txBody>
          <a:bodyPr wrap="square" rtlCol="0" anchor="ctr"/>
          <a:lstStyle/>
          <a:p>
            <a:pPr indent="0" marL="0">
              <a:lnSpc>
                <a:spcPct val="110000"/>
              </a:lnSpc>
              <a:buNone/>
            </a:pPr>
            <a:r>
              <a:rPr lang="en-US" sz="1250" dirty="0">
                <a:solidFill>
                  <a:srgbClr val="1E2235"/>
                </a:solidFill>
                <a:latin typeface="Segoe UI" pitchFamily="34" charset="0"/>
                <a:ea typeface="Segoe UI" pitchFamily="34" charset="-122"/>
                <a:cs typeface="Segoe UI" pitchFamily="34" charset="-120"/>
              </a:rPr>
              <a:t>💡 Reduce the consumed excursion by ten hours and see whether the breach disappears.</a:t>
            </a:r>
            <a:endParaRPr lang="en-US" sz="1250" dirty="0"/>
          </a:p>
        </p:txBody>
      </p:sp>
      <p:sp>
        <p:nvSpPr>
          <p:cNvPr id="25" name="Shape 19"/>
          <p:cNvSpPr/>
          <p:nvPr/>
        </p:nvSpPr>
        <p:spPr>
          <a:xfrm>
            <a:off x="640080" y="4421777"/>
            <a:ext cx="10911535" cy="549946"/>
          </a:xfrm>
          <a:prstGeom prst="rect">
            <a:avLst/>
          </a:prstGeom>
          <a:solidFill>
            <a:srgbClr val="FFFFFF"/>
          </a:solidFill>
          <a:ln w="12700">
            <a:solidFill>
              <a:srgbClr val="E4E7F2"/>
            </a:solidFill>
            <a:prstDash val="solid"/>
          </a:ln>
        </p:spPr>
      </p:sp>
      <p:sp>
        <p:nvSpPr>
          <p:cNvPr id="26" name="Shape 20"/>
          <p:cNvSpPr/>
          <p:nvPr/>
        </p:nvSpPr>
        <p:spPr>
          <a:xfrm>
            <a:off x="868680" y="4449862"/>
            <a:ext cx="493776" cy="493776"/>
          </a:xfrm>
          <a:prstGeom prst="ellipse">
            <a:avLst/>
          </a:prstGeom>
          <a:solidFill>
            <a:srgbClr val="1F4E79"/>
          </a:solidFill>
          <a:ln/>
        </p:spPr>
      </p:sp>
      <p:pic>
        <p:nvPicPr>
          <p:cNvPr id="27" name="Image 4" descr="preencoded.png">    </p:cNvPr>
          <p:cNvPicPr>
            <a:picLocks noChangeAspect="1"/>
          </p:cNvPicPr>
          <p:nvPr/>
        </p:nvPicPr>
        <p:blipFill>
          <a:blip r:embed="rId5"/>
          <a:stretch>
            <a:fillRect/>
          </a:stretch>
        </p:blipFill>
        <p:spPr>
          <a:xfrm>
            <a:off x="996696" y="4577878"/>
            <a:ext cx="237744" cy="237744"/>
          </a:xfrm>
          <a:prstGeom prst="rect">
            <a:avLst/>
          </a:prstGeom>
        </p:spPr>
      </p:pic>
      <p:sp>
        <p:nvSpPr>
          <p:cNvPr id="28" name="Text 21"/>
          <p:cNvSpPr/>
          <p:nvPr/>
        </p:nvSpPr>
        <p:spPr>
          <a:xfrm>
            <a:off x="1554480" y="4458353"/>
            <a:ext cx="2286000" cy="476794"/>
          </a:xfrm>
          <a:prstGeom prst="rect">
            <a:avLst/>
          </a:prstGeom>
          <a:noFill/>
          <a:ln/>
        </p:spPr>
        <p:txBody>
          <a:bodyPr wrap="square" rtlCol="0" anchor="ctr"/>
          <a:lstStyle/>
          <a:p>
            <a:pPr indent="0" marL="0">
              <a:buNone/>
            </a:pPr>
            <a:r>
              <a:rPr lang="en-US" sz="1300" b="1" dirty="0">
                <a:solidFill>
                  <a:srgbClr val="1F4E79"/>
                </a:solidFill>
                <a:latin typeface="Segoe UI" pitchFamily="34" charset="0"/>
                <a:ea typeface="Segoe UI" pitchFamily="34" charset="-122"/>
                <a:cs typeface="Segoe UI" pitchFamily="34" charset="-120"/>
              </a:rPr>
              <a:t>Airline · Engineering</a:t>
            </a:r>
            <a:endParaRPr lang="en-US" sz="1300" dirty="0"/>
          </a:p>
        </p:txBody>
      </p:sp>
      <p:sp>
        <p:nvSpPr>
          <p:cNvPr id="29" name="Text 22"/>
          <p:cNvSpPr/>
          <p:nvPr/>
        </p:nvSpPr>
        <p:spPr>
          <a:xfrm>
            <a:off x="3749040" y="4458353"/>
            <a:ext cx="7619695" cy="476794"/>
          </a:xfrm>
          <a:prstGeom prst="rect">
            <a:avLst/>
          </a:prstGeom>
          <a:noFill/>
          <a:ln/>
        </p:spPr>
        <p:txBody>
          <a:bodyPr wrap="square" rtlCol="0" anchor="ctr"/>
          <a:lstStyle/>
          <a:p>
            <a:pPr indent="0" marL="0">
              <a:lnSpc>
                <a:spcPct val="110000"/>
              </a:lnSpc>
              <a:buNone/>
            </a:pPr>
            <a:r>
              <a:rPr lang="en-US" sz="1250" dirty="0">
                <a:solidFill>
                  <a:srgbClr val="1E2235"/>
                </a:solidFill>
                <a:latin typeface="Segoe UI" pitchFamily="34" charset="0"/>
                <a:ea typeface="Segoe UI" pitchFamily="34" charset="-122"/>
                <a:cs typeface="Segoe UI" pitchFamily="34" charset="-120"/>
              </a:rPr>
              <a:t>💡 Move the replaced component's serial outside the range and see whether the answer becomes three.</a:t>
            </a:r>
            <a:endParaRPr lang="en-US" sz="1250" dirty="0"/>
          </a:p>
        </p:txBody>
      </p:sp>
      <p:sp>
        <p:nvSpPr>
          <p:cNvPr id="30" name="Shape 23"/>
          <p:cNvSpPr/>
          <p:nvPr/>
        </p:nvSpPr>
        <p:spPr>
          <a:xfrm>
            <a:off x="640080" y="5081451"/>
            <a:ext cx="10911535" cy="549946"/>
          </a:xfrm>
          <a:prstGeom prst="rect">
            <a:avLst/>
          </a:prstGeom>
          <a:solidFill>
            <a:srgbClr val="FFFFFF"/>
          </a:solidFill>
          <a:ln w="12700">
            <a:solidFill>
              <a:srgbClr val="E4E7F2"/>
            </a:solidFill>
            <a:prstDash val="solid"/>
          </a:ln>
        </p:spPr>
      </p:sp>
      <p:sp>
        <p:nvSpPr>
          <p:cNvPr id="31" name="Shape 24"/>
          <p:cNvSpPr/>
          <p:nvPr/>
        </p:nvSpPr>
        <p:spPr>
          <a:xfrm>
            <a:off x="868680" y="5109537"/>
            <a:ext cx="493776" cy="493776"/>
          </a:xfrm>
          <a:prstGeom prst="ellipse">
            <a:avLst/>
          </a:prstGeom>
          <a:solidFill>
            <a:srgbClr val="8A4B08"/>
          </a:solidFill>
          <a:ln/>
        </p:spPr>
      </p:sp>
      <p:pic>
        <p:nvPicPr>
          <p:cNvPr id="32" name="Image 5" descr="preencoded.png">    </p:cNvPr>
          <p:cNvPicPr>
            <a:picLocks noChangeAspect="1"/>
          </p:cNvPicPr>
          <p:nvPr/>
        </p:nvPicPr>
        <p:blipFill>
          <a:blip r:embed="rId6"/>
          <a:stretch>
            <a:fillRect/>
          </a:stretch>
        </p:blipFill>
        <p:spPr>
          <a:xfrm>
            <a:off x="996696" y="5237553"/>
            <a:ext cx="237744" cy="237744"/>
          </a:xfrm>
          <a:prstGeom prst="rect">
            <a:avLst/>
          </a:prstGeom>
        </p:spPr>
      </p:pic>
      <p:sp>
        <p:nvSpPr>
          <p:cNvPr id="33" name="Text 25"/>
          <p:cNvSpPr/>
          <p:nvPr/>
        </p:nvSpPr>
        <p:spPr>
          <a:xfrm>
            <a:off x="1554480" y="5118027"/>
            <a:ext cx="2286000" cy="476794"/>
          </a:xfrm>
          <a:prstGeom prst="rect">
            <a:avLst/>
          </a:prstGeom>
          <a:noFill/>
          <a:ln/>
        </p:spPr>
        <p:txBody>
          <a:bodyPr wrap="square" rtlCol="0" anchor="ctr"/>
          <a:lstStyle/>
          <a:p>
            <a:pPr indent="0" marL="0">
              <a:buNone/>
            </a:pPr>
            <a:r>
              <a:rPr lang="en-US" sz="1300" b="1" dirty="0">
                <a:solidFill>
                  <a:srgbClr val="8A4B08"/>
                </a:solidFill>
                <a:latin typeface="Segoe UI" pitchFamily="34" charset="0"/>
                <a:ea typeface="Segoe UI" pitchFamily="34" charset="-122"/>
                <a:cs typeface="Segoe UI" pitchFamily="34" charset="-120"/>
              </a:rPr>
              <a:t>Airline · Engineering</a:t>
            </a:r>
            <a:endParaRPr lang="en-US" sz="1300" dirty="0"/>
          </a:p>
        </p:txBody>
      </p:sp>
      <p:sp>
        <p:nvSpPr>
          <p:cNvPr id="34" name="Text 26"/>
          <p:cNvSpPr/>
          <p:nvPr/>
        </p:nvSpPr>
        <p:spPr>
          <a:xfrm>
            <a:off x="3749040" y="5118027"/>
            <a:ext cx="7619695" cy="476794"/>
          </a:xfrm>
          <a:prstGeom prst="rect">
            <a:avLst/>
          </a:prstGeom>
          <a:noFill/>
          <a:ln/>
        </p:spPr>
        <p:txBody>
          <a:bodyPr wrap="square" rtlCol="0" anchor="ctr"/>
          <a:lstStyle/>
          <a:p>
            <a:pPr indent="0" marL="0">
              <a:lnSpc>
                <a:spcPct val="110000"/>
              </a:lnSpc>
              <a:buNone/>
            </a:pPr>
            <a:r>
              <a:rPr lang="en-US" sz="1250" dirty="0">
                <a:solidFill>
                  <a:srgbClr val="1E2235"/>
                </a:solidFill>
                <a:latin typeface="Segoe UI" pitchFamily="34" charset="0"/>
                <a:ea typeface="Segoe UI" pitchFamily="34" charset="-122"/>
                <a:cs typeface="Segoe UI" pitchFamily="34" charset="-120"/>
              </a:rPr>
              <a:t>💡 Change that tail's August delays to 1 and see whether the like-for-like still reverses.</a:t>
            </a:r>
            <a:endParaRPr lang="en-US" sz="1250" dirty="0"/>
          </a:p>
        </p:txBody>
      </p:sp>
      <p:sp>
        <p:nvSpPr>
          <p:cNvPr id="35" name="Shape 27"/>
          <p:cNvSpPr/>
          <p:nvPr/>
        </p:nvSpPr>
        <p:spPr>
          <a:xfrm>
            <a:off x="640080" y="5741126"/>
            <a:ext cx="10911535" cy="549946"/>
          </a:xfrm>
          <a:prstGeom prst="rect">
            <a:avLst/>
          </a:prstGeom>
          <a:solidFill>
            <a:srgbClr val="FFFFFF"/>
          </a:solidFill>
          <a:ln w="12700">
            <a:solidFill>
              <a:srgbClr val="E4E7F2"/>
            </a:solidFill>
            <a:prstDash val="solid"/>
          </a:ln>
        </p:spPr>
      </p:sp>
      <p:sp>
        <p:nvSpPr>
          <p:cNvPr id="36" name="Shape 28"/>
          <p:cNvSpPr/>
          <p:nvPr/>
        </p:nvSpPr>
        <p:spPr>
          <a:xfrm>
            <a:off x="868680" y="5769211"/>
            <a:ext cx="493776" cy="493776"/>
          </a:xfrm>
          <a:prstGeom prst="ellipse">
            <a:avLst/>
          </a:prstGeom>
          <a:solidFill>
            <a:srgbClr val="0B6E6E"/>
          </a:solidFill>
          <a:ln/>
        </p:spPr>
      </p:sp>
      <p:pic>
        <p:nvPicPr>
          <p:cNvPr id="37" name="Image 6" descr="preencoded.png">    </p:cNvPr>
          <p:cNvPicPr>
            <a:picLocks noChangeAspect="1"/>
          </p:cNvPicPr>
          <p:nvPr/>
        </p:nvPicPr>
        <p:blipFill>
          <a:blip r:embed="rId7"/>
          <a:stretch>
            <a:fillRect/>
          </a:stretch>
        </p:blipFill>
        <p:spPr>
          <a:xfrm>
            <a:off x="996696" y="5897227"/>
            <a:ext cx="237744" cy="237744"/>
          </a:xfrm>
          <a:prstGeom prst="rect">
            <a:avLst/>
          </a:prstGeom>
        </p:spPr>
      </p:pic>
      <p:sp>
        <p:nvSpPr>
          <p:cNvPr id="38" name="Text 29"/>
          <p:cNvSpPr/>
          <p:nvPr/>
        </p:nvSpPr>
        <p:spPr>
          <a:xfrm>
            <a:off x="1554480" y="5777702"/>
            <a:ext cx="2286000" cy="476794"/>
          </a:xfrm>
          <a:prstGeom prst="rect">
            <a:avLst/>
          </a:prstGeom>
          <a:noFill/>
          <a:ln/>
        </p:spPr>
        <p:txBody>
          <a:bodyPr wrap="square" rtlCol="0" anchor="ctr"/>
          <a:lstStyle/>
          <a:p>
            <a:pPr indent="0" marL="0">
              <a:buNone/>
            </a:pPr>
            <a:r>
              <a:rPr lang="en-US" sz="1300" b="1" dirty="0">
                <a:solidFill>
                  <a:srgbClr val="0B6E6E"/>
                </a:solidFill>
                <a:latin typeface="Segoe UI" pitchFamily="34" charset="0"/>
                <a:ea typeface="Segoe UI" pitchFamily="34" charset="-122"/>
                <a:cs typeface="Segoe UI" pitchFamily="34" charset="-120"/>
              </a:rPr>
              <a:t>Airline · Engineering</a:t>
            </a:r>
            <a:endParaRPr lang="en-US" sz="1300" dirty="0"/>
          </a:p>
        </p:txBody>
      </p:sp>
      <p:sp>
        <p:nvSpPr>
          <p:cNvPr id="39" name="Text 30"/>
          <p:cNvSpPr/>
          <p:nvPr/>
        </p:nvSpPr>
        <p:spPr>
          <a:xfrm>
            <a:off x="3749040" y="5777702"/>
            <a:ext cx="7619695" cy="476794"/>
          </a:xfrm>
          <a:prstGeom prst="rect">
            <a:avLst/>
          </a:prstGeom>
          <a:noFill/>
          <a:ln/>
        </p:spPr>
        <p:txBody>
          <a:bodyPr wrap="square" rtlCol="0" anchor="ctr"/>
          <a:lstStyle/>
          <a:p>
            <a:pPr indent="0" marL="0">
              <a:lnSpc>
                <a:spcPct val="110000"/>
              </a:lnSpc>
              <a:buNone/>
            </a:pPr>
            <a:r>
              <a:rPr lang="en-US" sz="1250" dirty="0">
                <a:solidFill>
                  <a:srgbClr val="1E2235"/>
                </a:solidFill>
                <a:latin typeface="Segoe UI" pitchFamily="34" charset="0"/>
                <a:ea typeface="Segoe UI" pitchFamily="34" charset="-122"/>
                <a:cs typeface="Segoe UI" pitchFamily="34" charset="-120"/>
              </a:rPr>
              <a:t>💡 Add a component serial outside the range to the handover record and re-run — does it become “not applicable”?</a:t>
            </a:r>
            <a:endParaRPr lang="en-US" sz="1250" dirty="0"/>
          </a:p>
        </p:txBody>
      </p:sp>
      <p:sp>
        <p:nvSpPr>
          <p:cNvPr id="40" name="Text 31"/>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41" name="Text 32"/>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22D3EE"/>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22D3EE"/>
                </a:solidFill>
                <a:latin typeface="Segoe UI" pitchFamily="34" charset="0"/>
                <a:ea typeface="Segoe UI" pitchFamily="34" charset="-122"/>
                <a:cs typeface="Segoe UI" pitchFamily="34" charset="-120"/>
              </a:rPr>
              <a:t>TRUST &amp; CONTROL</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FFFFFF"/>
                </a:solidFill>
                <a:latin typeface="Segoe UI" pitchFamily="34" charset="0"/>
                <a:ea typeface="Segoe UI" pitchFamily="34" charset="-122"/>
                <a:cs typeface="Segoe UI" pitchFamily="34" charset="-120"/>
              </a:rPr>
              <a:t>Automated — but you're still the decision maker</a:t>
            </a:r>
            <a:endParaRPr lang="en-US" sz="3000" dirty="0"/>
          </a:p>
        </p:txBody>
      </p:sp>
      <p:sp>
        <p:nvSpPr>
          <p:cNvPr id="5" name="Shape 3"/>
          <p:cNvSpPr/>
          <p:nvPr/>
        </p:nvSpPr>
        <p:spPr>
          <a:xfrm>
            <a:off x="640080" y="1874520"/>
            <a:ext cx="777240" cy="777240"/>
          </a:xfrm>
          <a:prstGeom prst="roundRect">
            <a:avLst>
              <a:gd name="adj" fmla="val 18824"/>
            </a:avLst>
          </a:prstGeom>
          <a:solidFill>
            <a:srgbClr val="FFFFFF">
              <a:alpha val="14000"/>
            </a:srgbClr>
          </a:solidFill>
          <a:ln w="12700">
            <a:solidFill>
              <a:srgbClr val="22D3EE">
                <a:alpha val="60000"/>
              </a:srgbClr>
            </a:solidFill>
            <a:prstDash val="solid"/>
          </a:ln>
        </p:spPr>
      </p:sp>
      <p:pic>
        <p:nvPicPr>
          <p:cNvPr id="6" name="Image 0" descr="preencoded.png">    </p:cNvPr>
          <p:cNvPicPr>
            <a:picLocks noChangeAspect="1"/>
          </p:cNvPicPr>
          <p:nvPr/>
        </p:nvPicPr>
        <p:blipFill>
          <a:blip r:embed="rId2"/>
          <a:stretch>
            <a:fillRect/>
          </a:stretch>
        </p:blipFill>
        <p:spPr>
          <a:xfrm>
            <a:off x="804672" y="2039112"/>
            <a:ext cx="448056" cy="448056"/>
          </a:xfrm>
          <a:prstGeom prst="rect">
            <a:avLst/>
          </a:prstGeom>
        </p:spPr>
      </p:pic>
      <p:sp>
        <p:nvSpPr>
          <p:cNvPr id="7" name="Text 4"/>
          <p:cNvSpPr/>
          <p:nvPr/>
        </p:nvSpPr>
        <p:spPr>
          <a:xfrm>
            <a:off x="1691640" y="1856232"/>
            <a:ext cx="6858000" cy="347472"/>
          </a:xfrm>
          <a:prstGeom prst="rect">
            <a:avLst/>
          </a:prstGeom>
          <a:noFill/>
          <a:ln/>
        </p:spPr>
        <p:txBody>
          <a:bodyPr wrap="square" rtlCol="0" anchor="ctr"/>
          <a:lstStyle/>
          <a:p>
            <a:pPr indent="0" marL="0">
              <a:buNone/>
            </a:pPr>
            <a:r>
              <a:rPr lang="en-US" sz="1700" b="1" dirty="0">
                <a:solidFill>
                  <a:srgbClr val="FFFFFF"/>
                </a:solidFill>
                <a:latin typeface="Segoe UI" pitchFamily="34" charset="0"/>
                <a:ea typeface="Segoe UI" pitchFamily="34" charset="-122"/>
                <a:cs typeface="Segoe UI" pitchFamily="34" charset="-120"/>
              </a:rPr>
              <a:t>Approval before action</a:t>
            </a:r>
            <a:endParaRPr lang="en-US" sz="1700" dirty="0"/>
          </a:p>
        </p:txBody>
      </p:sp>
      <p:sp>
        <p:nvSpPr>
          <p:cNvPr id="8" name="Text 5"/>
          <p:cNvSpPr/>
          <p:nvPr/>
        </p:nvSpPr>
        <p:spPr>
          <a:xfrm>
            <a:off x="1691640" y="2203704"/>
            <a:ext cx="9966960" cy="658368"/>
          </a:xfrm>
          <a:prstGeom prst="rect">
            <a:avLst/>
          </a:prstGeom>
          <a:noFill/>
          <a:ln/>
        </p:spPr>
        <p:txBody>
          <a:bodyPr wrap="square" rtlCol="0" anchor="ctr"/>
          <a:lstStyle/>
          <a:p>
            <a:pPr indent="0" marL="0">
              <a:lnSpc>
                <a:spcPct val="118000"/>
              </a:lnSpc>
              <a:buNone/>
            </a:pPr>
            <a:r>
              <a:rPr lang="en-US" sz="1300" dirty="0">
                <a:solidFill>
                  <a:srgbClr val="C7CAEC"/>
                </a:solidFill>
                <a:latin typeface="Segoe UI" pitchFamily="34" charset="0"/>
                <a:ea typeface="Segoe UI" pitchFamily="34" charset="-122"/>
                <a:cs typeface="Segoe UI" pitchFamily="34" charset="-120"/>
              </a:rPr>
              <a:t>Medium/high-risk actions show a RISK-LEVEL; sending mail, posting to Teams or creating meetings all open as an editable preview and go out only after approval.</a:t>
            </a:r>
            <a:endParaRPr lang="en-US" sz="1300" dirty="0"/>
          </a:p>
        </p:txBody>
      </p:sp>
      <p:sp>
        <p:nvSpPr>
          <p:cNvPr id="9" name="Shape 6"/>
          <p:cNvSpPr/>
          <p:nvPr/>
        </p:nvSpPr>
        <p:spPr>
          <a:xfrm>
            <a:off x="640080" y="3044952"/>
            <a:ext cx="777240" cy="777240"/>
          </a:xfrm>
          <a:prstGeom prst="roundRect">
            <a:avLst>
              <a:gd name="adj" fmla="val 18824"/>
            </a:avLst>
          </a:prstGeom>
          <a:solidFill>
            <a:srgbClr val="FFFFFF">
              <a:alpha val="14000"/>
            </a:srgbClr>
          </a:solidFill>
          <a:ln w="12700">
            <a:solidFill>
              <a:srgbClr val="22D3EE">
                <a:alpha val="60000"/>
              </a:srgbClr>
            </a:solidFill>
            <a:prstDash val="solid"/>
          </a:ln>
        </p:spPr>
      </p:sp>
      <p:pic>
        <p:nvPicPr>
          <p:cNvPr id="10" name="Image 1" descr="preencoded.png">    </p:cNvPr>
          <p:cNvPicPr>
            <a:picLocks noChangeAspect="1"/>
          </p:cNvPicPr>
          <p:nvPr/>
        </p:nvPicPr>
        <p:blipFill>
          <a:blip r:embed="rId3"/>
          <a:stretch>
            <a:fillRect/>
          </a:stretch>
        </p:blipFill>
        <p:spPr>
          <a:xfrm>
            <a:off x="804672" y="3209544"/>
            <a:ext cx="448056" cy="448056"/>
          </a:xfrm>
          <a:prstGeom prst="rect">
            <a:avLst/>
          </a:prstGeom>
        </p:spPr>
      </p:pic>
      <p:sp>
        <p:nvSpPr>
          <p:cNvPr id="11" name="Text 7"/>
          <p:cNvSpPr/>
          <p:nvPr/>
        </p:nvSpPr>
        <p:spPr>
          <a:xfrm>
            <a:off x="1691640" y="3026664"/>
            <a:ext cx="6858000" cy="347472"/>
          </a:xfrm>
          <a:prstGeom prst="rect">
            <a:avLst/>
          </a:prstGeom>
          <a:noFill/>
          <a:ln/>
        </p:spPr>
        <p:txBody>
          <a:bodyPr wrap="square" rtlCol="0" anchor="ctr"/>
          <a:lstStyle/>
          <a:p>
            <a:pPr indent="0" marL="0">
              <a:buNone/>
            </a:pPr>
            <a:r>
              <a:rPr lang="en-US" sz="1700" b="1" dirty="0">
                <a:solidFill>
                  <a:srgbClr val="FFFFFF"/>
                </a:solidFill>
                <a:latin typeface="Segoe UI" pitchFamily="34" charset="0"/>
                <a:ea typeface="Segoe UI" pitchFamily="34" charset="-122"/>
                <a:cs typeface="Segoe UI" pitchFamily="34" charset="-120"/>
              </a:rPr>
              <a:t>Scope you control</a:t>
            </a:r>
            <a:endParaRPr lang="en-US" sz="1700" dirty="0"/>
          </a:p>
        </p:txBody>
      </p:sp>
      <p:sp>
        <p:nvSpPr>
          <p:cNvPr id="12" name="Text 8"/>
          <p:cNvSpPr/>
          <p:nvPr/>
        </p:nvSpPr>
        <p:spPr>
          <a:xfrm>
            <a:off x="1691640" y="3374136"/>
            <a:ext cx="9966960" cy="658368"/>
          </a:xfrm>
          <a:prstGeom prst="rect">
            <a:avLst/>
          </a:prstGeom>
          <a:noFill/>
          <a:ln/>
        </p:spPr>
        <p:txBody>
          <a:bodyPr wrap="square" rtlCol="0" anchor="ctr"/>
          <a:lstStyle/>
          <a:p>
            <a:pPr indent="0" marL="0">
              <a:lnSpc>
                <a:spcPct val="118000"/>
              </a:lnSpc>
              <a:buNone/>
            </a:pPr>
            <a:r>
              <a:rPr lang="en-US" sz="1300" dirty="0">
                <a:solidFill>
                  <a:srgbClr val="C7CAEC"/>
                </a:solidFill>
                <a:latin typeface="Segoe UI" pitchFamily="34" charset="0"/>
                <a:ea typeface="Segoe UI" pitchFamily="34" charset="-122"/>
                <a:cs typeface="Segoe UI" pitchFamily="34" charset="-120"/>
              </a:rPr>
              <a:t>Don't-ask-again can be limited to a recipient, a domain, or always; tasks can be soft/hard paused, resumed or cancelled.</a:t>
            </a:r>
            <a:endParaRPr lang="en-US" sz="1300" dirty="0"/>
          </a:p>
        </p:txBody>
      </p:sp>
      <p:sp>
        <p:nvSpPr>
          <p:cNvPr id="13" name="Shape 9"/>
          <p:cNvSpPr/>
          <p:nvPr/>
        </p:nvSpPr>
        <p:spPr>
          <a:xfrm>
            <a:off x="640080" y="4215384"/>
            <a:ext cx="777240" cy="777240"/>
          </a:xfrm>
          <a:prstGeom prst="roundRect">
            <a:avLst>
              <a:gd name="adj" fmla="val 18824"/>
            </a:avLst>
          </a:prstGeom>
          <a:solidFill>
            <a:srgbClr val="FFFFFF">
              <a:alpha val="14000"/>
            </a:srgbClr>
          </a:solidFill>
          <a:ln w="12700">
            <a:solidFill>
              <a:srgbClr val="22D3EE">
                <a:alpha val="60000"/>
              </a:srgbClr>
            </a:solidFill>
            <a:prstDash val="solid"/>
          </a:ln>
        </p:spPr>
      </p:sp>
      <p:pic>
        <p:nvPicPr>
          <p:cNvPr id="14" name="Image 2" descr="preencoded.png">    </p:cNvPr>
          <p:cNvPicPr>
            <a:picLocks noChangeAspect="1"/>
          </p:cNvPicPr>
          <p:nvPr/>
        </p:nvPicPr>
        <p:blipFill>
          <a:blip r:embed="rId4"/>
          <a:stretch>
            <a:fillRect/>
          </a:stretch>
        </p:blipFill>
        <p:spPr>
          <a:xfrm>
            <a:off x="804672" y="4379976"/>
            <a:ext cx="448056" cy="448056"/>
          </a:xfrm>
          <a:prstGeom prst="rect">
            <a:avLst/>
          </a:prstGeom>
        </p:spPr>
      </p:pic>
      <p:sp>
        <p:nvSpPr>
          <p:cNvPr id="15" name="Text 10"/>
          <p:cNvSpPr/>
          <p:nvPr/>
        </p:nvSpPr>
        <p:spPr>
          <a:xfrm>
            <a:off x="1691640" y="4197096"/>
            <a:ext cx="6858000" cy="347472"/>
          </a:xfrm>
          <a:prstGeom prst="rect">
            <a:avLst/>
          </a:prstGeom>
          <a:noFill/>
          <a:ln/>
        </p:spPr>
        <p:txBody>
          <a:bodyPr wrap="square" rtlCol="0" anchor="ctr"/>
          <a:lstStyle/>
          <a:p>
            <a:pPr indent="0" marL="0">
              <a:buNone/>
            </a:pPr>
            <a:r>
              <a:rPr lang="en-US" sz="1700" b="1" dirty="0">
                <a:solidFill>
                  <a:srgbClr val="FFFFFF"/>
                </a:solidFill>
                <a:latin typeface="Segoe UI" pitchFamily="34" charset="0"/>
                <a:ea typeface="Segoe UI" pitchFamily="34" charset="-122"/>
                <a:cs typeface="Segoe UI" pitchFamily="34" charset="-120"/>
              </a:rPr>
              <a:t>Automated tasks have guardrails too</a:t>
            </a:r>
            <a:endParaRPr lang="en-US" sz="1700" dirty="0"/>
          </a:p>
        </p:txBody>
      </p:sp>
      <p:sp>
        <p:nvSpPr>
          <p:cNvPr id="16" name="Text 11"/>
          <p:cNvSpPr/>
          <p:nvPr/>
        </p:nvSpPr>
        <p:spPr>
          <a:xfrm>
            <a:off x="1691640" y="4544568"/>
            <a:ext cx="9966960" cy="658368"/>
          </a:xfrm>
          <a:prstGeom prst="rect">
            <a:avLst/>
          </a:prstGeom>
          <a:noFill/>
          <a:ln/>
        </p:spPr>
        <p:txBody>
          <a:bodyPr wrap="square" rtlCol="0" anchor="ctr"/>
          <a:lstStyle/>
          <a:p>
            <a:pPr indent="0" marL="0">
              <a:lnSpc>
                <a:spcPct val="118000"/>
              </a:lnSpc>
              <a:buNone/>
            </a:pPr>
            <a:r>
              <a:rPr lang="en-US" sz="1300" dirty="0">
                <a:solidFill>
                  <a:srgbClr val="C7CAEC"/>
                </a:solidFill>
                <a:latin typeface="Segoe UI" pitchFamily="34" charset="0"/>
                <a:ea typeface="Segoe UI" pitchFamily="34" charset="-122"/>
                <a:cs typeface="Segoe UI" pitchFamily="34" charset="-120"/>
              </a:rPr>
              <a:t>Scheduled prompts and event-driven tasks have run-frequency limits and loop protection; they always run with the creator's permissions, and are recorded in the unified audit log alongside all other Cowork activity, under Microsoft Purview policy.</a:t>
            </a:r>
            <a:endParaRPr lang="en-US" sz="1300" dirty="0"/>
          </a:p>
        </p:txBody>
      </p:sp>
      <p:sp>
        <p:nvSpPr>
          <p:cNvPr id="17" name="Shape 12"/>
          <p:cNvSpPr/>
          <p:nvPr/>
        </p:nvSpPr>
        <p:spPr>
          <a:xfrm>
            <a:off x="640080" y="5385816"/>
            <a:ext cx="777240" cy="777240"/>
          </a:xfrm>
          <a:prstGeom prst="roundRect">
            <a:avLst>
              <a:gd name="adj" fmla="val 18824"/>
            </a:avLst>
          </a:prstGeom>
          <a:solidFill>
            <a:srgbClr val="FFFFFF">
              <a:alpha val="14000"/>
            </a:srgbClr>
          </a:solidFill>
          <a:ln w="12700">
            <a:solidFill>
              <a:srgbClr val="22D3EE">
                <a:alpha val="60000"/>
              </a:srgbClr>
            </a:solidFill>
            <a:prstDash val="solid"/>
          </a:ln>
        </p:spPr>
      </p:sp>
      <p:pic>
        <p:nvPicPr>
          <p:cNvPr id="18" name="Image 3" descr="preencoded.png">    </p:cNvPr>
          <p:cNvPicPr>
            <a:picLocks noChangeAspect="1"/>
          </p:cNvPicPr>
          <p:nvPr/>
        </p:nvPicPr>
        <p:blipFill>
          <a:blip r:embed="rId5"/>
          <a:stretch>
            <a:fillRect/>
          </a:stretch>
        </p:blipFill>
        <p:spPr>
          <a:xfrm>
            <a:off x="804672" y="5550408"/>
            <a:ext cx="448056" cy="448056"/>
          </a:xfrm>
          <a:prstGeom prst="rect">
            <a:avLst/>
          </a:prstGeom>
        </p:spPr>
      </p:pic>
      <p:sp>
        <p:nvSpPr>
          <p:cNvPr id="19" name="Text 13"/>
          <p:cNvSpPr/>
          <p:nvPr/>
        </p:nvSpPr>
        <p:spPr>
          <a:xfrm>
            <a:off x="1691640" y="5367528"/>
            <a:ext cx="6858000" cy="347472"/>
          </a:xfrm>
          <a:prstGeom prst="rect">
            <a:avLst/>
          </a:prstGeom>
          <a:noFill/>
          <a:ln/>
        </p:spPr>
        <p:txBody>
          <a:bodyPr wrap="square" rtlCol="0" anchor="ctr"/>
          <a:lstStyle/>
          <a:p>
            <a:pPr indent="0" marL="0">
              <a:buNone/>
            </a:pPr>
            <a:r>
              <a:rPr lang="en-US" sz="1700" b="1" dirty="0">
                <a:solidFill>
                  <a:srgbClr val="FFFFFF"/>
                </a:solidFill>
                <a:latin typeface="Segoe UI" pitchFamily="34" charset="0"/>
                <a:ea typeface="Segoe UI" pitchFamily="34" charset="-122"/>
                <a:cs typeface="Segoe UI" pitchFamily="34" charset="-120"/>
              </a:rPr>
              <a:t>Know the limits</a:t>
            </a:r>
            <a:endParaRPr lang="en-US" sz="1700" dirty="0"/>
          </a:p>
        </p:txBody>
      </p:sp>
      <p:sp>
        <p:nvSpPr>
          <p:cNvPr id="20" name="Text 14"/>
          <p:cNvSpPr/>
          <p:nvPr/>
        </p:nvSpPr>
        <p:spPr>
          <a:xfrm>
            <a:off x="1691640" y="5715000"/>
            <a:ext cx="9966960" cy="658368"/>
          </a:xfrm>
          <a:prstGeom prst="rect">
            <a:avLst/>
          </a:prstGeom>
          <a:noFill/>
          <a:ln/>
        </p:spPr>
        <p:txBody>
          <a:bodyPr wrap="square" rtlCol="0" anchor="ctr"/>
          <a:lstStyle/>
          <a:p>
            <a:pPr indent="0" marL="0">
              <a:lnSpc>
                <a:spcPct val="118000"/>
              </a:lnSpc>
              <a:buNone/>
            </a:pPr>
            <a:r>
              <a:rPr lang="en-US" sz="1300" dirty="0">
                <a:solidFill>
                  <a:srgbClr val="C7CAEC"/>
                </a:solidFill>
                <a:latin typeface="Segoe UI" pitchFamily="34" charset="0"/>
                <a:ea typeface="Segoe UI" pitchFamily="34" charset="-122"/>
                <a:cs typeface="Segoe UI" pitchFamily="34" charset="-120"/>
              </a:rPr>
              <a:t>No access to local files, no deleting OneDrive/SharePoint files, no reading encrypted files; attachments under 200MB; custom skills and third-party plugins aren't validated by Microsoft, so review the output yourself. Microsoft explicitly lists it as unsuitable where accuracy must be guaranteed without human review.</a:t>
            </a:r>
            <a:endParaRPr lang="en-US" sz="1300" dirty="0"/>
          </a:p>
        </p:txBody>
      </p:sp>
      <p:sp>
        <p:nvSpPr>
          <p:cNvPr id="21" name="Text 15"/>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8A8FB5"/>
                </a:solidFill>
                <a:latin typeface="Segoe UI" pitchFamily="34" charset="0"/>
                <a:ea typeface="Segoe UI" pitchFamily="34" charset="-122"/>
                <a:cs typeface="Segoe UI" pitchFamily="34" charset="-120"/>
              </a:rPr>
              <a:t>Microsoft 365 Copilot Cowork</a:t>
            </a:r>
            <a:endParaRPr lang="en-US" sz="900" dirty="0"/>
          </a:p>
        </p:txBody>
      </p:sp>
      <p:sp>
        <p:nvSpPr>
          <p:cNvPr id="22" name="Text 16"/>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8A8FB5"/>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1554480"/>
            <a:ext cx="10058400" cy="822960"/>
          </a:xfrm>
          <a:prstGeom prst="rect">
            <a:avLst/>
          </a:prstGeom>
          <a:noFill/>
          <a:ln/>
        </p:spPr>
        <p:txBody>
          <a:bodyPr wrap="square" rtlCol="0" anchor="ctr"/>
          <a:lstStyle/>
          <a:p>
            <a:pPr indent="0" marL="0">
              <a:buNone/>
            </a:pPr>
            <a:r>
              <a:rPr lang="en-US" sz="4000" b="1" dirty="0">
                <a:solidFill>
                  <a:srgbClr val="FFFFFF"/>
                </a:solidFill>
                <a:latin typeface="Segoe UI" pitchFamily="34" charset="0"/>
                <a:ea typeface="Segoe UI" pitchFamily="34" charset="-122"/>
                <a:cs typeface="Segoe UI" pitchFamily="34" charset="-120"/>
              </a:rPr>
              <a:t>Start practising now</a:t>
            </a:r>
            <a:endParaRPr lang="en-US" sz="4000" dirty="0"/>
          </a:p>
        </p:txBody>
      </p:sp>
      <p:sp>
        <p:nvSpPr>
          <p:cNvPr id="3" name="Shape 1"/>
          <p:cNvSpPr/>
          <p:nvPr/>
        </p:nvSpPr>
        <p:spPr>
          <a:xfrm>
            <a:off x="640080" y="2606040"/>
            <a:ext cx="8686800" cy="868680"/>
          </a:xfrm>
          <a:prstGeom prst="roundRect">
            <a:avLst>
              <a:gd name="adj" fmla="val 12632"/>
            </a:avLst>
          </a:prstGeom>
          <a:solidFill>
            <a:srgbClr val="FFFFFF">
              <a:alpha val="10000"/>
            </a:srgbClr>
          </a:solidFill>
          <a:ln w="12700">
            <a:solidFill>
              <a:srgbClr val="FFFFFF">
                <a:alpha val="35000"/>
              </a:srgbClr>
            </a:solidFill>
            <a:prstDash val="solid"/>
          </a:ln>
        </p:spPr>
      </p:sp>
      <p:pic>
        <p:nvPicPr>
          <p:cNvPr id="4" name="Image 0" descr="preencoded.png">    </p:cNvPr>
          <p:cNvPicPr>
            <a:picLocks noChangeAspect="1"/>
          </p:cNvPicPr>
          <p:nvPr/>
        </p:nvPicPr>
        <p:blipFill>
          <a:blip r:embed="rId2"/>
          <a:stretch>
            <a:fillRect/>
          </a:stretch>
        </p:blipFill>
        <p:spPr>
          <a:xfrm>
            <a:off x="914400" y="2880360"/>
            <a:ext cx="329184" cy="329184"/>
          </a:xfrm>
          <a:prstGeom prst="rect">
            <a:avLst/>
          </a:prstGeom>
        </p:spPr>
      </p:pic>
      <p:sp>
        <p:nvSpPr>
          <p:cNvPr id="5" name="Text 2"/>
          <p:cNvSpPr/>
          <p:nvPr/>
        </p:nvSpPr>
        <p:spPr>
          <a:xfrm>
            <a:off x="1417320" y="2715768"/>
            <a:ext cx="7315200" cy="320040"/>
          </a:xfrm>
          <a:prstGeom prst="rect">
            <a:avLst/>
          </a:prstGeom>
          <a:noFill/>
          <a:ln/>
        </p:spPr>
        <p:txBody>
          <a:bodyPr wrap="square" rtlCol="0" anchor="ctr"/>
          <a:lstStyle/>
          <a:p>
            <a:pPr indent="0" marL="0">
              <a:buNone/>
            </a:pPr>
            <a:r>
              <a:rPr lang="en-US" sz="1400" b="1" dirty="0">
                <a:solidFill>
                  <a:srgbClr val="FFFFFF"/>
                </a:solidFill>
                <a:latin typeface="Segoe UI" pitchFamily="34" charset="0"/>
                <a:ea typeface="Segoe UI" pitchFamily="34" charset="-122"/>
                <a:cs typeface="Segoe UI" pitchFamily="34" charset="-120"/>
              </a:rPr>
              <a:t>Cowork Playbook</a:t>
            </a:r>
            <a:endParaRPr lang="en-US" sz="1400" dirty="0"/>
          </a:p>
        </p:txBody>
      </p:sp>
      <p:sp>
        <p:nvSpPr>
          <p:cNvPr id="6" name="Text 3">
            <a:hlinkClick r:id="rId3" tooltip=""/>
          </p:cNvPr>
          <p:cNvSpPr/>
          <p:nvPr/>
        </p:nvSpPr>
        <p:spPr>
          <a:xfrm>
            <a:off x="1417320" y="3008376"/>
            <a:ext cx="7772400" cy="320040"/>
          </a:xfrm>
          <a:prstGeom prst="rect">
            <a:avLst/>
          </a:prstGeom>
          <a:noFill/>
          <a:ln/>
        </p:spPr>
        <p:txBody>
          <a:bodyPr wrap="square" rtlCol="0" anchor="ctr"/>
          <a:lstStyle/>
          <a:p>
            <a:pPr indent="0" marL="0">
              <a:buNone/>
            </a:pPr>
            <a:r>
              <a:rPr lang="en-US" sz="1300" u="sng" dirty="0">
                <a:solidFill>
                  <a:srgbClr val="9FE9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aka.ms/CoworkPlaybook</a:t>
            </a:r>
            <a:endParaRPr lang="en-US" sz="1300" dirty="0"/>
          </a:p>
        </p:txBody>
      </p:sp>
      <p:pic>
        <p:nvPicPr>
          <p:cNvPr id="7" name="Image 1" descr="preencoded.png">    </p:cNvPr>
          <p:cNvPicPr>
            <a:picLocks noChangeAspect="1"/>
          </p:cNvPicPr>
          <p:nvPr/>
        </p:nvPicPr>
        <p:blipFill>
          <a:blip r:embed="rId4"/>
          <a:stretch>
            <a:fillRect/>
          </a:stretch>
        </p:blipFill>
        <p:spPr>
          <a:xfrm>
            <a:off x="640080" y="3950208"/>
            <a:ext cx="237744" cy="237744"/>
          </a:xfrm>
          <a:prstGeom prst="rect">
            <a:avLst/>
          </a:prstGeom>
        </p:spPr>
      </p:pic>
      <p:sp>
        <p:nvSpPr>
          <p:cNvPr id="8" name="Text 4"/>
          <p:cNvSpPr/>
          <p:nvPr/>
        </p:nvSpPr>
        <p:spPr>
          <a:xfrm>
            <a:off x="1005840" y="3895344"/>
            <a:ext cx="9144000" cy="365760"/>
          </a:xfrm>
          <a:prstGeom prst="rect">
            <a:avLst/>
          </a:prstGeom>
          <a:noFill/>
          <a:ln/>
        </p:spPr>
        <p:txBody>
          <a:bodyPr wrap="square" rtlCol="0" anchor="ctr"/>
          <a:lstStyle/>
          <a:p>
            <a:pPr indent="0" marL="0">
              <a:buNone/>
            </a:pPr>
            <a:r>
              <a:rPr lang="en-US" sz="1400" dirty="0">
                <a:solidFill>
                  <a:srgbClr val="E3E5F7"/>
                </a:solidFill>
                <a:latin typeface="Segoe UI" pitchFamily="34" charset="0"/>
                <a:ea typeface="Segoe UI" pitchFamily="34" charset="-122"/>
                <a:cs typeface="Segoe UI" pitchFamily="34" charset="-120"/>
              </a:rPr>
              <a:t>Start with the scenario closest to your own work</a:t>
            </a:r>
            <a:endParaRPr lang="en-US" sz="1400" dirty="0"/>
          </a:p>
        </p:txBody>
      </p:sp>
      <p:pic>
        <p:nvPicPr>
          <p:cNvPr id="9" name="Image 2" descr="preencoded.png">    </p:cNvPr>
          <p:cNvPicPr>
            <a:picLocks noChangeAspect="1"/>
          </p:cNvPicPr>
          <p:nvPr/>
        </p:nvPicPr>
        <p:blipFill>
          <a:blip r:embed="rId5"/>
          <a:stretch>
            <a:fillRect/>
          </a:stretch>
        </p:blipFill>
        <p:spPr>
          <a:xfrm>
            <a:off x="640080" y="4425696"/>
            <a:ext cx="237744" cy="237744"/>
          </a:xfrm>
          <a:prstGeom prst="rect">
            <a:avLst/>
          </a:prstGeom>
        </p:spPr>
      </p:pic>
      <p:sp>
        <p:nvSpPr>
          <p:cNvPr id="10" name="Text 5"/>
          <p:cNvSpPr/>
          <p:nvPr/>
        </p:nvSpPr>
        <p:spPr>
          <a:xfrm>
            <a:off x="1005840" y="4370832"/>
            <a:ext cx="9144000" cy="365760"/>
          </a:xfrm>
          <a:prstGeom prst="rect">
            <a:avLst/>
          </a:prstGeom>
          <a:noFill/>
          <a:ln/>
        </p:spPr>
        <p:txBody>
          <a:bodyPr wrap="square" rtlCol="0" anchor="ctr"/>
          <a:lstStyle/>
          <a:p>
            <a:pPr indent="0" marL="0">
              <a:buNone/>
            </a:pPr>
            <a:r>
              <a:rPr lang="en-US" sz="1400" dirty="0">
                <a:solidFill>
                  <a:srgbClr val="E3E5F7"/>
                </a:solidFill>
                <a:latin typeface="Segoe UI" pitchFamily="34" charset="0"/>
                <a:ea typeface="Segoe UI" pitchFamily="34" charset="-122"/>
                <a:cs typeface="Segoe UI" pitchFamily="34" charset="-120"/>
              </a:rPr>
              <a:t>Custom skills live in OneDrive at /Documents/Cowork/skills/ as SKILL.md (up to 50, 1MB each)</a:t>
            </a:r>
            <a:endParaRPr lang="en-US" sz="1400" dirty="0"/>
          </a:p>
        </p:txBody>
      </p:sp>
      <p:pic>
        <p:nvPicPr>
          <p:cNvPr id="11" name="Image 3" descr="preencoded.png">    </p:cNvPr>
          <p:cNvPicPr>
            <a:picLocks noChangeAspect="1"/>
          </p:cNvPicPr>
          <p:nvPr/>
        </p:nvPicPr>
        <p:blipFill>
          <a:blip r:embed="rId6"/>
          <a:stretch>
            <a:fillRect/>
          </a:stretch>
        </p:blipFill>
        <p:spPr>
          <a:xfrm>
            <a:off x="640080" y="4901184"/>
            <a:ext cx="237744" cy="237744"/>
          </a:xfrm>
          <a:prstGeom prst="rect">
            <a:avLst/>
          </a:prstGeom>
        </p:spPr>
      </p:pic>
      <p:sp>
        <p:nvSpPr>
          <p:cNvPr id="12" name="Text 6"/>
          <p:cNvSpPr/>
          <p:nvPr/>
        </p:nvSpPr>
        <p:spPr>
          <a:xfrm>
            <a:off x="1005840" y="4846320"/>
            <a:ext cx="9144000" cy="365760"/>
          </a:xfrm>
          <a:prstGeom prst="rect">
            <a:avLst/>
          </a:prstGeom>
          <a:noFill/>
          <a:ln/>
        </p:spPr>
        <p:txBody>
          <a:bodyPr wrap="square" rtlCol="0" anchor="ctr"/>
          <a:lstStyle/>
          <a:p>
            <a:pPr indent="0" marL="0">
              <a:buNone/>
            </a:pPr>
            <a:r>
              <a:rPr lang="en-US" sz="1400" dirty="0">
                <a:solidFill>
                  <a:srgbClr val="E3E5F7"/>
                </a:solidFill>
                <a:latin typeface="Segoe UI" pitchFamily="34" charset="0"/>
                <a:ea typeface="Segoe UI" pitchFamily="34" charset="-122"/>
                <a:cs typeface="Segoe UI" pitchFamily="34" charset="-120"/>
              </a:rPr>
              <a:t>Model picker: Auto (default), GPT 5.5 Frontier, GPT 5.6 Sol/Terra, GPT 6 Astra, Opus 5, Claude Sonnet 5, Claude Fable 5.1</a:t>
            </a:r>
            <a:endParaRPr lang="en-US" sz="1400" dirty="0"/>
          </a:p>
        </p:txBody>
      </p:sp>
      <p:pic>
        <p:nvPicPr>
          <p:cNvPr id="13" name="Image 4" descr="preencoded.png">    </p:cNvPr>
          <p:cNvPicPr>
            <a:picLocks noChangeAspect="1"/>
          </p:cNvPicPr>
          <p:nvPr/>
        </p:nvPicPr>
        <p:blipFill>
          <a:blip r:embed="rId7"/>
          <a:stretch>
            <a:fillRect/>
          </a:stretch>
        </p:blipFill>
        <p:spPr>
          <a:xfrm>
            <a:off x="640080" y="5376672"/>
            <a:ext cx="237744" cy="237744"/>
          </a:xfrm>
          <a:prstGeom prst="rect">
            <a:avLst/>
          </a:prstGeom>
        </p:spPr>
      </p:pic>
      <p:sp>
        <p:nvSpPr>
          <p:cNvPr id="14" name="Text 7"/>
          <p:cNvSpPr/>
          <p:nvPr/>
        </p:nvSpPr>
        <p:spPr>
          <a:xfrm>
            <a:off x="1005840" y="5321808"/>
            <a:ext cx="9144000" cy="365760"/>
          </a:xfrm>
          <a:prstGeom prst="rect">
            <a:avLst/>
          </a:prstGeom>
          <a:noFill/>
          <a:ln/>
        </p:spPr>
        <p:txBody>
          <a:bodyPr wrap="square" rtlCol="0" anchor="ctr"/>
          <a:lstStyle/>
          <a:p>
            <a:pPr indent="0" marL="0">
              <a:buNone/>
            </a:pPr>
            <a:r>
              <a:rPr lang="en-US" sz="1400" dirty="0">
                <a:solidFill>
                  <a:srgbClr val="E3E5F7"/>
                </a:solidFill>
                <a:latin typeface="Segoe UI" pitchFamily="34" charset="0"/>
                <a:ea typeface="Segoe UI" pitchFamily="34" charset="-122"/>
                <a:cs typeface="Segoe UI" pitchFamily="34" charset="-120"/>
              </a:rPr>
              <a:t>Effort: Light / Medium (default) / High / Extra High / Max — higher is more thorough, but slower and uses more credits</a:t>
            </a:r>
            <a:endParaRPr lang="en-US" sz="1400" dirty="0"/>
          </a:p>
        </p:txBody>
      </p:sp>
      <p:pic>
        <p:nvPicPr>
          <p:cNvPr id="15" name="Image 5" descr="preencoded.png">    </p:cNvPr>
          <p:cNvPicPr>
            <a:picLocks noChangeAspect="1"/>
          </p:cNvPicPr>
          <p:nvPr/>
        </p:nvPicPr>
        <p:blipFill>
          <a:blip r:embed="rId8"/>
          <a:stretch>
            <a:fillRect/>
          </a:stretch>
        </p:blipFill>
        <p:spPr>
          <a:xfrm>
            <a:off x="640080" y="5852160"/>
            <a:ext cx="237744" cy="237744"/>
          </a:xfrm>
          <a:prstGeom prst="rect">
            <a:avLst/>
          </a:prstGeom>
        </p:spPr>
      </p:pic>
      <p:sp>
        <p:nvSpPr>
          <p:cNvPr id="16" name="Text 8"/>
          <p:cNvSpPr/>
          <p:nvPr/>
        </p:nvSpPr>
        <p:spPr>
          <a:xfrm>
            <a:off x="1005840" y="5797296"/>
            <a:ext cx="9144000" cy="365760"/>
          </a:xfrm>
          <a:prstGeom prst="rect">
            <a:avLst/>
          </a:prstGeom>
          <a:noFill/>
          <a:ln/>
        </p:spPr>
        <p:txBody>
          <a:bodyPr wrap="square" rtlCol="0" anchor="ctr"/>
          <a:lstStyle/>
          <a:p>
            <a:pPr indent="0" marL="0">
              <a:buNone/>
            </a:pPr>
            <a:r>
              <a:rPr lang="en-US" sz="1400" dirty="0">
                <a:solidFill>
                  <a:srgbClr val="E3E5F7"/>
                </a:solidFill>
                <a:latin typeface="Segoe UI" pitchFamily="34" charset="0"/>
                <a:ea typeface="Segoe UI" pitchFamily="34" charset="-122"/>
                <a:cs typeface="Segoe UI" pitchFamily="34" charset="-120"/>
              </a:rPr>
              <a:t>Want it to fire by itself? Set a scheduled prompt (up to 25) or an event-driven task (incoming mail / @mention) on the "Automations" page</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2377440"/>
            <a:ext cx="10058400" cy="1097280"/>
          </a:xfrm>
          <a:prstGeom prst="rect">
            <a:avLst/>
          </a:prstGeom>
          <a:noFill/>
          <a:ln/>
        </p:spPr>
        <p:txBody>
          <a:bodyPr wrap="square" rtlCol="0" anchor="ctr"/>
          <a:lstStyle/>
          <a:p>
            <a:pPr indent="0" marL="0">
              <a:buNone/>
            </a:pPr>
            <a:r>
              <a:rPr lang="en-US" sz="6000" b="1" dirty="0">
                <a:solidFill>
                  <a:srgbClr val="FFFFFF"/>
                </a:solidFill>
                <a:latin typeface="Segoe UI" pitchFamily="34" charset="0"/>
                <a:ea typeface="Segoe UI" pitchFamily="34" charset="-122"/>
                <a:cs typeface="Segoe UI" pitchFamily="34" charset="-120"/>
              </a:rPr>
              <a:t>Thank you</a:t>
            </a:r>
            <a:endParaRPr lang="en-US" sz="6000" dirty="0"/>
          </a:p>
        </p:txBody>
      </p:sp>
      <p:sp>
        <p:nvSpPr>
          <p:cNvPr id="3" name="Text 1"/>
          <p:cNvSpPr/>
          <p:nvPr/>
        </p:nvSpPr>
        <p:spPr>
          <a:xfrm>
            <a:off x="640080" y="3611880"/>
            <a:ext cx="10058400" cy="548640"/>
          </a:xfrm>
          <a:prstGeom prst="rect">
            <a:avLst/>
          </a:prstGeom>
          <a:noFill/>
          <a:ln/>
        </p:spPr>
        <p:txBody>
          <a:bodyPr wrap="square" rtlCol="0" anchor="ctr"/>
          <a:lstStyle/>
          <a:p>
            <a:pPr indent="0" marL="0">
              <a:buNone/>
            </a:pPr>
            <a:r>
              <a:rPr lang="en-US" sz="1800" dirty="0">
                <a:solidFill>
                  <a:srgbClr val="C7CAEC"/>
                </a:solidFill>
                <a:latin typeface="Segoe UI" pitchFamily="34" charset="0"/>
                <a:ea typeface="Segoe UI" pitchFamily="34" charset="-122"/>
                <a:cs typeface="Segoe UI" pitchFamily="34" charset="-120"/>
              </a:rPr>
              <a:t>From asking to delegating — you set the standard, Cowork does the work.</a:t>
            </a:r>
            <a:endParaRPr lang="en-US" sz="1800" dirty="0"/>
          </a:p>
        </p:txBody>
      </p:sp>
      <p:sp>
        <p:nvSpPr>
          <p:cNvPr id="4" name="Shape 2"/>
          <p:cNvSpPr/>
          <p:nvPr/>
        </p:nvSpPr>
        <p:spPr>
          <a:xfrm>
            <a:off x="640080" y="4389120"/>
            <a:ext cx="3200400" cy="0"/>
          </a:xfrm>
          <a:prstGeom prst="line">
            <a:avLst/>
          </a:prstGeom>
          <a:noFill/>
          <a:ln w="12700">
            <a:solidFill>
              <a:srgbClr val="FFFFFF">
                <a:alpha val="30000"/>
              </a:srgbClr>
            </a:solidFill>
            <a:prstDash val="solid"/>
          </a:ln>
        </p:spPr>
      </p:sp>
      <p:sp>
        <p:nvSpPr>
          <p:cNvPr id="5" name="Text 3"/>
          <p:cNvSpPr/>
          <p:nvPr/>
        </p:nvSpPr>
        <p:spPr>
          <a:xfrm>
            <a:off x="640080" y="4526280"/>
            <a:ext cx="10058400" cy="365760"/>
          </a:xfrm>
          <a:prstGeom prst="rect">
            <a:avLst/>
          </a:prstGeom>
          <a:noFill/>
          <a:ln/>
        </p:spPr>
        <p:txBody>
          <a:bodyPr wrap="square" rtlCol="0" anchor="ctr"/>
          <a:lstStyle/>
          <a:p>
            <a:pPr indent="0" marL="0">
              <a:buNone/>
            </a:pPr>
            <a:r>
              <a:rPr lang="en-US" sz="1200" dirty="0">
                <a:solidFill>
                  <a:srgbClr val="9FA3CC"/>
                </a:solidFill>
                <a:latin typeface="Segoe UI" pitchFamily="34" charset="0"/>
                <a:ea typeface="Segoe UI" pitchFamily="34" charset="-122"/>
                <a:cs typeface="Segoe UI" pitchFamily="34" charset="-120"/>
              </a:rPr>
              <a:t>Microsoft 365 Copilot Cowork · Training deck</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Microsoft 365 Copilot Cowork Training</dc:title>
  <dc:subject>PptxGenJS Presentation</dc:subject>
  <dc:creator>Andy Hung</dc:creator>
  <cp:lastModifiedBy>Andy Hung</cp:lastModifiedBy>
  <cp:revision>1</cp:revision>
  <dcterms:created xsi:type="dcterms:W3CDTF">2026-10-04T03:35:20Z</dcterms:created>
  <dcterms:modified xsi:type="dcterms:W3CDTF">2026-10-04T03:35:20Z</dcterms:modified>
</cp:coreProperties>
</file>