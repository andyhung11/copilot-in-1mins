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5-image-1.png"/><Relationship Id="rId2"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Segoe UI" pitchFamily="34" charset="0"/>
                <a:ea typeface="Segoe UI" pitchFamily="34" charset="-122"/>
                <a:cs typeface="Segoe U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Segoe UI" pitchFamily="34" charset="0"/>
                <a:ea typeface="Segoe UI" pitchFamily="34" charset="-122"/>
                <a:cs typeface="Segoe UI" pitchFamily="34" charset="-120"/>
              </a:rPr>
              <a:t>Agentic AI at work</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Segoe UI" pitchFamily="34" charset="0"/>
                <a:ea typeface="Segoe UI" pitchFamily="34" charset="-122"/>
                <a:cs typeface="Segoe UI" pitchFamily="34" charset="-120"/>
              </a:rPr>
              <a:t>Seven real airline engineering scenarios showing how Copilot executes across apps, shows a risk level before medium/high-risk actions, and waits for your approval</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Training deck · client-ready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we'll cover</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Meet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What agentic AI is, and how it differs from Copilot Chat</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Core capabilities</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Skills, workspace, approval before action, self-verification</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Set up your practice environment</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Seed the material into OneDrive and your mailbox first, so Cowork finds it itself</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Seven hands-on scenarios</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AD deadlines, deferred-item extensions, check-slot comparison, AOG response, bulletin-to-EO, reliability reporting, applicability skill — one workflow at a time</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Make it your own</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How to extend these scenarios to your own work</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From "chat" to "agentic execution"</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Segoe UI" pitchFamily="34" charset="0"/>
                <a:ea typeface="Segoe UI" pitchFamily="34" charset="-122"/>
                <a:cs typeface="Segoe UI" pitchFamily="34" charset="-120"/>
              </a:rPr>
              <a:t>Cowork is Copilot's </a:t>
            </a:r>
            <a:pPr indent="0" marL="0">
              <a:buNone/>
            </a:pPr>
            <a:r>
              <a:rPr lang="en-US" sz="2200" b="1" dirty="0">
                <a:solidFill>
                  <a:srgbClr val="6366F1"/>
                </a:solidFill>
                <a:latin typeface="Segoe UI" pitchFamily="34" charset="0"/>
                <a:ea typeface="Segoe UI" pitchFamily="34" charset="-122"/>
                <a:cs typeface="Segoe UI" pitchFamily="34" charset="-120"/>
              </a:rPr>
              <a:t>agentic</a:t>
            </a:r>
            <a:pPr indent="0" marL="0">
              <a:buNone/>
            </a:pPr>
            <a:r>
              <a:rPr lang="en-US" sz="2200" dirty="0">
                <a:solidFill>
                  <a:srgbClr val="000000"/>
                </a:solidFill>
                <a:latin typeface="Segoe UI" pitchFamily="34" charset="0"/>
                <a:ea typeface="Segoe UI" pitchFamily="34" charset="-122"/>
                <a:cs typeface="Segoe UI" pitchFamily="34" charset="-120"/>
              </a:rPr>
              <a:t> working mode.</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Segoe UI" pitchFamily="34" charset="0"/>
                <a:ea typeface="Segoe UI" pitchFamily="34" charset="-122"/>
                <a:cs typeface="Segoe UI" pitchFamily="34" charset="-120"/>
              </a:rPr>
              <a:t>You hand it a goal; it breaks the work into steps, reads your cloud files, loads the skills it needs, produces results across apps and checks its own work — pausing for your approval, with a risk level shown, before any medium or high-risk action. You move from quick single-turn answers to handing over a task that actually gets done.</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Copilot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Quick single-turn answers; great for instant replies and brainstorming.</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Cowork agent</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You give a goal; it executes autonomously across apps, for minutes to hours.</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You stay in charge</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Anything outbound or affecting others pauses for your approval.</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Cowork vs.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Quick single-turn Q&amp;A</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Quick single-turn Q&amp;A</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Hand over a goal; autonomous multi-step work across apps</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Seconds to minutes</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Seconds to minutes</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Minutes to hours (autonomous)</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Single step, single session</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Single step, single session</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Multi-step workflows across tasks and sources</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Paste in a snippet</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Paste in a snippet</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Reads cloud attachments and creates new files; no access to local files</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One conversational capability</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One conversational capability</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Loads 14 built-in skills plus your custom ones automatically</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Text in the chat window</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Text in the chat window</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Real documents, spreadsheets and decks in OneDrive</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have to open it and prompt every time</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have to open it and prompt every time</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Scheduled prompts / event-driven: runs on incoming mail or an @mention</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Grounded in M365 data</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Grounded in M365 data</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Connects to external systems via Plugins / MCP — the partner catalogue now lists 92 plugins (D365, SAP, Fabric and more)</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judge for yourself</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judge for yourself</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Medium/high-risk actions show a risk level and run only after approval</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Four things that set Cowork apart</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14 built-in skills</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Word, Excel, PowerPoint, PDF, Email, Scheduling, Calendar Management, Meetings, Daily Briefing, Enterprise Search, Deep Research, Communications, Adaptive Cards, App (Frontier).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The side panel shows progress, input files, output files, loaded skills, schedules and granted permissions all at once — the process stays traceable.</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Approval before action</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Medium/high-risk actions show a RISK-LEVEL; approve, cancel, or set don't-ask-again per recipient, per domain or always; multiple pending actions can be approved together.</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What's new</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050" dirty="0">
                <a:solidFill>
                  <a:srgbClr val="5B6079"/>
                </a:solidFill>
                <a:latin typeface="Segoe UI" pitchFamily="34" charset="0"/>
                <a:ea typeface="Segoe UI" pitchFamily="34" charset="-122"/>
                <a:cs typeface="Segoe UI" pitchFamily="34" charset="-120"/>
              </a:rPr>
              <a:t>Scheduled prompts (up to 25) and event-driven tasks; five Effort levels to balance quality against cost; every custom skill gets an automatic Skill Report (0–100 across four dimensions, plus five separate gates including a Safety and RAI scan); local Edge browser (GA since Aug 2026); image generation; Plugins / MCP for external systems.</a:t>
            </a:r>
            <a:endParaRPr lang="en-US" sz="105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happens inside one agentic workflow</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Take the goal</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Upload files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Give the instruction</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Plan</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Understand the task</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Break it into steps</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Load skills</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14 built-in</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 custom</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Execute</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Create documents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spreadsheets / mail</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Self-verify</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Check the numbers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and consistency</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Approval before action</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Outbound actions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wait for you</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Segoe UI" pitchFamily="34" charset="0"/>
                <a:ea typeface="Segoe UI" pitchFamily="34" charset="-122"/>
                <a:cs typeface="Segoe UI" pitchFamily="34" charset="-120"/>
              </a:rPr>
              <a:t>The whole process is visible in the "Workspace" panel; you can soft/hard pause, resume or cancel a task.</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Segoe UI" pitchFamily="34" charset="0"/>
                <a:ea typeface="Segoe UI" pitchFamily="34" charset="-122"/>
                <a:cs typeface="Segoe UI" pitchFamily="34" charset="-120"/>
              </a:rPr>
              <a:t>It doesn't only start from chat: you can also have it fire automatically when a matching email arrives or you're @mentioned (event-driven tasks) — with the same self-verification and approval flow.</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Set up your practice environment</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Segoe UI" pitchFamily="34" charset="0"/>
                <a:ea typeface="Segoe UI" pitchFamily="34" charset="-122"/>
                <a:cs typeface="Segoe UI" pitchFamily="34" charset="-120"/>
              </a:rPr>
              <a:t>Seed the material into OneDrive under Documents/Cowork_Lab/AirlineEngineering/ before the session, and Cowork will find it itself · Setup time about 20 minutes</a:t>
            </a:r>
            <a:endParaRPr lang="en-US" sz="1300" dirty="0"/>
          </a:p>
        </p:txBody>
      </p:sp>
      <p:sp>
        <p:nvSpPr>
          <p:cNvPr id="6" name="Shape 4"/>
          <p:cNvSpPr/>
          <p:nvPr/>
        </p:nvSpPr>
        <p:spPr>
          <a:xfrm>
            <a:off x="640080" y="1874520"/>
            <a:ext cx="5272888" cy="777240"/>
          </a:xfrm>
          <a:prstGeom prst="rect">
            <a:avLst/>
          </a:prstGeom>
          <a:solidFill>
            <a:srgbClr val="FFFFFF"/>
          </a:solidFill>
          <a:ln w="12700">
            <a:solidFill>
              <a:srgbClr val="E4E7F2"/>
            </a:solidFill>
            <a:prstDash val="solid"/>
          </a:ln>
        </p:spPr>
      </p:sp>
      <p:sp>
        <p:nvSpPr>
          <p:cNvPr id="7" name="Shape 5"/>
          <p:cNvSpPr/>
          <p:nvPr/>
        </p:nvSpPr>
        <p:spPr>
          <a:xfrm>
            <a:off x="640080" y="1874520"/>
            <a:ext cx="68580" cy="77724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 Understand how dates work in this material first</a:t>
            </a:r>
            <a:endParaRPr lang="en-US" sz="1250" dirty="0"/>
          </a:p>
        </p:txBody>
      </p:sp>
      <p:sp>
        <p:nvSpPr>
          <p:cNvPr id="10" name="Text 8"/>
          <p:cNvSpPr/>
          <p:nvPr/>
        </p:nvSpPr>
        <p:spPr>
          <a:xfrm>
            <a:off x="1243584"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The dates in this material are fixed simulated dates: th…</a:t>
            </a:r>
            <a:endParaRPr lang="en-US" sz="1050" dirty="0"/>
          </a:p>
        </p:txBody>
      </p:sp>
      <p:sp>
        <p:nvSpPr>
          <p:cNvPr id="11" name="Shape 9"/>
          <p:cNvSpPr/>
          <p:nvPr/>
        </p:nvSpPr>
        <p:spPr>
          <a:xfrm>
            <a:off x="6278728" y="1874520"/>
            <a:ext cx="5272888" cy="77724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77724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OneDrive folders and upload the material for all seven scenarios</a:t>
            </a:r>
            <a:endParaRPr lang="en-US" sz="1250" dirty="0"/>
          </a:p>
        </p:txBody>
      </p:sp>
      <p:sp>
        <p:nvSpPr>
          <p:cNvPr id="15" name="Text 13"/>
          <p:cNvSpPr/>
          <p:nvPr/>
        </p:nvSpPr>
        <p:spPr>
          <a:xfrm>
            <a:off x="6882232"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Documents/Cowork_Lab/AirlineEngineering/ in OneDr…</a:t>
            </a:r>
            <a:endParaRPr lang="en-US" sz="1050" dirty="0"/>
          </a:p>
        </p:txBody>
      </p:sp>
      <p:sp>
        <p:nvSpPr>
          <p:cNvPr id="16" name="Shape 14"/>
          <p:cNvSpPr/>
          <p:nvPr/>
        </p:nvSpPr>
        <p:spPr>
          <a:xfrm>
            <a:off x="640080" y="2779776"/>
            <a:ext cx="5272888" cy="777240"/>
          </a:xfrm>
          <a:prstGeom prst="rect">
            <a:avLst/>
          </a:prstGeom>
          <a:solidFill>
            <a:srgbClr val="FFFFFF"/>
          </a:solidFill>
          <a:ln w="12700">
            <a:solidFill>
              <a:srgbClr val="E4E7F2"/>
            </a:solidFill>
            <a:prstDash val="solid"/>
          </a:ln>
        </p:spPr>
      </p:sp>
      <p:sp>
        <p:nvSpPr>
          <p:cNvPr id="17" name="Shape 15"/>
          <p:cNvSpPr/>
          <p:nvPr/>
        </p:nvSpPr>
        <p:spPr>
          <a:xfrm>
            <a:off x="640080" y="2779776"/>
            <a:ext cx="68580" cy="777240"/>
          </a:xfrm>
          <a:prstGeom prst="rect">
            <a:avLst/>
          </a:prstGeom>
          <a:solidFill>
            <a:srgbClr val="6366F1"/>
          </a:solidFill>
          <a:ln/>
        </p:spPr>
      </p:sp>
      <p:sp>
        <p:nvSpPr>
          <p:cNvPr id="18" name="Text 16"/>
          <p:cNvSpPr/>
          <p:nvPr/>
        </p:nvSpPr>
        <p:spPr>
          <a:xfrm>
            <a:off x="804672" y="283464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9" name="Text 17"/>
          <p:cNvSpPr/>
          <p:nvPr/>
        </p:nvSpPr>
        <p:spPr>
          <a:xfrm>
            <a:off x="1243584" y="282549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Put the contact list in the parent folder — with addresses that really receive mail</a:t>
            </a:r>
            <a:endParaRPr lang="en-US" sz="1250" dirty="0"/>
          </a:p>
        </p:txBody>
      </p:sp>
      <p:sp>
        <p:nvSpPr>
          <p:cNvPr id="20" name="Text 18"/>
          <p:cNvSpPr/>
          <p:nvPr/>
        </p:nvSpPr>
        <p:spPr>
          <a:xfrm>
            <a:off x="1243584"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Contact_List.md belongs in the AirlineEngineering parent…</a:t>
            </a:r>
            <a:endParaRPr lang="en-US" sz="1050" dirty="0"/>
          </a:p>
        </p:txBody>
      </p:sp>
      <p:sp>
        <p:nvSpPr>
          <p:cNvPr id="21" name="Shape 19"/>
          <p:cNvSpPr/>
          <p:nvPr/>
        </p:nvSpPr>
        <p:spPr>
          <a:xfrm>
            <a:off x="6278728" y="2779776"/>
            <a:ext cx="5272888" cy="777240"/>
          </a:xfrm>
          <a:prstGeom prst="rect">
            <a:avLst/>
          </a:prstGeom>
          <a:solidFill>
            <a:srgbClr val="FFFFFF"/>
          </a:solidFill>
          <a:ln w="12700">
            <a:solidFill>
              <a:srgbClr val="E4E7F2"/>
            </a:solidFill>
            <a:prstDash val="solid"/>
          </a:ln>
        </p:spPr>
      </p:sp>
      <p:sp>
        <p:nvSpPr>
          <p:cNvPr id="22" name="Shape 20"/>
          <p:cNvSpPr/>
          <p:nvPr/>
        </p:nvSpPr>
        <p:spPr>
          <a:xfrm>
            <a:off x="6278728" y="2779776"/>
            <a:ext cx="68580" cy="777240"/>
          </a:xfrm>
          <a:prstGeom prst="rect">
            <a:avLst/>
          </a:prstGeom>
          <a:solidFill>
            <a:srgbClr val="6366F1"/>
          </a:solidFill>
          <a:ln/>
        </p:spPr>
      </p:sp>
      <p:sp>
        <p:nvSpPr>
          <p:cNvPr id="23" name="Text 21"/>
          <p:cNvSpPr/>
          <p:nvPr/>
        </p:nvSpPr>
        <p:spPr>
          <a:xfrm>
            <a:off x="6443320" y="283464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4" name="Text 22"/>
          <p:cNvSpPr/>
          <p:nvPr/>
        </p:nvSpPr>
        <p:spPr>
          <a:xfrm>
            <a:off x="6882232" y="282549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Send yourself one email — the background for scenario 4</a:t>
            </a:r>
            <a:endParaRPr lang="en-US" sz="1250" dirty="0"/>
          </a:p>
        </p:txBody>
      </p:sp>
      <p:sp>
        <p:nvSpPr>
          <p:cNvPr id="25" name="Text 23"/>
          <p:cNvSpPr/>
          <p:nvPr/>
        </p:nvSpPr>
        <p:spPr>
          <a:xfrm>
            <a:off x="6882232"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Send it to yourself from your own account, copying the s…</a:t>
            </a:r>
            <a:endParaRPr lang="en-US" sz="1050" dirty="0"/>
          </a:p>
        </p:txBody>
      </p:sp>
      <p:sp>
        <p:nvSpPr>
          <p:cNvPr id="26" name="Shape 24"/>
          <p:cNvSpPr/>
          <p:nvPr/>
        </p:nvSpPr>
        <p:spPr>
          <a:xfrm>
            <a:off x="640080" y="3685032"/>
            <a:ext cx="5272888" cy="777240"/>
          </a:xfrm>
          <a:prstGeom prst="rect">
            <a:avLst/>
          </a:prstGeom>
          <a:solidFill>
            <a:srgbClr val="FFFFFF"/>
          </a:solidFill>
          <a:ln w="12700">
            <a:solidFill>
              <a:srgbClr val="E4E7F2"/>
            </a:solidFill>
            <a:prstDash val="solid"/>
          </a:ln>
        </p:spPr>
      </p:sp>
      <p:sp>
        <p:nvSpPr>
          <p:cNvPr id="27" name="Shape 25"/>
          <p:cNvSpPr/>
          <p:nvPr/>
        </p:nvSpPr>
        <p:spPr>
          <a:xfrm>
            <a:off x="640080" y="3685032"/>
            <a:ext cx="68580" cy="777240"/>
          </a:xfrm>
          <a:prstGeom prst="rect">
            <a:avLst/>
          </a:prstGeom>
          <a:solidFill>
            <a:srgbClr val="6366F1"/>
          </a:solidFill>
          <a:ln/>
        </p:spPr>
      </p:sp>
      <p:sp>
        <p:nvSpPr>
          <p:cNvPr id="28" name="Text 26"/>
          <p:cNvSpPr/>
          <p:nvPr/>
        </p:nvSpPr>
        <p:spPr>
          <a:xfrm>
            <a:off x="804672" y="373989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9" name="Text 27"/>
          <p:cNvSpPr/>
          <p:nvPr/>
        </p:nvSpPr>
        <p:spPr>
          <a:xfrm>
            <a:off x="1243584" y="373075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maintenance channel and post the first message (scenario 4)</a:t>
            </a:r>
            <a:endParaRPr lang="en-US" sz="1250" dirty="0"/>
          </a:p>
        </p:txBody>
      </p:sp>
      <p:sp>
        <p:nvSpPr>
          <p:cNvPr id="30" name="Text 28"/>
          <p:cNvSpPr/>
          <p:nvPr/>
        </p:nvSpPr>
        <p:spPr>
          <a:xfrm>
            <a:off x="1243584"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a channel called Maintenance Alerts in any team y…</a:t>
            </a:r>
            <a:endParaRPr lang="en-US" sz="1050" dirty="0"/>
          </a:p>
        </p:txBody>
      </p:sp>
      <p:sp>
        <p:nvSpPr>
          <p:cNvPr id="31" name="Shape 29"/>
          <p:cNvSpPr/>
          <p:nvPr/>
        </p:nvSpPr>
        <p:spPr>
          <a:xfrm>
            <a:off x="6278728" y="3685032"/>
            <a:ext cx="5272888" cy="777240"/>
          </a:xfrm>
          <a:prstGeom prst="rect">
            <a:avLst/>
          </a:prstGeom>
          <a:solidFill>
            <a:srgbClr val="FFFFFF"/>
          </a:solidFill>
          <a:ln w="12700">
            <a:solidFill>
              <a:srgbClr val="E4E7F2"/>
            </a:solidFill>
            <a:prstDash val="solid"/>
          </a:ln>
        </p:spPr>
      </p:sp>
      <p:sp>
        <p:nvSpPr>
          <p:cNvPr id="32" name="Shape 30"/>
          <p:cNvSpPr/>
          <p:nvPr/>
        </p:nvSpPr>
        <p:spPr>
          <a:xfrm>
            <a:off x="6278728" y="3685032"/>
            <a:ext cx="68580" cy="777240"/>
          </a:xfrm>
          <a:prstGeom prst="rect">
            <a:avLst/>
          </a:prstGeom>
          <a:solidFill>
            <a:srgbClr val="6366F1"/>
          </a:solidFill>
          <a:ln/>
        </p:spPr>
      </p:sp>
      <p:sp>
        <p:nvSpPr>
          <p:cNvPr id="33" name="Text 31"/>
          <p:cNvSpPr/>
          <p:nvPr/>
        </p:nvSpPr>
        <p:spPr>
          <a:xfrm>
            <a:off x="6443320" y="373989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4" name="Text 32"/>
          <p:cNvSpPr/>
          <p:nvPr/>
        </p:nvSpPr>
        <p:spPr>
          <a:xfrm>
            <a:off x="6882232" y="373075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Download the two files in 上傳用/ to your PC — do not put them in OneDrive</a:t>
            </a:r>
            <a:endParaRPr lang="en-US" sz="1250" dirty="0"/>
          </a:p>
        </p:txBody>
      </p:sp>
      <p:sp>
        <p:nvSpPr>
          <p:cNvPr id="35" name="Text 33"/>
          <p:cNvSpPr/>
          <p:nvPr/>
        </p:nvSpPr>
        <p:spPr>
          <a:xfrm>
            <a:off x="6882232"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AIR5_Service_Bulletin_NW350-28-1142.pdf (scenario 5) and…</a:t>
            </a:r>
            <a:endParaRPr lang="en-US" sz="1050" dirty="0"/>
          </a:p>
        </p:txBody>
      </p:sp>
      <p:sp>
        <p:nvSpPr>
          <p:cNvPr id="36" name="Shape 34"/>
          <p:cNvSpPr/>
          <p:nvPr/>
        </p:nvSpPr>
        <p:spPr>
          <a:xfrm>
            <a:off x="640080" y="4590288"/>
            <a:ext cx="5272888" cy="777240"/>
          </a:xfrm>
          <a:prstGeom prst="rect">
            <a:avLst/>
          </a:prstGeom>
          <a:solidFill>
            <a:srgbClr val="FFFFFF"/>
          </a:solidFill>
          <a:ln w="12700">
            <a:solidFill>
              <a:srgbClr val="E4E7F2"/>
            </a:solidFill>
            <a:prstDash val="solid"/>
          </a:ln>
        </p:spPr>
      </p:sp>
      <p:sp>
        <p:nvSpPr>
          <p:cNvPr id="37" name="Shape 35"/>
          <p:cNvSpPr/>
          <p:nvPr/>
        </p:nvSpPr>
        <p:spPr>
          <a:xfrm>
            <a:off x="640080" y="4590288"/>
            <a:ext cx="68580" cy="777240"/>
          </a:xfrm>
          <a:prstGeom prst="rect">
            <a:avLst/>
          </a:prstGeom>
          <a:solidFill>
            <a:srgbClr val="6366F1"/>
          </a:solidFill>
          <a:ln/>
        </p:spPr>
      </p:sp>
      <p:sp>
        <p:nvSpPr>
          <p:cNvPr id="38" name="Text 36"/>
          <p:cNvSpPr/>
          <p:nvPr/>
        </p:nvSpPr>
        <p:spPr>
          <a:xfrm>
            <a:off x="804672" y="4645152"/>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9" name="Text 37"/>
          <p:cNvSpPr/>
          <p:nvPr/>
        </p:nvSpPr>
        <p:spPr>
          <a:xfrm>
            <a:off x="1243584" y="4636008"/>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Check the skills path is writable, and do scenario 7 on desktop</a:t>
            </a:r>
            <a:endParaRPr lang="en-US" sz="1250" dirty="0"/>
          </a:p>
        </p:txBody>
      </p:sp>
      <p:sp>
        <p:nvSpPr>
          <p:cNvPr id="40" name="Text 38"/>
          <p:cNvSpPr/>
          <p:nvPr/>
        </p:nvSpPr>
        <p:spPr>
          <a:xfrm>
            <a:off x="1243584"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Scenario 7 has Cowork create a custom skill at OneDrive/…</a:t>
            </a:r>
            <a:endParaRPr lang="en-US" sz="1050" dirty="0"/>
          </a:p>
        </p:txBody>
      </p:sp>
      <p:sp>
        <p:nvSpPr>
          <p:cNvPr id="41" name="Shape 39"/>
          <p:cNvSpPr/>
          <p:nvPr/>
        </p:nvSpPr>
        <p:spPr>
          <a:xfrm>
            <a:off x="640080" y="5532120"/>
            <a:ext cx="10911535" cy="749808"/>
          </a:xfrm>
          <a:prstGeom prst="rect">
            <a:avLst/>
          </a:prstGeom>
          <a:solidFill>
            <a:srgbClr val="FFFFFF"/>
          </a:solidFill>
          <a:ln w="12700">
            <a:solidFill>
              <a:srgbClr val="E4E7F2"/>
            </a:solidFill>
            <a:prstDash val="solid"/>
          </a:ln>
        </p:spPr>
      </p:sp>
      <p:sp>
        <p:nvSpPr>
          <p:cNvPr id="42" name="Shape 40"/>
          <p:cNvSpPr/>
          <p:nvPr/>
        </p:nvSpPr>
        <p:spPr>
          <a:xfrm>
            <a:off x="640080" y="5532120"/>
            <a:ext cx="91440" cy="749808"/>
          </a:xfrm>
          <a:prstGeom prst="rect">
            <a:avLst/>
          </a:prstGeom>
          <a:solidFill>
            <a:srgbClr val="6366F1"/>
          </a:solidFill>
          <a:ln/>
        </p:spPr>
      </p:sp>
      <p:sp>
        <p:nvSpPr>
          <p:cNvPr id="43" name="Text 41"/>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Segoe UI" pitchFamily="34" charset="0"/>
                <a:ea typeface="Segoe UI" pitchFamily="34" charset="-122"/>
                <a:cs typeface="Segoe UI" pitchFamily="34" charset="-120"/>
              </a:rPr>
              <a:t>Final check before the session</a:t>
            </a:r>
            <a:endParaRPr lang="en-US" sz="1200" dirty="0"/>
          </a:p>
        </p:txBody>
      </p:sp>
      <p:pic>
        <p:nvPicPr>
          <p:cNvPr id="44"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45" name="Text 42"/>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All seven subfolders under AirlineEngineering exist in OneDrive and the files open</a:t>
            </a:r>
            <a:endParaRPr lang="en-US" sz="1050" dirty="0"/>
          </a:p>
        </p:txBody>
      </p:sp>
      <p:pic>
        <p:nvPicPr>
          <p:cNvPr id="46"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47" name="Text 43"/>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contact list sits in the AirlineEngineering parent folder, not inside a subfolder, and the email column contains addresses that actually receive mail</a:t>
            </a:r>
            <a:endParaRPr lang="en-US" sz="1050" dirty="0"/>
          </a:p>
        </p:txBody>
      </p:sp>
      <p:pic>
        <p:nvPicPr>
          <p:cNvPr id="48"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49" name="Text 44"/>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MOC night shift handover note is in the inbox, not in junk</a:t>
            </a:r>
            <a:endParaRPr lang="en-US" sz="1050" dirty="0"/>
          </a:p>
        </p:txBody>
      </p:sp>
      <p:sp>
        <p:nvSpPr>
          <p:cNvPr id="50"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51"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7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Seven hands-on scenarios</a:t>
            </a:r>
            <a:endParaRPr lang="en-US" sz="3000" dirty="0"/>
          </a:p>
        </p:txBody>
      </p:sp>
      <p:sp>
        <p:nvSpPr>
          <p:cNvPr id="5" name="Shape 3"/>
          <p:cNvSpPr/>
          <p:nvPr/>
        </p:nvSpPr>
        <p:spPr>
          <a:xfrm>
            <a:off x="640080"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355010" cy="109728"/>
          </a:xfrm>
          <a:prstGeom prst="rect">
            <a:avLst/>
          </a:prstGeom>
          <a:solidFill>
            <a:srgbClr val="0E2A47"/>
          </a:solidFill>
          <a:ln/>
        </p:spPr>
      </p:sp>
      <p:sp>
        <p:nvSpPr>
          <p:cNvPr id="7" name="Shape 5"/>
          <p:cNvSpPr/>
          <p:nvPr/>
        </p:nvSpPr>
        <p:spPr>
          <a:xfrm>
            <a:off x="860385" y="2194560"/>
            <a:ext cx="914400" cy="914400"/>
          </a:xfrm>
          <a:prstGeom prst="ellipse">
            <a:avLst/>
          </a:prstGeom>
          <a:solidFill>
            <a:srgbClr val="0E2A47"/>
          </a:solidFill>
          <a:ln/>
        </p:spPr>
      </p:sp>
      <p:pic>
        <p:nvPicPr>
          <p:cNvPr id="8" name="Image 0" descr="preencoded.png">    </p:cNvPr>
          <p:cNvPicPr>
            <a:picLocks noChangeAspect="1"/>
          </p:cNvPicPr>
          <p:nvPr/>
        </p:nvPicPr>
        <p:blipFill>
          <a:blip r:embed="rId1"/>
          <a:stretch>
            <a:fillRect/>
          </a:stretch>
        </p:blipFill>
        <p:spPr>
          <a:xfrm>
            <a:off x="1061553" y="2395728"/>
            <a:ext cx="512064" cy="512064"/>
          </a:xfrm>
          <a:prstGeom prst="rect">
            <a:avLst/>
          </a:prstGeom>
        </p:spPr>
      </p:pic>
      <p:sp>
        <p:nvSpPr>
          <p:cNvPr id="9" name="Text 6"/>
          <p:cNvSpPr/>
          <p:nvPr/>
        </p:nvSpPr>
        <p:spPr>
          <a:xfrm>
            <a:off x="731520" y="3163824"/>
            <a:ext cx="1172130" cy="296189"/>
          </a:xfrm>
          <a:prstGeom prst="rect">
            <a:avLst/>
          </a:prstGeom>
          <a:noFill/>
          <a:ln/>
        </p:spPr>
        <p:txBody>
          <a:bodyPr wrap="square" rtlCol="0" anchor="t"/>
          <a:lstStyle/>
          <a:p>
            <a:pPr algn="ctr" indent="0" marL="0">
              <a:buNone/>
            </a:pPr>
            <a:r>
              <a:rPr lang="en-US" sz="897" b="1" dirty="0">
                <a:solidFill>
                  <a:srgbClr val="0E2A47"/>
                </a:solidFill>
                <a:latin typeface="Segoe UI" pitchFamily="34" charset="0"/>
                <a:ea typeface="Segoe UI" pitchFamily="34" charset="-122"/>
                <a:cs typeface="Segoe UI" pitchFamily="34" charset="-120"/>
              </a:rPr>
              <a:t>Airline · Engineering</a:t>
            </a:r>
            <a:endParaRPr lang="en-US" sz="897" dirty="0"/>
          </a:p>
        </p:txBody>
      </p:sp>
      <p:sp>
        <p:nvSpPr>
          <p:cNvPr id="10" name="Text 7"/>
          <p:cNvSpPr/>
          <p:nvPr/>
        </p:nvSpPr>
        <p:spPr>
          <a:xfrm>
            <a:off x="731520" y="3514877"/>
            <a:ext cx="1172130" cy="965835"/>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The AD Radar: the Smallest Number Is Not the Nearest Deadline</a:t>
            </a:r>
            <a:endParaRPr lang="en-US" sz="1170" dirty="0"/>
          </a:p>
        </p:txBody>
      </p:sp>
      <p:sp>
        <p:nvSpPr>
          <p:cNvPr id="11" name="Text 8"/>
          <p:cNvSpPr/>
          <p:nvPr/>
        </p:nvSpPr>
        <p:spPr>
          <a:xfrm>
            <a:off x="731520" y="4563008"/>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Daily Briefing · Excel · Scheduled prompt</a:t>
            </a:r>
            <a:endParaRPr lang="en-US" sz="936" dirty="0"/>
          </a:p>
        </p:txBody>
      </p:sp>
      <p:sp>
        <p:nvSpPr>
          <p:cNvPr id="12" name="Text 9"/>
          <p:cNvSpPr/>
          <p:nvPr/>
        </p:nvSpPr>
        <p:spPr>
          <a:xfrm>
            <a:off x="731520" y="5108905"/>
            <a:ext cx="1172130"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~15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13" name="Shape 10"/>
          <p:cNvSpPr/>
          <p:nvPr/>
        </p:nvSpPr>
        <p:spPr>
          <a:xfrm>
            <a:off x="2232834"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232834" y="1828800"/>
            <a:ext cx="1355010" cy="109728"/>
          </a:xfrm>
          <a:prstGeom prst="rect">
            <a:avLst/>
          </a:prstGeom>
          <a:solidFill>
            <a:srgbClr val="0F5132"/>
          </a:solidFill>
          <a:ln/>
        </p:spPr>
      </p:sp>
      <p:sp>
        <p:nvSpPr>
          <p:cNvPr id="15" name="Shape 12"/>
          <p:cNvSpPr/>
          <p:nvPr/>
        </p:nvSpPr>
        <p:spPr>
          <a:xfrm>
            <a:off x="2453139" y="2194560"/>
            <a:ext cx="914400" cy="914400"/>
          </a:xfrm>
          <a:prstGeom prst="ellipse">
            <a:avLst/>
          </a:prstGeom>
          <a:solidFill>
            <a:srgbClr val="0F5132"/>
          </a:solidFill>
          <a:ln/>
        </p:spPr>
      </p:sp>
      <p:pic>
        <p:nvPicPr>
          <p:cNvPr id="16" name="Image 1" descr="preencoded.png">    </p:cNvPr>
          <p:cNvPicPr>
            <a:picLocks noChangeAspect="1"/>
          </p:cNvPicPr>
          <p:nvPr/>
        </p:nvPicPr>
        <p:blipFill>
          <a:blip r:embed="rId2"/>
          <a:stretch>
            <a:fillRect/>
          </a:stretch>
        </p:blipFill>
        <p:spPr>
          <a:xfrm>
            <a:off x="2654307" y="2395728"/>
            <a:ext cx="512064" cy="512064"/>
          </a:xfrm>
          <a:prstGeom prst="rect">
            <a:avLst/>
          </a:prstGeom>
        </p:spPr>
      </p:pic>
      <p:sp>
        <p:nvSpPr>
          <p:cNvPr id="17" name="Text 13"/>
          <p:cNvSpPr/>
          <p:nvPr/>
        </p:nvSpPr>
        <p:spPr>
          <a:xfrm>
            <a:off x="2324274" y="3163824"/>
            <a:ext cx="1172130" cy="273406"/>
          </a:xfrm>
          <a:prstGeom prst="rect">
            <a:avLst/>
          </a:prstGeom>
          <a:noFill/>
          <a:ln/>
        </p:spPr>
        <p:txBody>
          <a:bodyPr wrap="square" rtlCol="0" anchor="t"/>
          <a:lstStyle/>
          <a:p>
            <a:pPr algn="ctr" indent="0" marL="0">
              <a:buNone/>
            </a:pPr>
            <a:r>
              <a:rPr lang="en-US" sz="828" b="1" dirty="0">
                <a:solidFill>
                  <a:srgbClr val="0F5132"/>
                </a:solidFill>
                <a:latin typeface="Segoe UI" pitchFamily="34" charset="0"/>
                <a:ea typeface="Segoe UI" pitchFamily="34" charset="-122"/>
                <a:cs typeface="Segoe UI" pitchFamily="34" charset="-120"/>
              </a:rPr>
              <a:t>Airline · Engineering</a:t>
            </a:r>
            <a:endParaRPr lang="en-US" sz="828" dirty="0"/>
          </a:p>
        </p:txBody>
      </p:sp>
      <p:sp>
        <p:nvSpPr>
          <p:cNvPr id="18" name="Text 14"/>
          <p:cNvSpPr/>
          <p:nvPr/>
        </p:nvSpPr>
        <p:spPr>
          <a:xfrm>
            <a:off x="2324274" y="3492094"/>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Deferred Items: the Strictest Category Is Not the Tightest Clock</a:t>
            </a:r>
            <a:endParaRPr lang="en-US" sz="1080" dirty="0"/>
          </a:p>
        </p:txBody>
      </p:sp>
      <p:sp>
        <p:nvSpPr>
          <p:cNvPr id="19" name="Text 15"/>
          <p:cNvSpPr/>
          <p:nvPr/>
        </p:nvSpPr>
        <p:spPr>
          <a:xfrm>
            <a:off x="2324274" y="4644238"/>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Excel · Edit existing file</a:t>
            </a:r>
            <a:endParaRPr lang="en-US" sz="864" dirty="0"/>
          </a:p>
        </p:txBody>
      </p:sp>
      <p:sp>
        <p:nvSpPr>
          <p:cNvPr id="20" name="Text 16"/>
          <p:cNvSpPr/>
          <p:nvPr/>
        </p:nvSpPr>
        <p:spPr>
          <a:xfrm>
            <a:off x="2324274" y="5011826"/>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~18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1" name="Shape 17"/>
          <p:cNvSpPr/>
          <p:nvPr/>
        </p:nvSpPr>
        <p:spPr>
          <a:xfrm>
            <a:off x="3825588"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3825588" y="1828800"/>
            <a:ext cx="1355010" cy="109728"/>
          </a:xfrm>
          <a:prstGeom prst="rect">
            <a:avLst/>
          </a:prstGeom>
          <a:solidFill>
            <a:srgbClr val="6B3FA0"/>
          </a:solidFill>
          <a:ln/>
        </p:spPr>
      </p:sp>
      <p:sp>
        <p:nvSpPr>
          <p:cNvPr id="23" name="Shape 19"/>
          <p:cNvSpPr/>
          <p:nvPr/>
        </p:nvSpPr>
        <p:spPr>
          <a:xfrm>
            <a:off x="4045893" y="2194560"/>
            <a:ext cx="914400" cy="914400"/>
          </a:xfrm>
          <a:prstGeom prst="ellipse">
            <a:avLst/>
          </a:prstGeom>
          <a:solidFill>
            <a:srgbClr val="6B3FA0"/>
          </a:solidFill>
          <a:ln/>
        </p:spPr>
      </p:sp>
      <p:pic>
        <p:nvPicPr>
          <p:cNvPr id="24" name="Image 2" descr="preencoded.png">    </p:cNvPr>
          <p:cNvPicPr>
            <a:picLocks noChangeAspect="1"/>
          </p:cNvPicPr>
          <p:nvPr/>
        </p:nvPicPr>
        <p:blipFill>
          <a:blip r:embed="rId3"/>
          <a:stretch>
            <a:fillRect/>
          </a:stretch>
        </p:blipFill>
        <p:spPr>
          <a:xfrm>
            <a:off x="4247061" y="2395728"/>
            <a:ext cx="512064" cy="512064"/>
          </a:xfrm>
          <a:prstGeom prst="rect">
            <a:avLst/>
          </a:prstGeom>
        </p:spPr>
      </p:pic>
      <p:sp>
        <p:nvSpPr>
          <p:cNvPr id="25" name="Text 20"/>
          <p:cNvSpPr/>
          <p:nvPr/>
        </p:nvSpPr>
        <p:spPr>
          <a:xfrm>
            <a:off x="3917028" y="3163824"/>
            <a:ext cx="1172130" cy="296189"/>
          </a:xfrm>
          <a:prstGeom prst="rect">
            <a:avLst/>
          </a:prstGeom>
          <a:noFill/>
          <a:ln/>
        </p:spPr>
        <p:txBody>
          <a:bodyPr wrap="square" rtlCol="0" anchor="t"/>
          <a:lstStyle/>
          <a:p>
            <a:pPr algn="ctr" indent="0" marL="0">
              <a:buNone/>
            </a:pPr>
            <a:r>
              <a:rPr lang="en-US" sz="897" b="1" dirty="0">
                <a:solidFill>
                  <a:srgbClr val="6B3FA0"/>
                </a:solidFill>
                <a:latin typeface="Segoe UI" pitchFamily="34" charset="0"/>
                <a:ea typeface="Segoe UI" pitchFamily="34" charset="-122"/>
                <a:cs typeface="Segoe UI" pitchFamily="34" charset="-120"/>
              </a:rPr>
              <a:t>Airline · Engineering</a:t>
            </a:r>
            <a:endParaRPr lang="en-US" sz="897" dirty="0"/>
          </a:p>
        </p:txBody>
      </p:sp>
      <p:sp>
        <p:nvSpPr>
          <p:cNvPr id="26" name="Text 21"/>
          <p:cNvSpPr/>
          <p:nvPr/>
        </p:nvSpPr>
        <p:spPr>
          <a:xfrm>
            <a:off x="3917028" y="3514877"/>
            <a:ext cx="1172130" cy="772668"/>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Three Check Slots: the Cheapest One Does Not Work</a:t>
            </a:r>
            <a:endParaRPr lang="en-US" sz="1170" dirty="0"/>
          </a:p>
        </p:txBody>
      </p:sp>
      <p:sp>
        <p:nvSpPr>
          <p:cNvPr id="27" name="Text 22"/>
          <p:cNvSpPr/>
          <p:nvPr/>
        </p:nvSpPr>
        <p:spPr>
          <a:xfrm>
            <a:off x="3917028" y="4369841"/>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Adaptive Cards · Excel · Scheduling</a:t>
            </a:r>
            <a:endParaRPr lang="en-US" sz="936" dirty="0"/>
          </a:p>
        </p:txBody>
      </p:sp>
      <p:sp>
        <p:nvSpPr>
          <p:cNvPr id="28" name="Text 23"/>
          <p:cNvSpPr/>
          <p:nvPr/>
        </p:nvSpPr>
        <p:spPr>
          <a:xfrm>
            <a:off x="3917028" y="4915738"/>
            <a:ext cx="1172130"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~15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29" name="Shape 24"/>
          <p:cNvSpPr/>
          <p:nvPr/>
        </p:nvSpPr>
        <p:spPr>
          <a:xfrm>
            <a:off x="5418343"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5418343" y="1828800"/>
            <a:ext cx="1355010" cy="109728"/>
          </a:xfrm>
          <a:prstGeom prst="rect">
            <a:avLst/>
          </a:prstGeom>
          <a:solidFill>
            <a:srgbClr val="B42318"/>
          </a:solidFill>
          <a:ln/>
        </p:spPr>
      </p:sp>
      <p:sp>
        <p:nvSpPr>
          <p:cNvPr id="31" name="Shape 26"/>
          <p:cNvSpPr/>
          <p:nvPr/>
        </p:nvSpPr>
        <p:spPr>
          <a:xfrm>
            <a:off x="5638648" y="2194560"/>
            <a:ext cx="914400" cy="914400"/>
          </a:xfrm>
          <a:prstGeom prst="ellipse">
            <a:avLst/>
          </a:prstGeom>
          <a:solidFill>
            <a:srgbClr val="B42318"/>
          </a:solidFill>
          <a:ln/>
        </p:spPr>
      </p:sp>
      <p:pic>
        <p:nvPicPr>
          <p:cNvPr id="32" name="Image 3" descr="preencoded.png">    </p:cNvPr>
          <p:cNvPicPr>
            <a:picLocks noChangeAspect="1"/>
          </p:cNvPicPr>
          <p:nvPr/>
        </p:nvPicPr>
        <p:blipFill>
          <a:blip r:embed="rId4"/>
          <a:stretch>
            <a:fillRect/>
          </a:stretch>
        </p:blipFill>
        <p:spPr>
          <a:xfrm>
            <a:off x="5839816" y="2395728"/>
            <a:ext cx="512064" cy="512064"/>
          </a:xfrm>
          <a:prstGeom prst="rect">
            <a:avLst/>
          </a:prstGeom>
        </p:spPr>
      </p:pic>
      <p:sp>
        <p:nvSpPr>
          <p:cNvPr id="33" name="Text 27"/>
          <p:cNvSpPr/>
          <p:nvPr/>
        </p:nvSpPr>
        <p:spPr>
          <a:xfrm>
            <a:off x="5509783" y="3163824"/>
            <a:ext cx="1172130" cy="296189"/>
          </a:xfrm>
          <a:prstGeom prst="rect">
            <a:avLst/>
          </a:prstGeom>
          <a:noFill/>
          <a:ln/>
        </p:spPr>
        <p:txBody>
          <a:bodyPr wrap="square" rtlCol="0" anchor="t"/>
          <a:lstStyle/>
          <a:p>
            <a:pPr algn="ctr" indent="0" marL="0">
              <a:buNone/>
            </a:pPr>
            <a:r>
              <a:rPr lang="en-US" sz="897" b="1" dirty="0">
                <a:solidFill>
                  <a:srgbClr val="B42318"/>
                </a:solidFill>
                <a:latin typeface="Segoe UI" pitchFamily="34" charset="0"/>
                <a:ea typeface="Segoe UI" pitchFamily="34" charset="-122"/>
                <a:cs typeface="Segoe UI" pitchFamily="34" charset="-120"/>
              </a:rPr>
              <a:t>Airline · Engineering</a:t>
            </a:r>
            <a:endParaRPr lang="en-US" sz="897" dirty="0"/>
          </a:p>
        </p:txBody>
      </p:sp>
      <p:sp>
        <p:nvSpPr>
          <p:cNvPr id="34" name="Text 28"/>
          <p:cNvSpPr/>
          <p:nvPr/>
        </p:nvSpPr>
        <p:spPr>
          <a:xfrm>
            <a:off x="5509783" y="3514877"/>
            <a:ext cx="1172130" cy="579501"/>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AOG: the Four Hours Are Not the Problem</a:t>
            </a:r>
            <a:endParaRPr lang="en-US" sz="1170" dirty="0"/>
          </a:p>
        </p:txBody>
      </p:sp>
      <p:sp>
        <p:nvSpPr>
          <p:cNvPr id="35" name="Text 29"/>
          <p:cNvSpPr/>
          <p:nvPr/>
        </p:nvSpPr>
        <p:spPr>
          <a:xfrm>
            <a:off x="5509783" y="4176674"/>
            <a:ext cx="1172130" cy="618134"/>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Event trigger · Excel · Email · Enterprise Search</a:t>
            </a:r>
            <a:endParaRPr lang="en-US" sz="936" dirty="0"/>
          </a:p>
        </p:txBody>
      </p:sp>
      <p:sp>
        <p:nvSpPr>
          <p:cNvPr id="36" name="Text 30"/>
          <p:cNvSpPr/>
          <p:nvPr/>
        </p:nvSpPr>
        <p:spPr>
          <a:xfrm>
            <a:off x="5509783" y="4877105"/>
            <a:ext cx="1172130"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~25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37" name="Shape 31"/>
          <p:cNvSpPr/>
          <p:nvPr/>
        </p:nvSpPr>
        <p:spPr>
          <a:xfrm>
            <a:off x="7011097"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7011097" y="1828800"/>
            <a:ext cx="1355010" cy="109728"/>
          </a:xfrm>
          <a:prstGeom prst="rect">
            <a:avLst/>
          </a:prstGeom>
          <a:solidFill>
            <a:srgbClr val="1F4E79"/>
          </a:solidFill>
          <a:ln/>
        </p:spPr>
      </p:sp>
      <p:sp>
        <p:nvSpPr>
          <p:cNvPr id="39" name="Shape 33"/>
          <p:cNvSpPr/>
          <p:nvPr/>
        </p:nvSpPr>
        <p:spPr>
          <a:xfrm>
            <a:off x="7231402" y="2194560"/>
            <a:ext cx="914400" cy="914400"/>
          </a:xfrm>
          <a:prstGeom prst="ellipse">
            <a:avLst/>
          </a:prstGeom>
          <a:solidFill>
            <a:srgbClr val="1F4E79"/>
          </a:solidFill>
          <a:ln/>
        </p:spPr>
      </p:sp>
      <p:pic>
        <p:nvPicPr>
          <p:cNvPr id="40" name="Image 4" descr="preencoded.png">    </p:cNvPr>
          <p:cNvPicPr>
            <a:picLocks noChangeAspect="1"/>
          </p:cNvPicPr>
          <p:nvPr/>
        </p:nvPicPr>
        <p:blipFill>
          <a:blip r:embed="rId5"/>
          <a:stretch>
            <a:fillRect/>
          </a:stretch>
        </p:blipFill>
        <p:spPr>
          <a:xfrm>
            <a:off x="7432570" y="2395728"/>
            <a:ext cx="512064" cy="512064"/>
          </a:xfrm>
          <a:prstGeom prst="rect">
            <a:avLst/>
          </a:prstGeom>
        </p:spPr>
      </p:pic>
      <p:sp>
        <p:nvSpPr>
          <p:cNvPr id="41" name="Text 34"/>
          <p:cNvSpPr/>
          <p:nvPr/>
        </p:nvSpPr>
        <p:spPr>
          <a:xfrm>
            <a:off x="7102537" y="3163824"/>
            <a:ext cx="1172130" cy="273406"/>
          </a:xfrm>
          <a:prstGeom prst="rect">
            <a:avLst/>
          </a:prstGeom>
          <a:noFill/>
          <a:ln/>
        </p:spPr>
        <p:txBody>
          <a:bodyPr wrap="square" rtlCol="0" anchor="t"/>
          <a:lstStyle/>
          <a:p>
            <a:pPr algn="ctr" indent="0" marL="0">
              <a:buNone/>
            </a:pPr>
            <a:r>
              <a:rPr lang="en-US" sz="828" b="1" dirty="0">
                <a:solidFill>
                  <a:srgbClr val="1F4E79"/>
                </a:solidFill>
                <a:latin typeface="Segoe UI" pitchFamily="34" charset="0"/>
                <a:ea typeface="Segoe UI" pitchFamily="34" charset="-122"/>
                <a:cs typeface="Segoe UI" pitchFamily="34" charset="-120"/>
              </a:rPr>
              <a:t>Airline · Engineering</a:t>
            </a:r>
            <a:endParaRPr lang="en-US" sz="828" dirty="0"/>
          </a:p>
        </p:txBody>
      </p:sp>
      <p:sp>
        <p:nvSpPr>
          <p:cNvPr id="42" name="Text 35"/>
          <p:cNvSpPr/>
          <p:nvPr/>
        </p:nvSpPr>
        <p:spPr>
          <a:xfrm>
            <a:off x="7102537" y="3492094"/>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Bulletin to Engineering Order: It Is the Component Serial, Not the MSN</a:t>
            </a:r>
            <a:endParaRPr lang="en-US" sz="1080" dirty="0"/>
          </a:p>
        </p:txBody>
      </p:sp>
      <p:sp>
        <p:nvSpPr>
          <p:cNvPr id="43" name="Text 36"/>
          <p:cNvSpPr/>
          <p:nvPr/>
        </p:nvSpPr>
        <p:spPr>
          <a:xfrm>
            <a:off x="7102537" y="4644238"/>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Word · PDF · Enterprise Search · File upload</a:t>
            </a:r>
            <a:endParaRPr lang="en-US" sz="864" dirty="0"/>
          </a:p>
        </p:txBody>
      </p:sp>
      <p:sp>
        <p:nvSpPr>
          <p:cNvPr id="44" name="Text 37"/>
          <p:cNvSpPr/>
          <p:nvPr/>
        </p:nvSpPr>
        <p:spPr>
          <a:xfrm>
            <a:off x="7102537" y="5154473"/>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45" name="Shape 38"/>
          <p:cNvSpPr/>
          <p:nvPr/>
        </p:nvSpPr>
        <p:spPr>
          <a:xfrm>
            <a:off x="8603851"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46" name="Shape 39"/>
          <p:cNvSpPr/>
          <p:nvPr/>
        </p:nvSpPr>
        <p:spPr>
          <a:xfrm>
            <a:off x="8603851" y="1828800"/>
            <a:ext cx="1355010" cy="109728"/>
          </a:xfrm>
          <a:prstGeom prst="rect">
            <a:avLst/>
          </a:prstGeom>
          <a:solidFill>
            <a:srgbClr val="8A4B08"/>
          </a:solidFill>
          <a:ln/>
        </p:spPr>
      </p:sp>
      <p:sp>
        <p:nvSpPr>
          <p:cNvPr id="47" name="Shape 40"/>
          <p:cNvSpPr/>
          <p:nvPr/>
        </p:nvSpPr>
        <p:spPr>
          <a:xfrm>
            <a:off x="8824156" y="2194560"/>
            <a:ext cx="914400" cy="914400"/>
          </a:xfrm>
          <a:prstGeom prst="ellipse">
            <a:avLst/>
          </a:prstGeom>
          <a:solidFill>
            <a:srgbClr val="8A4B08"/>
          </a:solidFill>
          <a:ln/>
        </p:spPr>
      </p:sp>
      <p:pic>
        <p:nvPicPr>
          <p:cNvPr id="48" name="Image 5" descr="preencoded.png">    </p:cNvPr>
          <p:cNvPicPr>
            <a:picLocks noChangeAspect="1"/>
          </p:cNvPicPr>
          <p:nvPr/>
        </p:nvPicPr>
        <p:blipFill>
          <a:blip r:embed="rId6"/>
          <a:stretch>
            <a:fillRect/>
          </a:stretch>
        </p:blipFill>
        <p:spPr>
          <a:xfrm>
            <a:off x="9025324" y="2395728"/>
            <a:ext cx="512064" cy="512064"/>
          </a:xfrm>
          <a:prstGeom prst="rect">
            <a:avLst/>
          </a:prstGeom>
        </p:spPr>
      </p:pic>
      <p:sp>
        <p:nvSpPr>
          <p:cNvPr id="49" name="Text 41"/>
          <p:cNvSpPr/>
          <p:nvPr/>
        </p:nvSpPr>
        <p:spPr>
          <a:xfrm>
            <a:off x="8695291" y="3163824"/>
            <a:ext cx="1172130" cy="273406"/>
          </a:xfrm>
          <a:prstGeom prst="rect">
            <a:avLst/>
          </a:prstGeom>
          <a:noFill/>
          <a:ln/>
        </p:spPr>
        <p:txBody>
          <a:bodyPr wrap="square" rtlCol="0" anchor="t"/>
          <a:lstStyle/>
          <a:p>
            <a:pPr algn="ctr" indent="0" marL="0">
              <a:buNone/>
            </a:pPr>
            <a:r>
              <a:rPr lang="en-US" sz="828" b="1" dirty="0">
                <a:solidFill>
                  <a:srgbClr val="8A4B08"/>
                </a:solidFill>
                <a:latin typeface="Segoe UI" pitchFamily="34" charset="0"/>
                <a:ea typeface="Segoe UI" pitchFamily="34" charset="-122"/>
                <a:cs typeface="Segoe UI" pitchFamily="34" charset="-120"/>
              </a:rPr>
              <a:t>Airline · Engineering</a:t>
            </a:r>
            <a:endParaRPr lang="en-US" sz="828" dirty="0"/>
          </a:p>
        </p:txBody>
      </p:sp>
      <p:sp>
        <p:nvSpPr>
          <p:cNvPr id="50" name="Text 42"/>
          <p:cNvSpPr/>
          <p:nvPr/>
        </p:nvSpPr>
        <p:spPr>
          <a:xfrm>
            <a:off x="8695291" y="3492094"/>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The Monthly Reliability Report: the Improvement Is in the Denominator</a:t>
            </a:r>
            <a:endParaRPr lang="en-US" sz="1080" dirty="0"/>
          </a:p>
        </p:txBody>
      </p:sp>
      <p:sp>
        <p:nvSpPr>
          <p:cNvPr id="51" name="Text 43"/>
          <p:cNvSpPr/>
          <p:nvPr/>
        </p:nvSpPr>
        <p:spPr>
          <a:xfrm>
            <a:off x="8695291" y="4644238"/>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Communications · PowerPoint · Excel</a:t>
            </a:r>
            <a:endParaRPr lang="en-US" sz="864" dirty="0"/>
          </a:p>
        </p:txBody>
      </p:sp>
      <p:sp>
        <p:nvSpPr>
          <p:cNvPr id="52" name="Text 44"/>
          <p:cNvSpPr/>
          <p:nvPr/>
        </p:nvSpPr>
        <p:spPr>
          <a:xfrm>
            <a:off x="8695291" y="5154473"/>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~22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53" name="Shape 45"/>
          <p:cNvSpPr/>
          <p:nvPr/>
        </p:nvSpPr>
        <p:spPr>
          <a:xfrm>
            <a:off x="10196605"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54" name="Shape 46"/>
          <p:cNvSpPr/>
          <p:nvPr/>
        </p:nvSpPr>
        <p:spPr>
          <a:xfrm>
            <a:off x="10196605" y="1828800"/>
            <a:ext cx="1355010" cy="109728"/>
          </a:xfrm>
          <a:prstGeom prst="rect">
            <a:avLst/>
          </a:prstGeom>
          <a:solidFill>
            <a:srgbClr val="0B6E6E"/>
          </a:solidFill>
          <a:ln/>
        </p:spPr>
      </p:sp>
      <p:sp>
        <p:nvSpPr>
          <p:cNvPr id="55" name="Shape 47"/>
          <p:cNvSpPr/>
          <p:nvPr/>
        </p:nvSpPr>
        <p:spPr>
          <a:xfrm>
            <a:off x="10416910" y="2194560"/>
            <a:ext cx="914400" cy="914400"/>
          </a:xfrm>
          <a:prstGeom prst="ellipse">
            <a:avLst/>
          </a:prstGeom>
          <a:solidFill>
            <a:srgbClr val="0B6E6E"/>
          </a:solidFill>
          <a:ln/>
        </p:spPr>
      </p:sp>
      <p:pic>
        <p:nvPicPr>
          <p:cNvPr id="56" name="Image 6" descr="preencoded.png">    </p:cNvPr>
          <p:cNvPicPr>
            <a:picLocks noChangeAspect="1"/>
          </p:cNvPicPr>
          <p:nvPr/>
        </p:nvPicPr>
        <p:blipFill>
          <a:blip r:embed="rId7"/>
          <a:stretch>
            <a:fillRect/>
          </a:stretch>
        </p:blipFill>
        <p:spPr>
          <a:xfrm>
            <a:off x="10618078" y="2395728"/>
            <a:ext cx="512064" cy="512064"/>
          </a:xfrm>
          <a:prstGeom prst="rect">
            <a:avLst/>
          </a:prstGeom>
        </p:spPr>
      </p:pic>
      <p:sp>
        <p:nvSpPr>
          <p:cNvPr id="57" name="Text 48"/>
          <p:cNvSpPr/>
          <p:nvPr/>
        </p:nvSpPr>
        <p:spPr>
          <a:xfrm>
            <a:off x="10288045" y="3163824"/>
            <a:ext cx="1172130" cy="273406"/>
          </a:xfrm>
          <a:prstGeom prst="rect">
            <a:avLst/>
          </a:prstGeom>
          <a:noFill/>
          <a:ln/>
        </p:spPr>
        <p:txBody>
          <a:bodyPr wrap="square" rtlCol="0" anchor="t"/>
          <a:lstStyle/>
          <a:p>
            <a:pPr algn="ctr" indent="0" marL="0">
              <a:buNone/>
            </a:pPr>
            <a:r>
              <a:rPr lang="en-US" sz="828" b="1" dirty="0">
                <a:solidFill>
                  <a:srgbClr val="0B6E6E"/>
                </a:solidFill>
                <a:latin typeface="Segoe UI" pitchFamily="34" charset="0"/>
                <a:ea typeface="Segoe UI" pitchFamily="34" charset="-122"/>
                <a:cs typeface="Segoe UI" pitchFamily="34" charset="-120"/>
              </a:rPr>
              <a:t>Airline · Engineering</a:t>
            </a:r>
            <a:endParaRPr lang="en-US" sz="828" dirty="0"/>
          </a:p>
        </p:txBody>
      </p:sp>
      <p:sp>
        <p:nvSpPr>
          <p:cNvPr id="58" name="Text 49"/>
          <p:cNvSpPr/>
          <p:nvPr/>
        </p:nvSpPr>
        <p:spPr>
          <a:xfrm>
            <a:off x="10288045" y="3492094"/>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Turning the Applicability Test into a Skill: Knowing When Not to Answer</a:t>
            </a:r>
            <a:endParaRPr lang="en-US" sz="1080" dirty="0"/>
          </a:p>
        </p:txBody>
      </p:sp>
      <p:sp>
        <p:nvSpPr>
          <p:cNvPr id="59" name="Text 50"/>
          <p:cNvSpPr/>
          <p:nvPr/>
        </p:nvSpPr>
        <p:spPr>
          <a:xfrm>
            <a:off x="10288045" y="4644238"/>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Custom skill · Skill Report · File upload</a:t>
            </a:r>
            <a:endParaRPr lang="en-US" sz="864" dirty="0"/>
          </a:p>
        </p:txBody>
      </p:sp>
      <p:sp>
        <p:nvSpPr>
          <p:cNvPr id="60" name="Text 51"/>
          <p:cNvSpPr/>
          <p:nvPr/>
        </p:nvSpPr>
        <p:spPr>
          <a:xfrm>
            <a:off x="10288045" y="5154473"/>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61" name="Text 5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62" name="Text 5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E2A47"/>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E2A47"/>
                </a:solidFill>
                <a:latin typeface="Segoe UI" pitchFamily="34" charset="0"/>
                <a:ea typeface="Segoe UI" pitchFamily="34" charset="-122"/>
                <a:cs typeface="Segoe UI" pitchFamily="34" charset="-120"/>
              </a:rPr>
              <a:t>Scenario 01</a:t>
            </a:r>
            <a:endParaRPr lang="en-US" sz="1400" dirty="0"/>
          </a:p>
        </p:txBody>
      </p:sp>
      <p:sp>
        <p:nvSpPr>
          <p:cNvPr id="5" name="Shape 3"/>
          <p:cNvSpPr/>
          <p:nvPr/>
        </p:nvSpPr>
        <p:spPr>
          <a:xfrm>
            <a:off x="502920" y="1143000"/>
            <a:ext cx="1097280" cy="1097280"/>
          </a:xfrm>
          <a:prstGeom prst="ellipse">
            <a:avLst/>
          </a:prstGeom>
          <a:solidFill>
            <a:srgbClr val="0E2A47"/>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The AD Radar: the Smallest Number Is Not the Nearest Deadline</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~15 min · Level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Daily Briefing</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1920240" cy="402336"/>
          </a:xfrm>
          <a:prstGeom prst="roundRect">
            <a:avLst>
              <a:gd name="adj" fmla="val 50000"/>
            </a:avLst>
          </a:prstGeom>
          <a:solidFill>
            <a:srgbClr val="6366F1"/>
          </a:solidFill>
          <a:ln/>
        </p:spPr>
      </p:sp>
      <p:sp>
        <p:nvSpPr>
          <p:cNvPr id="15" name="Text 12"/>
          <p:cNvSpPr/>
          <p:nvPr/>
        </p:nvSpPr>
        <p:spPr>
          <a:xfrm>
            <a:off x="502920" y="5074920"/>
            <a:ext cx="192024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Scheduled prompt</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44" dirty="0">
                <a:solidFill>
                  <a:srgbClr val="D7D9F0"/>
                </a:solidFill>
                <a:latin typeface="Segoe UI" pitchFamily="34" charset="0"/>
                <a:ea typeface="Segoe UI" pitchFamily="34" charset="-122"/>
                <a:cs typeface="Segoe UI" pitchFamily="34" charset="-120"/>
              </a:rPr>
              <a:t>An overdue airworthiness directive grounds the aircraft that day. There is no extension and no alternative means. The difficulty is that deadlines come on three different bases — calendar days, flight hours, flight cycles — and the remaining quantities cannot be compared directly. The item showing “45 days”, which looks like the most urgent thing on the register, turns out to be second once you convert. This scenario ends by putting the sweep on a schedule, every morning.</a:t>
            </a:r>
            <a:endParaRPr lang="en-US" sz="1244"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0E2A47"/>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0E2A47"/>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0E2A47"/>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Get everything onto one scale</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Cowork_Lab/AirlineE…</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0E2A47"/>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0E2A47"/>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Press on the two directives sitting on the same tail</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With the ranking in hand, pick the tail that carries two…</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0E2A47"/>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0E2A47"/>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it into something you can read in three seconds</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You will read this every day, so the format matters as m…</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0E2A47"/>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E2A47"/>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Put it on a schedule</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create a scheduled prompt. Pause it whe…</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E2A47"/>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E2A47"/>
                </a:solidFill>
                <a:latin typeface="Segoe UI" pitchFamily="34" charset="0"/>
                <a:ea typeface="Segoe UI" pitchFamily="34" charset="-122"/>
                <a:cs typeface="Segoe UI" pitchFamily="34" charset="-120"/>
              </a:rPr>
              <a:t>Scenario 01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1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E2A47"/>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1_04b_automations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E2A47"/>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E2A47"/>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twelve directives have an estimated days-remaining figure — none skipped</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Flight-hour items used the FH average and flight-cycle items the FC average — not swapped</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top of the ranking is not the item with the fewest calendar days on the register</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F5132"/>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F5132"/>
                </a:solidFill>
                <a:latin typeface="Segoe UI" pitchFamily="34" charset="0"/>
                <a:ea typeface="Segoe UI" pitchFamily="34" charset="-122"/>
                <a:cs typeface="Segoe UI" pitchFamily="34" charset="-120"/>
              </a:rPr>
              <a:t>Scenario 02</a:t>
            </a:r>
            <a:endParaRPr lang="en-US" sz="1400" dirty="0"/>
          </a:p>
        </p:txBody>
      </p:sp>
      <p:sp>
        <p:nvSpPr>
          <p:cNvPr id="5" name="Shape 3"/>
          <p:cNvSpPr/>
          <p:nvPr/>
        </p:nvSpPr>
        <p:spPr>
          <a:xfrm>
            <a:off x="502920" y="1143000"/>
            <a:ext cx="1097280" cy="1097280"/>
          </a:xfrm>
          <a:prstGeom prst="ellipse">
            <a:avLst/>
          </a:prstGeom>
          <a:solidFill>
            <a:srgbClr val="0F5132"/>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Deferred Items: the Strictest Category Is Not the Tightest Clock</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~18 min · Level ★★★</a:t>
            </a:r>
            <a:endParaRPr lang="en-US" sz="1300" dirty="0"/>
          </a:p>
        </p:txBody>
      </p:sp>
      <p:sp>
        <p:nvSpPr>
          <p:cNvPr id="10" name="Shape 7"/>
          <p:cNvSpPr/>
          <p:nvPr/>
        </p:nvSpPr>
        <p:spPr>
          <a:xfrm>
            <a:off x="502920" y="4572000"/>
            <a:ext cx="813816" cy="402336"/>
          </a:xfrm>
          <a:prstGeom prst="roundRect">
            <a:avLst>
              <a:gd name="adj" fmla="val 50000"/>
            </a:avLst>
          </a:prstGeom>
          <a:solidFill>
            <a:srgbClr val="217346"/>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2" name="Shape 9"/>
          <p:cNvSpPr/>
          <p:nvPr/>
        </p:nvSpPr>
        <p:spPr>
          <a:xfrm>
            <a:off x="1499616" y="4572000"/>
            <a:ext cx="2121408" cy="402336"/>
          </a:xfrm>
          <a:prstGeom prst="roundRect">
            <a:avLst>
              <a:gd name="adj" fmla="val 50000"/>
            </a:avLst>
          </a:prstGeom>
          <a:solidFill>
            <a:srgbClr val="6366F1"/>
          </a:solidFill>
          <a:ln/>
        </p:spPr>
      </p:sp>
      <p:sp>
        <p:nvSpPr>
          <p:cNvPr id="13" name="Text 10"/>
          <p:cNvSpPr/>
          <p:nvPr/>
        </p:nvSpPr>
        <p:spPr>
          <a:xfrm>
            <a:off x="1499616" y="4572000"/>
            <a:ext cx="212140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Edit existing file</a:t>
            </a:r>
            <a:endParaRPr lang="en-US" sz="1200" dirty="0"/>
          </a:p>
        </p:txBody>
      </p:sp>
      <p:sp>
        <p:nvSpPr>
          <p:cNvPr id="14" name="Text 11"/>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44" dirty="0">
                <a:solidFill>
                  <a:srgbClr val="D7D9F0"/>
                </a:solidFill>
                <a:latin typeface="Segoe UI" pitchFamily="34" charset="0"/>
                <a:ea typeface="Segoe UI" pitchFamily="34" charset="-122"/>
                <a:cs typeface="Segoe UI" pitchFamily="34" charset="-120"/>
              </a:rPr>
              <a:t>Three deferred items sit on one aircraft, ranging from the strictest category A to the more generous C. Instinct says watch the A item — shortest interval, no extension permitted. But the part for the A item arrives tomorrow. What will actually ground this aircraft is the C item, where the part is two days late and the one permitted extension has already been used. The last step of this scenario edits the shared register on OneDrive itself, rather than producing a new copy.</a:t>
            </a:r>
            <a:endParaRPr lang="en-US" sz="1244" dirty="0"/>
          </a:p>
        </p:txBody>
      </p:sp>
      <p:sp>
        <p:nvSpPr>
          <p:cNvPr id="15" name="Text 12"/>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0F5132"/>
                </a:solidFill>
                <a:latin typeface="Segoe UI" pitchFamily="34" charset="0"/>
                <a:ea typeface="Segoe UI" pitchFamily="34" charset="-122"/>
                <a:cs typeface="Segoe UI" pitchFamily="34" charset="-120"/>
              </a:rPr>
              <a:t>Agentic workflow</a:t>
            </a:r>
            <a:endParaRPr lang="en-US" sz="1500" dirty="0"/>
          </a:p>
        </p:txBody>
      </p:sp>
      <p:sp>
        <p:nvSpPr>
          <p:cNvPr id="16" name="Shape 13"/>
          <p:cNvSpPr/>
          <p:nvPr/>
        </p:nvSpPr>
        <p:spPr>
          <a:xfrm>
            <a:off x="4526280" y="2971800"/>
            <a:ext cx="457200" cy="457200"/>
          </a:xfrm>
          <a:prstGeom prst="ellipse">
            <a:avLst/>
          </a:prstGeom>
          <a:solidFill>
            <a:srgbClr val="FFFFFF">
              <a:alpha val="12000"/>
            </a:srgbClr>
          </a:solidFill>
          <a:ln w="19050">
            <a:solidFill>
              <a:srgbClr val="0F5132"/>
            </a:solidFill>
            <a:prstDash val="solid"/>
          </a:ln>
        </p:spPr>
      </p:sp>
      <p:sp>
        <p:nvSpPr>
          <p:cNvPr id="17" name="Text 14"/>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1</a:t>
            </a:r>
            <a:endParaRPr lang="en-US" sz="1600" dirty="0"/>
          </a:p>
        </p:txBody>
      </p:sp>
      <p:sp>
        <p:nvSpPr>
          <p:cNvPr id="18" name="Text 15"/>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Read the two clocks together</a:t>
            </a:r>
            <a:endParaRPr lang="en-US" sz="1600" dirty="0"/>
          </a:p>
        </p:txBody>
      </p:sp>
      <p:sp>
        <p:nvSpPr>
          <p:cNvPr id="19" name="Text 16"/>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Cowork_Lab/AirlineE…</a:t>
            </a:r>
            <a:endParaRPr lang="en-US" sz="1300" dirty="0"/>
          </a:p>
        </p:txBody>
      </p:sp>
      <p:sp>
        <p:nvSpPr>
          <p:cNvPr id="20" name="Shape 17"/>
          <p:cNvSpPr/>
          <p:nvPr/>
        </p:nvSpPr>
        <p:spPr>
          <a:xfrm>
            <a:off x="4526280" y="3831336"/>
            <a:ext cx="457200" cy="457200"/>
          </a:xfrm>
          <a:prstGeom prst="ellipse">
            <a:avLst/>
          </a:prstGeom>
          <a:solidFill>
            <a:srgbClr val="FFFFFF">
              <a:alpha val="12000"/>
            </a:srgbClr>
          </a:solidFill>
          <a:ln w="19050">
            <a:solidFill>
              <a:srgbClr val="0F5132"/>
            </a:solidFill>
            <a:prstDash val="solid"/>
          </a:ln>
        </p:spPr>
      </p:sp>
      <p:sp>
        <p:nvSpPr>
          <p:cNvPr id="21" name="Text 18"/>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2</a:t>
            </a:r>
            <a:endParaRPr lang="en-US" sz="1600" dirty="0"/>
          </a:p>
        </p:txBody>
      </p:sp>
      <p:sp>
        <p:nvSpPr>
          <p:cNvPr id="22" name="Text 19"/>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Press on the tail carrying three items</a:t>
            </a:r>
            <a:endParaRPr lang="en-US" sz="1600" dirty="0"/>
          </a:p>
        </p:txBody>
      </p:sp>
      <p:sp>
        <p:nvSpPr>
          <p:cNvPr id="23" name="Text 20"/>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One aircraft carries three of the items. Ask again about…</a:t>
            </a:r>
            <a:endParaRPr lang="en-US" sz="1300" dirty="0"/>
          </a:p>
        </p:txBody>
      </p:sp>
      <p:sp>
        <p:nvSpPr>
          <p:cNvPr id="24" name="Shape 21"/>
          <p:cNvSpPr/>
          <p:nvPr/>
        </p:nvSpPr>
        <p:spPr>
          <a:xfrm>
            <a:off x="4526280" y="4690872"/>
            <a:ext cx="457200" cy="457200"/>
          </a:xfrm>
          <a:prstGeom prst="ellipse">
            <a:avLst/>
          </a:prstGeom>
          <a:solidFill>
            <a:srgbClr val="FFFFFF">
              <a:alpha val="12000"/>
            </a:srgbClr>
          </a:solidFill>
          <a:ln w="19050">
            <a:solidFill>
              <a:srgbClr val="0F5132"/>
            </a:solidFill>
            <a:prstDash val="solid"/>
          </a:ln>
        </p:spPr>
      </p:sp>
      <p:sp>
        <p:nvSpPr>
          <p:cNvPr id="25" name="Text 22"/>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3</a:t>
            </a:r>
            <a:endParaRPr lang="en-US" sz="1600" dirty="0"/>
          </a:p>
        </p:txBody>
      </p:sp>
      <p:sp>
        <p:nvSpPr>
          <p:cNvPr id="26" name="Text 23"/>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Write the verdict back into the shared register</a:t>
            </a:r>
            <a:endParaRPr lang="en-US" sz="1600" dirty="0"/>
          </a:p>
        </p:txBody>
      </p:sp>
      <p:sp>
        <p:nvSpPr>
          <p:cNvPr id="27" name="Text 24"/>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edits the file on OneDrive itself rather than …</a:t>
            </a:r>
            <a:endParaRPr lang="en-US" sz="1300" dirty="0"/>
          </a:p>
        </p:txBody>
      </p:sp>
      <p:sp>
        <p:nvSpPr>
          <p:cNvPr id="28" name="Shape 25"/>
          <p:cNvSpPr/>
          <p:nvPr/>
        </p:nvSpPr>
        <p:spPr>
          <a:xfrm>
            <a:off x="4526280" y="5550408"/>
            <a:ext cx="457200" cy="457200"/>
          </a:xfrm>
          <a:prstGeom prst="ellipse">
            <a:avLst/>
          </a:prstGeom>
          <a:solidFill>
            <a:srgbClr val="FFFFFF">
              <a:alpha val="12000"/>
            </a:srgbClr>
          </a:solidFill>
          <a:ln w="19050">
            <a:solidFill>
              <a:srgbClr val="0F5132"/>
            </a:solidFill>
            <a:prstDash val="solid"/>
          </a:ln>
        </p:spPr>
      </p:sp>
      <p:sp>
        <p:nvSpPr>
          <p:cNvPr id="29" name="Text 26"/>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4</a:t>
            </a:r>
            <a:endParaRPr lang="en-US" sz="1600" dirty="0"/>
          </a:p>
        </p:txBody>
      </p:sp>
      <p:sp>
        <p:nvSpPr>
          <p:cNvPr id="30" name="Text 27"/>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Check on OneDrive that it really edited the same file</a:t>
            </a:r>
            <a:endParaRPr lang="en-US" sz="1600" dirty="0"/>
          </a:p>
        </p:txBody>
      </p:sp>
      <p:sp>
        <p:nvSpPr>
          <p:cNvPr id="31" name="Text 28"/>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Open the register in OneDrive, look at it, then come bac…</a:t>
            </a:r>
            <a:endParaRPr lang="en-US" sz="1300" dirty="0"/>
          </a:p>
        </p:txBody>
      </p:sp>
      <p:sp>
        <p:nvSpPr>
          <p:cNvPr id="3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F5132"/>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F5132"/>
                </a:solidFill>
                <a:latin typeface="Segoe UI" pitchFamily="34" charset="0"/>
                <a:ea typeface="Segoe UI" pitchFamily="34" charset="-122"/>
                <a:cs typeface="Segoe UI" pitchFamily="34" charset="-120"/>
              </a:rPr>
              <a:t>Scenario 02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2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F5132"/>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2_04_review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F5132"/>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F5132"/>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eight items were compared deadline against ETA — not just a few</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Exactly one item has a part arriving after its deadline</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states that the item has already been extended once and may not be extended again</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6B3FA0"/>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6B3FA0"/>
                </a:solidFill>
                <a:latin typeface="Segoe UI" pitchFamily="34" charset="0"/>
                <a:ea typeface="Segoe UI" pitchFamily="34" charset="-122"/>
                <a:cs typeface="Segoe UI" pitchFamily="34" charset="-120"/>
              </a:rPr>
              <a:t>Scenario 03</a:t>
            </a:r>
            <a:endParaRPr lang="en-US" sz="1400" dirty="0"/>
          </a:p>
        </p:txBody>
      </p:sp>
      <p:sp>
        <p:nvSpPr>
          <p:cNvPr id="5" name="Shape 3"/>
          <p:cNvSpPr/>
          <p:nvPr/>
        </p:nvSpPr>
        <p:spPr>
          <a:xfrm>
            <a:off x="502920" y="1143000"/>
            <a:ext cx="1097280" cy="1097280"/>
          </a:xfrm>
          <a:prstGeom prst="ellipse">
            <a:avLst/>
          </a:prstGeom>
          <a:solidFill>
            <a:srgbClr val="6B3FA0"/>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Three Check Slots: the Cheapest One Does Not Work</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~15 min · Level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Adaptive Cards</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1316736" cy="402336"/>
          </a:xfrm>
          <a:prstGeom prst="roundRect">
            <a:avLst>
              <a:gd name="adj" fmla="val 50000"/>
            </a:avLst>
          </a:prstGeom>
          <a:solidFill>
            <a:srgbClr val="6366F1"/>
          </a:solidFill>
          <a:ln/>
        </p:spPr>
      </p:sp>
      <p:sp>
        <p:nvSpPr>
          <p:cNvPr id="15" name="Text 12"/>
          <p:cNvSpPr/>
          <p:nvPr/>
        </p:nvSpPr>
        <p:spPr>
          <a:xfrm>
            <a:off x="502920" y="507492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Scheduling</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421" dirty="0">
                <a:solidFill>
                  <a:srgbClr val="D7D9F0"/>
                </a:solidFill>
                <a:latin typeface="Segoe UI" pitchFamily="34" charset="0"/>
                <a:ea typeface="Segoe UI" pitchFamily="34" charset="-122"/>
                <a:cs typeface="Segoe UI" pitchFamily="34" charset="-120"/>
              </a:rPr>
              <a:t>A C check has to go somewhere. Operations has offered three windows, costing 14, 22 and 19 cancellations. Instinct picks 14. But cancellations are only better or worse; the hangar and the airworthiness deadline are pass or fail. Eliminate the failures and one option is left — and it is not the cheap one. What this scenario produces is a comparison card your manager can read in three seconds.</a:t>
            </a:r>
            <a:endParaRPr lang="en-US" sz="1421"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6B3FA0"/>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6B3FA0"/>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6B3FA0"/>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Eliminate on the hard conditions first, then compare</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The slot material is in AIR3_Check_Sl…</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6B3FA0"/>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6B3FA0"/>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Make the card your manager will actually read</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card exists so somebody can decide. Format matters m…</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6B3FA0"/>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6B3FA0"/>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Set up the decision meeting</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really does send a meeting invitation. Recipients c…</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6B3FA0"/>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6B3FA0"/>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Check whether the card could mislead</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Somebody will decide from this card. Find the holes your…</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B3FA0"/>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B3FA0"/>
                </a:solidFill>
                <a:latin typeface="Segoe UI" pitchFamily="34" charset="0"/>
                <a:ea typeface="Segoe UI" pitchFamily="34" charset="-122"/>
                <a:cs typeface="Segoe UI" pitchFamily="34" charset="-120"/>
              </a:rPr>
              <a:t>Scenario 03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3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6B3FA0"/>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3_04_review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6B3FA0"/>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6B3FA0"/>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three options were assessed, hard conditions before cancellations</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For the option blocked by the hangar, it names the aircraft holding it and the overlapping days</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For the option blocked by the deadline, it produces the actual due date</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B42318"/>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B42318"/>
                </a:solidFill>
                <a:latin typeface="Segoe UI" pitchFamily="34" charset="0"/>
                <a:ea typeface="Segoe UI" pitchFamily="34" charset="-122"/>
                <a:cs typeface="Segoe UI" pitchFamily="34" charset="-120"/>
              </a:rPr>
              <a:t>Scenario 04</a:t>
            </a:r>
            <a:endParaRPr lang="en-US" sz="1400" dirty="0"/>
          </a:p>
        </p:txBody>
      </p:sp>
      <p:sp>
        <p:nvSpPr>
          <p:cNvPr id="5" name="Shape 3"/>
          <p:cNvSpPr/>
          <p:nvPr/>
        </p:nvSpPr>
        <p:spPr>
          <a:xfrm>
            <a:off x="502920" y="1143000"/>
            <a:ext cx="1097280" cy="1097280"/>
          </a:xfrm>
          <a:prstGeom prst="ellipse">
            <a:avLst/>
          </a:prstGeom>
          <a:solidFill>
            <a:srgbClr val="B42318"/>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AOG: the Four Hours Are Not the Problem</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~25 min · Level ★★★</a:t>
            </a:r>
            <a:endParaRPr lang="en-US" sz="1300" dirty="0"/>
          </a:p>
        </p:txBody>
      </p:sp>
      <p:sp>
        <p:nvSpPr>
          <p:cNvPr id="10" name="Shape 7"/>
          <p:cNvSpPr/>
          <p:nvPr/>
        </p:nvSpPr>
        <p:spPr>
          <a:xfrm>
            <a:off x="502920" y="4572000"/>
            <a:ext cx="1618488" cy="402336"/>
          </a:xfrm>
          <a:prstGeom prst="roundRect">
            <a:avLst>
              <a:gd name="adj" fmla="val 50000"/>
            </a:avLst>
          </a:prstGeom>
          <a:solidFill>
            <a:srgbClr val="6366F1"/>
          </a:solidFill>
          <a:ln/>
        </p:spPr>
      </p:sp>
      <p:sp>
        <p:nvSpPr>
          <p:cNvPr id="11" name="Text 8"/>
          <p:cNvSpPr/>
          <p:nvPr/>
        </p:nvSpPr>
        <p:spPr>
          <a:xfrm>
            <a:off x="502920" y="4572000"/>
            <a:ext cx="161848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Event trigger</a:t>
            </a:r>
            <a:endParaRPr lang="en-US" sz="1200" dirty="0"/>
          </a:p>
        </p:txBody>
      </p:sp>
      <p:sp>
        <p:nvSpPr>
          <p:cNvPr id="12" name="Shape 9"/>
          <p:cNvSpPr/>
          <p:nvPr/>
        </p:nvSpPr>
        <p:spPr>
          <a:xfrm>
            <a:off x="2304288" y="4572000"/>
            <a:ext cx="813816" cy="402336"/>
          </a:xfrm>
          <a:prstGeom prst="roundRect">
            <a:avLst>
              <a:gd name="adj" fmla="val 50000"/>
            </a:avLst>
          </a:prstGeom>
          <a:solidFill>
            <a:srgbClr val="217346"/>
          </a:solidFill>
          <a:ln/>
        </p:spPr>
      </p:sp>
      <p:sp>
        <p:nvSpPr>
          <p:cNvPr id="13" name="Text 10"/>
          <p:cNvSpPr/>
          <p:nvPr/>
        </p:nvSpPr>
        <p:spPr>
          <a:xfrm>
            <a:off x="2304288"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813816" cy="402336"/>
          </a:xfrm>
          <a:prstGeom prst="roundRect">
            <a:avLst>
              <a:gd name="adj" fmla="val 50000"/>
            </a:avLst>
          </a:prstGeom>
          <a:solidFill>
            <a:srgbClr val="6366F1"/>
          </a:solidFill>
          <a:ln/>
        </p:spPr>
      </p:sp>
      <p:sp>
        <p:nvSpPr>
          <p:cNvPr id="15" name="Text 12"/>
          <p:cNvSpPr/>
          <p:nvPr/>
        </p:nvSpPr>
        <p:spPr>
          <a:xfrm>
            <a:off x="5029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16" name="Shape 13"/>
          <p:cNvSpPr/>
          <p:nvPr/>
        </p:nvSpPr>
        <p:spPr>
          <a:xfrm>
            <a:off x="1499616" y="5074920"/>
            <a:ext cx="2020824" cy="402336"/>
          </a:xfrm>
          <a:prstGeom prst="roundRect">
            <a:avLst>
              <a:gd name="adj" fmla="val 50000"/>
            </a:avLst>
          </a:prstGeom>
          <a:solidFill>
            <a:srgbClr val="6366F1"/>
          </a:solidFill>
          <a:ln/>
        </p:spPr>
      </p:sp>
      <p:sp>
        <p:nvSpPr>
          <p:cNvPr id="17" name="Text 14"/>
          <p:cNvSpPr/>
          <p:nvPr/>
        </p:nvSpPr>
        <p:spPr>
          <a:xfrm>
            <a:off x="1499616"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8" name="Text 15"/>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A freighter goes AOG at pushback. The part is in stock, four hours of work, and on the face of it one flight slips. But this flight is carrying 2–8°C pharmaceuticals, and acceptance for temperature-controlled cargo is measured as cumulative excursion across the whole chain. Four hours on its own still fits inside the window. What blows it is that those four hours cause the shipment to miss the cold-chain truck's cut-off at destination. This scenario runs on an event trigger: the moment the notification from MOC arrives, Cowork picks it up.</a:t>
            </a:r>
            <a:endParaRPr lang="en-US" sz="1200" dirty="0"/>
          </a:p>
        </p:txBody>
      </p:sp>
      <p:sp>
        <p:nvSpPr>
          <p:cNvPr id="19" name="Text 16"/>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B42318"/>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112264"/>
            <a:ext cx="457200" cy="457200"/>
          </a:xfrm>
          <a:prstGeom prst="ellipse">
            <a:avLst/>
          </a:prstGeom>
          <a:solidFill>
            <a:srgbClr val="FFFFFF">
              <a:alpha val="12000"/>
            </a:srgbClr>
          </a:solidFill>
          <a:ln w="19050">
            <a:solidFill>
              <a:srgbClr val="B42318"/>
            </a:solidFill>
            <a:prstDash val="solid"/>
          </a:ln>
        </p:spPr>
      </p:sp>
      <p:sp>
        <p:nvSpPr>
          <p:cNvPr id="21" name="Text 18"/>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B42318"/>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Arm the event trigger first</a:t>
            </a:r>
            <a:endParaRPr lang="en-US" sz="1600" dirty="0"/>
          </a:p>
        </p:txBody>
      </p:sp>
      <p:sp>
        <p:nvSpPr>
          <p:cNvPr id="23" name="Text 20"/>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only arms the trigger; nothing happens yet. ⚠️ Do n…</a:t>
            </a:r>
            <a:endParaRPr lang="en-US" sz="1300" dirty="0"/>
          </a:p>
        </p:txBody>
      </p:sp>
      <p:sp>
        <p:nvSpPr>
          <p:cNvPr id="24" name="Shape 21"/>
          <p:cNvSpPr/>
          <p:nvPr/>
        </p:nvSpPr>
        <p:spPr>
          <a:xfrm>
            <a:off x="4526280" y="2971800"/>
            <a:ext cx="457200" cy="457200"/>
          </a:xfrm>
          <a:prstGeom prst="ellipse">
            <a:avLst/>
          </a:prstGeom>
          <a:solidFill>
            <a:srgbClr val="FFFFFF">
              <a:alpha val="12000"/>
            </a:srgbClr>
          </a:solidFill>
          <a:ln w="19050">
            <a:solidFill>
              <a:srgbClr val="B42318"/>
            </a:solidFill>
            <a:prstDash val="solid"/>
          </a:ln>
        </p:spPr>
      </p:sp>
      <p:sp>
        <p:nvSpPr>
          <p:cNvPr id="25" name="Text 22"/>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B42318"/>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Send a real AOG notification from Outlook</a:t>
            </a:r>
            <a:endParaRPr lang="en-US" sz="1600" dirty="0"/>
          </a:p>
        </p:txBody>
      </p:sp>
      <p:sp>
        <p:nvSpPr>
          <p:cNvPr id="27" name="Text 24"/>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Open Outlook and send yourself the email in 信箱_種入用/AIR4_…</a:t>
            </a:r>
            <a:endParaRPr lang="en-US" sz="1300" dirty="0"/>
          </a:p>
        </p:txBody>
      </p:sp>
      <p:sp>
        <p:nvSpPr>
          <p:cNvPr id="28" name="Shape 25"/>
          <p:cNvSpPr/>
          <p:nvPr/>
        </p:nvSpPr>
        <p:spPr>
          <a:xfrm>
            <a:off x="4526280" y="3831336"/>
            <a:ext cx="457200" cy="457200"/>
          </a:xfrm>
          <a:prstGeom prst="ellipse">
            <a:avLst/>
          </a:prstGeom>
          <a:solidFill>
            <a:srgbClr val="FFFFFF">
              <a:alpha val="12000"/>
            </a:srgbClr>
          </a:solidFill>
          <a:ln w="19050">
            <a:solidFill>
              <a:srgbClr val="B42318"/>
            </a:solidFill>
            <a:prstDash val="solid"/>
          </a:ln>
        </p:spPr>
      </p:sp>
      <p:sp>
        <p:nvSpPr>
          <p:cNvPr id="29" name="Text 26"/>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B42318"/>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Watch it chase the impact outside engineering</a:t>
            </a:r>
            <a:endParaRPr lang="en-US" sz="1600" dirty="0"/>
          </a:p>
        </p:txBody>
      </p:sp>
      <p:sp>
        <p:nvSpPr>
          <p:cNvPr id="31" name="Text 28"/>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Once it fires, Cowork opens a new task and works through…</a:t>
            </a:r>
            <a:endParaRPr lang="en-US" sz="1300" dirty="0"/>
          </a:p>
        </p:txBody>
      </p:sp>
      <p:sp>
        <p:nvSpPr>
          <p:cNvPr id="32" name="Shape 29"/>
          <p:cNvSpPr/>
          <p:nvPr/>
        </p:nvSpPr>
        <p:spPr>
          <a:xfrm>
            <a:off x="4526280" y="4690872"/>
            <a:ext cx="457200" cy="457200"/>
          </a:xfrm>
          <a:prstGeom prst="ellipse">
            <a:avLst/>
          </a:prstGeom>
          <a:solidFill>
            <a:srgbClr val="FFFFFF">
              <a:alpha val="12000"/>
            </a:srgbClr>
          </a:solidFill>
          <a:ln w="19050">
            <a:solidFill>
              <a:srgbClr val="B42318"/>
            </a:solidFill>
            <a:prstDash val="solid"/>
          </a:ln>
        </p:spPr>
      </p:sp>
      <p:sp>
        <p:nvSpPr>
          <p:cNvPr id="33" name="Text 30"/>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B42318"/>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Have it tell the people who need to know</a:t>
            </a:r>
            <a:endParaRPr lang="en-US" sz="1600" dirty="0"/>
          </a:p>
        </p:txBody>
      </p:sp>
      <p:sp>
        <p:nvSpPr>
          <p:cNvPr id="35" name="Text 32"/>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really sends mail and posts to Teams. Check th…</a:t>
            </a:r>
            <a:endParaRPr lang="en-US" sz="1300" dirty="0"/>
          </a:p>
        </p:txBody>
      </p:sp>
      <p:sp>
        <p:nvSpPr>
          <p:cNvPr id="36" name="Shape 33"/>
          <p:cNvSpPr/>
          <p:nvPr/>
        </p:nvSpPr>
        <p:spPr>
          <a:xfrm>
            <a:off x="4526280" y="5550408"/>
            <a:ext cx="457200" cy="457200"/>
          </a:xfrm>
          <a:prstGeom prst="ellipse">
            <a:avLst/>
          </a:prstGeom>
          <a:solidFill>
            <a:srgbClr val="FFFFFF">
              <a:alpha val="12000"/>
            </a:srgbClr>
          </a:solidFill>
          <a:ln w="19050">
            <a:solidFill>
              <a:srgbClr val="B42318"/>
            </a:solidFill>
            <a:prstDash val="solid"/>
          </a:ln>
        </p:spPr>
      </p:sp>
      <p:sp>
        <p:nvSpPr>
          <p:cNvPr id="37" name="Text 34"/>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B42318"/>
                </a:solidFill>
                <a:latin typeface="Segoe UI" pitchFamily="34" charset="0"/>
                <a:ea typeface="Segoe UI" pitchFamily="34" charset="-122"/>
                <a:cs typeface="Segoe UI" pitchFamily="34" charset="-120"/>
              </a:rPr>
              <a:t>5</a:t>
            </a:r>
            <a:endParaRPr lang="en-US" sz="1600" dirty="0"/>
          </a:p>
        </p:txBody>
      </p:sp>
      <p:sp>
        <p:nvSpPr>
          <p:cNvPr id="38" name="Text 35"/>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Pause the trigger</a:t>
            </a:r>
            <a:endParaRPr lang="en-US" sz="1600" dirty="0"/>
          </a:p>
        </p:txBody>
      </p:sp>
      <p:sp>
        <p:nvSpPr>
          <p:cNvPr id="39" name="Text 36"/>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Pause it when you are done, or every future email starti…</a:t>
            </a:r>
            <a:endParaRPr lang="en-US" sz="1300" dirty="0"/>
          </a:p>
        </p:txBody>
      </p:sp>
      <p:sp>
        <p:nvSpPr>
          <p:cNvPr id="40" name="Text 3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1" name="Text 3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B42318"/>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B42318"/>
                </a:solidFill>
                <a:latin typeface="Segoe UI" pitchFamily="34" charset="0"/>
                <a:ea typeface="Segoe UI" pitchFamily="34" charset="-122"/>
                <a:cs typeface="Segoe UI" pitchFamily="34" charset="-120"/>
              </a:rPr>
              <a:t>Scenario 04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4_01_trigger_setup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B42318"/>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4_05_paused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B42318"/>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B42318"/>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trigger was created, with the condition “email whose subject starts with [AOG]”</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trigger fired on the email you sent from Outlook, not one Cowork sent itself</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states that a four-hour delay on its own still sits inside the acceptance window</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F4E79"/>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F4E79"/>
                </a:solidFill>
                <a:latin typeface="Segoe UI" pitchFamily="34" charset="0"/>
                <a:ea typeface="Segoe UI" pitchFamily="34" charset="-122"/>
                <a:cs typeface="Segoe UI" pitchFamily="34" charset="-120"/>
              </a:rPr>
              <a:t>Scenario 05</a:t>
            </a:r>
            <a:endParaRPr lang="en-US" sz="1400" dirty="0"/>
          </a:p>
        </p:txBody>
      </p:sp>
      <p:sp>
        <p:nvSpPr>
          <p:cNvPr id="5" name="Shape 3"/>
          <p:cNvSpPr/>
          <p:nvPr/>
        </p:nvSpPr>
        <p:spPr>
          <a:xfrm>
            <a:off x="502920" y="1143000"/>
            <a:ext cx="1097280" cy="1097280"/>
          </a:xfrm>
          <a:prstGeom prst="ellipse">
            <a:avLst/>
          </a:prstGeom>
          <a:solidFill>
            <a:srgbClr val="1F4E79"/>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Bulletin to Engineering Order: It Is the Component Serial, Not the MSN</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713232" cy="402336"/>
          </a:xfrm>
          <a:prstGeom prst="roundRect">
            <a:avLst>
              <a:gd name="adj" fmla="val 50000"/>
            </a:avLst>
          </a:prstGeom>
          <a:solidFill>
            <a:srgbClr val="2B579A"/>
          </a:solidFill>
          <a:ln/>
        </p:spPr>
      </p:sp>
      <p:sp>
        <p:nvSpPr>
          <p:cNvPr id="11" name="Text 8"/>
          <p:cNvSpPr/>
          <p:nvPr/>
        </p:nvSpPr>
        <p:spPr>
          <a:xfrm>
            <a:off x="502920"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Word</a:t>
            </a:r>
            <a:endParaRPr lang="en-US" sz="1200" dirty="0"/>
          </a:p>
        </p:txBody>
      </p:sp>
      <p:sp>
        <p:nvSpPr>
          <p:cNvPr id="12" name="Shape 9"/>
          <p:cNvSpPr/>
          <p:nvPr/>
        </p:nvSpPr>
        <p:spPr>
          <a:xfrm>
            <a:off x="1399032" y="4572000"/>
            <a:ext cx="612648" cy="402336"/>
          </a:xfrm>
          <a:prstGeom prst="roundRect">
            <a:avLst>
              <a:gd name="adj" fmla="val 50000"/>
            </a:avLst>
          </a:prstGeom>
          <a:solidFill>
            <a:srgbClr val="6366F1"/>
          </a:solidFill>
          <a:ln/>
        </p:spPr>
      </p:sp>
      <p:sp>
        <p:nvSpPr>
          <p:cNvPr id="13" name="Text 10"/>
          <p:cNvSpPr/>
          <p:nvPr/>
        </p:nvSpPr>
        <p:spPr>
          <a:xfrm>
            <a:off x="1399032"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PDF</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Shape 13"/>
          <p:cNvSpPr/>
          <p:nvPr/>
        </p:nvSpPr>
        <p:spPr>
          <a:xfrm>
            <a:off x="502920" y="5577840"/>
            <a:ext cx="1417320" cy="402336"/>
          </a:xfrm>
          <a:prstGeom prst="roundRect">
            <a:avLst>
              <a:gd name="adj" fmla="val 50000"/>
            </a:avLst>
          </a:prstGeom>
          <a:solidFill>
            <a:srgbClr val="6366F1"/>
          </a:solidFill>
          <a:ln/>
        </p:spPr>
      </p:sp>
      <p:sp>
        <p:nvSpPr>
          <p:cNvPr id="17" name="Text 14"/>
          <p:cNvSpPr/>
          <p:nvPr/>
        </p:nvSpPr>
        <p:spPr>
          <a:xfrm>
            <a:off x="502920" y="557784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8" name="Text 15"/>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manufacturer has issued a service bulletin with a clear effectivity: MSN 5001 to 5400. On that reading, five of the six are in range; take away the two modified at delivery and the answer is three. Wrong. It is four. Because what actually decides applicability is the serial number of the component installed right now — and one aircraft, MSN 5418, plainly outside the range, is affected anyway because the part was changed in July. This scenario has you upload the PDF and produce an engineering order fit to issue.</a:t>
            </a:r>
            <a:endParaRPr lang="en-US" sz="1200" dirty="0"/>
          </a:p>
        </p:txBody>
      </p:sp>
      <p:sp>
        <p:nvSpPr>
          <p:cNvPr id="19" name="Text 16"/>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1F4E79"/>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112264"/>
            <a:ext cx="457200" cy="457200"/>
          </a:xfrm>
          <a:prstGeom prst="ellipse">
            <a:avLst/>
          </a:prstGeom>
          <a:solidFill>
            <a:srgbClr val="FFFFFF">
              <a:alpha val="12000"/>
            </a:srgbClr>
          </a:solidFill>
          <a:ln w="19050">
            <a:solidFill>
              <a:srgbClr val="1F4E79"/>
            </a:solidFill>
            <a:prstDash val="solid"/>
          </a:ln>
        </p:spPr>
      </p:sp>
      <p:sp>
        <p:nvSpPr>
          <p:cNvPr id="21" name="Text 18"/>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bulletin and get the effectivity out of it</a:t>
            </a:r>
            <a:endParaRPr lang="en-US" sz="1600" dirty="0"/>
          </a:p>
        </p:txBody>
      </p:sp>
      <p:sp>
        <p:nvSpPr>
          <p:cNvPr id="23" name="Text 20"/>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AIR5_Service_Bulletin_NW350-28-1142.pdf into the ch…</a:t>
            </a:r>
            <a:endParaRPr lang="en-US" sz="1300" dirty="0"/>
          </a:p>
        </p:txBody>
      </p:sp>
      <p:sp>
        <p:nvSpPr>
          <p:cNvPr id="24" name="Shape 21"/>
          <p:cNvSpPr/>
          <p:nvPr/>
        </p:nvSpPr>
        <p:spPr>
          <a:xfrm>
            <a:off x="4526280" y="2971800"/>
            <a:ext cx="457200" cy="457200"/>
          </a:xfrm>
          <a:prstGeom prst="ellipse">
            <a:avLst/>
          </a:prstGeom>
          <a:solidFill>
            <a:srgbClr val="FFFFFF">
              <a:alpha val="12000"/>
            </a:srgbClr>
          </a:solidFill>
          <a:ln w="19050">
            <a:solidFill>
              <a:srgbClr val="1F4E79"/>
            </a:solidFill>
            <a:prstDash val="solid"/>
          </a:ln>
        </p:spPr>
      </p:sp>
      <p:sp>
        <p:nvSpPr>
          <p:cNvPr id="25" name="Text 22"/>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Assess the fleet against the configuration record</a:t>
            </a:r>
            <a:endParaRPr lang="en-US" sz="1600" dirty="0"/>
          </a:p>
        </p:txBody>
      </p:sp>
      <p:sp>
        <p:nvSpPr>
          <p:cNvPr id="27" name="Text 24"/>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configuration record is in AIR5_Service_Bulletin on …</a:t>
            </a:r>
            <a:endParaRPr lang="en-US" sz="1300" dirty="0"/>
          </a:p>
        </p:txBody>
      </p:sp>
      <p:sp>
        <p:nvSpPr>
          <p:cNvPr id="28" name="Shape 25"/>
          <p:cNvSpPr/>
          <p:nvPr/>
        </p:nvSpPr>
        <p:spPr>
          <a:xfrm>
            <a:off x="4526280" y="3831336"/>
            <a:ext cx="457200" cy="457200"/>
          </a:xfrm>
          <a:prstGeom prst="ellipse">
            <a:avLst/>
          </a:prstGeom>
          <a:solidFill>
            <a:srgbClr val="FFFFFF">
              <a:alpha val="12000"/>
            </a:srgbClr>
          </a:solidFill>
          <a:ln w="19050">
            <a:solidFill>
              <a:srgbClr val="1F4E79"/>
            </a:solidFill>
            <a:prstDash val="solid"/>
          </a:ln>
        </p:spPr>
      </p:sp>
      <p:sp>
        <p:nvSpPr>
          <p:cNvPr id="29" name="Text 26"/>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Press on the tail whose MSN is out of range</a:t>
            </a:r>
            <a:endParaRPr lang="en-US" sz="1600" dirty="0"/>
          </a:p>
        </p:txBody>
      </p:sp>
      <p:sp>
        <p:nvSpPr>
          <p:cNvPr id="31" name="Text 28"/>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One tail's MSN is outside the bulletin's range. Ask agai…</a:t>
            </a:r>
            <a:endParaRPr lang="en-US" sz="1300" dirty="0"/>
          </a:p>
        </p:txBody>
      </p:sp>
      <p:sp>
        <p:nvSpPr>
          <p:cNvPr id="32" name="Shape 29"/>
          <p:cNvSpPr/>
          <p:nvPr/>
        </p:nvSpPr>
        <p:spPr>
          <a:xfrm>
            <a:off x="4526280" y="4690872"/>
            <a:ext cx="457200" cy="457200"/>
          </a:xfrm>
          <a:prstGeom prst="ellipse">
            <a:avLst/>
          </a:prstGeom>
          <a:solidFill>
            <a:srgbClr val="FFFFFF">
              <a:alpha val="12000"/>
            </a:srgbClr>
          </a:solidFill>
          <a:ln w="19050">
            <a:solidFill>
              <a:srgbClr val="1F4E79"/>
            </a:solidFill>
            <a:prstDash val="solid"/>
          </a:ln>
        </p:spPr>
      </p:sp>
      <p:sp>
        <p:nvSpPr>
          <p:cNvPr id="33" name="Text 30"/>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Draft the engineering order to the standard</a:t>
            </a:r>
            <a:endParaRPr lang="en-US" sz="1600" dirty="0"/>
          </a:p>
        </p:txBody>
      </p:sp>
      <p:sp>
        <p:nvSpPr>
          <p:cNvPr id="35" name="Text 32"/>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Have it write the Word document to the six points in the…</a:t>
            </a:r>
            <a:endParaRPr lang="en-US" sz="1300" dirty="0"/>
          </a:p>
        </p:txBody>
      </p:sp>
      <p:sp>
        <p:nvSpPr>
          <p:cNvPr id="36" name="Shape 33"/>
          <p:cNvSpPr/>
          <p:nvPr/>
        </p:nvSpPr>
        <p:spPr>
          <a:xfrm>
            <a:off x="4526280" y="5550408"/>
            <a:ext cx="457200" cy="457200"/>
          </a:xfrm>
          <a:prstGeom prst="ellipse">
            <a:avLst/>
          </a:prstGeom>
          <a:solidFill>
            <a:srgbClr val="FFFFFF">
              <a:alpha val="12000"/>
            </a:srgbClr>
          </a:solidFill>
          <a:ln w="19050">
            <a:solidFill>
              <a:srgbClr val="1F4E79"/>
            </a:solidFill>
            <a:prstDash val="solid"/>
          </a:ln>
        </p:spPr>
      </p:sp>
      <p:sp>
        <p:nvSpPr>
          <p:cNvPr id="37" name="Text 34"/>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5</a:t>
            </a:r>
            <a:endParaRPr lang="en-US" sz="1600" dirty="0"/>
          </a:p>
        </p:txBody>
      </p:sp>
      <p:sp>
        <p:nvSpPr>
          <p:cNvPr id="38" name="Text 35"/>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Check the reasoning would survive an audit</a:t>
            </a:r>
            <a:endParaRPr lang="en-US" sz="1600" dirty="0"/>
          </a:p>
        </p:txBody>
      </p:sp>
      <p:sp>
        <p:nvSpPr>
          <p:cNvPr id="39" name="Text 36"/>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An audit reads the reasoning, not the conclusion. Check …</a:t>
            </a:r>
            <a:endParaRPr lang="en-US" sz="1300" dirty="0"/>
          </a:p>
        </p:txBody>
      </p:sp>
      <p:sp>
        <p:nvSpPr>
          <p:cNvPr id="40" name="Text 3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1" name="Text 3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F4E79"/>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F4E79"/>
                </a:solidFill>
                <a:latin typeface="Segoe UI" pitchFamily="34" charset="0"/>
                <a:ea typeface="Segoe UI" pitchFamily="34" charset="-122"/>
                <a:cs typeface="Segoe UI" pitchFamily="34" charset="-120"/>
              </a:rPr>
              <a:t>Scenario 05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5_01_upload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F4E79"/>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5_05_review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F4E79"/>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F4E79"/>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extracted both serial ranges from the PDF — MSN range and affected component serial range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six tails were assessed, and the verdict is four requiring the work</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identifies that MSN 5418, though out of range, is applicable because of its installed component serial</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A4B08"/>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A4B08"/>
                </a:solidFill>
                <a:latin typeface="Segoe UI" pitchFamily="34" charset="0"/>
                <a:ea typeface="Segoe UI" pitchFamily="34" charset="-122"/>
                <a:cs typeface="Segoe UI" pitchFamily="34" charset="-120"/>
              </a:rPr>
              <a:t>Scenario 06</a:t>
            </a:r>
            <a:endParaRPr lang="en-US" sz="1400" dirty="0"/>
          </a:p>
        </p:txBody>
      </p:sp>
      <p:sp>
        <p:nvSpPr>
          <p:cNvPr id="5" name="Shape 3"/>
          <p:cNvSpPr/>
          <p:nvPr/>
        </p:nvSpPr>
        <p:spPr>
          <a:xfrm>
            <a:off x="502920" y="1143000"/>
            <a:ext cx="1097280" cy="1097280"/>
          </a:xfrm>
          <a:prstGeom prst="ellipse">
            <a:avLst/>
          </a:prstGeom>
          <a:solidFill>
            <a:srgbClr val="8A4B08"/>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The Monthly Reliability Report: the Improvement Is in the Denominator</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~22 min · Level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Communications</a:t>
            </a:r>
            <a:endParaRPr lang="en-US" sz="1200" dirty="0"/>
          </a:p>
        </p:txBody>
      </p:sp>
      <p:sp>
        <p:nvSpPr>
          <p:cNvPr id="12" name="Shape 9"/>
          <p:cNvSpPr/>
          <p:nvPr/>
        </p:nvSpPr>
        <p:spPr>
          <a:xfrm>
            <a:off x="2404872" y="4572000"/>
            <a:ext cx="1316736" cy="402336"/>
          </a:xfrm>
          <a:prstGeom prst="roundRect">
            <a:avLst>
              <a:gd name="adj" fmla="val 50000"/>
            </a:avLst>
          </a:prstGeom>
          <a:solidFill>
            <a:srgbClr val="C43E1C"/>
          </a:solidFill>
          <a:ln/>
        </p:spPr>
      </p:sp>
      <p:sp>
        <p:nvSpPr>
          <p:cNvPr id="13" name="Text 10"/>
          <p:cNvSpPr/>
          <p:nvPr/>
        </p:nvSpPr>
        <p:spPr>
          <a:xfrm>
            <a:off x="2404872"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PowerPoint</a:t>
            </a:r>
            <a:endParaRPr lang="en-US" sz="1200" dirty="0"/>
          </a:p>
        </p:txBody>
      </p:sp>
      <p:sp>
        <p:nvSpPr>
          <p:cNvPr id="14" name="Shape 11"/>
          <p:cNvSpPr/>
          <p:nvPr/>
        </p:nvSpPr>
        <p:spPr>
          <a:xfrm>
            <a:off x="502920" y="5074920"/>
            <a:ext cx="813816" cy="402336"/>
          </a:xfrm>
          <a:prstGeom prst="roundRect">
            <a:avLst>
              <a:gd name="adj" fmla="val 50000"/>
            </a:avLst>
          </a:prstGeom>
          <a:solidFill>
            <a:srgbClr val="217346"/>
          </a:solidFill>
          <a:ln/>
        </p:spPr>
      </p:sp>
      <p:sp>
        <p:nvSpPr>
          <p:cNvPr id="15" name="Text 12"/>
          <p:cNvSpPr/>
          <p:nvPr/>
        </p:nvSpPr>
        <p:spPr>
          <a:xfrm>
            <a:off x="5029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6" name="Text 13"/>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technical delay rate has come down from 1.48% to 1.31% — the sort of number you take upstairs. But one aircraft spent the whole month in the hangar on a C check. It was not flying, so its usually unflattering numbers vanished with it. Recalculate with that tail excluded from both months and the direction reverses. This scenario is about saying so — in a deck and an email, to people who would rather hear the first number.</a:t>
            </a:r>
            <a:endParaRPr lang="en-US" sz="1200" dirty="0"/>
          </a:p>
        </p:txBody>
      </p:sp>
      <p:sp>
        <p:nvSpPr>
          <p:cNvPr id="17" name="Text 14"/>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8A4B08"/>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112264"/>
            <a:ext cx="457200" cy="457200"/>
          </a:xfrm>
          <a:prstGeom prst="ellipse">
            <a:avLst/>
          </a:prstGeom>
          <a:solidFill>
            <a:srgbClr val="FFFFFF">
              <a:alpha val="12000"/>
            </a:srgbClr>
          </a:solidFill>
          <a:ln w="19050">
            <a:solidFill>
              <a:srgbClr val="8A4B08"/>
            </a:solidFill>
            <a:prstDash val="solid"/>
          </a:ln>
        </p:spPr>
      </p:sp>
      <p:sp>
        <p:nvSpPr>
          <p:cNvPr id="19" name="Text 16"/>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Get the headline numbers first</a:t>
            </a:r>
            <a:endParaRPr lang="en-US" sz="1600" dirty="0"/>
          </a:p>
        </p:txBody>
      </p:sp>
      <p:sp>
        <p:nvSpPr>
          <p:cNvPr id="21" name="Text 18"/>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Both files are in AIR6_Reliability_Re…</a:t>
            </a:r>
            <a:endParaRPr lang="en-US" sz="1300" dirty="0"/>
          </a:p>
        </p:txBody>
      </p:sp>
      <p:sp>
        <p:nvSpPr>
          <p:cNvPr id="22" name="Shape 19"/>
          <p:cNvSpPr/>
          <p:nvPr/>
        </p:nvSpPr>
        <p:spPr>
          <a:xfrm>
            <a:off x="4526280" y="2971800"/>
            <a:ext cx="457200" cy="457200"/>
          </a:xfrm>
          <a:prstGeom prst="ellipse">
            <a:avLst/>
          </a:prstGeom>
          <a:solidFill>
            <a:srgbClr val="FFFFFF">
              <a:alpha val="12000"/>
            </a:srgbClr>
          </a:solidFill>
          <a:ln w="19050">
            <a:solidFill>
              <a:srgbClr val="8A4B08"/>
            </a:solidFill>
            <a:prstDash val="solid"/>
          </a:ln>
        </p:spPr>
      </p:sp>
      <p:sp>
        <p:nvSpPr>
          <p:cNvPr id="23" name="Text 20"/>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Ask whether the fleet composition changed</a:t>
            </a:r>
            <a:endParaRPr lang="en-US" sz="1600" dirty="0"/>
          </a:p>
        </p:txBody>
      </p:sp>
      <p:sp>
        <p:nvSpPr>
          <p:cNvPr id="25" name="Text 22"/>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programme summary has a section on comparison basis.…</a:t>
            </a:r>
            <a:endParaRPr lang="en-US" sz="1300" dirty="0"/>
          </a:p>
        </p:txBody>
      </p:sp>
      <p:sp>
        <p:nvSpPr>
          <p:cNvPr id="26" name="Shape 23"/>
          <p:cNvSpPr/>
          <p:nvPr/>
        </p:nvSpPr>
        <p:spPr>
          <a:xfrm>
            <a:off x="4526280" y="3831336"/>
            <a:ext cx="457200" cy="457200"/>
          </a:xfrm>
          <a:prstGeom prst="ellipse">
            <a:avLst/>
          </a:prstGeom>
          <a:solidFill>
            <a:srgbClr val="FFFFFF">
              <a:alpha val="12000"/>
            </a:srgbClr>
          </a:solidFill>
          <a:ln w="19050">
            <a:solidFill>
              <a:srgbClr val="8A4B08"/>
            </a:solidFill>
            <a:prstDash val="solid"/>
          </a:ln>
        </p:spPr>
      </p:sp>
      <p:sp>
        <p:nvSpPr>
          <p:cNvPr id="27" name="Text 24"/>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Look for something shared across tails</a:t>
            </a:r>
            <a:endParaRPr lang="en-US" sz="1600" dirty="0"/>
          </a:p>
        </p:txBody>
      </p:sp>
      <p:sp>
        <p:nvSpPr>
          <p:cNvPr id="29" name="Text 26"/>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list is on the second sheet of the same workbook.。</a:t>
            </a:r>
            <a:endParaRPr lang="en-US" sz="1300" dirty="0"/>
          </a:p>
        </p:txBody>
      </p:sp>
      <p:sp>
        <p:nvSpPr>
          <p:cNvPr id="30" name="Shape 27"/>
          <p:cNvSpPr/>
          <p:nvPr/>
        </p:nvSpPr>
        <p:spPr>
          <a:xfrm>
            <a:off x="4526280" y="4690872"/>
            <a:ext cx="457200" cy="457200"/>
          </a:xfrm>
          <a:prstGeom prst="ellipse">
            <a:avLst/>
          </a:prstGeom>
          <a:solidFill>
            <a:srgbClr val="FFFFFF">
              <a:alpha val="12000"/>
            </a:srgbClr>
          </a:solidFill>
          <a:ln w="19050">
            <a:solidFill>
              <a:srgbClr val="8A4B08"/>
            </a:solidFill>
            <a:prstDash val="solid"/>
          </a:ln>
        </p:spPr>
      </p:sp>
      <p:sp>
        <p:nvSpPr>
          <p:cNvPr id="31" name="Text 28"/>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Build the deck for the review board</a:t>
            </a:r>
            <a:endParaRPr lang="en-US" sz="1600" dirty="0"/>
          </a:p>
        </p:txBody>
      </p:sp>
      <p:sp>
        <p:nvSpPr>
          <p:cNvPr id="33" name="Text 30"/>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produces a PowerPoint deck.。</a:t>
            </a:r>
            <a:endParaRPr lang="en-US" sz="1300" dirty="0"/>
          </a:p>
        </p:txBody>
      </p:sp>
      <p:sp>
        <p:nvSpPr>
          <p:cNvPr id="34" name="Shape 31"/>
          <p:cNvSpPr/>
          <p:nvPr/>
        </p:nvSpPr>
        <p:spPr>
          <a:xfrm>
            <a:off x="4526280" y="5550408"/>
            <a:ext cx="457200" cy="457200"/>
          </a:xfrm>
          <a:prstGeom prst="ellipse">
            <a:avLst/>
          </a:prstGeom>
          <a:solidFill>
            <a:srgbClr val="FFFFFF">
              <a:alpha val="12000"/>
            </a:srgbClr>
          </a:solidFill>
          <a:ln w="19050">
            <a:solidFill>
              <a:srgbClr val="8A4B08"/>
            </a:solidFill>
            <a:prstDash val="solid"/>
          </a:ln>
        </p:spPr>
      </p:sp>
      <p:sp>
        <p:nvSpPr>
          <p:cNvPr id="35" name="Text 32"/>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5</a:t>
            </a:r>
            <a:endParaRPr lang="en-US" sz="1600" dirty="0"/>
          </a:p>
        </p:txBody>
      </p:sp>
      <p:sp>
        <p:nvSpPr>
          <p:cNvPr id="36" name="Text 33"/>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Write the email that says the uncomfortable part</a:t>
            </a:r>
            <a:endParaRPr lang="en-US" sz="1600" dirty="0"/>
          </a:p>
        </p:txBody>
      </p:sp>
      <p:sp>
        <p:nvSpPr>
          <p:cNvPr id="37" name="Text 34"/>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really sends mail; recipients come from the co…</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A4B08"/>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A4B08"/>
                </a:solidFill>
                <a:latin typeface="Segoe UI" pitchFamily="34" charset="0"/>
                <a:ea typeface="Segoe UI" pitchFamily="34" charset="-122"/>
                <a:cs typeface="Segoe UI" pitchFamily="34" charset="-120"/>
              </a:rPr>
              <a:t>Scenario 06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6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A4B08"/>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6_05b_sent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A4B08"/>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A4B08"/>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Both headline rates were calculated and reconcile with the sectors in the data</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spotted the tail with zero sectors in one month and can say why</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like-for-like recalculation excludes that tail from both months, not just one</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B6E6E"/>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B6E6E"/>
                </a:solidFill>
                <a:latin typeface="Segoe UI" pitchFamily="34" charset="0"/>
                <a:ea typeface="Segoe UI" pitchFamily="34" charset="-122"/>
                <a:cs typeface="Segoe UI" pitchFamily="34" charset="-120"/>
              </a:rPr>
              <a:t>Scenario 07</a:t>
            </a:r>
            <a:endParaRPr lang="en-US" sz="1400" dirty="0"/>
          </a:p>
        </p:txBody>
      </p:sp>
      <p:sp>
        <p:nvSpPr>
          <p:cNvPr id="5" name="Shape 3"/>
          <p:cNvSpPr/>
          <p:nvPr/>
        </p:nvSpPr>
        <p:spPr>
          <a:xfrm>
            <a:off x="502920" y="1143000"/>
            <a:ext cx="1097280" cy="1097280"/>
          </a:xfrm>
          <a:prstGeom prst="ellipse">
            <a:avLst/>
          </a:prstGeom>
          <a:solidFill>
            <a:srgbClr val="0B6E6E"/>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Airline ·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Turning the Applicability Test into a Skill: Knowing When Not to Answer</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517904" cy="402336"/>
          </a:xfrm>
          <a:prstGeom prst="roundRect">
            <a:avLst>
              <a:gd name="adj" fmla="val 50000"/>
            </a:avLst>
          </a:prstGeom>
          <a:solidFill>
            <a:srgbClr val="7A4DDB"/>
          </a:solidFill>
          <a:ln/>
        </p:spPr>
      </p:sp>
      <p:sp>
        <p:nvSpPr>
          <p:cNvPr id="11" name="Text 8"/>
          <p:cNvSpPr/>
          <p:nvPr/>
        </p:nvSpPr>
        <p:spPr>
          <a:xfrm>
            <a:off x="502920" y="457200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Custom skill</a:t>
            </a:r>
            <a:endParaRPr lang="en-US" sz="1200" dirty="0"/>
          </a:p>
        </p:txBody>
      </p:sp>
      <p:sp>
        <p:nvSpPr>
          <p:cNvPr id="12" name="Shape 9"/>
          <p:cNvSpPr/>
          <p:nvPr/>
        </p:nvSpPr>
        <p:spPr>
          <a:xfrm>
            <a:off x="2203704" y="4572000"/>
            <a:ext cx="1517904" cy="402336"/>
          </a:xfrm>
          <a:prstGeom prst="roundRect">
            <a:avLst>
              <a:gd name="adj" fmla="val 50000"/>
            </a:avLst>
          </a:prstGeom>
          <a:solidFill>
            <a:srgbClr val="6366F1"/>
          </a:solidFill>
          <a:ln/>
        </p:spPr>
      </p:sp>
      <p:sp>
        <p:nvSpPr>
          <p:cNvPr id="13" name="Text 10"/>
          <p:cNvSpPr/>
          <p:nvPr/>
        </p:nvSpPr>
        <p:spPr>
          <a:xfrm>
            <a:off x="2203704" y="457200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Skill Report</a:t>
            </a:r>
            <a:endParaRPr lang="en-US" sz="1200" dirty="0"/>
          </a:p>
        </p:txBody>
      </p:sp>
      <p:sp>
        <p:nvSpPr>
          <p:cNvPr id="14" name="Shape 11"/>
          <p:cNvSpPr/>
          <p:nvPr/>
        </p:nvSpPr>
        <p:spPr>
          <a:xfrm>
            <a:off x="502920" y="5074920"/>
            <a:ext cx="1417320" cy="402336"/>
          </a:xfrm>
          <a:prstGeom prst="roundRect">
            <a:avLst>
              <a:gd name="adj" fmla="val 50000"/>
            </a:avLst>
          </a:prstGeom>
          <a:solidFill>
            <a:srgbClr val="6366F1"/>
          </a:solidFill>
          <a:ln/>
        </p:spPr>
      </p:sp>
      <p:sp>
        <p:nvSpPr>
          <p:cNvPr id="15" name="Text 12"/>
          <p:cNvSpPr/>
          <p:nvPr/>
        </p:nvSpPr>
        <p:spPr>
          <a:xfrm>
            <a:off x="502920" y="507492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6" name="Text 13"/>
          <p:cNvSpPr/>
          <p:nvPr/>
        </p:nvSpPr>
        <p:spPr>
          <a:xfrm>
            <a:off x="4526280" y="566928"/>
            <a:ext cx="7132320" cy="1819656"/>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test from scenario 5 runs every time a bulletin arrives, so making it a skill is obvious. But a safety-adjacent skill differs from an ordinary one in kind: when an ordinary skill is wrong the output is poor, whereas when this one is wrong, required work gets assessed as not required. So what matters here is not how elegant the trigger phrases are. It is whether the skill shuts up when the data is incomplete. You will test it with an aircraft just transferred in from another operator, with incomplete records.</a:t>
            </a:r>
            <a:endParaRPr lang="en-US" sz="1200" dirty="0"/>
          </a:p>
        </p:txBody>
      </p:sp>
      <p:sp>
        <p:nvSpPr>
          <p:cNvPr id="17" name="Text 14"/>
          <p:cNvSpPr/>
          <p:nvPr/>
        </p:nvSpPr>
        <p:spPr>
          <a:xfrm>
            <a:off x="4526280" y="2514600"/>
            <a:ext cx="7132320" cy="365760"/>
          </a:xfrm>
          <a:prstGeom prst="rect">
            <a:avLst/>
          </a:prstGeom>
          <a:noFill/>
          <a:ln/>
        </p:spPr>
        <p:txBody>
          <a:bodyPr wrap="square" rtlCol="0" anchor="ctr"/>
          <a:lstStyle/>
          <a:p>
            <a:pPr indent="0" marL="0">
              <a:buNone/>
            </a:pPr>
            <a:r>
              <a:rPr lang="en-US" sz="1500" b="1" dirty="0">
                <a:solidFill>
                  <a:srgbClr val="0B6E6E"/>
                </a:solidFill>
                <a:latin typeface="Segoe UI" pitchFamily="34" charset="0"/>
                <a:ea typeface="Segoe UI" pitchFamily="34" charset="-122"/>
                <a:cs typeface="Segoe UI" pitchFamily="34" charset="-120"/>
              </a:rPr>
              <a:t>Agentic workflow</a:t>
            </a:r>
            <a:endParaRPr lang="en-US" sz="1500" dirty="0"/>
          </a:p>
        </p:txBody>
      </p:sp>
      <p:sp>
        <p:nvSpPr>
          <p:cNvPr id="18" name="Shape 15"/>
          <p:cNvSpPr/>
          <p:nvPr/>
        </p:nvSpPr>
        <p:spPr>
          <a:xfrm>
            <a:off x="4526280" y="2971800"/>
            <a:ext cx="457200" cy="457200"/>
          </a:xfrm>
          <a:prstGeom prst="ellipse">
            <a:avLst/>
          </a:prstGeom>
          <a:solidFill>
            <a:srgbClr val="FFFFFF">
              <a:alpha val="12000"/>
            </a:srgbClr>
          </a:solidFill>
          <a:ln w="19050">
            <a:solidFill>
              <a:srgbClr val="0B6E6E"/>
            </a:solidFill>
            <a:prstDash val="solid"/>
          </a:ln>
        </p:spPr>
      </p:sp>
      <p:sp>
        <p:nvSpPr>
          <p:cNvPr id="19" name="Text 1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0B6E6E"/>
                </a:solidFill>
                <a:latin typeface="Segoe UI" pitchFamily="34" charset="0"/>
                <a:ea typeface="Segoe UI" pitchFamily="34" charset="-122"/>
                <a:cs typeface="Segoe UI" pitchFamily="34" charset="-120"/>
              </a:rPr>
              <a:t>1</a:t>
            </a:r>
            <a:endParaRPr lang="en-US" sz="1600" dirty="0"/>
          </a:p>
        </p:txBody>
      </p:sp>
      <p:sp>
        <p:nvSpPr>
          <p:cNvPr id="20" name="Text 1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Build the skill together</a:t>
            </a:r>
            <a:endParaRPr lang="en-US" sz="1600" dirty="0"/>
          </a:p>
        </p:txBody>
      </p:sp>
      <p:sp>
        <p:nvSpPr>
          <p:cNvPr id="21" name="Text 1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creates a file under Documents/Cowork/skills/ in On…</a:t>
            </a:r>
            <a:endParaRPr lang="en-US" sz="1300" dirty="0"/>
          </a:p>
        </p:txBody>
      </p:sp>
      <p:sp>
        <p:nvSpPr>
          <p:cNvPr id="22" name="Shape 19"/>
          <p:cNvSpPr/>
          <p:nvPr/>
        </p:nvSpPr>
        <p:spPr>
          <a:xfrm>
            <a:off x="4526280" y="3831336"/>
            <a:ext cx="457200" cy="457200"/>
          </a:xfrm>
          <a:prstGeom prst="ellipse">
            <a:avLst/>
          </a:prstGeom>
          <a:solidFill>
            <a:srgbClr val="FFFFFF">
              <a:alpha val="12000"/>
            </a:srgbClr>
          </a:solidFill>
          <a:ln w="19050">
            <a:solidFill>
              <a:srgbClr val="0B6E6E"/>
            </a:solidFill>
            <a:prstDash val="solid"/>
          </a:ln>
        </p:spPr>
      </p:sp>
      <p:sp>
        <p:nvSpPr>
          <p:cNvPr id="23" name="Text 2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0B6E6E"/>
                </a:solidFill>
                <a:latin typeface="Segoe UI" pitchFamily="34" charset="0"/>
                <a:ea typeface="Segoe UI" pitchFamily="34" charset="-122"/>
                <a:cs typeface="Segoe UI" pitchFamily="34" charset="-120"/>
              </a:rPr>
              <a:t>2</a:t>
            </a:r>
            <a:endParaRPr lang="en-US" sz="1600" dirty="0"/>
          </a:p>
        </p:txBody>
      </p:sp>
      <p:sp>
        <p:nvSpPr>
          <p:cNvPr id="24" name="Text 2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Read the skill report</a:t>
            </a:r>
            <a:endParaRPr lang="en-US" sz="1600" dirty="0"/>
          </a:p>
        </p:txBody>
      </p:sp>
      <p:sp>
        <p:nvSpPr>
          <p:cNvPr id="25" name="Text 2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Cowork evaluates the skill automatically on creation — y…</a:t>
            </a:r>
            <a:endParaRPr lang="en-US" sz="1300" dirty="0"/>
          </a:p>
        </p:txBody>
      </p:sp>
      <p:sp>
        <p:nvSpPr>
          <p:cNvPr id="26" name="Shape 23"/>
          <p:cNvSpPr/>
          <p:nvPr/>
        </p:nvSpPr>
        <p:spPr>
          <a:xfrm>
            <a:off x="4526280" y="4690872"/>
            <a:ext cx="457200" cy="457200"/>
          </a:xfrm>
          <a:prstGeom prst="ellipse">
            <a:avLst/>
          </a:prstGeom>
          <a:solidFill>
            <a:srgbClr val="FFFFFF">
              <a:alpha val="12000"/>
            </a:srgbClr>
          </a:solidFill>
          <a:ln w="19050">
            <a:solidFill>
              <a:srgbClr val="0B6E6E"/>
            </a:solidFill>
            <a:prstDash val="solid"/>
          </a:ln>
        </p:spPr>
      </p:sp>
      <p:sp>
        <p:nvSpPr>
          <p:cNvPr id="27" name="Text 2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0B6E6E"/>
                </a:solidFill>
                <a:latin typeface="Segoe UI" pitchFamily="34" charset="0"/>
                <a:ea typeface="Segoe UI" pitchFamily="34" charset="-122"/>
                <a:cs typeface="Segoe UI" pitchFamily="34" charset="-120"/>
              </a:rPr>
              <a:t>3</a:t>
            </a:r>
            <a:endParaRPr lang="en-US" sz="1600" dirty="0"/>
          </a:p>
        </p:txBody>
      </p:sp>
      <p:sp>
        <p:nvSpPr>
          <p:cNvPr id="28" name="Text 2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Start a new task and test it with the incomplete record</a:t>
            </a:r>
            <a:endParaRPr lang="en-US" sz="1600" dirty="0"/>
          </a:p>
        </p:txBody>
      </p:sp>
      <p:sp>
        <p:nvSpPr>
          <p:cNvPr id="29" name="Text 2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 Start a new task. A skill just created cannot be call…</a:t>
            </a:r>
            <a:endParaRPr lang="en-US" sz="1300" dirty="0"/>
          </a:p>
        </p:txBody>
      </p:sp>
      <p:sp>
        <p:nvSpPr>
          <p:cNvPr id="30" name="Shape 27"/>
          <p:cNvSpPr/>
          <p:nvPr/>
        </p:nvSpPr>
        <p:spPr>
          <a:xfrm>
            <a:off x="4526280" y="5550408"/>
            <a:ext cx="457200" cy="457200"/>
          </a:xfrm>
          <a:prstGeom prst="ellipse">
            <a:avLst/>
          </a:prstGeom>
          <a:solidFill>
            <a:srgbClr val="FFFFFF">
              <a:alpha val="12000"/>
            </a:srgbClr>
          </a:solidFill>
          <a:ln w="19050">
            <a:solidFill>
              <a:srgbClr val="0B6E6E"/>
            </a:solidFill>
            <a:prstDash val="solid"/>
          </a:ln>
        </p:spPr>
      </p:sp>
      <p:sp>
        <p:nvSpPr>
          <p:cNvPr id="31" name="Text 2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B6E6E"/>
                </a:solidFill>
                <a:latin typeface="Segoe UI" pitchFamily="34" charset="0"/>
                <a:ea typeface="Segoe UI" pitchFamily="34" charset="-122"/>
                <a:cs typeface="Segoe UI" pitchFamily="34" charset="-120"/>
              </a:rPr>
              <a:t>4</a:t>
            </a:r>
            <a:endParaRPr lang="en-US" sz="1600" dirty="0"/>
          </a:p>
        </p:txBody>
      </p:sp>
      <p:sp>
        <p:nvSpPr>
          <p:cNvPr id="32" name="Text 2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Ask why it did not just call it applicable</a:t>
            </a:r>
            <a:endParaRPr lang="en-US" sz="1600" dirty="0"/>
          </a:p>
        </p:txBody>
      </p:sp>
      <p:sp>
        <p:nvSpPr>
          <p:cNvPr id="33" name="Text 3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question is the point of the whole scenario. Do not…</a:t>
            </a:r>
            <a:endParaRPr lang="en-US" sz="1300" dirty="0"/>
          </a:p>
        </p:txBody>
      </p:sp>
      <p:sp>
        <p:nvSpPr>
          <p:cNvPr id="34"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5"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B6E6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B6E6E"/>
                </a:solidFill>
                <a:latin typeface="Segoe UI" pitchFamily="34" charset="0"/>
                <a:ea typeface="Segoe UI" pitchFamily="34" charset="-122"/>
                <a:cs typeface="Segoe UI" pitchFamily="34" charset="-120"/>
              </a:rPr>
              <a:t>Scenario 07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air7_01_build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B6E6E"/>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air7_04_why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B6E6E"/>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B6E6E"/>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skill was created and saved under Documents/Cowork/skills/ in OneDrive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skill states the decision sequence and keeps the three steps in order</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skill states that the basis is the installed component serial and the MSN must not drive it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Extend it to your own work</a:t>
            </a:r>
            <a:endParaRPr lang="en-US" sz="3000" dirty="0"/>
          </a:p>
        </p:txBody>
      </p:sp>
      <p:sp>
        <p:nvSpPr>
          <p:cNvPr id="5" name="Shape 3"/>
          <p:cNvSpPr/>
          <p:nvPr/>
        </p:nvSpPr>
        <p:spPr>
          <a:xfrm>
            <a:off x="640080" y="1783080"/>
            <a:ext cx="10911535" cy="549946"/>
          </a:xfrm>
          <a:prstGeom prst="rect">
            <a:avLst/>
          </a:prstGeom>
          <a:solidFill>
            <a:srgbClr val="FFFFFF"/>
          </a:solidFill>
          <a:ln w="12700">
            <a:solidFill>
              <a:srgbClr val="E4E7F2"/>
            </a:solidFill>
            <a:prstDash val="solid"/>
          </a:ln>
        </p:spPr>
      </p:sp>
      <p:sp>
        <p:nvSpPr>
          <p:cNvPr id="6" name="Shape 4"/>
          <p:cNvSpPr/>
          <p:nvPr/>
        </p:nvSpPr>
        <p:spPr>
          <a:xfrm>
            <a:off x="868680" y="1811165"/>
            <a:ext cx="493776" cy="493776"/>
          </a:xfrm>
          <a:prstGeom prst="ellipse">
            <a:avLst/>
          </a:prstGeom>
          <a:solidFill>
            <a:srgbClr val="0E2A47"/>
          </a:solidFill>
          <a:ln/>
        </p:spPr>
      </p:sp>
      <p:pic>
        <p:nvPicPr>
          <p:cNvPr id="7" name="Image 0" descr="preencoded.png">    </p:cNvPr>
          <p:cNvPicPr>
            <a:picLocks noChangeAspect="1"/>
          </p:cNvPicPr>
          <p:nvPr/>
        </p:nvPicPr>
        <p:blipFill>
          <a:blip r:embed="rId1"/>
          <a:stretch>
            <a:fillRect/>
          </a:stretch>
        </p:blipFill>
        <p:spPr>
          <a:xfrm>
            <a:off x="996696" y="1939181"/>
            <a:ext cx="237744" cy="237744"/>
          </a:xfrm>
          <a:prstGeom prst="rect">
            <a:avLst/>
          </a:prstGeom>
        </p:spPr>
      </p:pic>
      <p:sp>
        <p:nvSpPr>
          <p:cNvPr id="8" name="Text 5"/>
          <p:cNvSpPr/>
          <p:nvPr/>
        </p:nvSpPr>
        <p:spPr>
          <a:xfrm>
            <a:off x="1554480" y="1819656"/>
            <a:ext cx="2286000" cy="476794"/>
          </a:xfrm>
          <a:prstGeom prst="rect">
            <a:avLst/>
          </a:prstGeom>
          <a:noFill/>
          <a:ln/>
        </p:spPr>
        <p:txBody>
          <a:bodyPr wrap="square" rtlCol="0" anchor="ctr"/>
          <a:lstStyle/>
          <a:p>
            <a:pPr indent="0" marL="0">
              <a:buNone/>
            </a:pPr>
            <a:r>
              <a:rPr lang="en-US" sz="1300" b="1" dirty="0">
                <a:solidFill>
                  <a:srgbClr val="0E2A47"/>
                </a:solidFill>
                <a:latin typeface="Segoe UI" pitchFamily="34" charset="0"/>
                <a:ea typeface="Segoe UI" pitchFamily="34" charset="-122"/>
                <a:cs typeface="Segoe UI" pitchFamily="34" charset="-120"/>
              </a:rPr>
              <a:t>Airline · Engineering</a:t>
            </a:r>
            <a:endParaRPr lang="en-US" sz="1300" dirty="0"/>
          </a:p>
        </p:txBody>
      </p:sp>
      <p:sp>
        <p:nvSpPr>
          <p:cNvPr id="9" name="Text 6"/>
          <p:cNvSpPr/>
          <p:nvPr/>
        </p:nvSpPr>
        <p:spPr>
          <a:xfrm>
            <a:off x="3749040" y="1819656"/>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Double one tail's daily utilisation and see whether the whole ranking flips.</a:t>
            </a:r>
            <a:endParaRPr lang="en-US" sz="1250" dirty="0"/>
          </a:p>
        </p:txBody>
      </p:sp>
      <p:sp>
        <p:nvSpPr>
          <p:cNvPr id="10" name="Shape 7"/>
          <p:cNvSpPr/>
          <p:nvPr/>
        </p:nvSpPr>
        <p:spPr>
          <a:xfrm>
            <a:off x="640080" y="2442754"/>
            <a:ext cx="10911535" cy="549946"/>
          </a:xfrm>
          <a:prstGeom prst="rect">
            <a:avLst/>
          </a:prstGeom>
          <a:solidFill>
            <a:srgbClr val="FFFFFF"/>
          </a:solidFill>
          <a:ln w="12700">
            <a:solidFill>
              <a:srgbClr val="E4E7F2"/>
            </a:solidFill>
            <a:prstDash val="solid"/>
          </a:ln>
        </p:spPr>
      </p:sp>
      <p:sp>
        <p:nvSpPr>
          <p:cNvPr id="11" name="Shape 8"/>
          <p:cNvSpPr/>
          <p:nvPr/>
        </p:nvSpPr>
        <p:spPr>
          <a:xfrm>
            <a:off x="868680" y="2470839"/>
            <a:ext cx="493776" cy="493776"/>
          </a:xfrm>
          <a:prstGeom prst="ellipse">
            <a:avLst/>
          </a:prstGeom>
          <a:solidFill>
            <a:srgbClr val="0F5132"/>
          </a:solidFill>
          <a:ln/>
        </p:spPr>
      </p:sp>
      <p:pic>
        <p:nvPicPr>
          <p:cNvPr id="12" name="Image 1" descr="preencoded.png">    </p:cNvPr>
          <p:cNvPicPr>
            <a:picLocks noChangeAspect="1"/>
          </p:cNvPicPr>
          <p:nvPr/>
        </p:nvPicPr>
        <p:blipFill>
          <a:blip r:embed="rId2"/>
          <a:stretch>
            <a:fillRect/>
          </a:stretch>
        </p:blipFill>
        <p:spPr>
          <a:xfrm>
            <a:off x="996696" y="2598855"/>
            <a:ext cx="237744" cy="237744"/>
          </a:xfrm>
          <a:prstGeom prst="rect">
            <a:avLst/>
          </a:prstGeom>
        </p:spPr>
      </p:pic>
      <p:sp>
        <p:nvSpPr>
          <p:cNvPr id="13" name="Text 9"/>
          <p:cNvSpPr/>
          <p:nvPr/>
        </p:nvSpPr>
        <p:spPr>
          <a:xfrm>
            <a:off x="1554480" y="2479330"/>
            <a:ext cx="2286000" cy="476794"/>
          </a:xfrm>
          <a:prstGeom prst="rect">
            <a:avLst/>
          </a:prstGeom>
          <a:noFill/>
          <a:ln/>
        </p:spPr>
        <p:txBody>
          <a:bodyPr wrap="square" rtlCol="0" anchor="ctr"/>
          <a:lstStyle/>
          <a:p>
            <a:pPr indent="0" marL="0">
              <a:buNone/>
            </a:pPr>
            <a:r>
              <a:rPr lang="en-US" sz="1300" b="1" dirty="0">
                <a:solidFill>
                  <a:srgbClr val="0F5132"/>
                </a:solidFill>
                <a:latin typeface="Segoe UI" pitchFamily="34" charset="0"/>
                <a:ea typeface="Segoe UI" pitchFamily="34" charset="-122"/>
                <a:cs typeface="Segoe UI" pitchFamily="34" charset="-120"/>
              </a:rPr>
              <a:t>Airline · Engineering</a:t>
            </a:r>
            <a:endParaRPr lang="en-US" sz="1300" dirty="0"/>
          </a:p>
        </p:txBody>
      </p:sp>
      <p:sp>
        <p:nvSpPr>
          <p:cNvPr id="14" name="Text 10"/>
          <p:cNvSpPr/>
          <p:nvPr/>
        </p:nvSpPr>
        <p:spPr>
          <a:xfrm>
            <a:off x="3749040" y="2479330"/>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Mark the C item as not yet extended and see whether the conclusion flips.</a:t>
            </a:r>
            <a:endParaRPr lang="en-US" sz="1250" dirty="0"/>
          </a:p>
        </p:txBody>
      </p:sp>
      <p:sp>
        <p:nvSpPr>
          <p:cNvPr id="15" name="Shape 11"/>
          <p:cNvSpPr/>
          <p:nvPr/>
        </p:nvSpPr>
        <p:spPr>
          <a:xfrm>
            <a:off x="640080" y="3102429"/>
            <a:ext cx="10911535" cy="549946"/>
          </a:xfrm>
          <a:prstGeom prst="rect">
            <a:avLst/>
          </a:prstGeom>
          <a:solidFill>
            <a:srgbClr val="FFFFFF"/>
          </a:solidFill>
          <a:ln w="12700">
            <a:solidFill>
              <a:srgbClr val="E4E7F2"/>
            </a:solidFill>
            <a:prstDash val="solid"/>
          </a:ln>
        </p:spPr>
      </p:sp>
      <p:sp>
        <p:nvSpPr>
          <p:cNvPr id="16" name="Shape 12"/>
          <p:cNvSpPr/>
          <p:nvPr/>
        </p:nvSpPr>
        <p:spPr>
          <a:xfrm>
            <a:off x="868680" y="3130514"/>
            <a:ext cx="493776" cy="493776"/>
          </a:xfrm>
          <a:prstGeom prst="ellipse">
            <a:avLst/>
          </a:prstGeom>
          <a:solidFill>
            <a:srgbClr val="6B3FA0"/>
          </a:solidFill>
          <a:ln/>
        </p:spPr>
      </p:sp>
      <p:pic>
        <p:nvPicPr>
          <p:cNvPr id="17" name="Image 2" descr="preencoded.png">    </p:cNvPr>
          <p:cNvPicPr>
            <a:picLocks noChangeAspect="1"/>
          </p:cNvPicPr>
          <p:nvPr/>
        </p:nvPicPr>
        <p:blipFill>
          <a:blip r:embed="rId3"/>
          <a:stretch>
            <a:fillRect/>
          </a:stretch>
        </p:blipFill>
        <p:spPr>
          <a:xfrm>
            <a:off x="996696" y="3258530"/>
            <a:ext cx="237744" cy="237744"/>
          </a:xfrm>
          <a:prstGeom prst="rect">
            <a:avLst/>
          </a:prstGeom>
        </p:spPr>
      </p:pic>
      <p:sp>
        <p:nvSpPr>
          <p:cNvPr id="18" name="Text 13"/>
          <p:cNvSpPr/>
          <p:nvPr/>
        </p:nvSpPr>
        <p:spPr>
          <a:xfrm>
            <a:off x="1554480" y="3139005"/>
            <a:ext cx="2286000" cy="476794"/>
          </a:xfrm>
          <a:prstGeom prst="rect">
            <a:avLst/>
          </a:prstGeom>
          <a:noFill/>
          <a:ln/>
        </p:spPr>
        <p:txBody>
          <a:bodyPr wrap="square" rtlCol="0" anchor="ctr"/>
          <a:lstStyle/>
          <a:p>
            <a:pPr indent="0" marL="0">
              <a:buNone/>
            </a:pPr>
            <a:r>
              <a:rPr lang="en-US" sz="1300" b="1" dirty="0">
                <a:solidFill>
                  <a:srgbClr val="6B3FA0"/>
                </a:solidFill>
                <a:latin typeface="Segoe UI" pitchFamily="34" charset="0"/>
                <a:ea typeface="Segoe UI" pitchFamily="34" charset="-122"/>
                <a:cs typeface="Segoe UI" pitchFamily="34" charset="-120"/>
              </a:rPr>
              <a:t>Airline · Engineering</a:t>
            </a:r>
            <a:endParaRPr lang="en-US" sz="1300" dirty="0"/>
          </a:p>
        </p:txBody>
      </p:sp>
      <p:sp>
        <p:nvSpPr>
          <p:cNvPr id="19" name="Text 14"/>
          <p:cNvSpPr/>
          <p:nvPr/>
        </p:nvSpPr>
        <p:spPr>
          <a:xfrm>
            <a:off x="3749040" y="3139005"/>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Move the hangar block two weeks earlier and see how the three verdicts change.</a:t>
            </a:r>
            <a:endParaRPr lang="en-US" sz="1250" dirty="0"/>
          </a:p>
        </p:txBody>
      </p:sp>
      <p:sp>
        <p:nvSpPr>
          <p:cNvPr id="20" name="Shape 15"/>
          <p:cNvSpPr/>
          <p:nvPr/>
        </p:nvSpPr>
        <p:spPr>
          <a:xfrm>
            <a:off x="640080" y="3762103"/>
            <a:ext cx="10911535" cy="549946"/>
          </a:xfrm>
          <a:prstGeom prst="rect">
            <a:avLst/>
          </a:prstGeom>
          <a:solidFill>
            <a:srgbClr val="FFFFFF"/>
          </a:solidFill>
          <a:ln w="12700">
            <a:solidFill>
              <a:srgbClr val="E4E7F2"/>
            </a:solidFill>
            <a:prstDash val="solid"/>
          </a:ln>
        </p:spPr>
      </p:sp>
      <p:sp>
        <p:nvSpPr>
          <p:cNvPr id="21" name="Shape 16"/>
          <p:cNvSpPr/>
          <p:nvPr/>
        </p:nvSpPr>
        <p:spPr>
          <a:xfrm>
            <a:off x="868680" y="3790188"/>
            <a:ext cx="493776" cy="493776"/>
          </a:xfrm>
          <a:prstGeom prst="ellipse">
            <a:avLst/>
          </a:prstGeom>
          <a:solidFill>
            <a:srgbClr val="B42318"/>
          </a:solidFill>
          <a:ln/>
        </p:spPr>
      </p:sp>
      <p:pic>
        <p:nvPicPr>
          <p:cNvPr id="22" name="Image 3" descr="preencoded.png">    </p:cNvPr>
          <p:cNvPicPr>
            <a:picLocks noChangeAspect="1"/>
          </p:cNvPicPr>
          <p:nvPr/>
        </p:nvPicPr>
        <p:blipFill>
          <a:blip r:embed="rId4"/>
          <a:stretch>
            <a:fillRect/>
          </a:stretch>
        </p:blipFill>
        <p:spPr>
          <a:xfrm>
            <a:off x="996696" y="3918204"/>
            <a:ext cx="237744" cy="237744"/>
          </a:xfrm>
          <a:prstGeom prst="rect">
            <a:avLst/>
          </a:prstGeom>
        </p:spPr>
      </p:pic>
      <p:sp>
        <p:nvSpPr>
          <p:cNvPr id="23" name="Text 17"/>
          <p:cNvSpPr/>
          <p:nvPr/>
        </p:nvSpPr>
        <p:spPr>
          <a:xfrm>
            <a:off x="1554480" y="3798679"/>
            <a:ext cx="2286000" cy="476794"/>
          </a:xfrm>
          <a:prstGeom prst="rect">
            <a:avLst/>
          </a:prstGeom>
          <a:noFill/>
          <a:ln/>
        </p:spPr>
        <p:txBody>
          <a:bodyPr wrap="square" rtlCol="0" anchor="ctr"/>
          <a:lstStyle/>
          <a:p>
            <a:pPr indent="0" marL="0">
              <a:buNone/>
            </a:pPr>
            <a:r>
              <a:rPr lang="en-US" sz="1300" b="1" dirty="0">
                <a:solidFill>
                  <a:srgbClr val="B42318"/>
                </a:solidFill>
                <a:latin typeface="Segoe UI" pitchFamily="34" charset="0"/>
                <a:ea typeface="Segoe UI" pitchFamily="34" charset="-122"/>
                <a:cs typeface="Segoe UI" pitchFamily="34" charset="-120"/>
              </a:rPr>
              <a:t>Airline · Engineering</a:t>
            </a:r>
            <a:endParaRPr lang="en-US" sz="1300" dirty="0"/>
          </a:p>
        </p:txBody>
      </p:sp>
      <p:sp>
        <p:nvSpPr>
          <p:cNvPr id="24" name="Text 18"/>
          <p:cNvSpPr/>
          <p:nvPr/>
        </p:nvSpPr>
        <p:spPr>
          <a:xfrm>
            <a:off x="3749040" y="3798679"/>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Reduce the consumed excursion by ten hours and see whether the breach disappears.</a:t>
            </a:r>
            <a:endParaRPr lang="en-US" sz="1250" dirty="0"/>
          </a:p>
        </p:txBody>
      </p:sp>
      <p:sp>
        <p:nvSpPr>
          <p:cNvPr id="25" name="Shape 19"/>
          <p:cNvSpPr/>
          <p:nvPr/>
        </p:nvSpPr>
        <p:spPr>
          <a:xfrm>
            <a:off x="640080" y="4421777"/>
            <a:ext cx="10911535" cy="549946"/>
          </a:xfrm>
          <a:prstGeom prst="rect">
            <a:avLst/>
          </a:prstGeom>
          <a:solidFill>
            <a:srgbClr val="FFFFFF"/>
          </a:solidFill>
          <a:ln w="12700">
            <a:solidFill>
              <a:srgbClr val="E4E7F2"/>
            </a:solidFill>
            <a:prstDash val="solid"/>
          </a:ln>
        </p:spPr>
      </p:sp>
      <p:sp>
        <p:nvSpPr>
          <p:cNvPr id="26" name="Shape 20"/>
          <p:cNvSpPr/>
          <p:nvPr/>
        </p:nvSpPr>
        <p:spPr>
          <a:xfrm>
            <a:off x="868680" y="4449862"/>
            <a:ext cx="493776" cy="493776"/>
          </a:xfrm>
          <a:prstGeom prst="ellipse">
            <a:avLst/>
          </a:prstGeom>
          <a:solidFill>
            <a:srgbClr val="1F4E79"/>
          </a:solidFill>
          <a:ln/>
        </p:spPr>
      </p:sp>
      <p:pic>
        <p:nvPicPr>
          <p:cNvPr id="27" name="Image 4" descr="preencoded.png">    </p:cNvPr>
          <p:cNvPicPr>
            <a:picLocks noChangeAspect="1"/>
          </p:cNvPicPr>
          <p:nvPr/>
        </p:nvPicPr>
        <p:blipFill>
          <a:blip r:embed="rId5"/>
          <a:stretch>
            <a:fillRect/>
          </a:stretch>
        </p:blipFill>
        <p:spPr>
          <a:xfrm>
            <a:off x="996696" y="4577878"/>
            <a:ext cx="237744" cy="237744"/>
          </a:xfrm>
          <a:prstGeom prst="rect">
            <a:avLst/>
          </a:prstGeom>
        </p:spPr>
      </p:pic>
      <p:sp>
        <p:nvSpPr>
          <p:cNvPr id="28" name="Text 21"/>
          <p:cNvSpPr/>
          <p:nvPr/>
        </p:nvSpPr>
        <p:spPr>
          <a:xfrm>
            <a:off x="1554480" y="4458353"/>
            <a:ext cx="2286000" cy="476794"/>
          </a:xfrm>
          <a:prstGeom prst="rect">
            <a:avLst/>
          </a:prstGeom>
          <a:noFill/>
          <a:ln/>
        </p:spPr>
        <p:txBody>
          <a:bodyPr wrap="square" rtlCol="0" anchor="ctr"/>
          <a:lstStyle/>
          <a:p>
            <a:pPr indent="0" marL="0">
              <a:buNone/>
            </a:pPr>
            <a:r>
              <a:rPr lang="en-US" sz="1300" b="1" dirty="0">
                <a:solidFill>
                  <a:srgbClr val="1F4E79"/>
                </a:solidFill>
                <a:latin typeface="Segoe UI" pitchFamily="34" charset="0"/>
                <a:ea typeface="Segoe UI" pitchFamily="34" charset="-122"/>
                <a:cs typeface="Segoe UI" pitchFamily="34" charset="-120"/>
              </a:rPr>
              <a:t>Airline · Engineering</a:t>
            </a:r>
            <a:endParaRPr lang="en-US" sz="1300" dirty="0"/>
          </a:p>
        </p:txBody>
      </p:sp>
      <p:sp>
        <p:nvSpPr>
          <p:cNvPr id="29" name="Text 22"/>
          <p:cNvSpPr/>
          <p:nvPr/>
        </p:nvSpPr>
        <p:spPr>
          <a:xfrm>
            <a:off x="3749040" y="4458353"/>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Move the replaced component's serial outside the range and see whether the answer becomes three.</a:t>
            </a:r>
            <a:endParaRPr lang="en-US" sz="1250" dirty="0"/>
          </a:p>
        </p:txBody>
      </p:sp>
      <p:sp>
        <p:nvSpPr>
          <p:cNvPr id="30" name="Shape 23"/>
          <p:cNvSpPr/>
          <p:nvPr/>
        </p:nvSpPr>
        <p:spPr>
          <a:xfrm>
            <a:off x="640080" y="5081451"/>
            <a:ext cx="10911535" cy="549946"/>
          </a:xfrm>
          <a:prstGeom prst="rect">
            <a:avLst/>
          </a:prstGeom>
          <a:solidFill>
            <a:srgbClr val="FFFFFF"/>
          </a:solidFill>
          <a:ln w="12700">
            <a:solidFill>
              <a:srgbClr val="E4E7F2"/>
            </a:solidFill>
            <a:prstDash val="solid"/>
          </a:ln>
        </p:spPr>
      </p:sp>
      <p:sp>
        <p:nvSpPr>
          <p:cNvPr id="31" name="Shape 24"/>
          <p:cNvSpPr/>
          <p:nvPr/>
        </p:nvSpPr>
        <p:spPr>
          <a:xfrm>
            <a:off x="868680" y="5109537"/>
            <a:ext cx="493776" cy="493776"/>
          </a:xfrm>
          <a:prstGeom prst="ellipse">
            <a:avLst/>
          </a:prstGeom>
          <a:solidFill>
            <a:srgbClr val="8A4B08"/>
          </a:solidFill>
          <a:ln/>
        </p:spPr>
      </p:sp>
      <p:pic>
        <p:nvPicPr>
          <p:cNvPr id="32" name="Image 5" descr="preencoded.png">    </p:cNvPr>
          <p:cNvPicPr>
            <a:picLocks noChangeAspect="1"/>
          </p:cNvPicPr>
          <p:nvPr/>
        </p:nvPicPr>
        <p:blipFill>
          <a:blip r:embed="rId6"/>
          <a:stretch>
            <a:fillRect/>
          </a:stretch>
        </p:blipFill>
        <p:spPr>
          <a:xfrm>
            <a:off x="996696" y="5237553"/>
            <a:ext cx="237744" cy="237744"/>
          </a:xfrm>
          <a:prstGeom prst="rect">
            <a:avLst/>
          </a:prstGeom>
        </p:spPr>
      </p:pic>
      <p:sp>
        <p:nvSpPr>
          <p:cNvPr id="33" name="Text 25"/>
          <p:cNvSpPr/>
          <p:nvPr/>
        </p:nvSpPr>
        <p:spPr>
          <a:xfrm>
            <a:off x="1554480" y="5118027"/>
            <a:ext cx="2286000" cy="476794"/>
          </a:xfrm>
          <a:prstGeom prst="rect">
            <a:avLst/>
          </a:prstGeom>
          <a:noFill/>
          <a:ln/>
        </p:spPr>
        <p:txBody>
          <a:bodyPr wrap="square" rtlCol="0" anchor="ctr"/>
          <a:lstStyle/>
          <a:p>
            <a:pPr indent="0" marL="0">
              <a:buNone/>
            </a:pPr>
            <a:r>
              <a:rPr lang="en-US" sz="1300" b="1" dirty="0">
                <a:solidFill>
                  <a:srgbClr val="8A4B08"/>
                </a:solidFill>
                <a:latin typeface="Segoe UI" pitchFamily="34" charset="0"/>
                <a:ea typeface="Segoe UI" pitchFamily="34" charset="-122"/>
                <a:cs typeface="Segoe UI" pitchFamily="34" charset="-120"/>
              </a:rPr>
              <a:t>Airline · Engineering</a:t>
            </a:r>
            <a:endParaRPr lang="en-US" sz="1300" dirty="0"/>
          </a:p>
        </p:txBody>
      </p:sp>
      <p:sp>
        <p:nvSpPr>
          <p:cNvPr id="34" name="Text 26"/>
          <p:cNvSpPr/>
          <p:nvPr/>
        </p:nvSpPr>
        <p:spPr>
          <a:xfrm>
            <a:off x="3749040" y="5118027"/>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Change that tail's August delays to 1 and see whether the like-for-like still reverses.</a:t>
            </a:r>
            <a:endParaRPr lang="en-US" sz="1250" dirty="0"/>
          </a:p>
        </p:txBody>
      </p:sp>
      <p:sp>
        <p:nvSpPr>
          <p:cNvPr id="35" name="Shape 27"/>
          <p:cNvSpPr/>
          <p:nvPr/>
        </p:nvSpPr>
        <p:spPr>
          <a:xfrm>
            <a:off x="640080" y="5741126"/>
            <a:ext cx="10911535" cy="549946"/>
          </a:xfrm>
          <a:prstGeom prst="rect">
            <a:avLst/>
          </a:prstGeom>
          <a:solidFill>
            <a:srgbClr val="FFFFFF"/>
          </a:solidFill>
          <a:ln w="12700">
            <a:solidFill>
              <a:srgbClr val="E4E7F2"/>
            </a:solidFill>
            <a:prstDash val="solid"/>
          </a:ln>
        </p:spPr>
      </p:sp>
      <p:sp>
        <p:nvSpPr>
          <p:cNvPr id="36" name="Shape 28"/>
          <p:cNvSpPr/>
          <p:nvPr/>
        </p:nvSpPr>
        <p:spPr>
          <a:xfrm>
            <a:off x="868680" y="5769211"/>
            <a:ext cx="493776" cy="493776"/>
          </a:xfrm>
          <a:prstGeom prst="ellipse">
            <a:avLst/>
          </a:prstGeom>
          <a:solidFill>
            <a:srgbClr val="0B6E6E"/>
          </a:solidFill>
          <a:ln/>
        </p:spPr>
      </p:sp>
      <p:pic>
        <p:nvPicPr>
          <p:cNvPr id="37" name="Image 6" descr="preencoded.png">    </p:cNvPr>
          <p:cNvPicPr>
            <a:picLocks noChangeAspect="1"/>
          </p:cNvPicPr>
          <p:nvPr/>
        </p:nvPicPr>
        <p:blipFill>
          <a:blip r:embed="rId7"/>
          <a:stretch>
            <a:fillRect/>
          </a:stretch>
        </p:blipFill>
        <p:spPr>
          <a:xfrm>
            <a:off x="996696" y="5897227"/>
            <a:ext cx="237744" cy="237744"/>
          </a:xfrm>
          <a:prstGeom prst="rect">
            <a:avLst/>
          </a:prstGeom>
        </p:spPr>
      </p:pic>
      <p:sp>
        <p:nvSpPr>
          <p:cNvPr id="38" name="Text 29"/>
          <p:cNvSpPr/>
          <p:nvPr/>
        </p:nvSpPr>
        <p:spPr>
          <a:xfrm>
            <a:off x="1554480" y="5777702"/>
            <a:ext cx="2286000" cy="476794"/>
          </a:xfrm>
          <a:prstGeom prst="rect">
            <a:avLst/>
          </a:prstGeom>
          <a:noFill/>
          <a:ln/>
        </p:spPr>
        <p:txBody>
          <a:bodyPr wrap="square" rtlCol="0" anchor="ctr"/>
          <a:lstStyle/>
          <a:p>
            <a:pPr indent="0" marL="0">
              <a:buNone/>
            </a:pPr>
            <a:r>
              <a:rPr lang="en-US" sz="1300" b="1" dirty="0">
                <a:solidFill>
                  <a:srgbClr val="0B6E6E"/>
                </a:solidFill>
                <a:latin typeface="Segoe UI" pitchFamily="34" charset="0"/>
                <a:ea typeface="Segoe UI" pitchFamily="34" charset="-122"/>
                <a:cs typeface="Segoe UI" pitchFamily="34" charset="-120"/>
              </a:rPr>
              <a:t>Airline · Engineering</a:t>
            </a:r>
            <a:endParaRPr lang="en-US" sz="1300" dirty="0"/>
          </a:p>
        </p:txBody>
      </p:sp>
      <p:sp>
        <p:nvSpPr>
          <p:cNvPr id="39" name="Text 30"/>
          <p:cNvSpPr/>
          <p:nvPr/>
        </p:nvSpPr>
        <p:spPr>
          <a:xfrm>
            <a:off x="3749040" y="5777702"/>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Add a component serial outside the range to the handover record and re-run — does it become “not applicable”?</a:t>
            </a:r>
            <a:endParaRPr lang="en-US" sz="1250" dirty="0"/>
          </a:p>
        </p:txBody>
      </p:sp>
      <p:sp>
        <p:nvSpPr>
          <p:cNvPr id="40"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1"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Segoe UI" pitchFamily="34" charset="0"/>
                <a:ea typeface="Segoe UI" pitchFamily="34" charset="-122"/>
                <a:cs typeface="Segoe U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Automated — but you're still the decision maker</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Approval before action</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Medium/high-risk actions show a RISK-LEVEL; sending mail, posting to Teams or creating meetings all open as an editable preview and go out only after approval.</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Scope you control</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Don't-ask-again can be limited to a recipient, a domain, or always; tasks can be soft/hard paused, resumed or cancelled.</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Automated tasks have guardrails too</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Scheduled prompts and event-driven tasks have run-frequency limits and loop protection; they always run with the creator's permissions, and are recorded in the unified audit log alongside all other Cowork activity, under Microsoft Purview policy.</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Know the limits</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No access to local files, no deleting OneDrive/SharePoint files, no reading encrypted files; attachments under 200MB; custom skills and third-party plugins aren't validated by Microsoft, so review the output yourself. Microsoft explicitly lists it as unsuitable where accuracy must be guaranteed without human review.</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Start practising now</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Cowork Playbook</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Start with the scenario closest to your own work</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Custom skills live in OneDrive at /Documents/Cowork/skills/ as SKILL.md (up to 50, 1MB each)</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Model picker: Auto (default), GPT 5.5 Frontier, GPT 5.6 Sol/Terra, GPT 6 Astra, Opus 5, Claude Sonnet 5, 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Effort: Light / Medium (default) / High / Extra High / Max — higher is more thorough, but slower and uses more credits</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Want it to fire by itself? Set a scheduled prompt (up to 25) or an event-driven task (incoming mail / @mention) on the "Automations" page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Thank you</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Segoe UI" pitchFamily="34" charset="0"/>
                <a:ea typeface="Segoe UI" pitchFamily="34" charset="-122"/>
                <a:cs typeface="Segoe UI" pitchFamily="34" charset="-120"/>
              </a:rPr>
              <a:t>From asking to delegating — you set the standard, Cowork does the 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Segoe UI" pitchFamily="34" charset="0"/>
                <a:ea typeface="Segoe UI" pitchFamily="34" charset="-122"/>
                <a:cs typeface="Segoe UI" pitchFamily="34" charset="-120"/>
              </a:rPr>
              <a:t>Microsoft 365 Copilot Cowork · Training deck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Training</dc:title>
  <dc:subject>PptxGenJS Presentation</dc:subject>
  <dc:creator>Andy Hung</dc:creator>
  <cp:lastModifiedBy>Andy Hung</cp:lastModifiedBy>
  <cp:revision>1</cp:revision>
  <dcterms:created xsi:type="dcterms:W3CDTF">2026-10-03T23:29:43Z</dcterms:created>
  <dcterms:modified xsi:type="dcterms:W3CDTF">2026-10-03T23:29:43Z</dcterms:modified>
</cp:coreProperties>
</file>