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at work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real civic-services scenarios showing how Copilot executes across apps, shows a risk level before medium/high-risk actions, and waits for your approval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deck · client-ready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agentic AI is, and how it differs from Copilot Chat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Skills, workspace, approval before action, self-verification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your practice environment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the material into OneDrive and your mailbox first, so Cowork finds it itself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hands-on scenarios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Mailbox triage, continuity briefing, meeting follow-up, capacity planning, field evidence, accessible procedure, readiness briefing — one workflow at a 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 own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extend these scenarios to your own work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"chat" to "agentic execution"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is Copilot's 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working mode.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hand it a goal; it breaks the work into steps, reads your cloud files, loads the skills it needs, produces results across apps and checks its own work — pausing for your approval, with a risk level shown, before any medium or high-risk action. You move from quick single-turn answers to handing over a task that actually gets done.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answers; great for instant replies and brainstorming.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agent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give a goal; it executes autonomously across apps, for minutes to hours.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stay in charge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outbound or affecting others pauses for your approval.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vs.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Q&amp;A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single-turn Q&amp;A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over a goal; autonomous multi-step work across apps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to minutes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to minutes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 to hours (autonomous)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step, single session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step, single session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Multi-step workflows across tasks and sources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in a snippet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in a snippet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cloud attachments and creates new files; no access to local files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conversational capability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conversational capability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14 built-in skills plus your custom ones automatically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in the chat window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in the chat window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documents, spreadsheets and decks in OneDrive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to open it and prompt every time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to open it and prompt every time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/ event-driven: runs on incoming mail or an @mention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M365 data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M365 data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external systems via Plugins / MCP — the partner catalogue now lists 92 plugins (D365, SAP, Fabric and more)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judge for yourself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judge for yourself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 level and run only after approval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things that set Cowork apart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built-in skills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Word, Excel, PowerPoint, PDF, Email, Scheduling, Calendar Management, Meetings, Daily Briefing, Enterprise Search, Deep Research, Communications, Adaptive Cards, App (Frontier).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side panel shows progress, input files, output files, loaded skills, schedules and granted permissions all at once — the process stays traceable.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RISK-LEVEL; approve, cancel, or set don't-ask-again per recipient, per domain or always; multiple pending actions can be approved together.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new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(up to 25) and event-driven tasks; five Effort levels to balance quality against cost; every custom skill gets an automatic Skill Report (0–100 across four dimensions, plus five separate gates including a Safety and RAI scan); local Edge browser (GA since Aug 2026); image generation; Plugins / MCP for external systems.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inside one agentic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the 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files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the instruction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the task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it into steps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skills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built-in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custom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documents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/ mail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Self-verify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numbers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consistency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actions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you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process is visible in the "Workspace" panel; you can soft/hard pause, resume or cancel a task.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doesn't only start from chat: you can also have it fire automatically when a matching email arrives or you're @mentioned (event-driven tasks) — with the same self-verification and approval flow.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your practice environment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the material into OneDrive under Documents/Cowork_Lab/CivicServices/ before the session, and Cowork will find it itself · Setup time about 25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Understand how dates work in this material first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dates in this material are fixed simulated dates: ea…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OneDrive folders and upload the material for all seven scenarios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Documents/Cowork_Lab/CivicServices/ in OneDrive w…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the owner directory's email column with addresses that really receive mail (gov1)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GOV1_Service_Owner_Directory.md sits in the GOV1_Mailbox…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the shared service mailbox with the queue and routing guide in place (gov1)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sure you have a shared service mailbox (or designat…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send the gov1 trigger message before the session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信箱_種入用/GOV1_Trigger_Test_Email.md is what gets sent into…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📆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one calendar event with no attendees (gov4)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Outlook or OWA, create one placeholder existing ca…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three live-use files into OneDrive under _Upload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GOV2_Disruption_Log.xlsx (gov2), GOV5_Field_Revisit_Repo…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gov3 needs a real operations meeting that has actually taken place — arrange it beforehand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gov3's core is real meeting notes or a transcript — do n…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check before the session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seven subfolders under CivicServices exist in OneDrive and the files open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_Upload holds the three live-use files (or you plan to drag them in by hand at that step)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owner directory sits in the GOV1 subfolder with addresses that actually receive mail, not the placeholder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hands-on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14324D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14324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Public Request Handling</a:t>
            </a:r>
            <a:endParaRPr lang="en-US" sz="828" dirty="0"/>
          </a:p>
        </p:txBody>
      </p:sp>
      <p:sp>
        <p:nvSpPr>
          <p:cNvPr id="10" name="Text 7"/>
          <p:cNvSpPr/>
          <p:nvPr/>
        </p:nvSpPr>
        <p:spPr>
          <a:xfrm>
            <a:off x="731520" y="3628796"/>
            <a:ext cx="117213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Mailbox Triage: Is the Most Urgent-Sounding Message Really Closest to Breaching?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31520" y="5137556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Enterprise Search …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31520" y="564779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27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Continuity</a:t>
            </a:r>
            <a:endParaRPr lang="en-US" sz="828" dirty="0"/>
          </a:p>
        </p:txBody>
      </p:sp>
      <p:sp>
        <p:nvSpPr>
          <p:cNvPr id="18" name="Text 14"/>
          <p:cNvSpPr/>
          <p:nvPr/>
        </p:nvSpPr>
        <p:spPr>
          <a:xfrm>
            <a:off x="2324274" y="3492094"/>
            <a:ext cx="117213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Continuity Briefing: Is the Channel With the Most Incidents the Biggest Continuity Risk?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2324274" y="5000854"/>
            <a:ext cx="117213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· Word …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2324274" y="536844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~18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5C4A9C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5C4A9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Operations Management</a:t>
            </a:r>
            <a:endParaRPr lang="en-US" sz="828" dirty="0"/>
          </a:p>
        </p:txBody>
      </p:sp>
      <p:sp>
        <p:nvSpPr>
          <p:cNvPr id="26" name="Text 21"/>
          <p:cNvSpPr/>
          <p:nvPr/>
        </p:nvSpPr>
        <p:spPr>
          <a:xfrm>
            <a:off x="3917028" y="3628796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Follow-up: Is an Action Marked “Complete” Really Accepted?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3917028" y="4959248"/>
            <a:ext cx="117213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Meetings · Enterprise Search …</a:t>
            </a:r>
            <a:endParaRPr lang="en-US" sz="864" dirty="0"/>
          </a:p>
        </p:txBody>
      </p:sp>
      <p:sp>
        <p:nvSpPr>
          <p:cNvPr id="28" name="Text 23"/>
          <p:cNvSpPr/>
          <p:nvPr/>
        </p:nvSpPr>
        <p:spPr>
          <a:xfrm>
            <a:off x="3917028" y="546948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27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Capacity Planning</a:t>
            </a:r>
            <a:endParaRPr lang="en-US" sz="828" dirty="0"/>
          </a:p>
        </p:txBody>
      </p:sp>
      <p:sp>
        <p:nvSpPr>
          <p:cNvPr id="34" name="Text 28"/>
          <p:cNvSpPr/>
          <p:nvPr/>
        </p:nvSpPr>
        <p:spPr>
          <a:xfrm>
            <a:off x="5509783" y="3492094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Planning: Does Matching Total Qualified Hours Mean Every Interval Is Covered?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5509783" y="4822546"/>
            <a:ext cx="117213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· Scheduling …</a:t>
            </a:r>
            <a:endParaRPr lang="en-US" sz="864" dirty="0"/>
          </a:p>
        </p:txBody>
      </p:sp>
      <p:sp>
        <p:nvSpPr>
          <p:cNvPr id="36" name="Text 30"/>
          <p:cNvSpPr/>
          <p:nvPr/>
        </p:nvSpPr>
        <p:spPr>
          <a:xfrm>
            <a:off x="5509783" y="519013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~18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1F6F3F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1F6F3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27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Field Inspection</a:t>
            </a:r>
            <a:endParaRPr lang="en-US" sz="828" dirty="0"/>
          </a:p>
        </p:txBody>
      </p:sp>
      <p:sp>
        <p:nvSpPr>
          <p:cNvPr id="42" name="Text 35"/>
          <p:cNvSpPr/>
          <p:nvPr/>
        </p:nvSpPr>
        <p:spPr>
          <a:xfrm>
            <a:off x="7102537" y="3492094"/>
            <a:ext cx="1172130" cy="12481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Evidence Reconciliation: Can Two Visits to the Same Site Be Merged Into One Record?</a:t>
            </a:r>
            <a:endParaRPr lang="en-US" sz="1080" dirty="0"/>
          </a:p>
        </p:txBody>
      </p:sp>
      <p:sp>
        <p:nvSpPr>
          <p:cNvPr id="43" name="Text 36"/>
          <p:cNvSpPr/>
          <p:nvPr/>
        </p:nvSpPr>
        <p:spPr>
          <a:xfrm>
            <a:off x="7102537" y="4822546"/>
            <a:ext cx="117213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· Excel · Enterprise Search</a:t>
            </a:r>
            <a:endParaRPr lang="en-US" sz="864" dirty="0"/>
          </a:p>
        </p:txBody>
      </p:sp>
      <p:sp>
        <p:nvSpPr>
          <p:cNvPr id="44" name="Text 37"/>
          <p:cNvSpPr/>
          <p:nvPr/>
        </p:nvSpPr>
        <p:spPr>
          <a:xfrm>
            <a:off x="7102537" y="5190134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~16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8E2F5B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8E2F5B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273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Design</a:t>
            </a:r>
            <a:endParaRPr lang="en-US" sz="828" dirty="0"/>
          </a:p>
        </p:txBody>
      </p:sp>
      <p:sp>
        <p:nvSpPr>
          <p:cNvPr id="50" name="Text 42"/>
          <p:cNvSpPr/>
          <p:nvPr/>
        </p:nvSpPr>
        <p:spPr>
          <a:xfrm>
            <a:off x="8695291" y="3492094"/>
            <a:ext cx="117213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Procedure: Is the Service Fully Accessible Once the Counter Is Fixed?</a:t>
            </a:r>
            <a:endParaRPr lang="en-US" sz="1080" dirty="0"/>
          </a:p>
        </p:txBody>
      </p:sp>
      <p:sp>
        <p:nvSpPr>
          <p:cNvPr id="51" name="Text 43"/>
          <p:cNvSpPr/>
          <p:nvPr/>
        </p:nvSpPr>
        <p:spPr>
          <a:xfrm>
            <a:off x="8695291" y="5000854"/>
            <a:ext cx="1172130" cy="142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· PDF …</a:t>
            </a:r>
            <a:endParaRPr lang="en-US" sz="864" dirty="0"/>
          </a:p>
        </p:txBody>
      </p:sp>
      <p:sp>
        <p:nvSpPr>
          <p:cNvPr id="52" name="Text 44"/>
          <p:cNvSpPr/>
          <p:nvPr/>
        </p:nvSpPr>
        <p:spPr>
          <a:xfrm>
            <a:off x="8695291" y="5225796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~18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410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Readiness Management</a:t>
            </a:r>
            <a:endParaRPr lang="en-US" sz="828" dirty="0"/>
          </a:p>
        </p:txBody>
      </p:sp>
      <p:sp>
        <p:nvSpPr>
          <p:cNvPr id="58" name="Text 49"/>
          <p:cNvSpPr/>
          <p:nvPr/>
        </p:nvSpPr>
        <p:spPr>
          <a:xfrm>
            <a:off x="10288045" y="3628796"/>
            <a:ext cx="117213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Readiness Briefing: Does an Agency-Wide Pass Mean Every Location Is Fine?</a:t>
            </a:r>
            <a:endParaRPr lang="en-US" sz="1080" dirty="0"/>
          </a:p>
        </p:txBody>
      </p:sp>
      <p:sp>
        <p:nvSpPr>
          <p:cNvPr id="59" name="Text 50"/>
          <p:cNvSpPr/>
          <p:nvPr/>
        </p:nvSpPr>
        <p:spPr>
          <a:xfrm>
            <a:off x="10288045" y="4780940"/>
            <a:ext cx="117213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Briefing · Excel …</a:t>
            </a:r>
            <a:endParaRPr lang="en-US" sz="864" dirty="0"/>
          </a:p>
        </p:txBody>
      </p:sp>
      <p:sp>
        <p:nvSpPr>
          <p:cNvPr id="60" name="Text 51"/>
          <p:cNvSpPr/>
          <p:nvPr/>
        </p:nvSpPr>
        <p:spPr>
          <a:xfrm>
            <a:off x="10288045" y="5148529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 min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24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32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Public Request Handling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Mailbox Triage: Is the Most Urgent-Sounding Message Really Closest to Breaching?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~15 min · Level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20208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5604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495604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340096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340096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724144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724144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trigger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 service mailbox fills up overnight, and the sender's own “urgent” flag is the most visible signal — but each service program carries a different response-time promise, so self-flagged urgency and actually running out of time are two different things. To make it worse, a message just arrived sounding urgent but naming no service program at all — its clock can't even be started until that is cleared up.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261518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3072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24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054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the existing queue by time remaining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419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upload — the files are already on OneDrive.。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096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2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078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trigger message arrives: no identifier, so don't assume the service program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443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at this point the instructor sends a new requ…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324D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4324D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routing guide, owner directory and existing 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324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01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1_01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1_02b_cla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324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remaining-time ranking is computed correctly (target minus elapsed), not just the sender's flag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accessibility request closest to breaching is correctly identified — not either self-flagged item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trigger message is not routed on tone alone — it is first flagged for missing identifiers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Continuity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Continuity Briefing: Is the Channel With the Most Incidents the Biggest Continuity Risk?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~18 min · Level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02536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service channels (counter, phone, online portal, mobile outreach unit) had disruptions this quarter, and phone has the most incidents — it looks like the obvious place to invest in continuity. But incident count isn't the same as impact when there's no alternative: three channels back each other up, and the one channel with no backup at all, serving residents who have no other option, actually has the fewest incidents of the four.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8895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33467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3284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this quarter's incident log and check it against the continuity checklist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941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GOV2_Disruption_Log.xlsx into the chat and send t…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708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728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525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conclusion into a frontline deck, with the right priority on the decision page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7183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reviewing the gap analysis, send the prompt below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B7285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B7285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checklist and prior record is read-only, so …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02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2_01_upload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2_02_deck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identifies the channel with no documented backup (mobile, not phone)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treats the channel with the most incidents but an existing backup (phone) as not the continuity priority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deck's decision-page priority is ordered by backup status and no-alternative population, not by incident count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C4A9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C4A9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Operations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Follow-up: Is an Action Marked “Complete” Really Accepted?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~20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11556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06624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5" name="Text 12"/>
          <p:cNvSpPr/>
          <p:nvPr/>
        </p:nvSpPr>
        <p:spPr>
          <a:xfrm>
            <a:off x="2706624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actions from the last operations meeting — three marked “complete” by their owners, which looks ready to close out. But the procedure requires different proof for different action categories: a physical-installation action needs an install-confirmation record, a system-change action needs a post-change screenshot. One “complete” action has only a purchase order attached — not install confirmation — so marked complete does not mean it passed acceptance.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23682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8254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4A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807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real meeting record and separate decisions from open questions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1729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upload — Cowork pulls the record from the ope…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6850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4A9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6667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acceptance evidence and surface the item that fails it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0325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prompt below to reconcile the tracker against t…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4A9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approval, update the tracker and prepare a follow-up communication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the judgment checks out, send the prompt below to u…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C4A9C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5C4A9C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meeting record, procedure and tracker is rea…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C4A9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03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3_01_meeting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3_03_approva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C4A9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identifies A1 as the only “complete” action whose evidence fails acceptance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judgment is based on whether evidence type matches the category's requirement, not merely whether an attachment exists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other two “complete” actions are not mistakenly reopened along with A1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Capacity Planning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Planning: Does Matching Total Qualified Hours Mean Every Interval Is Covered?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~18 min · Level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2219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Management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7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day of the identity-verification service, qualified staff's total scheduled hours (7.5) exactly match the demand hours (7.5), which looks like enough coverage. But matching in aggregate does not mean every interval is covered — in the half-hour shift-change gap, qualified coverage drops to zero, and that exact interval has two bookings requiring a qualified staff member.</a:t>
            </a:r>
            <a:endParaRPr lang="en-US" sz="1307" dirty="0"/>
          </a:p>
        </p:txBody>
      </p:sp>
      <p:sp>
        <p:nvSpPr>
          <p:cNvPr id="17" name="Text 14"/>
          <p:cNvSpPr/>
          <p:nvPr/>
        </p:nvSpPr>
        <p:spPr>
          <a:xfrm>
            <a:off x="4526280" y="23682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8254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807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existing workbook and check whether totals match in aggregate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1729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upload — the files are already on OneDrive.。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6850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6667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interval by interval and edit the workbook in place to flag the gap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0325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prompt below to check qualified coverage interv…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 feasible adjustment window and create the coordination meeting after approval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the gap is confirmed, send the prompt below to find…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A5A00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8A5A00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workbook and policy is read-only, so no appr…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04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4_01_total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4_03_schedule_approva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computes that total qualified hours match total demand hours (7.5h = 7.5h)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identifies the 13:00–13:30 gap with zero coverage and 2 bookings, rather than overlooking it because totals match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workbook is edited in place and the original data is not lost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3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6F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Field Inspection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Evidence Reconciliation: Can Two Visits to the Same Site Be Merged Into One Record?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~16 min · Level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298448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community center was visited twice, with the register already holding the first visit's open finding. Now the second-visit report (PDF) needs to be reconciled in. The location and nearby description are similar enough that it looks like a duplicate record of the same thing, but the second visit doesn't just re-check the first finding — it also surfaces a brand-new, separate issue with its own independent recheck deadline. Merging the two into one row would erase that new issue's tracking schedule.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31638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36210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6F3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6027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the revisit report and have it check the visit history before deciding how to log it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9684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GOV5_Field_Revisit_Report.pdf into the chat and s…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6F3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approval, update the register: close one row, open a new one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the judgment checks out, send the prompt below to u…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F6F3F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1F6F3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visit history and comparing the report is re…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6F3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05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5_01_upload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5_02_register_approva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6F3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judges the two visits as independent events (F-1001 ≠ F-1050), not a duplicate of the same record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confirms the second visit resolved the first finding (F-1001)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 finding has its own independent recheck deadline, not merged into the old finding's deadline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E2F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E2F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Design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Procedure: Is the Service Fully Accessible Once the Counter Is Fixed?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~18 min · Level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04872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2404872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accessibility review confirms the counter process now passes — a headline that reads like good news: “accessible.” But the body of the report separately flags two independent gaps in the online portal: the identity-verification video call has no captioning or interpreter option, and the document-upload button has no screen-reader text alternative. Fixing the counter does not make the whole service accessible — the two online gaps each need their own control, not one shared fix.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23682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8254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E2F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807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the review and ask whether the conclusion is really “fully accessible”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1729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GOV6_Accessibility_Review_Report.pdf into the cha…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6850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E2F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6667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two independent controls for the online portal and update the procedure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0325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prompt below to turn the two online gaps into s…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E2F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approval, draft two communications for two different audiences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the procedure update checks out, send the prompt be…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8E2F5B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8E2F5B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review report is read-only, so no approval c…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E2F5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06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6_01_upload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6_03_comms_approva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E2F5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distinguishes “counter passes” from “overall service not yet accessible,” without being misled by the headline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lists the two independent online-portal gaps without collapsing them into one general statement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procedure update contains two separate controls, each with an owner and timeline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Readiness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Readiness Briefing: Does an Agency-Wide Pass Mean Every Location Is Fine?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~20 min · Level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Briefing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0487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0208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0208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51790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skill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locations' weighted-average readiness is 93.4%, above the agency-wide 90% threshold — which looks fine. But checking location by location, Location D sits at only 81%, below the 85% location floor on both sample days, a persistent problem; Location B dips to 70% on one day only, due to a one-off system outage — a transient problem. A passing weighted average hides the persistent problem, so the briefing can't just report one number.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23682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8254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5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807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check both days first, confirming the difference between persistent and transient problems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1729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upload — the files are already on OneDrive.。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6850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5F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6667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method into a custom skill and test it on both days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0325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prompt below to turn the judging logic into a r…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45445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5F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45262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it to run daily, and inspect one actual run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892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the skill tests out, send the prompt below to sched…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C5F8A">
                <a:alpha val="6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2C5F8A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watch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two readiness files is read-only, so no appr…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07 ·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Cowork does, and what it produces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gov7_01_two_day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Your input and prompt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gov7_03b_run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The result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output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computes day 1's weighted average as 93.4% (above the 90% threshold)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identifies Location D as below the 85% floor on both days — a persistent problem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Correctly identifies Location B as below the floor only on day 2 — a transient problem, distinct from D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it to your own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1432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Public Request Handling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own agency's service programs and SLA commitments, then re-rank the queue.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0B728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2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Continuity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own agency's real channel list and find the one with no backup.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5C4A9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Operations Management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Run it again on an operations meeting your agency actually held, checking action status against evidence type.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8A5A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Capacity Planning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agency's real service-day roster and find the qualified-coverage gap again.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1F6F3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Field Inspection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own agency's real field-inspection data and judge again whether records should merge.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8E2F5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2F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Service Design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agency's real service and accessibility review findings, and split counter vs. online status again.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2C5F8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Services · Readiness Management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Swap in your agency's real location count and thresholds, then re-run the two-day comparison.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— but you're still the decision maker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before 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Medium/high-risk actions show a RISK-LEVEL; sending mail, posting to Teams or creating meetings all open as an editable preview and go out only after approval.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you control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Don't-ask-again can be limited to a recipient, a domain, or always; tasks can be soft/hard paused, resumed or cancelled.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tasks have guardrails too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prompts and event-driven tasks have run-frequency limits and loop protection; they always run with the creator's permissions, and are recorded in the unified audit log alongside all other Cowork activity, under Microsoft Purview policy.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the limits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access to local files, no deleting OneDrive/SharePoint files, no reading encrypted files; attachments under 200MB; custom skills and third-party plugins aren't validated by Microsoft, so review the output yourself. Microsoft explicitly lists it as unsuitable where accuracy must be guaranteed without human review.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practising now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Playbook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the scenario closest to your own work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skills live in OneDrive at /Documents/Cowork/skills/ as SKILL.md (up to 50, 1MB each)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picker: Auto (default), GPT 5.5 Frontier, GPT 5.6 Sol/Terra, GPT 6 Astra, Opus 5, Claude Sonnet 5, 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Effort: Light / Medium (default) / High / Extra High / Max — higher is more thorough, but slower and uses more credits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it to fire by itself? Set a scheduled prompt (up to 25) or an event-driven task (incoming mail / @mention) on the "Automations" page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asking to delegating — you set the standard, Cowork does the work.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 Cowork · Training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Training</dc:title>
  <dc:subject>PptxGenJS Presentation</dc:subject>
  <dc:creator>Andy Hung</dc:creator>
  <cp:lastModifiedBy>Andy Hung</cp:lastModifiedBy>
  <cp:revision>1</cp:revision>
  <dcterms:created xsi:type="dcterms:W3CDTF">2026-10-18T17:14:31Z</dcterms:created>
  <dcterms:modified xsi:type="dcterms:W3CDTF">2026-10-18T17:14:31Z</dcterms:modified>
</cp:coreProperties>
</file>