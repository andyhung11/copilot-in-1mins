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laybook" TargetMode="External"/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5" Type="http://schemas.openxmlformats.org/officeDocument/2006/relationships/image" Target="../media/image-25-4.png"/><Relationship Id="rId6" Type="http://schemas.openxmlformats.org/officeDocument/2006/relationships/image" Target="../media/image-25-5.png"/><Relationship Id="rId7" Type="http://schemas.openxmlformats.org/officeDocument/2006/relationships/image" Target="../media/image-25-6.png"/><Relationship Id="rId8" Type="http://schemas.openxmlformats.org/officeDocument/2006/relationships/image" Target="../media/image-2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 AI 的實戰工作流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7 個電信網路維運的真實情境，看 Copilot 如何跨 App 多步執行，並在中高風險動作前顯示風險等級、等你核准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教育訓練簡報 · 客戶分享版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什麼是代理式 AI，和一般 Copilot Chat 有何不同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核心能力與運作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技能、工作區、行動前審核、自我驗證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素材課前放進 OneDrive 與信箱，讓 Cowork 自己去找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七大實戰情境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告警收斂找根因、換機維護窗口、專線 SLA 賠償、主管機關通報、資費容量衝擊、調取令回覆、品質月報詮釋，逐一拆解工作流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套用到你的日常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如何把這些情境延伸到自己的工作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從「對話」到「代理執行」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你交付一個目標，它會自己拆解步驟、讀取雲端檔案、載入需要的技能，跨 App 產出成果並自我檢查——中高風險動作會顯示風險等級並停下來請你核准。你從「快速單輪問答」升級為「交付一個可執行的任務」。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快速單輪問答；適合立即回答與腦力激盪。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你給目標，它跨 App 多步驟自主執行，可運行數分鐘到數小時。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你仍是主導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對外或影響他人的動作，一律先暫停等你核准。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與一般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互動方式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交付目標，跨 App 自主多步執行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秒～分鐘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分鐘～數小時（自主執行）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任務複雜度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單步驟、單一工作階段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跨任務與來源的多步驟工作流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檔案處理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貼上片段內容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讀取雲端附件、產出新檔案；不存取本機檔案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技能運用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單一對話能力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 14 個內建技能與自訂技能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聊天視窗的文字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中真實的文件、試算表、簡報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自動啟動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每次都要你開啟並下指令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排程提示／事件觸發：收信或被 @提及時自動執行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接地於 M365 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可透過 Plugins／MCP 連外部系統，官方目錄已有 92 個合作夥伴 plugin（D365、SAP、Fabric 等）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你自行判斷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中高風險動作顯示風險等級，核准後才執行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四個讓 Cowork 不一樣的能力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951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個內建技能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Word、Excel、PowerPoint、PDF、Email、Scheduling、Calendar Management、Meetings、Daily Briefing、Enterprise Search、Deep Research、Communications、Adaptive Cards、App（Frontier）。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2951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右側面板同時呈現進度、輸入檔、輸出檔、已載入技能、排程與已核准權限，過程透明可追。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80974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 RISK-LEVEL；可核准、取消，或設定 per-recipient／per-domain／always 的 don’t ask again；多筆待審可「Approve All」。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80974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排程提示（上限 25 個）與事件觸發任務、投入 Effort 五級調節品質與成本、自訂技能建立後自動產生技能報告（0–100 分四維度，另有含 Safety and RAI 掃描的 5 道獨立關卡）、本機 Edge 瀏覽器（2026/8 GA）、影像生成、Plugins／MCP 連外部系統。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一次代理式工作流，背後發生什麼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理解任務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拆成步驟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內建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自訂技能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執行產出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試算表／信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自我驗證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檢查數字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對外動作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等你核准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整個過程在「工作區」面板透明呈現；可軟／硬暫停、恢復或取消任務。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啟動方式不只聊天下指令：也能設定「收到指定信件／被 @提及時」自動觸發（事件驅動任務），一樣走相同的自我驗證與核准流程。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素材課前先放進 OneDrive 的 文件/Cowork_Lab/電信維運/，練習時 Cowork 自己去找 · 準備時間 約 20 分鐘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先看懂這份教材的日期設定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素材裡的日期是固定寫死的模擬日期：情境當下是 2026-11-16，資料截止日是 2026-11-13…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OneDrive 資料夾，把七個情境的素材放進去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OneDrive 建立 文件/Cowork_Lab/電信維運/，底下再開七個子資料夾：TEL1_告警收斂…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把聯絡窗口清單放在母層，並填上真的收得到信的帳號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聯絡窗口清單.md 要放在 電信維運 母資料夾，不要放進任何子資料夾。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寄一封信給自己（情境 1 的背景）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用你自己的帳號寄給自己，主旨請照抄：夜班交接事項（2026-11-15 23:00 – 2026-11-16 0…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建好「網路戰情室」頻道，貼第一則（情境 1 專用）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在你有權限的任一團隊底下建立名為 網路戰情室 的頻道（英文版請用 Network Operations…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💾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上傳用/ 的兩個檔案下載到電腦，不要放進 OneDrive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TEL5_既有方案用量分布.csv（情境 5）與TEL6_調取令.pdf（情境 6）是練習中當場上傳的。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🧩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確認技能路徑可寫入，並用桌機做情境 3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43584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3 會請 Cowork 建立自訂技能，寫到 OneDrive/文件/Cowork/skills/sla-b…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78728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78728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6443320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♻️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82232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3 會就地改檔，想重做要先還原素材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882232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3 的第四步會直接修改 OneDrive 上的 TEL3_專線障礙紀錄.xlsx（加兩欄、加一個工作表）…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開課前最後檢查</a:t>
            </a:r>
            <a:endParaRPr lang="en-US" sz="12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的「電信維運」底下七個子資料夾都看得到，檔案打得開</a:t>
            </a:r>
            <a:endParaRPr lang="en-US" sz="105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聯絡窗口清單在「電信維運」母層，不是在子資料夾裡，而且 Email 欄已經填了收得到信的帳號</a:t>
            </a:r>
            <a:endParaRPr lang="en-US" sz="1050" dirty="0"/>
          </a:p>
        </p:txBody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信箱裡有那封夜班交接信，在收件匣不在垃圾郵件</a:t>
            </a:r>
            <a:endParaRPr lang="en-US" sz="1050" dirty="0"/>
          </a:p>
        </p:txBody>
      </p:sp>
      <p:sp>
        <p:nvSpPr>
          <p:cNvPr id="55" name="Text 5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七個實戰情境總覽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355010" cy="109728"/>
          </a:xfrm>
          <a:prstGeom prst="rect">
            <a:avLst/>
          </a:prstGeom>
          <a:solidFill>
            <a:srgbClr val="0B2F3A"/>
          </a:solidFill>
          <a:ln/>
        </p:spPr>
      </p:sp>
      <p:sp>
        <p:nvSpPr>
          <p:cNvPr id="7" name="Shape 5"/>
          <p:cNvSpPr/>
          <p:nvPr/>
        </p:nvSpPr>
        <p:spPr>
          <a:xfrm>
            <a:off x="860385" y="2194560"/>
            <a:ext cx="914400" cy="914400"/>
          </a:xfrm>
          <a:prstGeom prst="ellipse">
            <a:avLst/>
          </a:prstGeom>
          <a:solidFill>
            <a:srgbClr val="0B2F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553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63824"/>
            <a:ext cx="1172130" cy="16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0B2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978" dirty="0"/>
          </a:p>
        </p:txBody>
      </p:sp>
      <p:sp>
        <p:nvSpPr>
          <p:cNvPr id="10" name="Text 7"/>
          <p:cNvSpPr/>
          <p:nvPr/>
        </p:nvSpPr>
        <p:spPr>
          <a:xfrm>
            <a:off x="731520" y="3380073"/>
            <a:ext cx="117213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凌晨三點的四十筆告警：最多的那個不是根因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731520" y="4304379"/>
            <a:ext cx="1172130" cy="673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Adaptive Cards · Excel · Teams · 事件觸發 Event trigger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731520" y="5060283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13" name="Shape 10"/>
          <p:cNvSpPr/>
          <p:nvPr/>
        </p:nvSpPr>
        <p:spPr>
          <a:xfrm>
            <a:off x="2232834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32834" y="1828800"/>
            <a:ext cx="1355010" cy="109728"/>
          </a:xfrm>
          <a:prstGeom prst="rect">
            <a:avLst/>
          </a:prstGeom>
          <a:solidFill>
            <a:srgbClr val="14364A"/>
          </a:solidFill>
          <a:ln/>
        </p:spPr>
      </p:sp>
      <p:sp>
        <p:nvSpPr>
          <p:cNvPr id="15" name="Shape 12"/>
          <p:cNvSpPr/>
          <p:nvPr/>
        </p:nvSpPr>
        <p:spPr>
          <a:xfrm>
            <a:off x="2453139" y="2194560"/>
            <a:ext cx="914400" cy="914400"/>
          </a:xfrm>
          <a:prstGeom prst="ellipse">
            <a:avLst/>
          </a:prstGeom>
          <a:solidFill>
            <a:srgbClr val="14364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7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24274" y="3163824"/>
            <a:ext cx="1172130" cy="16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14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978" dirty="0"/>
          </a:p>
        </p:txBody>
      </p:sp>
      <p:sp>
        <p:nvSpPr>
          <p:cNvPr id="18" name="Text 14"/>
          <p:cNvSpPr/>
          <p:nvPr/>
        </p:nvSpPr>
        <p:spPr>
          <a:xfrm>
            <a:off x="2324274" y="3380073"/>
            <a:ext cx="1172130" cy="10525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換機窗口：消費用戶最少的那三小時，正好一個都不能動</a:t>
            </a:r>
            <a:endParaRPr lang="en-US" sz="1275" dirty="0"/>
          </a:p>
        </p:txBody>
      </p:sp>
      <p:sp>
        <p:nvSpPr>
          <p:cNvPr id="19" name="Text 15"/>
          <p:cNvSpPr/>
          <p:nvPr/>
        </p:nvSpPr>
        <p:spPr>
          <a:xfrm>
            <a:off x="2324274" y="4514882"/>
            <a:ext cx="117213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會議排程 Scheduling · Email</a:t>
            </a:r>
            <a:endParaRPr lang="en-US" sz="1020" dirty="0"/>
          </a:p>
        </p:txBody>
      </p:sp>
      <p:sp>
        <p:nvSpPr>
          <p:cNvPr id="20" name="Text 16"/>
          <p:cNvSpPr/>
          <p:nvPr/>
        </p:nvSpPr>
        <p:spPr>
          <a:xfrm>
            <a:off x="2324274" y="5102384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 分鐘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935" dirty="0"/>
          </a:p>
        </p:txBody>
      </p:sp>
      <p:sp>
        <p:nvSpPr>
          <p:cNvPr id="21" name="Shape 17"/>
          <p:cNvSpPr/>
          <p:nvPr/>
        </p:nvSpPr>
        <p:spPr>
          <a:xfrm>
            <a:off x="3825588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825588" y="1828800"/>
            <a:ext cx="135501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3" name="Shape 19"/>
          <p:cNvSpPr/>
          <p:nvPr/>
        </p:nvSpPr>
        <p:spPr>
          <a:xfrm>
            <a:off x="4045893" y="2194560"/>
            <a:ext cx="914400" cy="91440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61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17028" y="3163824"/>
            <a:ext cx="1172130" cy="16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978" dirty="0"/>
          </a:p>
        </p:txBody>
      </p:sp>
      <p:sp>
        <p:nvSpPr>
          <p:cNvPr id="26" name="Text 21"/>
          <p:cNvSpPr/>
          <p:nvPr/>
        </p:nvSpPr>
        <p:spPr>
          <a:xfrm>
            <a:off x="3917028" y="3380073"/>
            <a:ext cx="117213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月可用率達標，照樣要賠：合約裡的第二道門檻</a:t>
            </a:r>
            <a:endParaRPr lang="en-US" sz="1275" dirty="0"/>
          </a:p>
        </p:txBody>
      </p:sp>
      <p:sp>
        <p:nvSpPr>
          <p:cNvPr id="27" name="Text 22"/>
          <p:cNvSpPr/>
          <p:nvPr/>
        </p:nvSpPr>
        <p:spPr>
          <a:xfrm>
            <a:off x="3917028" y="4304379"/>
            <a:ext cx="1172130" cy="673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編輯既有檔案 Edit existing file · 自訂技能 Skill</a:t>
            </a:r>
            <a:endParaRPr lang="en-US" sz="1020" dirty="0"/>
          </a:p>
        </p:txBody>
      </p:sp>
      <p:sp>
        <p:nvSpPr>
          <p:cNvPr id="28" name="Text 23"/>
          <p:cNvSpPr/>
          <p:nvPr/>
        </p:nvSpPr>
        <p:spPr>
          <a:xfrm>
            <a:off x="3917028" y="5060283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25 分鐘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29" name="Shape 24"/>
          <p:cNvSpPr/>
          <p:nvPr/>
        </p:nvSpPr>
        <p:spPr>
          <a:xfrm>
            <a:off x="5418343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18343" y="1828800"/>
            <a:ext cx="1355010" cy="109728"/>
          </a:xfrm>
          <a:prstGeom prst="rect">
            <a:avLst/>
          </a:prstGeom>
          <a:solidFill>
            <a:srgbClr val="4A2B14"/>
          </a:solidFill>
          <a:ln/>
        </p:spPr>
      </p:sp>
      <p:sp>
        <p:nvSpPr>
          <p:cNvPr id="31" name="Shape 26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4A2B14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09783" y="3163824"/>
            <a:ext cx="1172130" cy="16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4A2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978" dirty="0"/>
          </a:p>
        </p:txBody>
      </p:sp>
      <p:sp>
        <p:nvSpPr>
          <p:cNvPr id="34" name="Text 28"/>
          <p:cNvSpPr/>
          <p:nvPr/>
        </p:nvSpPr>
        <p:spPr>
          <a:xfrm>
            <a:off x="5509783" y="3380073"/>
            <a:ext cx="1172130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戶數沒到門檻，兩小時的鐘卻已經在走</a:t>
            </a:r>
            <a:endParaRPr lang="en-US" sz="1275" dirty="0"/>
          </a:p>
        </p:txBody>
      </p:sp>
      <p:sp>
        <p:nvSpPr>
          <p:cNvPr id="35" name="Text 29"/>
          <p:cNvSpPr/>
          <p:nvPr/>
        </p:nvSpPr>
        <p:spPr>
          <a:xfrm>
            <a:off x="5509783" y="4093877"/>
            <a:ext cx="1172130" cy="1010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溝通撰寫 Communications · Excel · Email · 排程提示 Scheduled prompt</a:t>
            </a:r>
            <a:endParaRPr lang="en-US" sz="1020" dirty="0"/>
          </a:p>
        </p:txBody>
      </p:sp>
      <p:sp>
        <p:nvSpPr>
          <p:cNvPr id="36" name="Text 30"/>
          <p:cNvSpPr/>
          <p:nvPr/>
        </p:nvSpPr>
        <p:spPr>
          <a:xfrm>
            <a:off x="5509783" y="5186585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37" name="Shape 31"/>
          <p:cNvSpPr/>
          <p:nvPr/>
        </p:nvSpPr>
        <p:spPr>
          <a:xfrm>
            <a:off x="7011097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011097" y="1828800"/>
            <a:ext cx="1355010" cy="109728"/>
          </a:xfrm>
          <a:prstGeom prst="rect">
            <a:avLst/>
          </a:prstGeom>
          <a:solidFill>
            <a:srgbClr val="2C1F4A"/>
          </a:solidFill>
          <a:ln/>
        </p:spPr>
      </p:sp>
      <p:sp>
        <p:nvSpPr>
          <p:cNvPr id="39" name="Shape 33"/>
          <p:cNvSpPr/>
          <p:nvPr/>
        </p:nvSpPr>
        <p:spPr>
          <a:xfrm>
            <a:off x="7231402" y="2194560"/>
            <a:ext cx="914400" cy="914400"/>
          </a:xfrm>
          <a:prstGeom prst="ellipse">
            <a:avLst/>
          </a:prstGeom>
          <a:solidFill>
            <a:srgbClr val="2C1F4A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570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102537" y="3163824"/>
            <a:ext cx="1172130" cy="349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8" b="1" dirty="0">
                <a:solidFill>
                  <a:srgbClr val="2C1F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058" dirty="0"/>
          </a:p>
        </p:txBody>
      </p:sp>
      <p:sp>
        <p:nvSpPr>
          <p:cNvPr id="42" name="Text 35"/>
          <p:cNvSpPr/>
          <p:nvPr/>
        </p:nvSpPr>
        <p:spPr>
          <a:xfrm>
            <a:off x="7102537" y="3568040"/>
            <a:ext cx="1172130" cy="683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用平均值算，這個促案很安全</a:t>
            </a:r>
            <a:endParaRPr lang="en-US" sz="1380" dirty="0"/>
          </a:p>
        </p:txBody>
      </p:sp>
      <p:sp>
        <p:nvSpPr>
          <p:cNvPr id="43" name="Text 36"/>
          <p:cNvSpPr/>
          <p:nvPr/>
        </p:nvSpPr>
        <p:spPr>
          <a:xfrm>
            <a:off x="7102537" y="4333850"/>
            <a:ext cx="1172130" cy="546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4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 · Excel · PowerPoint</a:t>
            </a:r>
            <a:endParaRPr lang="en-US" sz="1104" dirty="0"/>
          </a:p>
        </p:txBody>
      </p:sp>
      <p:sp>
        <p:nvSpPr>
          <p:cNvPr id="44" name="Text 37"/>
          <p:cNvSpPr/>
          <p:nvPr/>
        </p:nvSpPr>
        <p:spPr>
          <a:xfrm>
            <a:off x="7102537" y="4962957"/>
            <a:ext cx="1172130" cy="334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1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25 分鐘</a:t>
            </a:r>
            <a:endParaRPr lang="en-US" sz="1012" dirty="0"/>
          </a:p>
          <a:p>
            <a:pPr algn="ctr" indent="0" marL="0">
              <a:buNone/>
            </a:pPr>
            <a:r>
              <a:rPr lang="en-US" sz="101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012" dirty="0"/>
          </a:p>
        </p:txBody>
      </p:sp>
      <p:sp>
        <p:nvSpPr>
          <p:cNvPr id="45" name="Shape 38"/>
          <p:cNvSpPr/>
          <p:nvPr/>
        </p:nvSpPr>
        <p:spPr>
          <a:xfrm>
            <a:off x="8603851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603851" y="1828800"/>
            <a:ext cx="1355010" cy="109728"/>
          </a:xfrm>
          <a:prstGeom prst="rect">
            <a:avLst/>
          </a:prstGeom>
          <a:solidFill>
            <a:srgbClr val="3A2340"/>
          </a:solidFill>
          <a:ln/>
        </p:spPr>
      </p:sp>
      <p:sp>
        <p:nvSpPr>
          <p:cNvPr id="47" name="Shape 40"/>
          <p:cNvSpPr/>
          <p:nvPr/>
        </p:nvSpPr>
        <p:spPr>
          <a:xfrm>
            <a:off x="8824156" y="2194560"/>
            <a:ext cx="914400" cy="914400"/>
          </a:xfrm>
          <a:prstGeom prst="ellipse">
            <a:avLst/>
          </a:prstGeom>
          <a:solidFill>
            <a:srgbClr val="3A2340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324" y="2395728"/>
            <a:ext cx="512064" cy="51206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695291" y="3163824"/>
            <a:ext cx="1172130" cy="3797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150" dirty="0"/>
          </a:p>
        </p:txBody>
      </p:sp>
      <p:sp>
        <p:nvSpPr>
          <p:cNvPr id="50" name="Text 42"/>
          <p:cNvSpPr/>
          <p:nvPr/>
        </p:nvSpPr>
        <p:spPr>
          <a:xfrm>
            <a:off x="8695291" y="3598418"/>
            <a:ext cx="1172130" cy="742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這張令狀不能全給，也不能全拒</a:t>
            </a:r>
            <a:endParaRPr lang="en-US" sz="1500" dirty="0"/>
          </a:p>
        </p:txBody>
      </p:sp>
      <p:sp>
        <p:nvSpPr>
          <p:cNvPr id="51" name="Text 43"/>
          <p:cNvSpPr/>
          <p:nvPr/>
        </p:nvSpPr>
        <p:spPr>
          <a:xfrm>
            <a:off x="8695291" y="4423664"/>
            <a:ext cx="117213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 · PDF · Word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8695291" y="5100320"/>
            <a:ext cx="1172130" cy="36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53" name="Shape 45"/>
          <p:cNvSpPr/>
          <p:nvPr/>
        </p:nvSpPr>
        <p:spPr>
          <a:xfrm>
            <a:off x="10196605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10196605" y="1828800"/>
            <a:ext cx="1355010" cy="109728"/>
          </a:xfrm>
          <a:prstGeom prst="rect">
            <a:avLst/>
          </a:prstGeom>
          <a:solidFill>
            <a:srgbClr val="143A2C"/>
          </a:solidFill>
          <a:ln/>
        </p:spPr>
      </p:sp>
      <p:sp>
        <p:nvSpPr>
          <p:cNvPr id="55" name="Shape 47"/>
          <p:cNvSpPr/>
          <p:nvPr/>
        </p:nvSpPr>
        <p:spPr>
          <a:xfrm>
            <a:off x="10416910" y="2194560"/>
            <a:ext cx="914400" cy="914400"/>
          </a:xfrm>
          <a:prstGeom prst="ellipse">
            <a:avLst/>
          </a:prstGeom>
          <a:solidFill>
            <a:srgbClr val="143A2C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8078" y="2395728"/>
            <a:ext cx="512064" cy="512064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10288045" y="3163824"/>
            <a:ext cx="1172130" cy="16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14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978" dirty="0"/>
          </a:p>
        </p:txBody>
      </p:sp>
      <p:sp>
        <p:nvSpPr>
          <p:cNvPr id="58" name="Text 49"/>
          <p:cNvSpPr/>
          <p:nvPr/>
        </p:nvSpPr>
        <p:spPr>
          <a:xfrm>
            <a:off x="10288045" y="3380073"/>
            <a:ext cx="1172130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全網達標的那個月，有一個區崩了</a:t>
            </a:r>
            <a:endParaRPr lang="en-US" sz="1275" dirty="0"/>
          </a:p>
        </p:txBody>
      </p:sp>
      <p:sp>
        <p:nvSpPr>
          <p:cNvPr id="59" name="Text 50"/>
          <p:cNvSpPr/>
          <p:nvPr/>
        </p:nvSpPr>
        <p:spPr>
          <a:xfrm>
            <a:off x="10288045" y="4093877"/>
            <a:ext cx="117213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每日簡報 Daily Briefing · Excel · 企業搜尋 Enterprise Search</a:t>
            </a:r>
            <a:endParaRPr lang="en-US" sz="1020" dirty="0"/>
          </a:p>
        </p:txBody>
      </p:sp>
      <p:sp>
        <p:nvSpPr>
          <p:cNvPr id="60" name="Text 51"/>
          <p:cNvSpPr/>
          <p:nvPr/>
        </p:nvSpPr>
        <p:spPr>
          <a:xfrm>
            <a:off x="10288045" y="5018183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935" dirty="0"/>
          </a:p>
        </p:txBody>
      </p:sp>
      <p:sp>
        <p:nvSpPr>
          <p:cNvPr id="61" name="Text 5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F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2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B2F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凌晨三點的四十筆告警：最多的那個不是根因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Adaptive Cards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04872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2404872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245059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事件觸發 Event trigger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凌晨三點十二分，告警台在半小時內跳出三十八筆。值班只有一個人，派工車隊只有兩組。難的地方不是看不懂告警，是告警數量跟肇因沒有關係 —— 真正故障的那一台只發了一筆，被它拖下水的二十三個小區合計發了三十五筆。依數量排序處理，你會先派二十幾趟車去修症狀。這個情境最後把它設成下次告警信進來就自己跑一遍。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26280" y="16550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1122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2F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0939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先讓它把三十八筆收斂成「幾件事」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4597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不用上傳任何檔案。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9718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2F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9535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現在才問根因，並要它說出判斷依據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3192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收斂完再問。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8313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2F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130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做成值班台上能直接用的派工卡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1788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凌晨三點不會有人讀長文。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6908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2F3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725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貼回網路戰情室，讓下一班看得到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383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這一步會真的貼到 Teams，會跳核准卡。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2F3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設成下次告警信進來就自己跑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這一步會真的建立一個事件觸發，練習結束後記得停用。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B2F3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2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tel1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tel1_05b_fi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B2F3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收斂後的事件數遠少於三十八，而且每一筆告警都歸到了某一個上層網元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根因是下游節點**全數**告警的那一個母站，不是告警筆數最多的網元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明確點出「全數 vs 部分」是判準，而不是只說「因為它是母站」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36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436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換機窗口：消費用戶最少的那三小時，正好一個都不能動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99616" y="457200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457200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會議排程 Scheduling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要升級的是上一個情境裡故障的那台匯聚節點，作業三小時，必須斷。直覺是挑凌晨 —— 消費用戶最少。但電信公司有兩種客戶，而他們的尖峰剛好錯開：消費者的離峰正是企業批次傳輸的尖峰，而且凌晨還落在住宅區的噪音管制時段內。三個條件各否決一個方案，否決的理由彼此無關，所以沒辦法用「這案消費用戶特別少」去折抵別的。最後要把可行的那一案排成真的會議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23408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7980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6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7797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讓它逐案過三關，而不是給你一個總分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1455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71551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6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715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69722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追問那個「最安靜」的窗口為什麼反而不行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06298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三案判完之後再問，否則它會把這個解釋塞進上一題的結論裡。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63296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6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63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6146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把可行的那一案排成真的協調會議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9804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這一步會真的發出會議邀請，收件者從聯絡窗口清單.md查。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6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順手要一份給企業客戶的通知草稿 —— 但先不要寄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草稿留在對話裡就好。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4364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tel2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tel2_04_not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4364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三案都逐項過了三關，每一關都有自己的數字與判定，沒有被合成一個總分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最後可行的只有一案，而且不是消費用戶最少的那一案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噪音管制是用重疊分鐘數判的，不是只看窗口有沒有落在管制時段裡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月可用率達標，照樣要賠：合約裡的第二道門檻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25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324612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編輯既有檔案 Edit existing file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577840"/>
            <a:ext cx="1645920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57784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客戶來信說上個月斷了五個多小時，要求賠償。翻出障礙紀錄一看，總中斷確實是 312 分鐘 —— 看起來鐵定違約。但 SLA 算的不是總中斷，是計入障礙：計畫性維護、客戶端設備、不可抗力三款要先扣掉。扣完只剩 32 分鐘，月可用率其實達標。照理可以回覆不賠 —— 可是合約裡還有第二道門檻，而且它跟第一道分開算。最後把這套判定做成一個技能，下次換別條專線也能用。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26280" y="16550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1122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0939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先讓它逐筆分清楚「斷了」跟「算數的斷了」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4597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29718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29535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現在算兩個門檻 —— 而且要分開算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3192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這一步是整個情境的轉折。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38313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38130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算賠償，順便問一個會被算錯的細節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1788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賠償級距套在「超出門檻的分鐘數」上，不是套在總分鐘數上。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46908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46725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把判定結果寫回原本那份障礙紀錄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0383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這一步會直接修改 OneDrive 上那個檔案，不是另存新檔，所以會跳核准卡。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做成技能，下個月換別條專線直接用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自訂技能在行動版不支援，請用桌機或瀏覽器。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tel3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tel3_05b_sav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六筆障礙逐筆判了計入或排除，而且每一筆都指得出依據的條款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總中斷與計入障礙是兩個不同的數字，而且差距很大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月可用率判定是**達標**，沒有因為總中斷很長就直接判違約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2B1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2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4A2B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戶數沒到門檻，兩小時的鐘卻已經在走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55117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551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溝通撰寫 Communications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99616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1499616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275234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2752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 Scheduled prompt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凌晨那場故障，影響 8,400 戶 —— 一般通報條款的門檻是 10,000 戶，算下來不用通報。法遵窗口十之八九就在這裡收手了。問題是通報辦法還有第二款：只要影響到緊急電話接取，不論戶數，而且時限短得多。再加上時限從 NOC 告警那一刻起算，不是從法遵收到通知起算 —— 等這封信轉到法遵桌上，可用的時間已經去掉一大半。最後要把「每天檢查有沒有案子快逾期」排成固定班表。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26280" y="16550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1122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2B1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2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0939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先問一個看起來很單純的問題：這件事要不要通報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4597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9718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2B1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2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9535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追問時限：從什麼時候起算，現在還剩多少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3192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這一步的答案會決定後面要寫初報還是完整通報。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8313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2B1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2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130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寫通報函本文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1788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公文語氣，逐項對應作業要點第 3 節的應載明事項。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6908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2B1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2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725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寄給處長會簽 —— 不是寄給主管機關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383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這一步會真的寄信，收件者從聯絡窗口清單.md查。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2B1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2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排成每天早上自己掃一遍待通報案件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這一步會真的建立一個排程提示，練習結束後記得停用。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4A2B14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2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tel4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2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tel4_05b_autom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2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4A2B14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兩條通報門檻**都**檢查了，沒有算完戶數就停下來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明確指出一般條款不成立（戶數未達門檻），但緊急服務條款成立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說得出緊急服務條款**沒有戶數下限**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1F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1F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2C1F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用平均值算，這個促案很安全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25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99616" y="5074920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5" name="Text 12"/>
          <p:cNvSpPr/>
          <p:nvPr/>
        </p:nvSpPr>
        <p:spPr>
          <a:xfrm>
            <a:off x="1499616" y="507492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行銷要在十二月推「影音無限暢遊」，預估新增十二萬戶。拿預估平均用量乘一乘，全網忙時餘裕綽綽有餘 —— 簡報一頁就能結案。但行動數據的用量分布是極度偏斜的：前 5% 的重度用戶吃掉三成多的流量，而這些人不是平均散在全台。換成分區、換成 P95 去算，會冒出三個撐不住的區。這個情境要產出的是一份敢讓決策層看到壞消息的簡報。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F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C1F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F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先照行銷的算法算一次，確認它真的「過關」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把TEL5_既有方案用量分布.csv拖進對話框，另外兩份在 TEL5_資費容量。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C1F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F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換成分區、換成 P95，再算一次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同一份資料、不同的切法。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C1F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F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做成給決策層的簡報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規範第 4 節寫了五件事一定要在簡報裡。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C1F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F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預演一次會被問到的那個問題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行銷一定會說「全網明明有餘裕」。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C1F4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1F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tel5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1F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tel5_04_no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1F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2C1F4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第一層（全網平均）確實算出「過關」，而不是一開始就說有問題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第二層逐區都算了，六個區一個都沒漏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高風險區的判定是**兩項同時成立**，不是只看其中一項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A23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A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3A23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這張令狀不能全給，也不能全拒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5224" y="4572000"/>
            <a:ext cx="6126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935224" y="4572000"/>
            <a:ext cx="612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檢察機關來了一張調取令，要一個門號從二月到十一月的全部紀錄，七天內回覆。直覺有兩種反應：全部給，或是說「太久了給不了」整張退回。兩種都錯。因為不同類別的紀錄留存期限不一樣 —— 通信紀錄留十二個月、帳務留五年，但上網歷程與基地台位置只留六個月。同一張令狀，有些類別可以全段提供，有些類別前面那半年已經依法刪掉了。回覆函必須一類一類寫清楚，而且拒絕的部分要敘明法律依據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23408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7980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3A23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7797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先讀令狀，把它要什麼拆清楚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1455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把TEL6_調取令.pdf拖進對話框，另外兩份在 TEL6_調取令。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71551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3A23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715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69722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逐類算留存起日，看哪幾類蓋不滿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06298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這一步是整個情境的轉折：答案不是一個，是四個。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63296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3A23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63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6146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寫回覆函，用 Word 產出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9804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這是要用印發文的公文，格式與用語都不能是郵件口吻。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3A234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最後讓它自己檢查有沒有超出令狀範圍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超出範圍比提供不足更麻煩 —— 那是我們自己違法。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3A2340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06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tel6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tel6_04_self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3A2340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四類紀錄逐類算了留存起日，沒有用同一個日期套用到全部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留存起日是從**收文日**往回推，不是從今天或從令狀的起日往回推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判定結果是**部分提供**：有的類別全段可給，有的類別只能給後半段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3A2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43A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全網達標的那個月，有一個區崩了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55117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551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每日簡報 Daily Briefing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577840"/>
            <a:ext cx="285292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577840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十月的全網掉話率 0.43%，目標 0.5%，達標。月報寫到這裡就可以結束了 —— 而這正是問題所在。全網掉話率是流量加權平均，通話量小的區域就算翻三倍也拉不動它。台中這個月 1.38%，是其他區平均的四倍半，客訴量更佔了全月的六成；把它拿掉，全網是 0.31%。這個情境要做的，是讓月報講出平均值藏起來的東西，並且把客訴量拉進來交叉佐證。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A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先拿到那個「沒有問題」的全網數字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A2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做排除檢定，量出平均值蓋掉了多少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要點第 2 節寫了這個做法。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A2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把客訴拉進來交叉佐證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是我們自己量的，客訴是用戶講的。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A2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做成每月固定格式的簡報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要點第 2 節列了四個視角，一個都不能少。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43A2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07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tel7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tel7_04b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43A2C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全網掉話率算出來是**達標**，沒有為了帶出問題而把全網說成不達標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六個區的掉話率都算了，而且跟上月做了比較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做了排除檢定，說得出排除後的全網數字與差距幾個百分點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把情境延伸到你的日常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11165"/>
            <a:ext cx="493776" cy="493776"/>
          </a:xfrm>
          <a:prstGeom prst="ellipse">
            <a:avLst/>
          </a:prstGeom>
          <a:solidFill>
            <a:srgbClr val="0B2F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39181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把拓樸表裡某一個小區的母站改掉，看根因判定會不會跟著變。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442754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470839"/>
            <a:ext cx="493776" cy="493776"/>
          </a:xfrm>
          <a:prstGeom prst="ellipse">
            <a:avLst/>
          </a:prstGeom>
          <a:solidFill>
            <a:srgbClr val="1436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598855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479330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2479330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把作業時間從三小時改成兩小時，看可行的窗口會不會變多。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102429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130514"/>
            <a:ext cx="493776" cy="493776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5853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139005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749040" y="3139005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把保證時段門檻改成 25 分鐘，看結論會不會翻成不用賠。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762103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3790188"/>
            <a:ext cx="493776" cy="493776"/>
          </a:xfrm>
          <a:prstGeom prst="ellipse">
            <a:avLst/>
          </a:prstGeom>
          <a:solidFill>
            <a:srgbClr val="4A2B1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391820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798679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749040" y="3798679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把受影響戶數改成 12,000，看它會不會改用一般條款的時限。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4421777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449862"/>
            <a:ext cx="493776" cy="493776"/>
          </a:xfrm>
          <a:prstGeom prst="ellipse">
            <a:avLst/>
          </a:prstGeom>
          <a:solidFill>
            <a:srgbClr val="2C1F4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57787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458353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F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749040" y="4458353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把預估新增用戶砍半，看高風險區會不會少掉一個。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5081451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8680" y="5109537"/>
            <a:ext cx="493776" cy="493776"/>
          </a:xfrm>
          <a:prstGeom prst="ellipse">
            <a:avLst/>
          </a:prstGeom>
          <a:solidFill>
            <a:srgbClr val="3A234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237553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54480" y="5118027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749040" y="5118027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把令狀起日改成八月，看四類會不會全部變成可全段提供。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40080" y="5741126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68680" y="5769211"/>
            <a:ext cx="493776" cy="493776"/>
          </a:xfrm>
          <a:prstGeom prst="ellipse">
            <a:avLst/>
          </a:prstGeom>
          <a:solidFill>
            <a:srgbClr val="143A2C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897227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554480" y="5777702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網路維運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3749040" y="5777702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把異常區的通話量改成全網最大，看排除檢定還抓不抓得出來。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自動化，但你始終是決策者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中高風險動作會顯示 RISK-LEVEL；寄信、發 Teams、建立會議等動作先攤開可編輯預覽，核准後才送出。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控制範圍清楚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don’t ask again 可限定 per-recipient、per-domain 或 always；任務可軟／硬暫停、恢復或取消。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自動化任務也有把關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排程提示與事件驅動任務有執行頻率限制與防迴圈保護；一律以建立者權限執行，且與其他 Cowork 活動一同記錄在統一稽核日誌，套用 Microsoft Purview 政策。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不能存取本機檔案、刪除 OneDrive/SharePoint 檔案或讀取加密檔；附件 &lt;200MB；自訂技能與第三方 plugin 未經 Microsoft 驗證，需自行審閱。官方明列不適用於「免人工審查即需保證正確」的用途。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現在就開始練習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練習手冊</a:t>
            </a:r>
            <a:endParaRPr lang="en-US" sz="14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1417320" y="3008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aka.ms/CoworkPlaybook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95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挑一個最貼近你工作的情境開始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256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自訂技能放 OneDrive /Documents/Cowork/skills/ 的 SKILL.md（最多 50 個、每個 1MB）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0118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模型選擇器：Auto（預設）、GPT 5.5 Frontier、GPT 5.6 Sol／Terra、GPT 6 Astra、Opus 5、Claude Sonnet 5、Claude Fable 5.1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5321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 Effort：Light／Medium（預設）／High／Extra High／Max —— 越高越徹底，但較慢且耗用更多點數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52160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7972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想要自動觸發？到「Automations」頁設定排程提示（上限 25 個）或事件觸發任務（收信／被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從提問到交辦，標準你決定，執行交給 Cowork。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 · 教育訓練簡報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教育訓練</dc:title>
  <dc:subject>PptxGenJS Presentation</dc:subject>
  <dc:creator>Andy Hung</dc:creator>
  <cp:lastModifiedBy>Andy Hung</cp:lastModifiedBy>
  <cp:revision>1</cp:revision>
  <dcterms:created xsi:type="dcterms:W3CDTF">2026-10-05T05:52:16Z</dcterms:created>
  <dcterms:modified xsi:type="dcterms:W3CDTF">2026-10-05T05:52:16Z</dcterms:modified>
</cp:coreProperties>
</file>