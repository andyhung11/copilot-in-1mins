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ndyhung11.github.io/Copilot-in-1mins/CoworkPlaybook/" TargetMode="External"/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4" Type="http://schemas.openxmlformats.org/officeDocument/2006/relationships/image" Target="../media/image-20-3.png"/><Relationship Id="rId5" Type="http://schemas.openxmlformats.org/officeDocument/2006/relationships/image" Target="../media/image-20-4.png"/><Relationship Id="rId6" Type="http://schemas.openxmlformats.org/officeDocument/2006/relationships/image" Target="../media/image-20-5.png"/><Relationship Id="rId7" Type="http://schemas.openxmlformats.org/officeDocument/2006/relationships/image" Target="../media/image-2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2788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81328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1371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3504" y="18745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</a:t>
            </a:r>
            <a:endParaRPr lang="en-US" sz="8400" dirty="0"/>
          </a:p>
        </p:txBody>
      </p:sp>
      <p:sp>
        <p:nvSpPr>
          <p:cNvPr id="6" name="Text 3"/>
          <p:cNvSpPr/>
          <p:nvPr/>
        </p:nvSpPr>
        <p:spPr>
          <a:xfrm>
            <a:off x="640080" y="31546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C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 AI 的實戰工作流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5 個製造業（進階）工作情境，看 Copilot 如何跨 App 多步執行，並在中高風險動作前顯示風險等級、等你核准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3840480" cy="0"/>
          </a:xfrm>
          <a:prstGeom prst="line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5212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教育訓練簡報 · 製造業進階版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今天的內容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737360" y="177393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認識 Cowork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2128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什麼是代理式 AI，和一般 Copilot Chat 有何不同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81635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737360" y="28529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核心能力與運作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37360" y="32918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技能、工作區、行動前審核、自我驗證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8953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173736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個實戰情境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737360" y="43708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進料異常端到端、停線事件觸發待命、每日 07:30 排程晨報、ISO 稽核前置盤點、停線判定自訂技能，五個「只有 Cowork 做得到」的工作流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4974336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1737360" y="50109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套用到你的日常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737360" y="544982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如何把這些情境延伸到自己的工作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IS COWORK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從「對話」到「代理執行」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是 Copilot 的</a:t>
            </a:r>
            <a:pPr indent="0" marL="0">
              <a:buNone/>
            </a:pPr>
            <a:r>
              <a:rPr lang="en-US" sz="2200" b="1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代理式（agentic）</a:t>
            </a:r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工作模式。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你交付一個目標，它會自己拆解步驟、讀取雲端檔案、載入需要的技能，跨 App 產出成果並自我檢查——中高風險動作會顯示風險等級並停下來請你核准。你從「快速單輪問答」升級為「交付一個可執行的任務」。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3611880"/>
            <a:ext cx="3454298" cy="82296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9319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Chat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60120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快速單輪問答；適合立即回答與腦力激盪。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68698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8698" y="3611880"/>
            <a:ext cx="3454298" cy="82296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738" y="3931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88738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代理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88738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你給目標，它跨 App 多步驟自主執行，可運行數分鐘到數小時。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8097317" y="3611880"/>
            <a:ext cx="345429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3611880"/>
            <a:ext cx="3454298" cy="8229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357" y="39319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7357" y="4526280"/>
            <a:ext cx="281421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你仍是主導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417357" y="4937760"/>
            <a:ext cx="281421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對外或影響他人的動作，一律先暫停等你核准。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與一般 Copilot Chat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solidFill>
            <a:srgbClr val="0F1031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83280" y="1737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Copilot Chat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737360"/>
            <a:ext cx="4142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Copilot Cowork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1945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94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互動方式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快速單輪問答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589520" y="2194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交付目標，跨 App 自主多步執行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56616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秒～分鐘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589520" y="2651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分鐘～數小時（自主執行）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任務複雜度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66160" y="3108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單步驟、單一工作階段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589520" y="3108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跨任務與來源的多步驟工作流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35661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566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檔案處理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56616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貼上片段內容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89520" y="3566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讀取雲端附件、產出新檔案；不存取本機檔案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40233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23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技能運用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66160" y="4023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單一對話能力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589520" y="40233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自動載入 13 個內建技能與自訂技能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40080" y="44805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480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66160" y="4480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聊天視窗的文字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589520" y="44805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中真實的文件、試算表、簡報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49377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937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自動啟動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56616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每次都要你開啟並下指令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589520" y="49377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排程提示／事件觸發：收信或被 @提及時自動執行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908792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" y="5394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外部系統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3566160" y="5394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接地於 M365 資料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7589520" y="53949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可透過 Plugins／MCP 連 D365、SAP、Fabric 等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solidFill>
            <a:srgbClr val="F2F4FB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852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56616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你自行判斷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7589520" y="5852160"/>
            <a:ext cx="3776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中高風險動作顯示風險等級，核准後才執行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四個讓 Cowork 不一樣的能力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A4DD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340864"/>
            <a:ext cx="448056" cy="4480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個內建技能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011680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Word、Excel、PowerPoint、PDF、Email、Scheduling、Calendar Management、Meetings、Daily Briefing、Enterprise Search、Deep Research、Communications、Adaptive Cards。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4448" y="1783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44488" y="2130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F6CB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800" y="2340864"/>
            <a:ext cx="448056" cy="4480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96048" y="2167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工作區 Workspace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696048" y="2624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右側面板同時呈現進度、輸入檔、輸出檔、已載入技能、排程與已核准權限，過程透明可追。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0120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0A8F5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32" y="4626864"/>
            <a:ext cx="448056" cy="4480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2011680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中高風險動作顯示 RISK-LEVEL；可核准、取消，或設定 per-recipient／per-domain／always 的 don’t ask again；多筆待審可「Approve All」。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324448" y="4069080"/>
            <a:ext cx="52271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01600" dist="25400" dir="5400000">
              <a:srgbClr val="9AA0C0">
                <a:alpha val="1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44488" y="4416552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CA501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4800" y="4626864"/>
            <a:ext cx="448056" cy="4480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96048" y="4453128"/>
            <a:ext cx="3672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新能力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696048" y="4910328"/>
            <a:ext cx="362696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 Edge 瀏覽器（預設停用，需管理員開啟＋Edge 150 以上）、ChatGPT Images 2.0 影像生成、品牌範本自動套用簡報、Plugins／MCP 連外部系統、排程與事件觸發任務。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一次代理式工作流，背後發生什麼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4241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862072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接收目標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下達指令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57" y="2971800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507833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910169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4761" y="2862072"/>
            <a:ext cx="438912" cy="4389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07833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規劃拆解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507833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理解任務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拆成步驟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7510" y="2971800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37558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4777923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515" y="2862072"/>
            <a:ext cx="438912" cy="4389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37558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載入技能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37558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 內建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 自訂技能</a:t>
            </a:r>
            <a:endParaRPr lang="en-US" sz="12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5264" y="2971800"/>
            <a:ext cx="201168" cy="20116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243340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645676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268" y="2862072"/>
            <a:ext cx="438912" cy="43891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43340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執行產出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243340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建立文件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試算表／信</a:t>
            </a:r>
            <a:endParaRPr lang="en-US" sz="12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017" y="2971800"/>
            <a:ext cx="201168" cy="20116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8111094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513430" y="2697480"/>
            <a:ext cx="768096" cy="768096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022" y="286207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111094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自我驗證</a:t>
            </a:r>
            <a:endParaRPr lang="en-US" sz="1400" dirty="0"/>
          </a:p>
        </p:txBody>
      </p:sp>
      <p:sp>
        <p:nvSpPr>
          <p:cNvPr id="33" name="Text 22"/>
          <p:cNvSpPr/>
          <p:nvPr/>
        </p:nvSpPr>
        <p:spPr>
          <a:xfrm>
            <a:off x="8111094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檢查數字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與一致性</a:t>
            </a:r>
            <a:endParaRPr lang="en-US" sz="1200" dirty="0"/>
          </a:p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0770" y="2971800"/>
            <a:ext cx="201168" cy="201168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9978847" y="246888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0C0">
                <a:alpha val="15000"/>
              </a:srgbClr>
            </a:outerShdw>
          </a:effectLst>
        </p:spPr>
      </p:sp>
      <p:sp>
        <p:nvSpPr>
          <p:cNvPr id="36" name="Shape 24"/>
          <p:cNvSpPr/>
          <p:nvPr/>
        </p:nvSpPr>
        <p:spPr>
          <a:xfrm>
            <a:off x="10381183" y="269748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45775" y="2862072"/>
            <a:ext cx="438912" cy="438912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9978847" y="354787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400" dirty="0"/>
          </a:p>
        </p:txBody>
      </p:sp>
      <p:sp>
        <p:nvSpPr>
          <p:cNvPr id="39" name="Text 26"/>
          <p:cNvSpPr/>
          <p:nvPr/>
        </p:nvSpPr>
        <p:spPr>
          <a:xfrm>
            <a:off x="9978847" y="384048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對外動作</a:t>
            </a:r>
            <a:endParaRPr lang="en-US" sz="1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等你核准</a:t>
            </a:r>
            <a:endParaRPr lang="en-US" sz="1200" dirty="0"/>
          </a:p>
        </p:txBody>
      </p:sp>
      <p:sp>
        <p:nvSpPr>
          <p:cNvPr id="40" name="Text 27"/>
          <p:cNvSpPr/>
          <p:nvPr/>
        </p:nvSpPr>
        <p:spPr>
          <a:xfrm>
            <a:off x="640080" y="4937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整個過程在「工作區」面板透明呈現；可軟／硬暫停、恢復或取消任務。</a:t>
            </a:r>
            <a:endParaRPr lang="en-US" sz="1400" dirty="0"/>
          </a:p>
        </p:txBody>
      </p:sp>
      <p:sp>
        <p:nvSpPr>
          <p:cNvPr id="41" name="Text 28"/>
          <p:cNvSpPr/>
          <p:nvPr/>
        </p:nvSpPr>
        <p:spPr>
          <a:xfrm>
            <a:off x="640080" y="5285232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啟動方式不只聊天下指令：也能設定「收到指定信件／被 @提及時」自動觸發（事件驅動任務），一樣走相同的自我驗證與核准流程。</a:t>
            </a:r>
            <a:endParaRPr lang="en-US" sz="1300" dirty="0"/>
          </a:p>
        </p:txBody>
      </p:sp>
      <p:sp>
        <p:nvSpPr>
          <p:cNvPr id="42" name="Text 29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3" name="Text 30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SCENARIOS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個實戰情境總覽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28800"/>
            <a:ext cx="1962851" cy="91440"/>
          </a:xfrm>
          <a:prstGeom prst="rect">
            <a:avLst/>
          </a:prstGeom>
          <a:solidFill>
            <a:srgbClr val="B1420A"/>
          </a:solidFill>
          <a:ln/>
        </p:spPr>
      </p:sp>
      <p:sp>
        <p:nvSpPr>
          <p:cNvPr id="7" name="Shape 5"/>
          <p:cNvSpPr/>
          <p:nvPr/>
        </p:nvSpPr>
        <p:spPr>
          <a:xfrm>
            <a:off x="1164306" y="2194560"/>
            <a:ext cx="914400" cy="914400"/>
          </a:xfrm>
          <a:prstGeom prst="ellipse">
            <a:avLst/>
          </a:prstGeom>
          <a:solidFill>
            <a:srgbClr val="B1420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5474" y="2395728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品保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13232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進料異常端到端處理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 · OneDrive Search · Teams · Calendar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1520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15–20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877251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877251" y="1828800"/>
            <a:ext cx="1962851" cy="91440"/>
          </a:xfrm>
          <a:prstGeom prst="rect">
            <a:avLst/>
          </a:prstGeom>
          <a:solidFill>
            <a:srgbClr val="C50F1F"/>
          </a:solidFill>
          <a:ln/>
        </p:spPr>
      </p:sp>
      <p:sp>
        <p:nvSpPr>
          <p:cNvPr id="15" name="Shape 12"/>
          <p:cNvSpPr/>
          <p:nvPr/>
        </p:nvSpPr>
        <p:spPr>
          <a:xfrm>
            <a:off x="3401477" y="2194560"/>
            <a:ext cx="914400" cy="914400"/>
          </a:xfrm>
          <a:prstGeom prst="ellipse">
            <a:avLst/>
          </a:prstGeom>
          <a:solidFill>
            <a:srgbClr val="C50F1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645" y="2395728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950403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應變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950403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停線通報自動待命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950403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 · Event Trigger · Outlook · Teams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968691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15–20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114422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114422" y="1828800"/>
            <a:ext cx="1962851" cy="91440"/>
          </a:xfrm>
          <a:prstGeom prst="rect">
            <a:avLst/>
          </a:prstGeom>
          <a:solidFill>
            <a:srgbClr val="0B6A0B"/>
          </a:solidFill>
          <a:ln/>
        </p:spPr>
      </p:sp>
      <p:sp>
        <p:nvSpPr>
          <p:cNvPr id="23" name="Shape 19"/>
          <p:cNvSpPr/>
          <p:nvPr/>
        </p:nvSpPr>
        <p:spPr>
          <a:xfrm>
            <a:off x="5638648" y="2194560"/>
            <a:ext cx="914400" cy="914400"/>
          </a:xfrm>
          <a:prstGeom prst="ellipse">
            <a:avLst/>
          </a:prstGeom>
          <a:solidFill>
            <a:srgbClr val="0B6A0B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6" y="2395728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187574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6A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生產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187574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 07:30 生產晨報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5187574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 · Scheduled Prompt · Excel · Calendar · Email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205862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10–15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★★☆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351593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351593" y="1828800"/>
            <a:ext cx="1962851" cy="91440"/>
          </a:xfrm>
          <a:prstGeom prst="rect">
            <a:avLst/>
          </a:prstGeom>
          <a:solidFill>
            <a:srgbClr val="005B70"/>
          </a:solidFill>
          <a:ln/>
        </p:spPr>
      </p:sp>
      <p:sp>
        <p:nvSpPr>
          <p:cNvPr id="31" name="Shape 26"/>
          <p:cNvSpPr/>
          <p:nvPr/>
        </p:nvSpPr>
        <p:spPr>
          <a:xfrm>
            <a:off x="7875819" y="2194560"/>
            <a:ext cx="914400" cy="914400"/>
          </a:xfrm>
          <a:prstGeom prst="ellipse">
            <a:avLst/>
          </a:prstGeom>
          <a:solidFill>
            <a:srgbClr val="005B70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6987" y="2395728"/>
            <a:ext cx="512064" cy="51206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424745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5B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稽核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7424745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 稽核前置盤點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424745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· PDF · File Management · Email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7443033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25–35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9588764" y="1828800"/>
            <a:ext cx="1962851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88900" dist="25400" dir="5400000">
              <a:srgbClr val="9AA0C0">
                <a:alpha val="16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9588764" y="1828800"/>
            <a:ext cx="1962851" cy="91440"/>
          </a:xfrm>
          <a:prstGeom prst="rect">
            <a:avLst/>
          </a:prstGeom>
          <a:solidFill>
            <a:srgbClr val="5C2E91"/>
          </a:solidFill>
          <a:ln/>
        </p:spPr>
      </p:sp>
      <p:sp>
        <p:nvSpPr>
          <p:cNvPr id="39" name="Shape 33"/>
          <p:cNvSpPr/>
          <p:nvPr/>
        </p:nvSpPr>
        <p:spPr>
          <a:xfrm>
            <a:off x="10112990" y="2194560"/>
            <a:ext cx="914400" cy="914400"/>
          </a:xfrm>
          <a:prstGeom prst="ellipse">
            <a:avLst/>
          </a:prstGeom>
          <a:solidFill>
            <a:srgbClr val="5C2E91"/>
          </a:solidFill>
          <a:ln/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4158" y="2395728"/>
            <a:ext cx="512064" cy="512064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9661916" y="3218688"/>
            <a:ext cx="181654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自訂技能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9661916" y="3493008"/>
            <a:ext cx="1816547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把停線判定做成專屬技能</a:t>
            </a:r>
            <a:endParaRPr lang="en-US" sz="1500" dirty="0"/>
          </a:p>
        </p:txBody>
      </p:sp>
      <p:sp>
        <p:nvSpPr>
          <p:cNvPr id="43" name="Text 36"/>
          <p:cNvSpPr/>
          <p:nvPr/>
        </p:nvSpPr>
        <p:spPr>
          <a:xfrm>
            <a:off x="9661916" y="4114800"/>
            <a:ext cx="181654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 · Skill Report · Automation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9680204" y="4645152"/>
            <a:ext cx="1779971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20–30 分鐘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AA0C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★★★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1420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B1420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品保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進料異常端到端處理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15–20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673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59152" y="4572000"/>
            <a:ext cx="32095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359152" y="4572000"/>
            <a:ext cx="3209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 Search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975104" y="5074920"/>
            <a:ext cx="18653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1975104" y="507492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這個情境沒有附件。你只說一句「處理這週的進料異常」，Cowork 自己去信箱撈供應商來信、去 OneDrive 讀檢驗紀錄與 CAR 開立標準，判斷哪幾家該開矯正措施要求書，然後跨四個 App 實際動手：寄信給採購窗口、貼文到品保 Teams 頻道、排一場跨部門檢討會議。一次對話停下來三次等你核准。這是 Copilot Chat 做不到的地方 —— 它能幫你寫，但不會幫你送出去。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1420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一句話下任務，不給附件、不指定檔案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刻意不要說「附件是檢驗紀錄」，也不要告訴它檔案放在哪個資料夾。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0906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1420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0723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看它把三處證據湊齊 —— 並且成功排除那個干擾項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4381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實測結果：鴻昇精密同時符合條件 1（單批不良率超過 3%）與條件 2…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8953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1420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770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第一張核准卡：寄給採購窗口 —— 查不到人時它停下來問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2428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這一步出現了整個情境**最值得講的一幕**：合約摘要裡沒有寫採購窗口的信箱，通訊錄也查不到那個名字。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70001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1420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817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第二張核准卡：貼到品保 Teams 頻道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474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同一次對話裡換了另一個 App，而且格式跟著換 —— 給採購的是完整 CAR 內容與合約罰則條款…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0468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1420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486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第三張核准卡：排一場 30 分鐘的跨部門檢討會議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52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第三個 App：行事曆。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4526280" y="630936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B1420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526280" y="6309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5166360" y="629107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驗收：一次對話、四個 App、三次核准，5/5 完成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5166360" y="665683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回頭看完整的執行紀錄，把「它究竟做了幾件事」數一遍：撈信、讀三份 OneDrive 文件、判定兩張 CAR…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B1420A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01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mfgx1_01_in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mfgx1_06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B1420A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沒有上傳任何附件，Cowork 完全靠自己撈信箱與 OneDrive 取得素材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鴻昇精密被判定符合條件 1 與條件 2，並列出所有佐證批號與各批不良率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台鋼金屬被判定符合條件 3（涉及法規），無論不良率高低一律開立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0F1F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C50F1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應變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停線通報自動待命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15–20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4572000"/>
            <a:ext cx="282549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935224" y="4572000"/>
            <a:ext cx="28254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Event Trigger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673352" cy="402336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673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Outlook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359152" y="507492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6264A7"/>
          </a:solidFill>
          <a:ln/>
        </p:spPr>
      </p:sp>
      <p:sp>
        <p:nvSpPr>
          <p:cNvPr id="17" name="Text 14"/>
          <p:cNvSpPr/>
          <p:nvPr/>
        </p:nvSpPr>
        <p:spPr>
          <a:xfrm>
            <a:off x="2359152" y="507492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前一個情境是你開口它才動。這一個連開口都不用 —— 建立一個**事件觸發任務**讓 Cowork 待命，之後只要有主旨含「停線」的信件進來，它自己醒來、讀 OneDrive 的分級 SOP 判斷 P1／P2／P3、回頭去信箱查這台設備最近的停線次數看要不要升級，然後草擬 Teams 通報與回信。「事件觸發」是 Copilot Chat 完全沒有的概念 —— Chat 永遠是你先說話。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50F1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建立事件觸發任務：這裡有個一定會踩到的限制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用自然語言描述觸發條件與要做的事就可以建立。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0906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50F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0723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確認任務進入待命狀態 —— 這一步別跳過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4381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任務建立完成不等於開始待命。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8953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50F1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770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到自動化頁面看兩個觸發器並存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2428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自動化頁面是這個情境的「管理視角」：所有排程與觸發任務都列在這裡，可以檢視、暫停、刪除，也能看每一次的執行紀錄。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70001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50F1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817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寄出觸發信，看它自己醒來 —— 而且自己回頭查歷史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474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現在才寄觸發測試信。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0468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C50F1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486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讀草稿：六項全覆蓋，未知的寫「待確認」而不是編一個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52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打開草擬的回信逐項對 SOP 的六項必含內容：設備編號與產線、停線起始與現況、判定等級與依據條文、預估復機時間…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C50F1F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02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mfgx2_01_trigger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mfgx2_05_draft_rep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C50F1F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觸發條件因為 subject_contains 只吃單一字串，確實建立了中英文兩個觸發器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測試信是在任務進入待命狀態**之後**才寄出的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任務自己被觸發執行，執行紀錄可在自動化頁面查到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B6A0B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B6A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B6A0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生產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 07:30 生產晨報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10–15 分鐘 · 難度 ★★☆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4572000"/>
            <a:ext cx="3401568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935224" y="4572000"/>
            <a:ext cx="34015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Scheduled Prompt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217346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975104" y="5074920"/>
            <a:ext cx="18653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7" name="Text 14"/>
          <p:cNvSpPr/>
          <p:nvPr/>
        </p:nvSpPr>
        <p:spPr>
          <a:xfrm>
            <a:off x="1975104" y="507492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Calendar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557784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06EBE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557784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基礎版的晨報要你每天把日報拖進聊天框；這一版你**一次都不用再開口**。建立一個每天早上 07:30 自動執行的排程提示，資料由 Cowork 自己去 OneDrive 撈、今天有哪些會議自己去行事曆查，然後照你寫死的四段格式產出晨報寄給自己。規則寫一次，之後每天照同一套邏輯執行 —— 這正是「判斷標準寫下來」的複利。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6A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6A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A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建立每天 07:30 的排程提示，把判讀規則指向文件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排程提示和事件觸發的差別在於「什麼時候醒來」：一個看時鐘，一個看事件。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6A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A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先立即試跑一次，不要等到明天早上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排程任務最尷尬的失敗是「明天早上才發現規則寫錯」。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B6A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6A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驗收晨報：兩條跨日規則都命中，還多抓到一條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實測結果 3/3 命中：B 產線同時觸發「達成率低於 95%」「稼動率低於 85%」與「連續 2 天低於 97%…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526280" y="5440680"/>
            <a:ext cx="7132320" cy="777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B6A0B">
                <a:alpha val="65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526280" y="5440680"/>
            <a:ext cx="73152" cy="777240"/>
          </a:xfrm>
          <a:prstGeom prst="rect">
            <a:avLst/>
          </a:prstGeom>
          <a:solidFill>
            <a:srgbClr val="0B6A0B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5687568"/>
            <a:ext cx="292608" cy="29260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5239512" y="5440680"/>
            <a:ext cx="6309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把關重點　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排程任務每天固定時間醒來，但它**不會每天默默寄信出去** —— 寄送同樣要核准。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B6A0B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6A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03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mfgx3_01_schedule_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6A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mfgx3_03_d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6A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0B6A0B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排程提示指向 OneDrive 的規則文件，而不是把四條警訊規則抄進提示裡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建立後立刻手動試跑一次，沒有等到隔天才驗收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 產線因達成率、稼動率與「連續 2 天低於 97%」被列入第二段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5B7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5B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005B7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稽核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ISO 稽核前置盤點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25–35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865376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18653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OneDrive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551176" y="4572000"/>
            <a:ext cx="905256" cy="402336"/>
          </a:xfrm>
          <a:prstGeom prst="roundRect">
            <a:avLst>
              <a:gd name="adj" fmla="val 50000"/>
            </a:avLst>
          </a:prstGeom>
          <a:solidFill>
            <a:srgbClr val="D83B01"/>
          </a:solidFill>
          <a:ln/>
        </p:spPr>
      </p:sp>
      <p:sp>
        <p:nvSpPr>
          <p:cNvPr id="13" name="Text 10"/>
          <p:cNvSpPr/>
          <p:nvPr/>
        </p:nvSpPr>
        <p:spPr>
          <a:xfrm>
            <a:off x="2551176" y="4572000"/>
            <a:ext cx="9052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PDF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320954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3209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File Management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" y="5577840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06EBE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" y="5577840"/>
            <a:ext cx="12893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這是全手冊最接近「真正把事情做完」的一個情境。給 Cowork 一個刻意散亂的資料夾 —— 命名混亂、版本重複、日期過期的 11 份 SOP 與證書 —— 讓它自己逐份讀完、逐條比對檢核表、建立稽核資料夾、把合格文件重新歸檔，再產出缺口清單並**依負責人分組**分別寄信。這是長任務自主執行，中途你可以介入，而且會看到 Approve All 這種批次核准的實際樣子。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B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5B7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B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下任務後第一張核准卡：存取 OneDrive 的檔案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這個情境要動到的是**檔案本身**，不只是讀內容 —— 建資料夾、搬檔案…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526280" y="3090672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5B7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26280" y="3090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B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5166360" y="3072384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Approve All：長任務不會每一步都問你一次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5166360" y="3438144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份文件、逐份讀取、批次搬檔 —— 如果每一個動作都跳一張卡，這個情境會變成點 30 次核准。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526280" y="389534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5B7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38953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B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166360" y="387705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中途觀察：它撞牆之後自己換方法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166360" y="424281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長任務最能看出韌性。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470001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5B7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6280" y="47000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B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5166360" y="468172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缺口清單：10 項全中埋好的考點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166360" y="504748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這份素材的每一個缺陷都是刻意埋的，實測 10 項全部命中：沖壓站 v2 與 v3 草稿同編號並存…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4526280" y="550468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005B7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B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5166360" y="548640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 OneDrive 看實際結果 —— 資料夾真的被整理過了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166360" y="585216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這一步請務必實際打開 OneDrive，不要只看對話裡的摘要。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005B70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5B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04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mfgx4_01_graph_appro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5B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mfgx4_05_onedrive_arch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5B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005B70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 份素材全部被讀取，包含 5 份 PDF，沒有因為格式而略過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沖壓站 v2 與 v3 草稿同編號並存被判為文件管制不符合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份下次審查日已過期的 SOP 被列入缺口清單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0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C1E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C2E9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0" cy="1097280"/>
          </a:xfrm>
          <a:prstGeom prst="ellipse">
            <a:avLst/>
          </a:prstGeom>
          <a:solidFill>
            <a:srgbClr val="5C2E9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4475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BC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自訂技能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把停線判定做成專屬技能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02920" y="41148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⏱ 約 20–30 分鐘 · 難度 ★★★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7A4DDB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457200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 Skill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935224" y="4572000"/>
            <a:ext cx="2633472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2935224" y="4572000"/>
            <a:ext cx="26334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 Report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5074920"/>
            <a:ext cx="2249424" cy="402336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5074920"/>
            <a:ext cx="224942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26280" y="64008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D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前面四個情境每一次都要重講一次規則。這一個把規則本身變成資產：把 MFGX2 的停線分級邏輯寫成自訂技能，讓它成為每次開新工作階段都會自動載入的能力，再回頭掛到 MFGX2 的觸發任務上。而這個情境最有價值的部分不是技能本身，是那份**官方自動評測報告** —— 我們在實測中發現了一件會直接影響你評分的事，中文技能作者尤其要看。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26280" y="1783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代理式工作流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526280" y="2286000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E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2628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166360" y="2267712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現場把 SOP 寫成技能 —— 別忘了那張「複製檔案」核准卡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166360" y="2633472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課前刻意**沒有**把 MFGX5_SKILL.md 放進技能資料夾，就是為了現場做一次。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26280" y="3310128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E9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2628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166360" y="329184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讀技能報告 —— 初評只有 79 分，問題出在你想不到的地方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5166360" y="3657600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技能建立、更新或驗證時，Cowork 會**自動**回傳一份技能報告，0～100 分…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334256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E9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26280" y="433425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166360" y="4315968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⭐ 真正的發現：評分器讀的是英文關鍵字，純中文的防護條款會被漏掉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166360" y="4681728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把「為什麼穩健度只有 9 分」丟回去問，Cowork 自己去查了評分的啟發式…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4526280" y="5358384"/>
            <a:ext cx="457200" cy="457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5C2E9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2628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66360" y="5340096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掛回 MFGX2 的觸發任務，然後把自動化收乾淨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5166360" y="5705856"/>
            <a:ext cx="6492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EB2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最後一步把整個進階版收成一個閉環：MFGX2 的觸發任務原本自己帶著判定邏輯，現在改成由技能提供邏輯…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5C2E9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 05 · 實機示範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Cowork 怎麼做、產出什麼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521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6" name="Image 0" descr="C:\temp\CoworkLab\v2\_working\screenshots\mfgx5_01_copyfile_appro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74920" cy="33234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你的輸入與指令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63056" y="1773936"/>
            <a:ext cx="5184648" cy="343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8A90B5">
                <a:alpha val="22000"/>
              </a:srgbClr>
            </a:outerShdw>
          </a:effectLst>
        </p:spPr>
      </p:sp>
      <p:pic>
        <p:nvPicPr>
          <p:cNvPr id="9" name="Image 1" descr="C:\temp\CoworkLab\v2\_working\screenshots\mfgx_99_automations_paus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074920" cy="332345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17920" y="5261986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產出成果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40080" y="5074920"/>
            <a:ext cx="10911535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0080" y="5074920"/>
            <a:ext cx="91440" cy="1143000"/>
          </a:xfrm>
          <a:prstGeom prst="rect">
            <a:avLst/>
          </a:prstGeom>
          <a:solidFill>
            <a:srgbClr val="5C2E91"/>
          </a:solidFill>
          <a:ln/>
        </p:spPr>
      </p:sp>
      <p:sp>
        <p:nvSpPr>
          <p:cNvPr id="13" name="Text 9"/>
          <p:cNvSpPr/>
          <p:nvPr/>
        </p:nvSpPr>
        <p:spPr>
          <a:xfrm>
            <a:off x="914400" y="51846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產出驗收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5221224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08960" y="5166360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SKILL.md 有 YAML frontmatter，且 name 與 description 兩個欄位都存在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55595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108960" y="5504688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description 裡有明確的觸發語句，中英文觸發詞都涵蓋到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97880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108960" y="5843016"/>
            <a:ext cx="816833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技能寫進了反向 scope 邊界（明確說明哪些情況不處理）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把情境延伸到你的日常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1929384"/>
            <a:ext cx="438912" cy="438912"/>
          </a:xfrm>
          <a:prstGeom prst="ellipse">
            <a:avLst/>
          </a:prstGeom>
          <a:solidFill>
            <a:srgbClr val="B1420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24328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770632"/>
            <a:ext cx="438912" cy="438912"/>
          </a:xfrm>
          <a:prstGeom prst="ellipse">
            <a:avLst/>
          </a:prstGeom>
          <a:solidFill>
            <a:srgbClr val="C50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465576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611880"/>
            <a:ext cx="438912" cy="438912"/>
          </a:xfrm>
          <a:prstGeom prst="ellipse">
            <a:avLst/>
          </a:prstGeom>
          <a:solidFill>
            <a:srgbClr val="0B6A0B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4306824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4453128"/>
            <a:ext cx="438912" cy="438912"/>
          </a:xfrm>
          <a:prstGeom prst="ellipse">
            <a:avLst/>
          </a:prstGeom>
          <a:solidFill>
            <a:srgbClr val="005B7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5148072"/>
            <a:ext cx="10911535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7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5294376"/>
            <a:ext cx="438912" cy="438912"/>
          </a:xfrm>
          <a:prstGeom prst="ellipse">
            <a:avLst/>
          </a:prstGeom>
          <a:solidFill>
            <a:srgbClr val="5C2E91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039112"/>
            <a:ext cx="219456" cy="21945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17320" y="1819656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1420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品保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86195" y="1819656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把「該通知誰」也寫進 OneDrive 的標準文件，讓窗口異動時只要改文件、不必改指令。</a:t>
            </a:r>
            <a:endParaRPr lang="en-US" sz="13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880360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17320" y="2660904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0F1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應變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586195" y="2660904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把觸發關鍵字換成你們實際的事故通報主旨前綴，例如「[異常通報]」。</a:t>
            </a:r>
            <a:endParaRPr lang="en-US" sz="13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721608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3502152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6A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生產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586195" y="3502152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把警訊門檻改成你們自己的 KPI 標準，只改 OneDrive 的規則文件、不動排程任務。</a:t>
            </a:r>
            <a:endParaRPr lang="en-US" sz="13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562856"/>
            <a:ext cx="219456" cy="2194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417320" y="4343400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B7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稽核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586195" y="4343400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把檢核表換成你們實際的內稽查檢核表，測試同一套流程能不能直接沿用。</a:t>
            </a:r>
            <a:endParaRPr lang="en-US" sz="13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5404104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17320" y="5184648"/>
            <a:ext cx="2182307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E9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製造業（進階）· 自訂技能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586195" y="5184648"/>
            <a:ext cx="774719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E22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把 MFGX1 的 CAR 開立判定也做成技能，讓品保與生產各有一套可分享的標準。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384048" cy="12801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457200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TRUST &amp;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8638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自動化，但你始終是決策者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039112"/>
            <a:ext cx="448056" cy="4480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行動前審核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91640" y="2203704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中高風險動作會顯示 RISK-LEVEL；寄信、發 Teams、建立會議等動作先攤開可編輯預覽，核准後才送出。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044952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209544"/>
            <a:ext cx="448056" cy="4480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2666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控制範圍清楚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691640" y="3374136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don’t ask again 可限定 per-recipient、per-domain 或 always；任務可軟／硬暫停、恢復或取消。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4215384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379976"/>
            <a:ext cx="448056" cy="4480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1970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自動化任務也有把關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691640" y="4544568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排程提示與事件驅動任務有執行頻率限制與防迴圈保護；一律以建立者權限執行，且與其他 Cowork 活動一同記錄在統一稽核日誌，套用 Microsoft Purview 政策。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40080" y="5385816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22D3EE">
                <a:alpha val="60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550408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6752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限制也要知道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691640" y="571500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不能存取本機檔案、刪除 OneDrive/SharePoint 檔案或讀取加密檔；附件 &lt;200MB；自訂技能與第三方 plugin 未經 Microsoft 驗證，需自行審閱。官方明列不適用於「免人工審查即需保證正確」的用途。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00297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B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現在就開始練習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開始前請確認：每位使用者一張 M365 Copilot 授權、管理員已啟用用量計費（Copilot Credits，未啟用則無法存取）、租戶位於 Anthropic 支援地區；可在 Web/桌面/行動/Outlook/Teams 使用（本機瀏覽器工作僅限網頁版＋Edge 150 以上，且預設停用需管理員開啟）。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017520"/>
            <a:ext cx="8686800" cy="868680"/>
          </a:xfrm>
          <a:prstGeom prst="roundRect">
            <a:avLst>
              <a:gd name="adj" fmla="val 1263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9184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31272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Cowork 練習手冊</a:t>
            </a:r>
            <a:endParaRPr lang="en-US" sz="1400" dirty="0"/>
          </a:p>
        </p:txBody>
      </p:sp>
      <p:sp>
        <p:nvSpPr>
          <p:cNvPr id="7" name="Text 4">
            <a:hlinkClick r:id="rId3" tooltip=""/>
          </p:cNvPr>
          <p:cNvSpPr/>
          <p:nvPr/>
        </p:nvSpPr>
        <p:spPr>
          <a:xfrm>
            <a:off x="1417320" y="3419856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9FE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andyhung11.github.io/Copilot-in-1mins/CoworkPlaybook/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315968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426110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挑一個最貼近你工作的情境開始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79145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473659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自訂技能放 OneDrive /Documents/Cowork/skills/ 的 SKILL.md（最多 50 個、每個 1MB）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266944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05840" y="5212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模型選擇器：Auto（預設）、GPT 5.5 Frontier、GPT 5.6 Sol／Terra、Opus 5、Sonnet 5、Fable 5（預覽・預設關閉）</a:t>
            </a:r>
            <a:endParaRPr lang="en-US" sz="14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742432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56875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3E5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想要自動觸發？到「Automations」頁設定排程提示（上限 5 個）或事件觸發任務（收信／被 @提及）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640080" y="3611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AE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把重複、吃時間的工作，交給 Cowork —— 你專注在決策與客戶。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4389120"/>
            <a:ext cx="3200400" cy="0"/>
          </a:xfrm>
          <a:prstGeom prst="line">
            <a:avLst/>
          </a:prstGeom>
          <a:noFill/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A3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Microsoft 365 Copilot Cowork · 教育訓練簡報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365 Copilot Cowork 教育訓練 · 製造業（進階）</dc:title>
  <dc:subject>PptxGenJS Presentation</dc:subject>
  <dc:creator>Andy Hung</dc:creator>
  <cp:lastModifiedBy>Andy Hung</cp:lastModifiedBy>
  <cp:revision>1</cp:revision>
  <dcterms:created xsi:type="dcterms:W3CDTF">2026-08-24T19:05:40Z</dcterms:created>
  <dcterms:modified xsi:type="dcterms:W3CDTF">2026-08-24T19:05:40Z</dcterms:modified>
</cp:coreProperties>
</file>