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aka.ms/CoworkPlaybook" TargetMode="External"/><Relationship Id="rId1" Type="http://schemas.openxmlformats.org/officeDocument/2006/relationships/image" Target="../media/Slide-23-image-1.png"/><Relationship Id="rId2" Type="http://schemas.openxmlformats.org/officeDocument/2006/relationships/image" Target="../media/image-23-2.png"/><Relationship Id="rId4" Type="http://schemas.openxmlformats.org/officeDocument/2006/relationships/image" Target="../media/image-23-3.png"/><Relationship Id="rId5" Type="http://schemas.openxmlformats.org/officeDocument/2006/relationships/image" Target="../media/image-23-4.png"/><Relationship Id="rId6" Type="http://schemas.openxmlformats.org/officeDocument/2006/relationships/image" Target="../media/image-23-5.png"/><Relationship Id="rId7" Type="http://schemas.openxmlformats.org/officeDocument/2006/relationships/image" Target="../media/image-23-6.png"/><Relationship Id="rId8" Type="http://schemas.openxmlformats.org/officeDocument/2006/relationships/image" Target="../media/image-23-7.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1371600"/>
            <a:ext cx="2788920" cy="457200"/>
          </a:xfrm>
          <a:prstGeom prst="roundRect">
            <a:avLst>
              <a:gd name="adj" fmla="val 50000"/>
            </a:avLst>
          </a:prstGeom>
          <a:solidFill>
            <a:srgbClr val="FFFFFF">
              <a:alpha val="12000"/>
            </a:srgbClr>
          </a:solidFill>
          <a:ln w="12700">
            <a:solidFill>
              <a:srgbClr val="FFFFFF">
                <a:alpha val="30000"/>
              </a:srgbClr>
            </a:solidFill>
            <a:prstDash val="solid"/>
          </a:ln>
        </p:spPr>
      </p:sp>
      <p:pic>
        <p:nvPicPr>
          <p:cNvPr id="3" name="Image 0" descr="preencoded.png">    </p:cNvPr>
          <p:cNvPicPr>
            <a:picLocks noChangeAspect="1"/>
          </p:cNvPicPr>
          <p:nvPr/>
        </p:nvPicPr>
        <p:blipFill>
          <a:blip r:embed="rId2"/>
          <a:stretch>
            <a:fillRect/>
          </a:stretch>
        </p:blipFill>
        <p:spPr>
          <a:xfrm>
            <a:off x="841248" y="1481328"/>
            <a:ext cx="237744" cy="237744"/>
          </a:xfrm>
          <a:prstGeom prst="rect">
            <a:avLst/>
          </a:prstGeom>
        </p:spPr>
      </p:pic>
      <p:sp>
        <p:nvSpPr>
          <p:cNvPr id="4" name="Text 1"/>
          <p:cNvSpPr/>
          <p:nvPr/>
        </p:nvSpPr>
        <p:spPr>
          <a:xfrm>
            <a:off x="1143000" y="1371600"/>
            <a:ext cx="2377440" cy="45720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Microsoft 365 Copilot</a:t>
            </a:r>
            <a:endParaRPr lang="en-US" sz="1300" dirty="0"/>
          </a:p>
        </p:txBody>
      </p:sp>
      <p:sp>
        <p:nvSpPr>
          <p:cNvPr id="5" name="Text 2"/>
          <p:cNvSpPr/>
          <p:nvPr/>
        </p:nvSpPr>
        <p:spPr>
          <a:xfrm>
            <a:off x="603504" y="1874520"/>
            <a:ext cx="10058400" cy="1280160"/>
          </a:xfrm>
          <a:prstGeom prst="rect">
            <a:avLst/>
          </a:prstGeom>
          <a:noFill/>
          <a:ln/>
        </p:spPr>
        <p:txBody>
          <a:bodyPr wrap="square" rtlCol="0" anchor="ctr"/>
          <a:lstStyle/>
          <a:p>
            <a:pPr indent="0" marL="0">
              <a:buNone/>
            </a:pPr>
            <a:r>
              <a:rPr lang="en-US" sz="8400" b="1" dirty="0">
                <a:solidFill>
                  <a:srgbClr val="FFFFFF"/>
                </a:solidFill>
                <a:latin typeface="Segoe UI" pitchFamily="34" charset="0"/>
                <a:ea typeface="Segoe UI" pitchFamily="34" charset="-122"/>
                <a:cs typeface="Segoe UI" pitchFamily="34" charset="-120"/>
              </a:rPr>
              <a:t>Cowork</a:t>
            </a:r>
            <a:endParaRPr lang="en-US" sz="8400" dirty="0"/>
          </a:p>
        </p:txBody>
      </p:sp>
      <p:sp>
        <p:nvSpPr>
          <p:cNvPr id="6" name="Text 3"/>
          <p:cNvSpPr/>
          <p:nvPr/>
        </p:nvSpPr>
        <p:spPr>
          <a:xfrm>
            <a:off x="640080" y="3154680"/>
            <a:ext cx="10058400" cy="731520"/>
          </a:xfrm>
          <a:prstGeom prst="rect">
            <a:avLst/>
          </a:prstGeom>
          <a:noFill/>
          <a:ln/>
        </p:spPr>
        <p:txBody>
          <a:bodyPr wrap="square" rtlCol="0" anchor="ctr"/>
          <a:lstStyle/>
          <a:p>
            <a:pPr indent="0" marL="0">
              <a:buNone/>
            </a:pPr>
            <a:r>
              <a:rPr lang="en-US" sz="3400" b="1" dirty="0">
                <a:solidFill>
                  <a:srgbClr val="CFC9FF"/>
                </a:solidFill>
                <a:latin typeface="Segoe UI" pitchFamily="34" charset="0"/>
                <a:ea typeface="Segoe UI" pitchFamily="34" charset="-122"/>
                <a:cs typeface="Segoe UI" pitchFamily="34" charset="-120"/>
              </a:rPr>
              <a:t>Agentic AI at work</a:t>
            </a:r>
            <a:endParaRPr lang="en-US" sz="3400" dirty="0"/>
          </a:p>
        </p:txBody>
      </p:sp>
      <p:sp>
        <p:nvSpPr>
          <p:cNvPr id="7" name="Text 4"/>
          <p:cNvSpPr/>
          <p:nvPr/>
        </p:nvSpPr>
        <p:spPr>
          <a:xfrm>
            <a:off x="640080" y="3977640"/>
            <a:ext cx="9601200" cy="548640"/>
          </a:xfrm>
          <a:prstGeom prst="rect">
            <a:avLst/>
          </a:prstGeom>
          <a:noFill/>
          <a:ln/>
        </p:spPr>
        <p:txBody>
          <a:bodyPr wrap="square" rtlCol="0" anchor="ctr"/>
          <a:lstStyle/>
          <a:p>
            <a:pPr indent="0" marL="0">
              <a:buNone/>
            </a:pPr>
            <a:r>
              <a:rPr lang="en-US" sz="1600" dirty="0">
                <a:solidFill>
                  <a:srgbClr val="B9BCE0"/>
                </a:solidFill>
                <a:latin typeface="Segoe UI" pitchFamily="34" charset="0"/>
                <a:ea typeface="Segoe UI" pitchFamily="34" charset="-122"/>
                <a:cs typeface="Segoe UI" pitchFamily="34" charset="-120"/>
              </a:rPr>
              <a:t>Six real advanced-packaging scenarios showing how Copilot executes across apps, shows a risk level before medium/high-risk actions, and waits for your approval</a:t>
            </a:r>
            <a:endParaRPr lang="en-US" sz="1600" dirty="0"/>
          </a:p>
        </p:txBody>
      </p:sp>
      <p:sp>
        <p:nvSpPr>
          <p:cNvPr id="8" name="Shape 5"/>
          <p:cNvSpPr/>
          <p:nvPr/>
        </p:nvSpPr>
        <p:spPr>
          <a:xfrm>
            <a:off x="640080" y="5074920"/>
            <a:ext cx="3840480" cy="0"/>
          </a:xfrm>
          <a:prstGeom prst="line">
            <a:avLst/>
          </a:prstGeom>
          <a:noFill/>
          <a:ln w="12700">
            <a:solidFill>
              <a:srgbClr val="FFFFFF">
                <a:alpha val="25000"/>
              </a:srgbClr>
            </a:solidFill>
            <a:prstDash val="solid"/>
          </a:ln>
        </p:spPr>
      </p:sp>
      <p:sp>
        <p:nvSpPr>
          <p:cNvPr id="9" name="Text 6"/>
          <p:cNvSpPr/>
          <p:nvPr/>
        </p:nvSpPr>
        <p:spPr>
          <a:xfrm>
            <a:off x="640080" y="5212080"/>
            <a:ext cx="7315200" cy="36576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Training deck · client-ready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AGENDA</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we'll cover</a:t>
            </a:r>
            <a:endParaRPr lang="en-US" sz="3000" dirty="0"/>
          </a:p>
        </p:txBody>
      </p:sp>
      <p:sp>
        <p:nvSpPr>
          <p:cNvPr id="5" name="Text 3"/>
          <p:cNvSpPr/>
          <p:nvPr/>
        </p:nvSpPr>
        <p:spPr>
          <a:xfrm>
            <a:off x="640080" y="16642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01</a:t>
            </a:r>
            <a:endParaRPr lang="en-US" sz="3400" dirty="0"/>
          </a:p>
        </p:txBody>
      </p:sp>
      <p:sp>
        <p:nvSpPr>
          <p:cNvPr id="6" name="Text 4"/>
          <p:cNvSpPr/>
          <p:nvPr/>
        </p:nvSpPr>
        <p:spPr>
          <a:xfrm>
            <a:off x="1737360" y="17007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Meet Cowork</a:t>
            </a:r>
            <a:endParaRPr lang="en-US" sz="1900" dirty="0"/>
          </a:p>
        </p:txBody>
      </p:sp>
      <p:sp>
        <p:nvSpPr>
          <p:cNvPr id="7" name="Text 5"/>
          <p:cNvSpPr/>
          <p:nvPr/>
        </p:nvSpPr>
        <p:spPr>
          <a:xfrm>
            <a:off x="1737360" y="21214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What agentic AI is, and how it differs from Copilot Chat</a:t>
            </a:r>
            <a:endParaRPr lang="en-US" sz="1350" dirty="0"/>
          </a:p>
        </p:txBody>
      </p:sp>
      <p:sp>
        <p:nvSpPr>
          <p:cNvPr id="8" name="Text 6"/>
          <p:cNvSpPr/>
          <p:nvPr/>
        </p:nvSpPr>
        <p:spPr>
          <a:xfrm>
            <a:off x="640080" y="25786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02</a:t>
            </a:r>
            <a:endParaRPr lang="en-US" sz="3400" dirty="0"/>
          </a:p>
        </p:txBody>
      </p:sp>
      <p:sp>
        <p:nvSpPr>
          <p:cNvPr id="9" name="Text 7"/>
          <p:cNvSpPr/>
          <p:nvPr/>
        </p:nvSpPr>
        <p:spPr>
          <a:xfrm>
            <a:off x="1737360" y="26151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Core capabilities</a:t>
            </a:r>
            <a:endParaRPr lang="en-US" sz="1900" dirty="0"/>
          </a:p>
        </p:txBody>
      </p:sp>
      <p:sp>
        <p:nvSpPr>
          <p:cNvPr id="10" name="Text 8"/>
          <p:cNvSpPr/>
          <p:nvPr/>
        </p:nvSpPr>
        <p:spPr>
          <a:xfrm>
            <a:off x="1737360" y="30358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Skills, workspace, approval before action, self-verification</a:t>
            </a:r>
            <a:endParaRPr lang="en-US" sz="1350" dirty="0"/>
          </a:p>
        </p:txBody>
      </p:sp>
      <p:sp>
        <p:nvSpPr>
          <p:cNvPr id="11" name="Text 9"/>
          <p:cNvSpPr/>
          <p:nvPr/>
        </p:nvSpPr>
        <p:spPr>
          <a:xfrm>
            <a:off x="640080" y="34930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03</a:t>
            </a:r>
            <a:endParaRPr lang="en-US" sz="3400" dirty="0"/>
          </a:p>
        </p:txBody>
      </p:sp>
      <p:sp>
        <p:nvSpPr>
          <p:cNvPr id="12" name="Text 10"/>
          <p:cNvSpPr/>
          <p:nvPr/>
        </p:nvSpPr>
        <p:spPr>
          <a:xfrm>
            <a:off x="1737360" y="35295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Set up your practice environment</a:t>
            </a:r>
            <a:endParaRPr lang="en-US" sz="1900" dirty="0"/>
          </a:p>
        </p:txBody>
      </p:sp>
      <p:sp>
        <p:nvSpPr>
          <p:cNvPr id="13" name="Text 11"/>
          <p:cNvSpPr/>
          <p:nvPr/>
        </p:nvSpPr>
        <p:spPr>
          <a:xfrm>
            <a:off x="1737360" y="39502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Seed the material into OneDrive and your mailbox first, so Cowork finds it itself</a:t>
            </a:r>
            <a:endParaRPr lang="en-US" sz="1350" dirty="0"/>
          </a:p>
        </p:txBody>
      </p:sp>
      <p:sp>
        <p:nvSpPr>
          <p:cNvPr id="14" name="Text 12"/>
          <p:cNvSpPr/>
          <p:nvPr/>
        </p:nvSpPr>
        <p:spPr>
          <a:xfrm>
            <a:off x="640080" y="44074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04</a:t>
            </a:r>
            <a:endParaRPr lang="en-US" sz="3400" dirty="0"/>
          </a:p>
        </p:txBody>
      </p:sp>
      <p:sp>
        <p:nvSpPr>
          <p:cNvPr id="15" name="Text 13"/>
          <p:cNvSpPr/>
          <p:nvPr/>
        </p:nvSpPr>
        <p:spPr>
          <a:xfrm>
            <a:off x="1737360" y="44439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Six hands-on scenarios</a:t>
            </a:r>
            <a:endParaRPr lang="en-US" sz="1900" dirty="0"/>
          </a:p>
        </p:txBody>
      </p:sp>
      <p:sp>
        <p:nvSpPr>
          <p:cNvPr id="16" name="Text 14"/>
          <p:cNvSpPr/>
          <p:nvPr/>
        </p:nvSpPr>
        <p:spPr>
          <a:xfrm>
            <a:off x="1737360" y="48646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Shift handover, yield hunt, customer QBR, discontinuation impact, audit findings, sample release — one workflow at a time</a:t>
            </a:r>
            <a:endParaRPr lang="en-US" sz="1350" dirty="0"/>
          </a:p>
        </p:txBody>
      </p:sp>
      <p:sp>
        <p:nvSpPr>
          <p:cNvPr id="17" name="Text 15"/>
          <p:cNvSpPr/>
          <p:nvPr/>
        </p:nvSpPr>
        <p:spPr>
          <a:xfrm>
            <a:off x="640080" y="5321808"/>
            <a:ext cx="1005840" cy="822960"/>
          </a:xfrm>
          <a:prstGeom prst="rect">
            <a:avLst/>
          </a:prstGeom>
          <a:noFill/>
          <a:ln/>
        </p:spPr>
        <p:txBody>
          <a:bodyPr wrap="square" rtlCol="0" anchor="ctr"/>
          <a:lstStyle/>
          <a:p>
            <a:pPr algn="l" indent="0" marL="0">
              <a:buNone/>
            </a:pPr>
            <a:r>
              <a:rPr lang="en-US" sz="3400" b="1" dirty="0">
                <a:solidFill>
                  <a:srgbClr val="6366F1"/>
                </a:solidFill>
                <a:latin typeface="Segoe UI" pitchFamily="34" charset="0"/>
                <a:ea typeface="Segoe UI" pitchFamily="34" charset="-122"/>
                <a:cs typeface="Segoe UI" pitchFamily="34" charset="-120"/>
              </a:rPr>
              <a:t>05</a:t>
            </a:r>
            <a:endParaRPr lang="en-US" sz="3400" dirty="0"/>
          </a:p>
        </p:txBody>
      </p:sp>
      <p:sp>
        <p:nvSpPr>
          <p:cNvPr id="18" name="Text 16"/>
          <p:cNvSpPr/>
          <p:nvPr/>
        </p:nvSpPr>
        <p:spPr>
          <a:xfrm>
            <a:off x="1737360" y="5358384"/>
            <a:ext cx="3657600" cy="457200"/>
          </a:xfrm>
          <a:prstGeom prst="rect">
            <a:avLst/>
          </a:prstGeom>
          <a:noFill/>
          <a:ln/>
        </p:spPr>
        <p:txBody>
          <a:bodyPr wrap="square" rtlCol="0" anchor="ctr"/>
          <a:lstStyle/>
          <a:p>
            <a:pPr indent="0" marL="0">
              <a:buNone/>
            </a:pPr>
            <a:r>
              <a:rPr lang="en-US" sz="1900" b="1" dirty="0">
                <a:solidFill>
                  <a:srgbClr val="1E2235"/>
                </a:solidFill>
                <a:latin typeface="Segoe UI" pitchFamily="34" charset="0"/>
                <a:ea typeface="Segoe UI" pitchFamily="34" charset="-122"/>
                <a:cs typeface="Segoe UI" pitchFamily="34" charset="-120"/>
              </a:rPr>
              <a:t>Make it your own</a:t>
            </a:r>
            <a:endParaRPr lang="en-US" sz="1900" dirty="0"/>
          </a:p>
        </p:txBody>
      </p:sp>
      <p:sp>
        <p:nvSpPr>
          <p:cNvPr id="19" name="Text 17"/>
          <p:cNvSpPr/>
          <p:nvPr/>
        </p:nvSpPr>
        <p:spPr>
          <a:xfrm>
            <a:off x="1737360" y="5779008"/>
            <a:ext cx="9601200" cy="365760"/>
          </a:xfrm>
          <a:prstGeom prst="rect">
            <a:avLst/>
          </a:prstGeom>
          <a:noFill/>
          <a:ln/>
        </p:spPr>
        <p:txBody>
          <a:bodyPr wrap="square" rtlCol="0" anchor="ctr"/>
          <a:lstStyle/>
          <a:p>
            <a:pPr indent="0" marL="0">
              <a:buNone/>
            </a:pPr>
            <a:r>
              <a:rPr lang="en-US" sz="1350" dirty="0">
                <a:solidFill>
                  <a:srgbClr val="5B6079"/>
                </a:solidFill>
                <a:latin typeface="Segoe UI" pitchFamily="34" charset="0"/>
                <a:ea typeface="Segoe UI" pitchFamily="34" charset="-122"/>
                <a:cs typeface="Segoe UI" pitchFamily="34" charset="-120"/>
              </a:rPr>
              <a:t>How to extend these scenarios to your own work</a:t>
            </a:r>
            <a:endParaRPr lang="en-US" sz="1350" dirty="0"/>
          </a:p>
        </p:txBody>
      </p:sp>
      <p:sp>
        <p:nvSpPr>
          <p:cNvPr id="20" name="Text 18"/>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9"/>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WHAT IS COWORK</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From "chat" to "agentic execution"</a:t>
            </a:r>
            <a:endParaRPr lang="en-US" sz="3000" dirty="0"/>
          </a:p>
        </p:txBody>
      </p:sp>
      <p:sp>
        <p:nvSpPr>
          <p:cNvPr id="5" name="Text 3"/>
          <p:cNvSpPr/>
          <p:nvPr/>
        </p:nvSpPr>
        <p:spPr>
          <a:xfrm>
            <a:off x="640080" y="1737360"/>
            <a:ext cx="10881360" cy="457200"/>
          </a:xfrm>
          <a:prstGeom prst="rect">
            <a:avLst/>
          </a:prstGeom>
          <a:noFill/>
          <a:ln/>
        </p:spPr>
        <p:txBody>
          <a:bodyPr wrap="square" rtlCol="0" anchor="ctr"/>
          <a:lstStyle/>
          <a:p>
            <a:pPr indent="0" marL="0">
              <a:buNone/>
            </a:pPr>
            <a:r>
              <a:rPr lang="en-US" sz="2200" dirty="0">
                <a:solidFill>
                  <a:srgbClr val="000000"/>
                </a:solidFill>
                <a:latin typeface="Segoe UI" pitchFamily="34" charset="0"/>
                <a:ea typeface="Segoe UI" pitchFamily="34" charset="-122"/>
                <a:cs typeface="Segoe UI" pitchFamily="34" charset="-120"/>
              </a:rPr>
              <a:t>Cowork is Copilot's </a:t>
            </a:r>
            <a:pPr indent="0" marL="0">
              <a:buNone/>
            </a:pPr>
            <a:r>
              <a:rPr lang="en-US" sz="2200" b="1" dirty="0">
                <a:solidFill>
                  <a:srgbClr val="6366F1"/>
                </a:solidFill>
                <a:latin typeface="Segoe UI" pitchFamily="34" charset="0"/>
                <a:ea typeface="Segoe UI" pitchFamily="34" charset="-122"/>
                <a:cs typeface="Segoe UI" pitchFamily="34" charset="-120"/>
              </a:rPr>
              <a:t>agentic</a:t>
            </a:r>
            <a:pPr indent="0" marL="0">
              <a:buNone/>
            </a:pPr>
            <a:r>
              <a:rPr lang="en-US" sz="2200" dirty="0">
                <a:solidFill>
                  <a:srgbClr val="000000"/>
                </a:solidFill>
                <a:latin typeface="Segoe UI" pitchFamily="34" charset="0"/>
                <a:ea typeface="Segoe UI" pitchFamily="34" charset="-122"/>
                <a:cs typeface="Segoe UI" pitchFamily="34" charset="-120"/>
              </a:rPr>
              <a:t> working mode.</a:t>
            </a:r>
            <a:endParaRPr lang="en-US" sz="2200" dirty="0"/>
          </a:p>
        </p:txBody>
      </p:sp>
      <p:sp>
        <p:nvSpPr>
          <p:cNvPr id="6" name="Text 4"/>
          <p:cNvSpPr/>
          <p:nvPr/>
        </p:nvSpPr>
        <p:spPr>
          <a:xfrm>
            <a:off x="640080" y="2286000"/>
            <a:ext cx="10881360" cy="914400"/>
          </a:xfrm>
          <a:prstGeom prst="rect">
            <a:avLst/>
          </a:prstGeom>
          <a:noFill/>
          <a:ln/>
        </p:spPr>
        <p:txBody>
          <a:bodyPr wrap="square" rtlCol="0" anchor="ctr"/>
          <a:lstStyle/>
          <a:p>
            <a:pPr indent="0" marL="0">
              <a:lnSpc>
                <a:spcPct val="130000"/>
              </a:lnSpc>
              <a:buNone/>
            </a:pPr>
            <a:r>
              <a:rPr lang="en-US" sz="1500" dirty="0">
                <a:solidFill>
                  <a:srgbClr val="5B6079"/>
                </a:solidFill>
                <a:latin typeface="Segoe UI" pitchFamily="34" charset="0"/>
                <a:ea typeface="Segoe UI" pitchFamily="34" charset="-122"/>
                <a:cs typeface="Segoe UI" pitchFamily="34" charset="-120"/>
              </a:rPr>
              <a:t>You hand it a goal; it breaks the work into steps, reads your cloud files, loads the skills it needs, produces results across apps and checks its own work — pausing for your approval, with a risk level shown, before any medium or high-risk action. You move from quick single-turn answers to handing over a task that actually gets done.</a:t>
            </a:r>
            <a:endParaRPr lang="en-US" sz="1500" dirty="0"/>
          </a:p>
        </p:txBody>
      </p:sp>
      <p:sp>
        <p:nvSpPr>
          <p:cNvPr id="7" name="Shape 5"/>
          <p:cNvSpPr/>
          <p:nvPr/>
        </p:nvSpPr>
        <p:spPr>
          <a:xfrm>
            <a:off x="640080"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8" name="Shape 6"/>
          <p:cNvSpPr/>
          <p:nvPr/>
        </p:nvSpPr>
        <p:spPr>
          <a:xfrm>
            <a:off x="640080" y="3611880"/>
            <a:ext cx="3454298" cy="82296"/>
          </a:xfrm>
          <a:prstGeom prst="rect">
            <a:avLst/>
          </a:prstGeom>
          <a:solidFill>
            <a:srgbClr val="94A3B8"/>
          </a:solidFill>
          <a:ln/>
        </p:spPr>
      </p:sp>
      <p:pic>
        <p:nvPicPr>
          <p:cNvPr id="9" name="Image 0" descr="preencoded.png">    </p:cNvPr>
          <p:cNvPicPr>
            <a:picLocks noChangeAspect="1"/>
          </p:cNvPicPr>
          <p:nvPr/>
        </p:nvPicPr>
        <p:blipFill>
          <a:blip r:embed="rId1"/>
          <a:stretch>
            <a:fillRect/>
          </a:stretch>
        </p:blipFill>
        <p:spPr>
          <a:xfrm>
            <a:off x="960120" y="3931920"/>
            <a:ext cx="457200" cy="457200"/>
          </a:xfrm>
          <a:prstGeom prst="rect">
            <a:avLst/>
          </a:prstGeom>
        </p:spPr>
      </p:pic>
      <p:sp>
        <p:nvSpPr>
          <p:cNvPr id="10" name="Text 7"/>
          <p:cNvSpPr/>
          <p:nvPr/>
        </p:nvSpPr>
        <p:spPr>
          <a:xfrm>
            <a:off x="960120"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Copilot Chat</a:t>
            </a:r>
            <a:endParaRPr lang="en-US" sz="1700" dirty="0"/>
          </a:p>
        </p:txBody>
      </p:sp>
      <p:sp>
        <p:nvSpPr>
          <p:cNvPr id="11" name="Text 8"/>
          <p:cNvSpPr/>
          <p:nvPr/>
        </p:nvSpPr>
        <p:spPr>
          <a:xfrm>
            <a:off x="960120"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Quick single-turn answers; great for instant replies and brainstorming.</a:t>
            </a:r>
            <a:endParaRPr lang="en-US" sz="1400" dirty="0"/>
          </a:p>
        </p:txBody>
      </p:sp>
      <p:sp>
        <p:nvSpPr>
          <p:cNvPr id="12" name="Shape 9"/>
          <p:cNvSpPr/>
          <p:nvPr/>
        </p:nvSpPr>
        <p:spPr>
          <a:xfrm>
            <a:off x="4368698"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3" name="Shape 10"/>
          <p:cNvSpPr/>
          <p:nvPr/>
        </p:nvSpPr>
        <p:spPr>
          <a:xfrm>
            <a:off x="4368698" y="3611880"/>
            <a:ext cx="3454298" cy="82296"/>
          </a:xfrm>
          <a:prstGeom prst="rect">
            <a:avLst/>
          </a:prstGeom>
          <a:solidFill>
            <a:srgbClr val="6366F1"/>
          </a:solidFill>
          <a:ln/>
        </p:spPr>
      </p:sp>
      <p:pic>
        <p:nvPicPr>
          <p:cNvPr id="14" name="Image 1" descr="preencoded.png">    </p:cNvPr>
          <p:cNvPicPr>
            <a:picLocks noChangeAspect="1"/>
          </p:cNvPicPr>
          <p:nvPr/>
        </p:nvPicPr>
        <p:blipFill>
          <a:blip r:embed="rId2"/>
          <a:stretch>
            <a:fillRect/>
          </a:stretch>
        </p:blipFill>
        <p:spPr>
          <a:xfrm>
            <a:off x="4688738" y="3931920"/>
            <a:ext cx="457200" cy="457200"/>
          </a:xfrm>
          <a:prstGeom prst="rect">
            <a:avLst/>
          </a:prstGeom>
        </p:spPr>
      </p:pic>
      <p:sp>
        <p:nvSpPr>
          <p:cNvPr id="15" name="Text 11"/>
          <p:cNvSpPr/>
          <p:nvPr/>
        </p:nvSpPr>
        <p:spPr>
          <a:xfrm>
            <a:off x="4688738"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Cowork agent</a:t>
            </a:r>
            <a:endParaRPr lang="en-US" sz="1700" dirty="0"/>
          </a:p>
        </p:txBody>
      </p:sp>
      <p:sp>
        <p:nvSpPr>
          <p:cNvPr id="16" name="Text 12"/>
          <p:cNvSpPr/>
          <p:nvPr/>
        </p:nvSpPr>
        <p:spPr>
          <a:xfrm>
            <a:off x="4688738"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You give a goal; it executes autonomously across apps, for minutes to hours.</a:t>
            </a:r>
            <a:endParaRPr lang="en-US" sz="1400" dirty="0"/>
          </a:p>
        </p:txBody>
      </p:sp>
      <p:sp>
        <p:nvSpPr>
          <p:cNvPr id="17" name="Shape 13"/>
          <p:cNvSpPr/>
          <p:nvPr/>
        </p:nvSpPr>
        <p:spPr>
          <a:xfrm>
            <a:off x="8097317" y="3611880"/>
            <a:ext cx="3454298" cy="228600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8000"/>
              </a:srgbClr>
            </a:outerShdw>
          </a:effectLst>
        </p:spPr>
      </p:sp>
      <p:sp>
        <p:nvSpPr>
          <p:cNvPr id="18" name="Shape 14"/>
          <p:cNvSpPr/>
          <p:nvPr/>
        </p:nvSpPr>
        <p:spPr>
          <a:xfrm>
            <a:off x="8097317" y="3611880"/>
            <a:ext cx="3454298" cy="82296"/>
          </a:xfrm>
          <a:prstGeom prst="rect">
            <a:avLst/>
          </a:prstGeom>
          <a:solidFill>
            <a:srgbClr val="8B5CF6"/>
          </a:solidFill>
          <a:ln/>
        </p:spPr>
      </p:sp>
      <p:pic>
        <p:nvPicPr>
          <p:cNvPr id="19" name="Image 2" descr="preencoded.png">    </p:cNvPr>
          <p:cNvPicPr>
            <a:picLocks noChangeAspect="1"/>
          </p:cNvPicPr>
          <p:nvPr/>
        </p:nvPicPr>
        <p:blipFill>
          <a:blip r:embed="rId3"/>
          <a:stretch>
            <a:fillRect/>
          </a:stretch>
        </p:blipFill>
        <p:spPr>
          <a:xfrm>
            <a:off x="8417357" y="3931920"/>
            <a:ext cx="457200" cy="457200"/>
          </a:xfrm>
          <a:prstGeom prst="rect">
            <a:avLst/>
          </a:prstGeom>
        </p:spPr>
      </p:pic>
      <p:sp>
        <p:nvSpPr>
          <p:cNvPr id="20" name="Text 15"/>
          <p:cNvSpPr/>
          <p:nvPr/>
        </p:nvSpPr>
        <p:spPr>
          <a:xfrm>
            <a:off x="8417357" y="4526280"/>
            <a:ext cx="2814218" cy="365760"/>
          </a:xfrm>
          <a:prstGeom prst="rect">
            <a:avLst/>
          </a:prstGeom>
          <a:noFill/>
          <a:ln/>
        </p:spPr>
        <p:txBody>
          <a:bodyPr wrap="square" rtlCol="0" anchor="ctr"/>
          <a:lstStyle/>
          <a:p>
            <a:pPr indent="0" marL="0">
              <a:buNone/>
            </a:pPr>
            <a:r>
              <a:rPr lang="en-US" sz="1700" b="1" dirty="0">
                <a:solidFill>
                  <a:srgbClr val="1E2235"/>
                </a:solidFill>
                <a:latin typeface="Segoe UI" pitchFamily="34" charset="0"/>
                <a:ea typeface="Segoe UI" pitchFamily="34" charset="-122"/>
                <a:cs typeface="Segoe UI" pitchFamily="34" charset="-120"/>
              </a:rPr>
              <a:t>You stay in charge</a:t>
            </a:r>
            <a:endParaRPr lang="en-US" sz="1700" dirty="0"/>
          </a:p>
        </p:txBody>
      </p:sp>
      <p:sp>
        <p:nvSpPr>
          <p:cNvPr id="21" name="Text 16"/>
          <p:cNvSpPr/>
          <p:nvPr/>
        </p:nvSpPr>
        <p:spPr>
          <a:xfrm>
            <a:off x="8417357" y="4937760"/>
            <a:ext cx="2814218" cy="822960"/>
          </a:xfrm>
          <a:prstGeom prst="rect">
            <a:avLst/>
          </a:prstGeom>
          <a:noFill/>
          <a:ln/>
        </p:spPr>
        <p:txBody>
          <a:bodyPr wrap="square" rtlCol="0" anchor="ctr"/>
          <a:lstStyle/>
          <a:p>
            <a:pPr indent="0" marL="0">
              <a:lnSpc>
                <a:spcPct val="125000"/>
              </a:lnSpc>
              <a:buNone/>
            </a:pPr>
            <a:r>
              <a:rPr lang="en-US" sz="1400" dirty="0">
                <a:solidFill>
                  <a:srgbClr val="5B6079"/>
                </a:solidFill>
                <a:latin typeface="Segoe UI" pitchFamily="34" charset="0"/>
                <a:ea typeface="Segoe UI" pitchFamily="34" charset="-122"/>
                <a:cs typeface="Segoe UI" pitchFamily="34" charset="-120"/>
              </a:rPr>
              <a:t>Anything outbound or affecting others pauses for your approval.</a:t>
            </a:r>
            <a:endParaRPr lang="en-US" sz="1400" dirty="0"/>
          </a:p>
        </p:txBody>
      </p:sp>
      <p:sp>
        <p:nvSpPr>
          <p:cNvPr id="22" name="Text 1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3" name="Text 1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COMPARISON</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Cowork vs. Copilot Chat</a:t>
            </a:r>
            <a:endParaRPr lang="en-US" sz="3000" dirty="0"/>
          </a:p>
        </p:txBody>
      </p:sp>
      <p:sp>
        <p:nvSpPr>
          <p:cNvPr id="5" name="Shape 3"/>
          <p:cNvSpPr/>
          <p:nvPr/>
        </p:nvSpPr>
        <p:spPr>
          <a:xfrm>
            <a:off x="640080" y="1737360"/>
            <a:ext cx="2743200" cy="457200"/>
          </a:xfrm>
          <a:prstGeom prst="rect">
            <a:avLst/>
          </a:prstGeom>
          <a:solidFill>
            <a:srgbClr val="EEF0F8"/>
          </a:solidFill>
          <a:ln/>
        </p:spPr>
      </p:sp>
      <p:sp>
        <p:nvSpPr>
          <p:cNvPr id="6" name="Shape 4"/>
          <p:cNvSpPr/>
          <p:nvPr/>
        </p:nvSpPr>
        <p:spPr>
          <a:xfrm>
            <a:off x="3383280" y="1737360"/>
            <a:ext cx="4023360" cy="457200"/>
          </a:xfrm>
          <a:prstGeom prst="rect">
            <a:avLst/>
          </a:prstGeom>
          <a:solidFill>
            <a:srgbClr val="0F1031"/>
          </a:solidFill>
          <a:ln/>
        </p:spPr>
      </p:sp>
      <p:sp>
        <p:nvSpPr>
          <p:cNvPr id="7" name="Shape 5"/>
          <p:cNvSpPr/>
          <p:nvPr/>
        </p:nvSpPr>
        <p:spPr>
          <a:xfrm>
            <a:off x="7406640" y="1737360"/>
            <a:ext cx="4142232" cy="457200"/>
          </a:xfrm>
          <a:prstGeom prst="rect">
            <a:avLst/>
          </a:prstGeom>
          <a:solidFill>
            <a:srgbClr val="6366F1"/>
          </a:solidFill>
          <a:ln/>
        </p:spPr>
      </p:sp>
      <p:sp>
        <p:nvSpPr>
          <p:cNvPr id="8" name="Text 6"/>
          <p:cNvSpPr/>
          <p:nvPr/>
        </p:nvSpPr>
        <p:spPr>
          <a:xfrm>
            <a:off x="640080" y="1737360"/>
            <a:ext cx="2743200" cy="457200"/>
          </a:xfrm>
          <a:prstGeom prst="rect">
            <a:avLst/>
          </a:prstGeom>
          <a:noFill/>
          <a:ln/>
        </p:spPr>
        <p:txBody>
          <a:bodyPr wrap="square" rtlCol="0" anchor="ctr"/>
          <a:lstStyle/>
          <a:p>
            <a:pPr indent="0" marL="0">
              <a:buNone/>
            </a:pPr>
            <a:endParaRPr lang="en-US" dirty="0"/>
          </a:p>
        </p:txBody>
      </p:sp>
      <p:sp>
        <p:nvSpPr>
          <p:cNvPr id="9" name="Text 7"/>
          <p:cNvSpPr/>
          <p:nvPr/>
        </p:nvSpPr>
        <p:spPr>
          <a:xfrm>
            <a:off x="3383280" y="1737360"/>
            <a:ext cx="4023360" cy="4572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Copilot Chat</a:t>
            </a:r>
            <a:endParaRPr lang="en-US" sz="1400" dirty="0"/>
          </a:p>
        </p:txBody>
      </p:sp>
      <p:sp>
        <p:nvSpPr>
          <p:cNvPr id="10" name="Text 8"/>
          <p:cNvSpPr/>
          <p:nvPr/>
        </p:nvSpPr>
        <p:spPr>
          <a:xfrm>
            <a:off x="7406640" y="1737360"/>
            <a:ext cx="4142232" cy="457200"/>
          </a:xfrm>
          <a:prstGeom prst="rect">
            <a:avLst/>
          </a:prstGeom>
          <a:noFill/>
          <a:ln/>
        </p:spPr>
        <p:txBody>
          <a:bodyPr wrap="square" rtlCol="0" anchor="ctr"/>
          <a:lstStyle/>
          <a:p>
            <a:pPr algn="ctr" indent="0" marL="0">
              <a:buNone/>
            </a:pPr>
            <a:r>
              <a:rPr lang="en-US" sz="1400" b="1" dirty="0">
                <a:solidFill>
                  <a:srgbClr val="FFFFFF"/>
                </a:solidFill>
                <a:latin typeface="Segoe UI" pitchFamily="34" charset="0"/>
                <a:ea typeface="Segoe UI" pitchFamily="34" charset="-122"/>
                <a:cs typeface="Segoe UI" pitchFamily="34" charset="-120"/>
              </a:rPr>
              <a:t>Copilot Cowork</a:t>
            </a:r>
            <a:endParaRPr lang="en-US" sz="1400" dirty="0"/>
          </a:p>
        </p:txBody>
      </p:sp>
      <p:sp>
        <p:nvSpPr>
          <p:cNvPr id="11" name="Shape 9"/>
          <p:cNvSpPr/>
          <p:nvPr/>
        </p:nvSpPr>
        <p:spPr>
          <a:xfrm>
            <a:off x="640080" y="2194560"/>
            <a:ext cx="10908792" cy="457200"/>
          </a:xfrm>
          <a:prstGeom prst="rect">
            <a:avLst/>
          </a:prstGeom>
          <a:solidFill>
            <a:srgbClr val="F2F4FB"/>
          </a:solidFill>
          <a:ln/>
        </p:spPr>
      </p:sp>
      <p:sp>
        <p:nvSpPr>
          <p:cNvPr id="12" name="Text 10"/>
          <p:cNvSpPr/>
          <p:nvPr/>
        </p:nvSpPr>
        <p:spPr>
          <a:xfrm>
            <a:off x="822960" y="21945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Quick single-turn Q&amp;A</a:t>
            </a:r>
            <a:endParaRPr lang="en-US" sz="1250" dirty="0"/>
          </a:p>
        </p:txBody>
      </p:sp>
      <p:sp>
        <p:nvSpPr>
          <p:cNvPr id="13" name="Text 11"/>
          <p:cNvSpPr/>
          <p:nvPr/>
        </p:nvSpPr>
        <p:spPr>
          <a:xfrm>
            <a:off x="3566160" y="21945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Quick single-turn Q&amp;A</a:t>
            </a:r>
            <a:endParaRPr lang="en-US" sz="1250" dirty="0"/>
          </a:p>
        </p:txBody>
      </p:sp>
      <p:sp>
        <p:nvSpPr>
          <p:cNvPr id="14" name="Text 12"/>
          <p:cNvSpPr/>
          <p:nvPr/>
        </p:nvSpPr>
        <p:spPr>
          <a:xfrm>
            <a:off x="7589520" y="21945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Hand over a goal; autonomous multi-step work across apps</a:t>
            </a:r>
            <a:endParaRPr lang="en-US" sz="1250" dirty="0"/>
          </a:p>
        </p:txBody>
      </p:sp>
      <p:sp>
        <p:nvSpPr>
          <p:cNvPr id="15" name="Shape 13"/>
          <p:cNvSpPr/>
          <p:nvPr/>
        </p:nvSpPr>
        <p:spPr>
          <a:xfrm>
            <a:off x="640080" y="2651760"/>
            <a:ext cx="10908792" cy="457200"/>
          </a:xfrm>
          <a:prstGeom prst="rect">
            <a:avLst/>
          </a:prstGeom>
          <a:solidFill>
            <a:srgbClr val="FFFFFF"/>
          </a:solidFill>
          <a:ln/>
        </p:spPr>
      </p:sp>
      <p:sp>
        <p:nvSpPr>
          <p:cNvPr id="16" name="Text 14"/>
          <p:cNvSpPr/>
          <p:nvPr/>
        </p:nvSpPr>
        <p:spPr>
          <a:xfrm>
            <a:off x="822960" y="26517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Seconds to minutes</a:t>
            </a:r>
            <a:endParaRPr lang="en-US" sz="1250" dirty="0"/>
          </a:p>
        </p:txBody>
      </p:sp>
      <p:sp>
        <p:nvSpPr>
          <p:cNvPr id="17" name="Text 15"/>
          <p:cNvSpPr/>
          <p:nvPr/>
        </p:nvSpPr>
        <p:spPr>
          <a:xfrm>
            <a:off x="3566160" y="26517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Seconds to minutes</a:t>
            </a:r>
            <a:endParaRPr lang="en-US" sz="1250" dirty="0"/>
          </a:p>
        </p:txBody>
      </p:sp>
      <p:sp>
        <p:nvSpPr>
          <p:cNvPr id="18" name="Text 16"/>
          <p:cNvSpPr/>
          <p:nvPr/>
        </p:nvSpPr>
        <p:spPr>
          <a:xfrm>
            <a:off x="7589520" y="26517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Minutes to hours (autonomous)</a:t>
            </a:r>
            <a:endParaRPr lang="en-US" sz="1250" dirty="0"/>
          </a:p>
        </p:txBody>
      </p:sp>
      <p:sp>
        <p:nvSpPr>
          <p:cNvPr id="19" name="Shape 17"/>
          <p:cNvSpPr/>
          <p:nvPr/>
        </p:nvSpPr>
        <p:spPr>
          <a:xfrm>
            <a:off x="640080" y="3108960"/>
            <a:ext cx="10908792" cy="457200"/>
          </a:xfrm>
          <a:prstGeom prst="rect">
            <a:avLst/>
          </a:prstGeom>
          <a:solidFill>
            <a:srgbClr val="F2F4FB"/>
          </a:solidFill>
          <a:ln/>
        </p:spPr>
      </p:sp>
      <p:sp>
        <p:nvSpPr>
          <p:cNvPr id="20" name="Text 18"/>
          <p:cNvSpPr/>
          <p:nvPr/>
        </p:nvSpPr>
        <p:spPr>
          <a:xfrm>
            <a:off x="822960" y="31089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Single step, single session</a:t>
            </a:r>
            <a:endParaRPr lang="en-US" sz="1250" dirty="0"/>
          </a:p>
        </p:txBody>
      </p:sp>
      <p:sp>
        <p:nvSpPr>
          <p:cNvPr id="21" name="Text 19"/>
          <p:cNvSpPr/>
          <p:nvPr/>
        </p:nvSpPr>
        <p:spPr>
          <a:xfrm>
            <a:off x="3566160" y="31089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Single step, single session</a:t>
            </a:r>
            <a:endParaRPr lang="en-US" sz="1250" dirty="0"/>
          </a:p>
        </p:txBody>
      </p:sp>
      <p:sp>
        <p:nvSpPr>
          <p:cNvPr id="22" name="Text 20"/>
          <p:cNvSpPr/>
          <p:nvPr/>
        </p:nvSpPr>
        <p:spPr>
          <a:xfrm>
            <a:off x="7589520" y="31089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Multi-step workflows across tasks and sources</a:t>
            </a:r>
            <a:endParaRPr lang="en-US" sz="1250" dirty="0"/>
          </a:p>
        </p:txBody>
      </p:sp>
      <p:sp>
        <p:nvSpPr>
          <p:cNvPr id="23" name="Shape 21"/>
          <p:cNvSpPr/>
          <p:nvPr/>
        </p:nvSpPr>
        <p:spPr>
          <a:xfrm>
            <a:off x="640080" y="3566160"/>
            <a:ext cx="10908792" cy="457200"/>
          </a:xfrm>
          <a:prstGeom prst="rect">
            <a:avLst/>
          </a:prstGeom>
          <a:solidFill>
            <a:srgbClr val="FFFFFF"/>
          </a:solidFill>
          <a:ln/>
        </p:spPr>
      </p:sp>
      <p:sp>
        <p:nvSpPr>
          <p:cNvPr id="24" name="Text 22"/>
          <p:cNvSpPr/>
          <p:nvPr/>
        </p:nvSpPr>
        <p:spPr>
          <a:xfrm>
            <a:off x="822960" y="35661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Paste in a snippet</a:t>
            </a:r>
            <a:endParaRPr lang="en-US" sz="1250" dirty="0"/>
          </a:p>
        </p:txBody>
      </p:sp>
      <p:sp>
        <p:nvSpPr>
          <p:cNvPr id="25" name="Text 23"/>
          <p:cNvSpPr/>
          <p:nvPr/>
        </p:nvSpPr>
        <p:spPr>
          <a:xfrm>
            <a:off x="3566160" y="35661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Paste in a snippet</a:t>
            </a:r>
            <a:endParaRPr lang="en-US" sz="1250" dirty="0"/>
          </a:p>
        </p:txBody>
      </p:sp>
      <p:sp>
        <p:nvSpPr>
          <p:cNvPr id="26" name="Text 24"/>
          <p:cNvSpPr/>
          <p:nvPr/>
        </p:nvSpPr>
        <p:spPr>
          <a:xfrm>
            <a:off x="7589520" y="35661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Reads cloud attachments and creates new files; no access to local files</a:t>
            </a:r>
            <a:endParaRPr lang="en-US" sz="1250" dirty="0"/>
          </a:p>
        </p:txBody>
      </p:sp>
      <p:sp>
        <p:nvSpPr>
          <p:cNvPr id="27" name="Shape 25"/>
          <p:cNvSpPr/>
          <p:nvPr/>
        </p:nvSpPr>
        <p:spPr>
          <a:xfrm>
            <a:off x="640080" y="4023360"/>
            <a:ext cx="10908792" cy="457200"/>
          </a:xfrm>
          <a:prstGeom prst="rect">
            <a:avLst/>
          </a:prstGeom>
          <a:solidFill>
            <a:srgbClr val="F2F4FB"/>
          </a:solidFill>
          <a:ln/>
        </p:spPr>
      </p:sp>
      <p:sp>
        <p:nvSpPr>
          <p:cNvPr id="28" name="Text 26"/>
          <p:cNvSpPr/>
          <p:nvPr/>
        </p:nvSpPr>
        <p:spPr>
          <a:xfrm>
            <a:off x="822960" y="40233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One conversational capability</a:t>
            </a:r>
            <a:endParaRPr lang="en-US" sz="1250" dirty="0"/>
          </a:p>
        </p:txBody>
      </p:sp>
      <p:sp>
        <p:nvSpPr>
          <p:cNvPr id="29" name="Text 27"/>
          <p:cNvSpPr/>
          <p:nvPr/>
        </p:nvSpPr>
        <p:spPr>
          <a:xfrm>
            <a:off x="3566160" y="40233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One conversational capability</a:t>
            </a:r>
            <a:endParaRPr lang="en-US" sz="1250" dirty="0"/>
          </a:p>
        </p:txBody>
      </p:sp>
      <p:sp>
        <p:nvSpPr>
          <p:cNvPr id="30" name="Text 28"/>
          <p:cNvSpPr/>
          <p:nvPr/>
        </p:nvSpPr>
        <p:spPr>
          <a:xfrm>
            <a:off x="7589520" y="40233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Loads 14 built-in skills plus your custom ones automatically</a:t>
            </a:r>
            <a:endParaRPr lang="en-US" sz="1250" dirty="0"/>
          </a:p>
        </p:txBody>
      </p:sp>
      <p:sp>
        <p:nvSpPr>
          <p:cNvPr id="31" name="Shape 29"/>
          <p:cNvSpPr/>
          <p:nvPr/>
        </p:nvSpPr>
        <p:spPr>
          <a:xfrm>
            <a:off x="640080" y="4480560"/>
            <a:ext cx="10908792" cy="457200"/>
          </a:xfrm>
          <a:prstGeom prst="rect">
            <a:avLst/>
          </a:prstGeom>
          <a:solidFill>
            <a:srgbClr val="FFFFFF"/>
          </a:solidFill>
          <a:ln/>
        </p:spPr>
      </p:sp>
      <p:sp>
        <p:nvSpPr>
          <p:cNvPr id="32" name="Text 30"/>
          <p:cNvSpPr/>
          <p:nvPr/>
        </p:nvSpPr>
        <p:spPr>
          <a:xfrm>
            <a:off x="822960" y="44805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Text in the chat window</a:t>
            </a:r>
            <a:endParaRPr lang="en-US" sz="1250" dirty="0"/>
          </a:p>
        </p:txBody>
      </p:sp>
      <p:sp>
        <p:nvSpPr>
          <p:cNvPr id="33" name="Text 31"/>
          <p:cNvSpPr/>
          <p:nvPr/>
        </p:nvSpPr>
        <p:spPr>
          <a:xfrm>
            <a:off x="3566160" y="44805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Text in the chat window</a:t>
            </a:r>
            <a:endParaRPr lang="en-US" sz="1250" dirty="0"/>
          </a:p>
        </p:txBody>
      </p:sp>
      <p:sp>
        <p:nvSpPr>
          <p:cNvPr id="34" name="Text 32"/>
          <p:cNvSpPr/>
          <p:nvPr/>
        </p:nvSpPr>
        <p:spPr>
          <a:xfrm>
            <a:off x="7589520" y="44805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Real documents, spreadsheets and decks in OneDrive</a:t>
            </a:r>
            <a:endParaRPr lang="en-US" sz="1250" dirty="0"/>
          </a:p>
        </p:txBody>
      </p:sp>
      <p:sp>
        <p:nvSpPr>
          <p:cNvPr id="35" name="Shape 33"/>
          <p:cNvSpPr/>
          <p:nvPr/>
        </p:nvSpPr>
        <p:spPr>
          <a:xfrm>
            <a:off x="640080" y="4937760"/>
            <a:ext cx="10908792" cy="457200"/>
          </a:xfrm>
          <a:prstGeom prst="rect">
            <a:avLst/>
          </a:prstGeom>
          <a:solidFill>
            <a:srgbClr val="F2F4FB"/>
          </a:solidFill>
          <a:ln/>
        </p:spPr>
      </p:sp>
      <p:sp>
        <p:nvSpPr>
          <p:cNvPr id="36" name="Text 34"/>
          <p:cNvSpPr/>
          <p:nvPr/>
        </p:nvSpPr>
        <p:spPr>
          <a:xfrm>
            <a:off x="822960" y="49377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You have to open it and prompt every time</a:t>
            </a:r>
            <a:endParaRPr lang="en-US" sz="1250" dirty="0"/>
          </a:p>
        </p:txBody>
      </p:sp>
      <p:sp>
        <p:nvSpPr>
          <p:cNvPr id="37" name="Text 35"/>
          <p:cNvSpPr/>
          <p:nvPr/>
        </p:nvSpPr>
        <p:spPr>
          <a:xfrm>
            <a:off x="3566160" y="49377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You have to open it and prompt every time</a:t>
            </a:r>
            <a:endParaRPr lang="en-US" sz="1250" dirty="0"/>
          </a:p>
        </p:txBody>
      </p:sp>
      <p:sp>
        <p:nvSpPr>
          <p:cNvPr id="38" name="Text 36"/>
          <p:cNvSpPr/>
          <p:nvPr/>
        </p:nvSpPr>
        <p:spPr>
          <a:xfrm>
            <a:off x="7589520" y="49377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Scheduled prompts / event-driven: runs on incoming mail or an @mention</a:t>
            </a:r>
            <a:endParaRPr lang="en-US" sz="1250" dirty="0"/>
          </a:p>
        </p:txBody>
      </p:sp>
      <p:sp>
        <p:nvSpPr>
          <p:cNvPr id="39" name="Shape 37"/>
          <p:cNvSpPr/>
          <p:nvPr/>
        </p:nvSpPr>
        <p:spPr>
          <a:xfrm>
            <a:off x="640080" y="5394960"/>
            <a:ext cx="10908792" cy="457200"/>
          </a:xfrm>
          <a:prstGeom prst="rect">
            <a:avLst/>
          </a:prstGeom>
          <a:solidFill>
            <a:srgbClr val="FFFFFF"/>
          </a:solidFill>
          <a:ln/>
        </p:spPr>
      </p:sp>
      <p:sp>
        <p:nvSpPr>
          <p:cNvPr id="40" name="Text 38"/>
          <p:cNvSpPr/>
          <p:nvPr/>
        </p:nvSpPr>
        <p:spPr>
          <a:xfrm>
            <a:off x="822960" y="53949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Grounded in M365 data</a:t>
            </a:r>
            <a:endParaRPr lang="en-US" sz="1250" dirty="0"/>
          </a:p>
        </p:txBody>
      </p:sp>
      <p:sp>
        <p:nvSpPr>
          <p:cNvPr id="41" name="Text 39"/>
          <p:cNvSpPr/>
          <p:nvPr/>
        </p:nvSpPr>
        <p:spPr>
          <a:xfrm>
            <a:off x="3566160" y="53949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Grounded in M365 data</a:t>
            </a:r>
            <a:endParaRPr lang="en-US" sz="1250" dirty="0"/>
          </a:p>
        </p:txBody>
      </p:sp>
      <p:sp>
        <p:nvSpPr>
          <p:cNvPr id="42" name="Text 40"/>
          <p:cNvSpPr/>
          <p:nvPr/>
        </p:nvSpPr>
        <p:spPr>
          <a:xfrm>
            <a:off x="7589520" y="53949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Connects to external systems via Plugins / MCP — the partner catalogue now lists 92 plugins (D365, SAP, Fabric and more)</a:t>
            </a:r>
            <a:endParaRPr lang="en-US" sz="1250" dirty="0"/>
          </a:p>
        </p:txBody>
      </p:sp>
      <p:sp>
        <p:nvSpPr>
          <p:cNvPr id="43" name="Shape 41"/>
          <p:cNvSpPr/>
          <p:nvPr/>
        </p:nvSpPr>
        <p:spPr>
          <a:xfrm>
            <a:off x="640080" y="5852160"/>
            <a:ext cx="10908792" cy="457200"/>
          </a:xfrm>
          <a:prstGeom prst="rect">
            <a:avLst/>
          </a:prstGeom>
          <a:solidFill>
            <a:srgbClr val="F2F4FB"/>
          </a:solidFill>
          <a:ln/>
        </p:spPr>
      </p:sp>
      <p:sp>
        <p:nvSpPr>
          <p:cNvPr id="44" name="Text 42"/>
          <p:cNvSpPr/>
          <p:nvPr/>
        </p:nvSpPr>
        <p:spPr>
          <a:xfrm>
            <a:off x="822960" y="5852160"/>
            <a:ext cx="2468880" cy="457200"/>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You judge for yourself</a:t>
            </a:r>
            <a:endParaRPr lang="en-US" sz="1250" dirty="0"/>
          </a:p>
        </p:txBody>
      </p:sp>
      <p:sp>
        <p:nvSpPr>
          <p:cNvPr id="45" name="Text 43"/>
          <p:cNvSpPr/>
          <p:nvPr/>
        </p:nvSpPr>
        <p:spPr>
          <a:xfrm>
            <a:off x="3566160" y="5852160"/>
            <a:ext cx="3657600" cy="457200"/>
          </a:xfrm>
          <a:prstGeom prst="rect">
            <a:avLst/>
          </a:prstGeom>
          <a:noFill/>
          <a:ln/>
        </p:spPr>
        <p:txBody>
          <a:bodyPr wrap="square" rtlCol="0" anchor="ctr"/>
          <a:lstStyle/>
          <a:p>
            <a:pPr indent="0" marL="0">
              <a:buNone/>
            </a:pPr>
            <a:r>
              <a:rPr lang="en-US" sz="1250" dirty="0">
                <a:solidFill>
                  <a:srgbClr val="5B6079"/>
                </a:solidFill>
                <a:latin typeface="Segoe UI" pitchFamily="34" charset="0"/>
                <a:ea typeface="Segoe UI" pitchFamily="34" charset="-122"/>
                <a:cs typeface="Segoe UI" pitchFamily="34" charset="-120"/>
              </a:rPr>
              <a:t>You judge for yourself</a:t>
            </a:r>
            <a:endParaRPr lang="en-US" sz="1250" dirty="0"/>
          </a:p>
        </p:txBody>
      </p:sp>
      <p:sp>
        <p:nvSpPr>
          <p:cNvPr id="46" name="Text 44"/>
          <p:cNvSpPr/>
          <p:nvPr/>
        </p:nvSpPr>
        <p:spPr>
          <a:xfrm>
            <a:off x="7589520" y="5852160"/>
            <a:ext cx="3776472" cy="457200"/>
          </a:xfrm>
          <a:prstGeom prst="rect">
            <a:avLst/>
          </a:prstGeom>
          <a:noFill/>
          <a:ln/>
        </p:spPr>
        <p:txBody>
          <a:bodyPr wrap="square" rtlCol="0" anchor="ctr"/>
          <a:lstStyle/>
          <a:p>
            <a:pPr indent="0" marL="0">
              <a:buNone/>
            </a:pPr>
            <a:r>
              <a:rPr lang="en-US" sz="1250" dirty="0">
                <a:solidFill>
                  <a:srgbClr val="1E2235"/>
                </a:solidFill>
                <a:latin typeface="Segoe UI" pitchFamily="34" charset="0"/>
                <a:ea typeface="Segoe UI" pitchFamily="34" charset="-122"/>
                <a:cs typeface="Segoe UI" pitchFamily="34" charset="-120"/>
              </a:rPr>
              <a:t>Medium/high-risk actions show a risk level and run only after approval</a:t>
            </a:r>
            <a:endParaRPr lang="en-US" sz="1250" dirty="0"/>
          </a:p>
        </p:txBody>
      </p:sp>
      <p:sp>
        <p:nvSpPr>
          <p:cNvPr id="47" name="Text 4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8" name="Text 4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CORE CAPABILITIES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Four things that set Cowork apart</a:t>
            </a:r>
            <a:endParaRPr lang="en-US" sz="3000" dirty="0"/>
          </a:p>
        </p:txBody>
      </p:sp>
      <p:sp>
        <p:nvSpPr>
          <p:cNvPr id="5" name="Shape 3"/>
          <p:cNvSpPr/>
          <p:nvPr/>
        </p:nvSpPr>
        <p:spPr>
          <a:xfrm>
            <a:off x="640080"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6" name="Shape 4"/>
          <p:cNvSpPr/>
          <p:nvPr/>
        </p:nvSpPr>
        <p:spPr>
          <a:xfrm>
            <a:off x="960120" y="2084832"/>
            <a:ext cx="868680" cy="868680"/>
          </a:xfrm>
          <a:prstGeom prst="roundRect">
            <a:avLst>
              <a:gd name="adj" fmla="val 16842"/>
            </a:avLst>
          </a:prstGeom>
          <a:solidFill>
            <a:srgbClr val="7A4DDB"/>
          </a:solidFill>
          <a:ln/>
        </p:spPr>
      </p:sp>
      <p:pic>
        <p:nvPicPr>
          <p:cNvPr id="7" name="Image 0" descr="preencoded.png">    </p:cNvPr>
          <p:cNvPicPr>
            <a:picLocks noChangeAspect="1"/>
          </p:cNvPicPr>
          <p:nvPr/>
        </p:nvPicPr>
        <p:blipFill>
          <a:blip r:embed="rId1"/>
          <a:stretch>
            <a:fillRect/>
          </a:stretch>
        </p:blipFill>
        <p:spPr>
          <a:xfrm>
            <a:off x="1170432" y="2295144"/>
            <a:ext cx="448056" cy="448056"/>
          </a:xfrm>
          <a:prstGeom prst="rect">
            <a:avLst/>
          </a:prstGeom>
        </p:spPr>
      </p:pic>
      <p:sp>
        <p:nvSpPr>
          <p:cNvPr id="8" name="Text 5"/>
          <p:cNvSpPr/>
          <p:nvPr/>
        </p:nvSpPr>
        <p:spPr>
          <a:xfrm>
            <a:off x="2011680" y="21214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14 built-in skills</a:t>
            </a:r>
            <a:endParaRPr lang="en-US" sz="1800" dirty="0"/>
          </a:p>
        </p:txBody>
      </p:sp>
      <p:sp>
        <p:nvSpPr>
          <p:cNvPr id="9" name="Text 6"/>
          <p:cNvSpPr/>
          <p:nvPr/>
        </p:nvSpPr>
        <p:spPr>
          <a:xfrm>
            <a:off x="2011680"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Word, Excel, PowerPoint, PDF, Email, Scheduling, Calendar Management, Meetings, Daily Briefing, Enterprise Search, Deep Research, Communications, Adaptive Cards, App (Frontier).</a:t>
            </a:r>
            <a:endParaRPr lang="en-US" sz="1300" dirty="0"/>
          </a:p>
        </p:txBody>
      </p:sp>
      <p:sp>
        <p:nvSpPr>
          <p:cNvPr id="10" name="Shape 7"/>
          <p:cNvSpPr/>
          <p:nvPr/>
        </p:nvSpPr>
        <p:spPr>
          <a:xfrm>
            <a:off x="6324448" y="17373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1" name="Shape 8"/>
          <p:cNvSpPr/>
          <p:nvPr/>
        </p:nvSpPr>
        <p:spPr>
          <a:xfrm>
            <a:off x="6644488" y="2084832"/>
            <a:ext cx="868680" cy="868680"/>
          </a:xfrm>
          <a:prstGeom prst="roundRect">
            <a:avLst>
              <a:gd name="adj" fmla="val 16842"/>
            </a:avLst>
          </a:prstGeom>
          <a:solidFill>
            <a:srgbClr val="0F6CBD"/>
          </a:solidFill>
          <a:ln/>
        </p:spPr>
      </p:sp>
      <p:pic>
        <p:nvPicPr>
          <p:cNvPr id="12" name="Image 1" descr="preencoded.png">    </p:cNvPr>
          <p:cNvPicPr>
            <a:picLocks noChangeAspect="1"/>
          </p:cNvPicPr>
          <p:nvPr/>
        </p:nvPicPr>
        <p:blipFill>
          <a:blip r:embed="rId2"/>
          <a:stretch>
            <a:fillRect/>
          </a:stretch>
        </p:blipFill>
        <p:spPr>
          <a:xfrm>
            <a:off x="6854800" y="2295144"/>
            <a:ext cx="448056" cy="448056"/>
          </a:xfrm>
          <a:prstGeom prst="rect">
            <a:avLst/>
          </a:prstGeom>
        </p:spPr>
      </p:pic>
      <p:sp>
        <p:nvSpPr>
          <p:cNvPr id="13" name="Text 9"/>
          <p:cNvSpPr/>
          <p:nvPr/>
        </p:nvSpPr>
        <p:spPr>
          <a:xfrm>
            <a:off x="7696048" y="21214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Workspace</a:t>
            </a:r>
            <a:endParaRPr lang="en-US" sz="1800" dirty="0"/>
          </a:p>
        </p:txBody>
      </p:sp>
      <p:sp>
        <p:nvSpPr>
          <p:cNvPr id="14" name="Text 10"/>
          <p:cNvSpPr/>
          <p:nvPr/>
        </p:nvSpPr>
        <p:spPr>
          <a:xfrm>
            <a:off x="7696048" y="26060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The side panel shows progress, input files, output files, loaded skills, schedules and granted permissions all at once — the process stays traceable.</a:t>
            </a:r>
            <a:endParaRPr lang="en-US" sz="1300" dirty="0"/>
          </a:p>
        </p:txBody>
      </p:sp>
      <p:sp>
        <p:nvSpPr>
          <p:cNvPr id="15" name="Shape 11"/>
          <p:cNvSpPr/>
          <p:nvPr/>
        </p:nvSpPr>
        <p:spPr>
          <a:xfrm>
            <a:off x="640080"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16" name="Shape 12"/>
          <p:cNvSpPr/>
          <p:nvPr/>
        </p:nvSpPr>
        <p:spPr>
          <a:xfrm>
            <a:off x="960120" y="4599432"/>
            <a:ext cx="868680" cy="868680"/>
          </a:xfrm>
          <a:prstGeom prst="roundRect">
            <a:avLst>
              <a:gd name="adj" fmla="val 16842"/>
            </a:avLst>
          </a:prstGeom>
          <a:solidFill>
            <a:srgbClr val="0A8F5B"/>
          </a:solidFill>
          <a:ln/>
        </p:spPr>
      </p:sp>
      <p:pic>
        <p:nvPicPr>
          <p:cNvPr id="17" name="Image 2" descr="preencoded.png">    </p:cNvPr>
          <p:cNvPicPr>
            <a:picLocks noChangeAspect="1"/>
          </p:cNvPicPr>
          <p:nvPr/>
        </p:nvPicPr>
        <p:blipFill>
          <a:blip r:embed="rId3"/>
          <a:stretch>
            <a:fillRect/>
          </a:stretch>
        </p:blipFill>
        <p:spPr>
          <a:xfrm>
            <a:off x="1170432" y="4809744"/>
            <a:ext cx="448056" cy="448056"/>
          </a:xfrm>
          <a:prstGeom prst="rect">
            <a:avLst/>
          </a:prstGeom>
        </p:spPr>
      </p:pic>
      <p:sp>
        <p:nvSpPr>
          <p:cNvPr id="18" name="Text 13"/>
          <p:cNvSpPr/>
          <p:nvPr/>
        </p:nvSpPr>
        <p:spPr>
          <a:xfrm>
            <a:off x="2011680" y="46360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Approval before action</a:t>
            </a:r>
            <a:endParaRPr lang="en-US" sz="1800" dirty="0"/>
          </a:p>
        </p:txBody>
      </p:sp>
      <p:sp>
        <p:nvSpPr>
          <p:cNvPr id="19" name="Text 14"/>
          <p:cNvSpPr/>
          <p:nvPr/>
        </p:nvSpPr>
        <p:spPr>
          <a:xfrm>
            <a:off x="2011680" y="5120640"/>
            <a:ext cx="3626968" cy="1325880"/>
          </a:xfrm>
          <a:prstGeom prst="rect">
            <a:avLst/>
          </a:prstGeom>
          <a:noFill/>
          <a:ln/>
        </p:spPr>
        <p:txBody>
          <a:bodyPr wrap="square" rtlCol="0" anchor="t"/>
          <a:lstStyle/>
          <a:p>
            <a:pPr indent="0" marL="0">
              <a:lnSpc>
                <a:spcPct val="118000"/>
              </a:lnSpc>
              <a:buNone/>
            </a:pPr>
            <a:r>
              <a:rPr lang="en-US" sz="1300" dirty="0">
                <a:solidFill>
                  <a:srgbClr val="5B6079"/>
                </a:solidFill>
                <a:latin typeface="Segoe UI" pitchFamily="34" charset="0"/>
                <a:ea typeface="Segoe UI" pitchFamily="34" charset="-122"/>
                <a:cs typeface="Segoe UI" pitchFamily="34" charset="-120"/>
              </a:rPr>
              <a:t>Medium/high-risk actions show a RISK-LEVEL; approve, cancel, or set don't-ask-again per recipient, per domain or always; multiple pending actions can be approved together.</a:t>
            </a:r>
            <a:endParaRPr lang="en-US" sz="1300" dirty="0"/>
          </a:p>
        </p:txBody>
      </p:sp>
      <p:sp>
        <p:nvSpPr>
          <p:cNvPr id="20" name="Shape 15"/>
          <p:cNvSpPr/>
          <p:nvPr/>
        </p:nvSpPr>
        <p:spPr>
          <a:xfrm>
            <a:off x="6324448" y="4251960"/>
            <a:ext cx="5227168" cy="2331720"/>
          </a:xfrm>
          <a:prstGeom prst="rect">
            <a:avLst/>
          </a:prstGeom>
          <a:solidFill>
            <a:srgbClr val="FFFFFF"/>
          </a:solidFill>
          <a:ln w="12700">
            <a:solidFill>
              <a:srgbClr val="E4E7F2"/>
            </a:solidFill>
            <a:prstDash val="solid"/>
          </a:ln>
          <a:effectLst>
            <a:outerShdw sx="100000" sy="100000" kx="0" ky="0" algn="bl" rotWithShape="0" blurRad="101600" dist="25400" dir="5400000">
              <a:srgbClr val="9AA0C0">
                <a:alpha val="16000"/>
              </a:srgbClr>
            </a:outerShdw>
          </a:effectLst>
        </p:spPr>
      </p:sp>
      <p:sp>
        <p:nvSpPr>
          <p:cNvPr id="21" name="Shape 16"/>
          <p:cNvSpPr/>
          <p:nvPr/>
        </p:nvSpPr>
        <p:spPr>
          <a:xfrm>
            <a:off x="6644488" y="4599432"/>
            <a:ext cx="868680" cy="868680"/>
          </a:xfrm>
          <a:prstGeom prst="roundRect">
            <a:avLst>
              <a:gd name="adj" fmla="val 16842"/>
            </a:avLst>
          </a:prstGeom>
          <a:solidFill>
            <a:srgbClr val="CA5010"/>
          </a:solidFill>
          <a:ln/>
        </p:spPr>
      </p:sp>
      <p:pic>
        <p:nvPicPr>
          <p:cNvPr id="22" name="Image 3" descr="preencoded.png">    </p:cNvPr>
          <p:cNvPicPr>
            <a:picLocks noChangeAspect="1"/>
          </p:cNvPicPr>
          <p:nvPr/>
        </p:nvPicPr>
        <p:blipFill>
          <a:blip r:embed="rId4"/>
          <a:stretch>
            <a:fillRect/>
          </a:stretch>
        </p:blipFill>
        <p:spPr>
          <a:xfrm>
            <a:off x="6854800" y="4809744"/>
            <a:ext cx="448056" cy="448056"/>
          </a:xfrm>
          <a:prstGeom prst="rect">
            <a:avLst/>
          </a:prstGeom>
        </p:spPr>
      </p:pic>
      <p:sp>
        <p:nvSpPr>
          <p:cNvPr id="23" name="Text 17"/>
          <p:cNvSpPr/>
          <p:nvPr/>
        </p:nvSpPr>
        <p:spPr>
          <a:xfrm>
            <a:off x="7696048" y="4636008"/>
            <a:ext cx="3672688" cy="457200"/>
          </a:xfrm>
          <a:prstGeom prst="rect">
            <a:avLst/>
          </a:prstGeom>
          <a:noFill/>
          <a:ln/>
        </p:spPr>
        <p:txBody>
          <a:bodyPr wrap="square" rtlCol="0" anchor="ctr"/>
          <a:lstStyle/>
          <a:p>
            <a:pPr indent="0" marL="0">
              <a:buNone/>
            </a:pPr>
            <a:r>
              <a:rPr lang="en-US" sz="1800" b="1" dirty="0">
                <a:solidFill>
                  <a:srgbClr val="1E2235"/>
                </a:solidFill>
                <a:latin typeface="Segoe UI" pitchFamily="34" charset="0"/>
                <a:ea typeface="Segoe UI" pitchFamily="34" charset="-122"/>
                <a:cs typeface="Segoe UI" pitchFamily="34" charset="-120"/>
              </a:rPr>
              <a:t>What's new</a:t>
            </a:r>
            <a:endParaRPr lang="en-US" sz="1800" dirty="0"/>
          </a:p>
        </p:txBody>
      </p:sp>
      <p:sp>
        <p:nvSpPr>
          <p:cNvPr id="24" name="Text 18"/>
          <p:cNvSpPr/>
          <p:nvPr/>
        </p:nvSpPr>
        <p:spPr>
          <a:xfrm>
            <a:off x="7696048" y="5120640"/>
            <a:ext cx="3626968" cy="1325880"/>
          </a:xfrm>
          <a:prstGeom prst="rect">
            <a:avLst/>
          </a:prstGeom>
          <a:noFill/>
          <a:ln/>
        </p:spPr>
        <p:txBody>
          <a:bodyPr wrap="square" rtlCol="0" anchor="t"/>
          <a:lstStyle/>
          <a:p>
            <a:pPr indent="0" marL="0">
              <a:lnSpc>
                <a:spcPct val="118000"/>
              </a:lnSpc>
              <a:buNone/>
            </a:pPr>
            <a:r>
              <a:rPr lang="en-US" sz="1050" dirty="0">
                <a:solidFill>
                  <a:srgbClr val="5B6079"/>
                </a:solidFill>
                <a:latin typeface="Segoe UI" pitchFamily="34" charset="0"/>
                <a:ea typeface="Segoe UI" pitchFamily="34" charset="-122"/>
                <a:cs typeface="Segoe UI" pitchFamily="34" charset="-120"/>
              </a:rPr>
              <a:t>Scheduled prompts (up to 25) and event-driven tasks; five Effort levels to balance quality against cost; every custom skill gets an automatic Skill Report (0–100 across four dimensions, plus five separate gates including a Safety and RAI scan); local Edge browser (GA since Aug 2026); image generation; Plugins / MCP for external systems.</a:t>
            </a:r>
            <a:endParaRPr lang="en-US" sz="1050" dirty="0"/>
          </a:p>
        </p:txBody>
      </p:sp>
      <p:sp>
        <p:nvSpPr>
          <p:cNvPr id="25" name="Text 1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6" name="Text 2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HOW IT WORKS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happens inside one agentic workflow</a:t>
            </a:r>
            <a:endParaRPr lang="en-US" sz="3000" dirty="0"/>
          </a:p>
        </p:txBody>
      </p:sp>
      <p:sp>
        <p:nvSpPr>
          <p:cNvPr id="5" name="Shape 3"/>
          <p:cNvSpPr/>
          <p:nvPr/>
        </p:nvSpPr>
        <p:spPr>
          <a:xfrm>
            <a:off x="64008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6" name="Shape 4"/>
          <p:cNvSpPr/>
          <p:nvPr/>
        </p:nvSpPr>
        <p:spPr>
          <a:xfrm>
            <a:off x="1042416" y="2697480"/>
            <a:ext cx="768096" cy="768096"/>
          </a:xfrm>
          <a:prstGeom prst="ellipse">
            <a:avLst/>
          </a:prstGeom>
          <a:solidFill>
            <a:srgbClr val="6366F1"/>
          </a:solidFill>
          <a:ln/>
        </p:spPr>
      </p:sp>
      <p:pic>
        <p:nvPicPr>
          <p:cNvPr id="7" name="Image 0" descr="preencoded.png">    </p:cNvPr>
          <p:cNvPicPr>
            <a:picLocks noChangeAspect="1"/>
          </p:cNvPicPr>
          <p:nvPr/>
        </p:nvPicPr>
        <p:blipFill>
          <a:blip r:embed="rId1"/>
          <a:stretch>
            <a:fillRect/>
          </a:stretch>
        </p:blipFill>
        <p:spPr>
          <a:xfrm>
            <a:off x="1207008" y="2862072"/>
            <a:ext cx="438912" cy="438912"/>
          </a:xfrm>
          <a:prstGeom prst="rect">
            <a:avLst/>
          </a:prstGeom>
        </p:spPr>
      </p:pic>
      <p:sp>
        <p:nvSpPr>
          <p:cNvPr id="8" name="Text 5"/>
          <p:cNvSpPr/>
          <p:nvPr/>
        </p:nvSpPr>
        <p:spPr>
          <a:xfrm>
            <a:off x="64008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Take the goal</a:t>
            </a:r>
            <a:endParaRPr lang="en-US" sz="1400" dirty="0"/>
          </a:p>
        </p:txBody>
      </p:sp>
      <p:sp>
        <p:nvSpPr>
          <p:cNvPr id="9" name="Text 6"/>
          <p:cNvSpPr/>
          <p:nvPr/>
        </p:nvSpPr>
        <p:spPr>
          <a:xfrm>
            <a:off x="64008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Upload files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Give the instruction</a:t>
            </a:r>
            <a:endParaRPr lang="en-US" sz="1200" dirty="0"/>
          </a:p>
        </p:txBody>
      </p:sp>
      <p:pic>
        <p:nvPicPr>
          <p:cNvPr id="10" name="Image 1" descr="preencoded.png">    </p:cNvPr>
          <p:cNvPicPr>
            <a:picLocks noChangeAspect="1"/>
          </p:cNvPicPr>
          <p:nvPr/>
        </p:nvPicPr>
        <p:blipFill>
          <a:blip r:embed="rId2"/>
          <a:stretch>
            <a:fillRect/>
          </a:stretch>
        </p:blipFill>
        <p:spPr>
          <a:xfrm>
            <a:off x="2259757" y="2971800"/>
            <a:ext cx="201168" cy="201168"/>
          </a:xfrm>
          <a:prstGeom prst="rect">
            <a:avLst/>
          </a:prstGeom>
        </p:spPr>
      </p:pic>
      <p:sp>
        <p:nvSpPr>
          <p:cNvPr id="11" name="Shape 7"/>
          <p:cNvSpPr/>
          <p:nvPr/>
        </p:nvSpPr>
        <p:spPr>
          <a:xfrm>
            <a:off x="2507833"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2" name="Shape 8"/>
          <p:cNvSpPr/>
          <p:nvPr/>
        </p:nvSpPr>
        <p:spPr>
          <a:xfrm>
            <a:off x="2910169" y="2697480"/>
            <a:ext cx="768096" cy="768096"/>
          </a:xfrm>
          <a:prstGeom prst="ellipse">
            <a:avLst/>
          </a:prstGeom>
          <a:solidFill>
            <a:srgbClr val="6366F1"/>
          </a:solidFill>
          <a:ln/>
        </p:spPr>
      </p:sp>
      <p:pic>
        <p:nvPicPr>
          <p:cNvPr id="13" name="Image 2" descr="preencoded.png">    </p:cNvPr>
          <p:cNvPicPr>
            <a:picLocks noChangeAspect="1"/>
          </p:cNvPicPr>
          <p:nvPr/>
        </p:nvPicPr>
        <p:blipFill>
          <a:blip r:embed="rId3"/>
          <a:stretch>
            <a:fillRect/>
          </a:stretch>
        </p:blipFill>
        <p:spPr>
          <a:xfrm>
            <a:off x="3074761" y="2862072"/>
            <a:ext cx="438912" cy="438912"/>
          </a:xfrm>
          <a:prstGeom prst="rect">
            <a:avLst/>
          </a:prstGeom>
        </p:spPr>
      </p:pic>
      <p:sp>
        <p:nvSpPr>
          <p:cNvPr id="14" name="Text 9"/>
          <p:cNvSpPr/>
          <p:nvPr/>
        </p:nvSpPr>
        <p:spPr>
          <a:xfrm>
            <a:off x="2507833"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Plan</a:t>
            </a:r>
            <a:endParaRPr lang="en-US" sz="1400" dirty="0"/>
          </a:p>
        </p:txBody>
      </p:sp>
      <p:sp>
        <p:nvSpPr>
          <p:cNvPr id="15" name="Text 10"/>
          <p:cNvSpPr/>
          <p:nvPr/>
        </p:nvSpPr>
        <p:spPr>
          <a:xfrm>
            <a:off x="2507833"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Understand the task</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Break it into steps</a:t>
            </a:r>
            <a:endParaRPr lang="en-US" sz="1200" dirty="0"/>
          </a:p>
        </p:txBody>
      </p:sp>
      <p:pic>
        <p:nvPicPr>
          <p:cNvPr id="16" name="Image 3" descr="preencoded.png">    </p:cNvPr>
          <p:cNvPicPr>
            <a:picLocks noChangeAspect="1"/>
          </p:cNvPicPr>
          <p:nvPr/>
        </p:nvPicPr>
        <p:blipFill>
          <a:blip r:embed="rId4"/>
          <a:stretch>
            <a:fillRect/>
          </a:stretch>
        </p:blipFill>
        <p:spPr>
          <a:xfrm>
            <a:off x="4127510" y="2971800"/>
            <a:ext cx="201168" cy="201168"/>
          </a:xfrm>
          <a:prstGeom prst="rect">
            <a:avLst/>
          </a:prstGeom>
        </p:spPr>
      </p:pic>
      <p:sp>
        <p:nvSpPr>
          <p:cNvPr id="17" name="Shape 11"/>
          <p:cNvSpPr/>
          <p:nvPr/>
        </p:nvSpPr>
        <p:spPr>
          <a:xfrm>
            <a:off x="437558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18" name="Shape 12"/>
          <p:cNvSpPr/>
          <p:nvPr/>
        </p:nvSpPr>
        <p:spPr>
          <a:xfrm>
            <a:off x="4777923" y="2697480"/>
            <a:ext cx="768096" cy="768096"/>
          </a:xfrm>
          <a:prstGeom prst="ellipse">
            <a:avLst/>
          </a:prstGeom>
          <a:solidFill>
            <a:srgbClr val="6366F1"/>
          </a:solidFill>
          <a:ln/>
        </p:spPr>
      </p:sp>
      <p:pic>
        <p:nvPicPr>
          <p:cNvPr id="19" name="Image 4" descr="preencoded.png">    </p:cNvPr>
          <p:cNvPicPr>
            <a:picLocks noChangeAspect="1"/>
          </p:cNvPicPr>
          <p:nvPr/>
        </p:nvPicPr>
        <p:blipFill>
          <a:blip r:embed="rId5"/>
          <a:stretch>
            <a:fillRect/>
          </a:stretch>
        </p:blipFill>
        <p:spPr>
          <a:xfrm>
            <a:off x="4942515" y="2862072"/>
            <a:ext cx="438912" cy="438912"/>
          </a:xfrm>
          <a:prstGeom prst="rect">
            <a:avLst/>
          </a:prstGeom>
        </p:spPr>
      </p:pic>
      <p:sp>
        <p:nvSpPr>
          <p:cNvPr id="20" name="Text 13"/>
          <p:cNvSpPr/>
          <p:nvPr/>
        </p:nvSpPr>
        <p:spPr>
          <a:xfrm>
            <a:off x="437558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Load skills</a:t>
            </a:r>
            <a:endParaRPr lang="en-US" sz="1400" dirty="0"/>
          </a:p>
        </p:txBody>
      </p:sp>
      <p:sp>
        <p:nvSpPr>
          <p:cNvPr id="21" name="Text 14"/>
          <p:cNvSpPr/>
          <p:nvPr/>
        </p:nvSpPr>
        <p:spPr>
          <a:xfrm>
            <a:off x="437558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14 built-in</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 custom</a:t>
            </a:r>
            <a:endParaRPr lang="en-US" sz="1200" dirty="0"/>
          </a:p>
        </p:txBody>
      </p:sp>
      <p:pic>
        <p:nvPicPr>
          <p:cNvPr id="22" name="Image 5" descr="preencoded.png">    </p:cNvPr>
          <p:cNvPicPr>
            <a:picLocks noChangeAspect="1"/>
          </p:cNvPicPr>
          <p:nvPr/>
        </p:nvPicPr>
        <p:blipFill>
          <a:blip r:embed="rId6"/>
          <a:stretch>
            <a:fillRect/>
          </a:stretch>
        </p:blipFill>
        <p:spPr>
          <a:xfrm>
            <a:off x="5995264" y="2971800"/>
            <a:ext cx="201168" cy="201168"/>
          </a:xfrm>
          <a:prstGeom prst="rect">
            <a:avLst/>
          </a:prstGeom>
        </p:spPr>
      </p:pic>
      <p:sp>
        <p:nvSpPr>
          <p:cNvPr id="23" name="Shape 15"/>
          <p:cNvSpPr/>
          <p:nvPr/>
        </p:nvSpPr>
        <p:spPr>
          <a:xfrm>
            <a:off x="6243340"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24" name="Shape 16"/>
          <p:cNvSpPr/>
          <p:nvPr/>
        </p:nvSpPr>
        <p:spPr>
          <a:xfrm>
            <a:off x="6645676" y="2697480"/>
            <a:ext cx="768096" cy="768096"/>
          </a:xfrm>
          <a:prstGeom prst="ellipse">
            <a:avLst/>
          </a:prstGeom>
          <a:solidFill>
            <a:srgbClr val="6366F1"/>
          </a:solidFill>
          <a:ln/>
        </p:spPr>
      </p:sp>
      <p:pic>
        <p:nvPicPr>
          <p:cNvPr id="25" name="Image 6" descr="preencoded.png">    </p:cNvPr>
          <p:cNvPicPr>
            <a:picLocks noChangeAspect="1"/>
          </p:cNvPicPr>
          <p:nvPr/>
        </p:nvPicPr>
        <p:blipFill>
          <a:blip r:embed="rId7"/>
          <a:stretch>
            <a:fillRect/>
          </a:stretch>
        </p:blipFill>
        <p:spPr>
          <a:xfrm>
            <a:off x="6810268" y="2862072"/>
            <a:ext cx="438912" cy="438912"/>
          </a:xfrm>
          <a:prstGeom prst="rect">
            <a:avLst/>
          </a:prstGeom>
        </p:spPr>
      </p:pic>
      <p:sp>
        <p:nvSpPr>
          <p:cNvPr id="26" name="Text 17"/>
          <p:cNvSpPr/>
          <p:nvPr/>
        </p:nvSpPr>
        <p:spPr>
          <a:xfrm>
            <a:off x="6243340"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Execute</a:t>
            </a:r>
            <a:endParaRPr lang="en-US" sz="1400" dirty="0"/>
          </a:p>
        </p:txBody>
      </p:sp>
      <p:sp>
        <p:nvSpPr>
          <p:cNvPr id="27" name="Text 18"/>
          <p:cNvSpPr/>
          <p:nvPr/>
        </p:nvSpPr>
        <p:spPr>
          <a:xfrm>
            <a:off x="6243340"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Create documents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spreadsheets / mail</a:t>
            </a:r>
            <a:endParaRPr lang="en-US" sz="1200" dirty="0"/>
          </a:p>
        </p:txBody>
      </p:sp>
      <p:pic>
        <p:nvPicPr>
          <p:cNvPr id="28" name="Image 7" descr="preencoded.png">    </p:cNvPr>
          <p:cNvPicPr>
            <a:picLocks noChangeAspect="1"/>
          </p:cNvPicPr>
          <p:nvPr/>
        </p:nvPicPr>
        <p:blipFill>
          <a:blip r:embed="rId8"/>
          <a:stretch>
            <a:fillRect/>
          </a:stretch>
        </p:blipFill>
        <p:spPr>
          <a:xfrm>
            <a:off x="7863017" y="2971800"/>
            <a:ext cx="201168" cy="201168"/>
          </a:xfrm>
          <a:prstGeom prst="rect">
            <a:avLst/>
          </a:prstGeom>
        </p:spPr>
      </p:pic>
      <p:sp>
        <p:nvSpPr>
          <p:cNvPr id="29" name="Shape 19"/>
          <p:cNvSpPr/>
          <p:nvPr/>
        </p:nvSpPr>
        <p:spPr>
          <a:xfrm>
            <a:off x="8111094"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0" name="Shape 20"/>
          <p:cNvSpPr/>
          <p:nvPr/>
        </p:nvSpPr>
        <p:spPr>
          <a:xfrm>
            <a:off x="8513430" y="2697480"/>
            <a:ext cx="768096" cy="768096"/>
          </a:xfrm>
          <a:prstGeom prst="ellipse">
            <a:avLst/>
          </a:prstGeom>
          <a:solidFill>
            <a:srgbClr val="6366F1"/>
          </a:solidFill>
          <a:ln/>
        </p:spPr>
      </p:sp>
      <p:pic>
        <p:nvPicPr>
          <p:cNvPr id="31" name="Image 8" descr="preencoded.png">    </p:cNvPr>
          <p:cNvPicPr>
            <a:picLocks noChangeAspect="1"/>
          </p:cNvPicPr>
          <p:nvPr/>
        </p:nvPicPr>
        <p:blipFill>
          <a:blip r:embed="rId9"/>
          <a:stretch>
            <a:fillRect/>
          </a:stretch>
        </p:blipFill>
        <p:spPr>
          <a:xfrm>
            <a:off x="8678022" y="2862072"/>
            <a:ext cx="438912" cy="438912"/>
          </a:xfrm>
          <a:prstGeom prst="rect">
            <a:avLst/>
          </a:prstGeom>
        </p:spPr>
      </p:pic>
      <p:sp>
        <p:nvSpPr>
          <p:cNvPr id="32" name="Text 21"/>
          <p:cNvSpPr/>
          <p:nvPr/>
        </p:nvSpPr>
        <p:spPr>
          <a:xfrm>
            <a:off x="8111094"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Self-verify</a:t>
            </a:r>
            <a:endParaRPr lang="en-US" sz="1400" dirty="0"/>
          </a:p>
        </p:txBody>
      </p:sp>
      <p:sp>
        <p:nvSpPr>
          <p:cNvPr id="33" name="Text 22"/>
          <p:cNvSpPr/>
          <p:nvPr/>
        </p:nvSpPr>
        <p:spPr>
          <a:xfrm>
            <a:off x="8111094"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Check the numbers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and consistency</a:t>
            </a:r>
            <a:endParaRPr lang="en-US" sz="1200" dirty="0"/>
          </a:p>
        </p:txBody>
      </p:sp>
      <p:pic>
        <p:nvPicPr>
          <p:cNvPr id="34" name="Image 9" descr="preencoded.png">    </p:cNvPr>
          <p:cNvPicPr>
            <a:picLocks noChangeAspect="1"/>
          </p:cNvPicPr>
          <p:nvPr/>
        </p:nvPicPr>
        <p:blipFill>
          <a:blip r:embed="rId10"/>
          <a:stretch>
            <a:fillRect/>
          </a:stretch>
        </p:blipFill>
        <p:spPr>
          <a:xfrm>
            <a:off x="9730770" y="2971800"/>
            <a:ext cx="201168" cy="201168"/>
          </a:xfrm>
          <a:prstGeom prst="rect">
            <a:avLst/>
          </a:prstGeom>
        </p:spPr>
      </p:pic>
      <p:sp>
        <p:nvSpPr>
          <p:cNvPr id="35" name="Shape 23"/>
          <p:cNvSpPr/>
          <p:nvPr/>
        </p:nvSpPr>
        <p:spPr>
          <a:xfrm>
            <a:off x="9978847" y="2468880"/>
            <a:ext cx="1572768" cy="1920240"/>
          </a:xfrm>
          <a:prstGeom prst="rect">
            <a:avLst/>
          </a:prstGeom>
          <a:solidFill>
            <a:srgbClr val="FFFFFF"/>
          </a:solidFill>
          <a:ln w="12700">
            <a:solidFill>
              <a:srgbClr val="E4E7F2"/>
            </a:solidFill>
            <a:prstDash val="solid"/>
          </a:ln>
          <a:effectLst>
            <a:outerShdw sx="100000" sy="100000" kx="0" ky="0" algn="bl" rotWithShape="0" blurRad="76200" dist="25400" dir="5400000">
              <a:srgbClr val="9AA0C0">
                <a:alpha val="15000"/>
              </a:srgbClr>
            </a:outerShdw>
          </a:effectLst>
        </p:spPr>
      </p:sp>
      <p:sp>
        <p:nvSpPr>
          <p:cNvPr id="36" name="Shape 24"/>
          <p:cNvSpPr/>
          <p:nvPr/>
        </p:nvSpPr>
        <p:spPr>
          <a:xfrm>
            <a:off x="10381183" y="2697480"/>
            <a:ext cx="768096" cy="768096"/>
          </a:xfrm>
          <a:prstGeom prst="ellipse">
            <a:avLst/>
          </a:prstGeom>
          <a:solidFill>
            <a:srgbClr val="8B5CF6"/>
          </a:solidFill>
          <a:ln/>
        </p:spPr>
      </p:sp>
      <p:pic>
        <p:nvPicPr>
          <p:cNvPr id="37" name="Image 10" descr="preencoded.png">    </p:cNvPr>
          <p:cNvPicPr>
            <a:picLocks noChangeAspect="1"/>
          </p:cNvPicPr>
          <p:nvPr/>
        </p:nvPicPr>
        <p:blipFill>
          <a:blip r:embed="rId11"/>
          <a:stretch>
            <a:fillRect/>
          </a:stretch>
        </p:blipFill>
        <p:spPr>
          <a:xfrm>
            <a:off x="10545775" y="2862072"/>
            <a:ext cx="438912" cy="438912"/>
          </a:xfrm>
          <a:prstGeom prst="rect">
            <a:avLst/>
          </a:prstGeom>
        </p:spPr>
      </p:pic>
      <p:sp>
        <p:nvSpPr>
          <p:cNvPr id="38" name="Text 25"/>
          <p:cNvSpPr/>
          <p:nvPr/>
        </p:nvSpPr>
        <p:spPr>
          <a:xfrm>
            <a:off x="9978847" y="3547872"/>
            <a:ext cx="1572768" cy="329184"/>
          </a:xfrm>
          <a:prstGeom prst="rect">
            <a:avLst/>
          </a:prstGeom>
          <a:noFill/>
          <a:ln/>
        </p:spPr>
        <p:txBody>
          <a:bodyPr wrap="square" rtlCol="0" anchor="ctr"/>
          <a:lstStyle/>
          <a:p>
            <a:pPr algn="ctr" indent="0" marL="0">
              <a:buNone/>
            </a:pPr>
            <a:r>
              <a:rPr lang="en-US" sz="1400" b="1" dirty="0">
                <a:solidFill>
                  <a:srgbClr val="1E2235"/>
                </a:solidFill>
                <a:latin typeface="Segoe UI" pitchFamily="34" charset="0"/>
                <a:ea typeface="Segoe UI" pitchFamily="34" charset="-122"/>
                <a:cs typeface="Segoe UI" pitchFamily="34" charset="-120"/>
              </a:rPr>
              <a:t>Approval before action</a:t>
            </a:r>
            <a:endParaRPr lang="en-US" sz="1400" dirty="0"/>
          </a:p>
        </p:txBody>
      </p:sp>
      <p:sp>
        <p:nvSpPr>
          <p:cNvPr id="39" name="Text 26"/>
          <p:cNvSpPr/>
          <p:nvPr/>
        </p:nvSpPr>
        <p:spPr>
          <a:xfrm>
            <a:off x="9978847" y="3840480"/>
            <a:ext cx="1572768" cy="502920"/>
          </a:xfrm>
          <a:prstGeom prst="rect">
            <a:avLst/>
          </a:prstGeom>
          <a:noFill/>
          <a:ln/>
        </p:spPr>
        <p:txBody>
          <a:bodyPr wrap="square" rtlCol="0" anchor="ctr"/>
          <a:lstStyle/>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Outbound actions</a:t>
            </a:r>
            <a:endParaRPr lang="en-US" sz="1200" dirty="0"/>
          </a:p>
          <a:p>
            <a:pPr algn="ctr" indent="0" marL="0">
              <a:lnSpc>
                <a:spcPct val="110000"/>
              </a:lnSpc>
              <a:buNone/>
            </a:pPr>
            <a:r>
              <a:rPr lang="en-US" sz="1200" dirty="0">
                <a:solidFill>
                  <a:srgbClr val="5B6079"/>
                </a:solidFill>
                <a:latin typeface="Segoe UI" pitchFamily="34" charset="0"/>
                <a:ea typeface="Segoe UI" pitchFamily="34" charset="-122"/>
                <a:cs typeface="Segoe UI" pitchFamily="34" charset="-120"/>
              </a:rPr>
              <a:t>wait for you</a:t>
            </a:r>
            <a:endParaRPr lang="en-US" sz="1200" dirty="0"/>
          </a:p>
        </p:txBody>
      </p:sp>
      <p:sp>
        <p:nvSpPr>
          <p:cNvPr id="40" name="Text 27"/>
          <p:cNvSpPr/>
          <p:nvPr/>
        </p:nvSpPr>
        <p:spPr>
          <a:xfrm>
            <a:off x="640080" y="4937760"/>
            <a:ext cx="10972800" cy="320040"/>
          </a:xfrm>
          <a:prstGeom prst="rect">
            <a:avLst/>
          </a:prstGeom>
          <a:noFill/>
          <a:ln/>
        </p:spPr>
        <p:txBody>
          <a:bodyPr wrap="square" rtlCol="0" anchor="ctr"/>
          <a:lstStyle/>
          <a:p>
            <a:pPr algn="ctr" indent="0" marL="0">
              <a:buNone/>
            </a:pPr>
            <a:r>
              <a:rPr lang="en-US" sz="1400" i="1" dirty="0">
                <a:solidFill>
                  <a:srgbClr val="5B6079"/>
                </a:solidFill>
                <a:latin typeface="Segoe UI" pitchFamily="34" charset="0"/>
                <a:ea typeface="Segoe UI" pitchFamily="34" charset="-122"/>
                <a:cs typeface="Segoe UI" pitchFamily="34" charset="-120"/>
              </a:rPr>
              <a:t>The whole process is visible in the "Workspace" panel; you can soft/hard pause, resume or cancel a task.</a:t>
            </a:r>
            <a:endParaRPr lang="en-US" sz="1400" dirty="0"/>
          </a:p>
        </p:txBody>
      </p:sp>
      <p:sp>
        <p:nvSpPr>
          <p:cNvPr id="41" name="Text 28"/>
          <p:cNvSpPr/>
          <p:nvPr/>
        </p:nvSpPr>
        <p:spPr>
          <a:xfrm>
            <a:off x="640080" y="5285232"/>
            <a:ext cx="10972800" cy="457200"/>
          </a:xfrm>
          <a:prstGeom prst="rect">
            <a:avLst/>
          </a:prstGeom>
          <a:noFill/>
          <a:ln/>
        </p:spPr>
        <p:txBody>
          <a:bodyPr wrap="square" rtlCol="0" anchor="ctr"/>
          <a:lstStyle/>
          <a:p>
            <a:pPr algn="ctr" indent="0" marL="0">
              <a:buNone/>
            </a:pPr>
            <a:r>
              <a:rPr lang="en-US" sz="1300" i="1" dirty="0">
                <a:solidFill>
                  <a:srgbClr val="5B6079"/>
                </a:solidFill>
                <a:latin typeface="Segoe UI" pitchFamily="34" charset="0"/>
                <a:ea typeface="Segoe UI" pitchFamily="34" charset="-122"/>
                <a:cs typeface="Segoe UI" pitchFamily="34" charset="-120"/>
              </a:rPr>
              <a:t>It doesn't only start from chat: you can also have it fire automatically when a matching email arrives or you're @mentioned (event-driven tasks) — with the same self-verification and approval flow.</a:t>
            </a:r>
            <a:endParaRPr lang="en-US" sz="1300" dirty="0"/>
          </a:p>
        </p:txBody>
      </p:sp>
      <p:sp>
        <p:nvSpPr>
          <p:cNvPr id="42" name="Text 2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3" name="Text 3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BEFORE YOU START</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Set up your practice environment</a:t>
            </a:r>
            <a:endParaRPr lang="en-US" sz="3000" dirty="0"/>
          </a:p>
        </p:txBody>
      </p:sp>
      <p:sp>
        <p:nvSpPr>
          <p:cNvPr id="5" name="Text 3"/>
          <p:cNvSpPr/>
          <p:nvPr/>
        </p:nvSpPr>
        <p:spPr>
          <a:xfrm>
            <a:off x="640080" y="1481328"/>
            <a:ext cx="10972800" cy="329184"/>
          </a:xfrm>
          <a:prstGeom prst="rect">
            <a:avLst/>
          </a:prstGeom>
          <a:noFill/>
          <a:ln/>
        </p:spPr>
        <p:txBody>
          <a:bodyPr wrap="square" rtlCol="0" anchor="ctr"/>
          <a:lstStyle/>
          <a:p>
            <a:pPr indent="0" marL="0">
              <a:buNone/>
            </a:pPr>
            <a:r>
              <a:rPr lang="en-US" sz="1300" dirty="0">
                <a:solidFill>
                  <a:srgbClr val="5B6079"/>
                </a:solidFill>
                <a:latin typeface="Segoe UI" pitchFamily="34" charset="0"/>
                <a:ea typeface="Segoe UI" pitchFamily="34" charset="-122"/>
                <a:cs typeface="Segoe UI" pitchFamily="34" charset="-120"/>
              </a:rPr>
              <a:t>Seed the material into OneDrive under Documents/Cowork_Lab/AdvancedPackaging/ before the session, and Cowork will find it itself · Setup time about 15 minutes</a:t>
            </a:r>
            <a:endParaRPr lang="en-US" sz="1300" dirty="0"/>
          </a:p>
        </p:txBody>
      </p:sp>
      <p:sp>
        <p:nvSpPr>
          <p:cNvPr id="6" name="Shape 4"/>
          <p:cNvSpPr/>
          <p:nvPr/>
        </p:nvSpPr>
        <p:spPr>
          <a:xfrm>
            <a:off x="640080" y="1874520"/>
            <a:ext cx="5272888" cy="914400"/>
          </a:xfrm>
          <a:prstGeom prst="rect">
            <a:avLst/>
          </a:prstGeom>
          <a:solidFill>
            <a:srgbClr val="FFFFFF"/>
          </a:solidFill>
          <a:ln w="12700">
            <a:solidFill>
              <a:srgbClr val="E4E7F2"/>
            </a:solidFill>
            <a:prstDash val="solid"/>
          </a:ln>
        </p:spPr>
      </p:sp>
      <p:sp>
        <p:nvSpPr>
          <p:cNvPr id="7" name="Shape 5"/>
          <p:cNvSpPr/>
          <p:nvPr/>
        </p:nvSpPr>
        <p:spPr>
          <a:xfrm>
            <a:off x="640080" y="1874520"/>
            <a:ext cx="68580" cy="914400"/>
          </a:xfrm>
          <a:prstGeom prst="rect">
            <a:avLst/>
          </a:prstGeom>
          <a:solidFill>
            <a:srgbClr val="6366F1"/>
          </a:solidFill>
          <a:ln/>
        </p:spPr>
      </p:sp>
      <p:sp>
        <p:nvSpPr>
          <p:cNvPr id="8" name="Text 6"/>
          <p:cNvSpPr/>
          <p:nvPr/>
        </p:nvSpPr>
        <p:spPr>
          <a:xfrm>
            <a:off x="804672" y="1929384"/>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9" name="Text 7"/>
          <p:cNvSpPr/>
          <p:nvPr/>
        </p:nvSpPr>
        <p:spPr>
          <a:xfrm>
            <a:off x="1243584" y="1920240"/>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Create the OneDrive folders and upload the material for all six scenarios</a:t>
            </a:r>
            <a:endParaRPr lang="en-US" sz="1250" dirty="0"/>
          </a:p>
        </p:txBody>
      </p:sp>
      <p:sp>
        <p:nvSpPr>
          <p:cNvPr id="10" name="Text 8"/>
          <p:cNvSpPr/>
          <p:nvPr/>
        </p:nvSpPr>
        <p:spPr>
          <a:xfrm>
            <a:off x="1243584" y="2194560"/>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Create Documents/Cowork_Lab/AdvancedPackaging/ in OneDri…</a:t>
            </a:r>
            <a:endParaRPr lang="en-US" sz="1050" dirty="0"/>
          </a:p>
        </p:txBody>
      </p:sp>
      <p:sp>
        <p:nvSpPr>
          <p:cNvPr id="11" name="Shape 9"/>
          <p:cNvSpPr/>
          <p:nvPr/>
        </p:nvSpPr>
        <p:spPr>
          <a:xfrm>
            <a:off x="6278728" y="1874520"/>
            <a:ext cx="5272888" cy="914400"/>
          </a:xfrm>
          <a:prstGeom prst="rect">
            <a:avLst/>
          </a:prstGeom>
          <a:solidFill>
            <a:srgbClr val="FFFFFF"/>
          </a:solidFill>
          <a:ln w="12700">
            <a:solidFill>
              <a:srgbClr val="E4E7F2"/>
            </a:solidFill>
            <a:prstDash val="solid"/>
          </a:ln>
        </p:spPr>
      </p:sp>
      <p:sp>
        <p:nvSpPr>
          <p:cNvPr id="12" name="Shape 10"/>
          <p:cNvSpPr/>
          <p:nvPr/>
        </p:nvSpPr>
        <p:spPr>
          <a:xfrm>
            <a:off x="6278728" y="1874520"/>
            <a:ext cx="68580" cy="914400"/>
          </a:xfrm>
          <a:prstGeom prst="rect">
            <a:avLst/>
          </a:prstGeom>
          <a:solidFill>
            <a:srgbClr val="6366F1"/>
          </a:solidFill>
          <a:ln/>
        </p:spPr>
      </p:sp>
      <p:sp>
        <p:nvSpPr>
          <p:cNvPr id="13" name="Text 11"/>
          <p:cNvSpPr/>
          <p:nvPr/>
        </p:nvSpPr>
        <p:spPr>
          <a:xfrm>
            <a:off x="6443320" y="1929384"/>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14" name="Text 12"/>
          <p:cNvSpPr/>
          <p:nvPr/>
        </p:nvSpPr>
        <p:spPr>
          <a:xfrm>
            <a:off x="6882232" y="1920240"/>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Put the contact list in the parent folder — with addresses that really receive mail</a:t>
            </a:r>
            <a:endParaRPr lang="en-US" sz="1250" dirty="0"/>
          </a:p>
        </p:txBody>
      </p:sp>
      <p:sp>
        <p:nvSpPr>
          <p:cNvPr id="15" name="Text 13"/>
          <p:cNvSpPr/>
          <p:nvPr/>
        </p:nvSpPr>
        <p:spPr>
          <a:xfrm>
            <a:off x="6882232" y="2194560"/>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Contact_List.md belongs in the AdvancedPackaging parent …</a:t>
            </a:r>
            <a:endParaRPr lang="en-US" sz="1050" dirty="0"/>
          </a:p>
        </p:txBody>
      </p:sp>
      <p:sp>
        <p:nvSpPr>
          <p:cNvPr id="16" name="Shape 14"/>
          <p:cNvSpPr/>
          <p:nvPr/>
        </p:nvSpPr>
        <p:spPr>
          <a:xfrm>
            <a:off x="640080" y="2916936"/>
            <a:ext cx="5272888" cy="914400"/>
          </a:xfrm>
          <a:prstGeom prst="rect">
            <a:avLst/>
          </a:prstGeom>
          <a:solidFill>
            <a:srgbClr val="FFFFFF"/>
          </a:solidFill>
          <a:ln w="12700">
            <a:solidFill>
              <a:srgbClr val="E4E7F2"/>
            </a:solidFill>
            <a:prstDash val="solid"/>
          </a:ln>
        </p:spPr>
      </p:sp>
      <p:sp>
        <p:nvSpPr>
          <p:cNvPr id="17" name="Shape 15"/>
          <p:cNvSpPr/>
          <p:nvPr/>
        </p:nvSpPr>
        <p:spPr>
          <a:xfrm>
            <a:off x="640080" y="2916936"/>
            <a:ext cx="68580" cy="914400"/>
          </a:xfrm>
          <a:prstGeom prst="rect">
            <a:avLst/>
          </a:prstGeom>
          <a:solidFill>
            <a:srgbClr val="6366F1"/>
          </a:solidFill>
          <a:ln/>
        </p:spPr>
      </p:sp>
      <p:sp>
        <p:nvSpPr>
          <p:cNvPr id="18" name="Text 16"/>
          <p:cNvSpPr/>
          <p:nvPr/>
        </p:nvSpPr>
        <p:spPr>
          <a:xfrm>
            <a:off x="804672" y="2971800"/>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19" name="Text 17"/>
          <p:cNvSpPr/>
          <p:nvPr/>
        </p:nvSpPr>
        <p:spPr>
          <a:xfrm>
            <a:off x="1243584" y="2962656"/>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Send yourself one supplier discontinuation notice — the starting point for scenario 4</a:t>
            </a:r>
            <a:endParaRPr lang="en-US" sz="1250" dirty="0"/>
          </a:p>
        </p:txBody>
      </p:sp>
      <p:sp>
        <p:nvSpPr>
          <p:cNvPr id="20" name="Text 18"/>
          <p:cNvSpPr/>
          <p:nvPr/>
        </p:nvSpPr>
        <p:spPr>
          <a:xfrm>
            <a:off x="1243584" y="3236976"/>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Send it to yourself from your own account, copying the s…</a:t>
            </a:r>
            <a:endParaRPr lang="en-US" sz="1050" dirty="0"/>
          </a:p>
        </p:txBody>
      </p:sp>
      <p:sp>
        <p:nvSpPr>
          <p:cNvPr id="21" name="Shape 19"/>
          <p:cNvSpPr/>
          <p:nvPr/>
        </p:nvSpPr>
        <p:spPr>
          <a:xfrm>
            <a:off x="6278728" y="2916936"/>
            <a:ext cx="5272888" cy="914400"/>
          </a:xfrm>
          <a:prstGeom prst="rect">
            <a:avLst/>
          </a:prstGeom>
          <a:solidFill>
            <a:srgbClr val="FFFFFF"/>
          </a:solidFill>
          <a:ln w="12700">
            <a:solidFill>
              <a:srgbClr val="E4E7F2"/>
            </a:solidFill>
            <a:prstDash val="solid"/>
          </a:ln>
        </p:spPr>
      </p:sp>
      <p:sp>
        <p:nvSpPr>
          <p:cNvPr id="22" name="Shape 20"/>
          <p:cNvSpPr/>
          <p:nvPr/>
        </p:nvSpPr>
        <p:spPr>
          <a:xfrm>
            <a:off x="6278728" y="2916936"/>
            <a:ext cx="68580" cy="914400"/>
          </a:xfrm>
          <a:prstGeom prst="rect">
            <a:avLst/>
          </a:prstGeom>
          <a:solidFill>
            <a:srgbClr val="6366F1"/>
          </a:solidFill>
          <a:ln/>
        </p:spPr>
      </p:sp>
      <p:sp>
        <p:nvSpPr>
          <p:cNvPr id="23" name="Text 21"/>
          <p:cNvSpPr/>
          <p:nvPr/>
        </p:nvSpPr>
        <p:spPr>
          <a:xfrm>
            <a:off x="6443320" y="2971800"/>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24" name="Text 22"/>
          <p:cNvSpPr/>
          <p:nvPr/>
        </p:nvSpPr>
        <p:spPr>
          <a:xfrm>
            <a:off x="6882232" y="2962656"/>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Create the Quality War Room channel — where scenario 2 posts</a:t>
            </a:r>
            <a:endParaRPr lang="en-US" sz="1250" dirty="0"/>
          </a:p>
        </p:txBody>
      </p:sp>
      <p:sp>
        <p:nvSpPr>
          <p:cNvPr id="25" name="Text 23"/>
          <p:cNvSpPr/>
          <p:nvPr/>
        </p:nvSpPr>
        <p:spPr>
          <a:xfrm>
            <a:off x="6882232" y="3236976"/>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Create a channel called Quality War Room in any team you…</a:t>
            </a:r>
            <a:endParaRPr lang="en-US" sz="1050" dirty="0"/>
          </a:p>
        </p:txBody>
      </p:sp>
      <p:sp>
        <p:nvSpPr>
          <p:cNvPr id="26" name="Shape 24"/>
          <p:cNvSpPr/>
          <p:nvPr/>
        </p:nvSpPr>
        <p:spPr>
          <a:xfrm>
            <a:off x="640080" y="3959352"/>
            <a:ext cx="5272888" cy="914400"/>
          </a:xfrm>
          <a:prstGeom prst="rect">
            <a:avLst/>
          </a:prstGeom>
          <a:solidFill>
            <a:srgbClr val="FFFFFF"/>
          </a:solidFill>
          <a:ln w="12700">
            <a:solidFill>
              <a:srgbClr val="E4E7F2"/>
            </a:solidFill>
            <a:prstDash val="solid"/>
          </a:ln>
        </p:spPr>
      </p:sp>
      <p:sp>
        <p:nvSpPr>
          <p:cNvPr id="27" name="Shape 25"/>
          <p:cNvSpPr/>
          <p:nvPr/>
        </p:nvSpPr>
        <p:spPr>
          <a:xfrm>
            <a:off x="640080" y="3959352"/>
            <a:ext cx="68580" cy="914400"/>
          </a:xfrm>
          <a:prstGeom prst="rect">
            <a:avLst/>
          </a:prstGeom>
          <a:solidFill>
            <a:srgbClr val="6366F1"/>
          </a:solidFill>
          <a:ln/>
        </p:spPr>
      </p:sp>
      <p:sp>
        <p:nvSpPr>
          <p:cNvPr id="28" name="Text 26"/>
          <p:cNvSpPr/>
          <p:nvPr/>
        </p:nvSpPr>
        <p:spPr>
          <a:xfrm>
            <a:off x="804672" y="4014216"/>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29" name="Text 27"/>
          <p:cNvSpPr/>
          <p:nvPr/>
        </p:nvSpPr>
        <p:spPr>
          <a:xfrm>
            <a:off x="1243584" y="4005072"/>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Download the three files in 上傳用/ to your PC — do not put them in OneDrive</a:t>
            </a:r>
            <a:endParaRPr lang="en-US" sz="1250" dirty="0"/>
          </a:p>
        </p:txBody>
      </p:sp>
      <p:sp>
        <p:nvSpPr>
          <p:cNvPr id="30" name="Text 28"/>
          <p:cNvSpPr/>
          <p:nvPr/>
        </p:nvSpPr>
        <p:spPr>
          <a:xfrm>
            <a:off x="1243584" y="4279392"/>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MFGX2_FB820_Lot_Yield_Detail.csv (scenario 2), MFGX5_Fab…</a:t>
            </a:r>
            <a:endParaRPr lang="en-US" sz="1050" dirty="0"/>
          </a:p>
        </p:txBody>
      </p:sp>
      <p:sp>
        <p:nvSpPr>
          <p:cNvPr id="31" name="Shape 29"/>
          <p:cNvSpPr/>
          <p:nvPr/>
        </p:nvSpPr>
        <p:spPr>
          <a:xfrm>
            <a:off x="6278728" y="3959352"/>
            <a:ext cx="5272888" cy="914400"/>
          </a:xfrm>
          <a:prstGeom prst="rect">
            <a:avLst/>
          </a:prstGeom>
          <a:solidFill>
            <a:srgbClr val="FFFFFF"/>
          </a:solidFill>
          <a:ln w="12700">
            <a:solidFill>
              <a:srgbClr val="E4E7F2"/>
            </a:solidFill>
            <a:prstDash val="solid"/>
          </a:ln>
        </p:spPr>
      </p:sp>
      <p:sp>
        <p:nvSpPr>
          <p:cNvPr id="32" name="Shape 30"/>
          <p:cNvSpPr/>
          <p:nvPr/>
        </p:nvSpPr>
        <p:spPr>
          <a:xfrm>
            <a:off x="6278728" y="3959352"/>
            <a:ext cx="68580" cy="914400"/>
          </a:xfrm>
          <a:prstGeom prst="rect">
            <a:avLst/>
          </a:prstGeom>
          <a:solidFill>
            <a:srgbClr val="6366F1"/>
          </a:solidFill>
          <a:ln/>
        </p:spPr>
      </p:sp>
      <p:sp>
        <p:nvSpPr>
          <p:cNvPr id="33" name="Text 31"/>
          <p:cNvSpPr/>
          <p:nvPr/>
        </p:nvSpPr>
        <p:spPr>
          <a:xfrm>
            <a:off x="6443320" y="4014216"/>
            <a:ext cx="411480" cy="329184"/>
          </a:xfrm>
          <a:prstGeom prst="rect">
            <a:avLst/>
          </a:prstGeom>
          <a:noFill/>
          <a:ln/>
        </p:spPr>
        <p:txBody>
          <a:bodyPr wrap="square" rtlCol="0" anchor="ctr"/>
          <a:lstStyle/>
          <a:p>
            <a:pPr algn="ctr" indent="0" marL="0">
              <a:buNone/>
            </a:pPr>
            <a:r>
              <a:rPr lang="en-US" sz="1500" dirty="0">
                <a:solidFill>
                  <a:srgbClr val="000000"/>
                </a:solidFill>
                <a:latin typeface="Segoe UI" pitchFamily="34" charset="0"/>
                <a:ea typeface="Segoe UI" pitchFamily="34" charset="-122"/>
                <a:cs typeface="Segoe UI" pitchFamily="34" charset="-120"/>
              </a:rPr>
              <a:t>🧩</a:t>
            </a:r>
            <a:endParaRPr lang="en-US" sz="1500" dirty="0"/>
          </a:p>
        </p:txBody>
      </p:sp>
      <p:sp>
        <p:nvSpPr>
          <p:cNvPr id="34" name="Text 32"/>
          <p:cNvSpPr/>
          <p:nvPr/>
        </p:nvSpPr>
        <p:spPr>
          <a:xfrm>
            <a:off x="6882232" y="4005072"/>
            <a:ext cx="4495648" cy="292608"/>
          </a:xfrm>
          <a:prstGeom prst="rect">
            <a:avLst/>
          </a:prstGeom>
          <a:noFill/>
          <a:ln/>
        </p:spPr>
        <p:txBody>
          <a:bodyPr wrap="square" rtlCol="0" anchor="ctr"/>
          <a:lstStyle/>
          <a:p>
            <a:pPr indent="0" marL="0">
              <a:buNone/>
            </a:pPr>
            <a:r>
              <a:rPr lang="en-US" sz="1250" b="1" dirty="0">
                <a:solidFill>
                  <a:srgbClr val="1E2235"/>
                </a:solidFill>
                <a:latin typeface="Segoe UI" pitchFamily="34" charset="0"/>
                <a:ea typeface="Segoe UI" pitchFamily="34" charset="-122"/>
                <a:cs typeface="Segoe UI" pitchFamily="34" charset="-120"/>
              </a:rPr>
              <a:t>Check the skills path is writable, and do scenario 6 on desktop or in a browser</a:t>
            </a:r>
            <a:endParaRPr lang="en-US" sz="1250" dirty="0"/>
          </a:p>
        </p:txBody>
      </p:sp>
      <p:sp>
        <p:nvSpPr>
          <p:cNvPr id="35" name="Text 33"/>
          <p:cNvSpPr/>
          <p:nvPr/>
        </p:nvSpPr>
        <p:spPr>
          <a:xfrm>
            <a:off x="6882232" y="4279392"/>
            <a:ext cx="4495648" cy="548640"/>
          </a:xfrm>
          <a:prstGeom prst="rect">
            <a:avLst/>
          </a:prstGeom>
          <a:noFill/>
          <a:ln/>
        </p:spPr>
        <p:txBody>
          <a:bodyPr wrap="square" rtlCol="0" anchor="ctr"/>
          <a:lstStyle/>
          <a:p>
            <a:pPr indent="0" marL="0">
              <a:lnSpc>
                <a:spcPct val="112000"/>
              </a:lnSpc>
              <a:buNone/>
            </a:pPr>
            <a:r>
              <a:rPr lang="en-US" sz="1050" dirty="0">
                <a:solidFill>
                  <a:srgbClr val="5B6079"/>
                </a:solidFill>
                <a:latin typeface="Segoe UI" pitchFamily="34" charset="0"/>
                <a:ea typeface="Segoe UI" pitchFamily="34" charset="-122"/>
                <a:cs typeface="Segoe UI" pitchFamily="34" charset="-120"/>
              </a:rPr>
              <a:t>Scenario 6 has Cowork create a custom skill at OneDrive/…</a:t>
            </a:r>
            <a:endParaRPr lang="en-US" sz="1050" dirty="0"/>
          </a:p>
        </p:txBody>
      </p:sp>
      <p:sp>
        <p:nvSpPr>
          <p:cNvPr id="36" name="Shape 34"/>
          <p:cNvSpPr/>
          <p:nvPr/>
        </p:nvSpPr>
        <p:spPr>
          <a:xfrm>
            <a:off x="640080" y="5532120"/>
            <a:ext cx="10911535" cy="749808"/>
          </a:xfrm>
          <a:prstGeom prst="rect">
            <a:avLst/>
          </a:prstGeom>
          <a:solidFill>
            <a:srgbClr val="FFFFFF"/>
          </a:solidFill>
          <a:ln w="12700">
            <a:solidFill>
              <a:srgbClr val="E4E7F2"/>
            </a:solidFill>
            <a:prstDash val="solid"/>
          </a:ln>
        </p:spPr>
      </p:sp>
      <p:sp>
        <p:nvSpPr>
          <p:cNvPr id="37" name="Shape 35"/>
          <p:cNvSpPr/>
          <p:nvPr/>
        </p:nvSpPr>
        <p:spPr>
          <a:xfrm>
            <a:off x="640080" y="5532120"/>
            <a:ext cx="91440" cy="749808"/>
          </a:xfrm>
          <a:prstGeom prst="rect">
            <a:avLst/>
          </a:prstGeom>
          <a:solidFill>
            <a:srgbClr val="6366F1"/>
          </a:solidFill>
          <a:ln/>
        </p:spPr>
      </p:sp>
      <p:sp>
        <p:nvSpPr>
          <p:cNvPr id="38" name="Text 36"/>
          <p:cNvSpPr/>
          <p:nvPr/>
        </p:nvSpPr>
        <p:spPr>
          <a:xfrm>
            <a:off x="914400" y="5614416"/>
            <a:ext cx="1828800" cy="274320"/>
          </a:xfrm>
          <a:prstGeom prst="rect">
            <a:avLst/>
          </a:prstGeom>
          <a:noFill/>
          <a:ln/>
        </p:spPr>
        <p:txBody>
          <a:bodyPr wrap="square" rtlCol="0" anchor="ctr"/>
          <a:lstStyle/>
          <a:p>
            <a:pPr indent="0" marL="0">
              <a:buNone/>
            </a:pPr>
            <a:r>
              <a:rPr lang="en-US" sz="1200" b="1" dirty="0">
                <a:solidFill>
                  <a:srgbClr val="1E2235"/>
                </a:solidFill>
                <a:latin typeface="Segoe UI" pitchFamily="34" charset="0"/>
                <a:ea typeface="Segoe UI" pitchFamily="34" charset="-122"/>
                <a:cs typeface="Segoe UI" pitchFamily="34" charset="-120"/>
              </a:rPr>
              <a:t>Final check before the session</a:t>
            </a:r>
            <a:endParaRPr lang="en-US" sz="1200" dirty="0"/>
          </a:p>
        </p:txBody>
      </p:sp>
      <p:pic>
        <p:nvPicPr>
          <p:cNvPr id="39" name="Image 0" descr="preencoded.png">    </p:cNvPr>
          <p:cNvPicPr>
            <a:picLocks noChangeAspect="1"/>
          </p:cNvPicPr>
          <p:nvPr/>
        </p:nvPicPr>
        <p:blipFill>
          <a:blip r:embed="rId1"/>
          <a:stretch>
            <a:fillRect/>
          </a:stretch>
        </p:blipFill>
        <p:spPr>
          <a:xfrm>
            <a:off x="2743200" y="5641848"/>
            <a:ext cx="155448" cy="155448"/>
          </a:xfrm>
          <a:prstGeom prst="rect">
            <a:avLst/>
          </a:prstGeom>
        </p:spPr>
      </p:pic>
      <p:sp>
        <p:nvSpPr>
          <p:cNvPr id="40" name="Text 37"/>
          <p:cNvSpPr/>
          <p:nvPr/>
        </p:nvSpPr>
        <p:spPr>
          <a:xfrm>
            <a:off x="2999232" y="5586984"/>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The AdvancedPackaging folder in OneDrive has six subfolders with the files in the right places</a:t>
            </a:r>
            <a:endParaRPr lang="en-US" sz="1050" dirty="0"/>
          </a:p>
        </p:txBody>
      </p:sp>
      <p:pic>
        <p:nvPicPr>
          <p:cNvPr id="41" name="Image 1" descr="preencoded.png">    </p:cNvPr>
          <p:cNvPicPr>
            <a:picLocks noChangeAspect="1"/>
          </p:cNvPicPr>
          <p:nvPr/>
        </p:nvPicPr>
        <p:blipFill>
          <a:blip r:embed="rId2"/>
          <a:stretch>
            <a:fillRect/>
          </a:stretch>
        </p:blipFill>
        <p:spPr>
          <a:xfrm>
            <a:off x="2743200" y="5852160"/>
            <a:ext cx="155448" cy="155448"/>
          </a:xfrm>
          <a:prstGeom prst="rect">
            <a:avLst/>
          </a:prstGeom>
        </p:spPr>
      </p:pic>
      <p:sp>
        <p:nvSpPr>
          <p:cNvPr id="42" name="Text 38"/>
          <p:cNvSpPr/>
          <p:nvPr/>
        </p:nvSpPr>
        <p:spPr>
          <a:xfrm>
            <a:off x="2999232" y="5797296"/>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The contact list is in the parent folder, with addresses that really receive mail</a:t>
            </a:r>
            <a:endParaRPr lang="en-US" sz="1050" dirty="0"/>
          </a:p>
        </p:txBody>
      </p:sp>
      <p:pic>
        <p:nvPicPr>
          <p:cNvPr id="43" name="Image 2" descr="preencoded.png">    </p:cNvPr>
          <p:cNvPicPr>
            <a:picLocks noChangeAspect="1"/>
          </p:cNvPicPr>
          <p:nvPr/>
        </p:nvPicPr>
        <p:blipFill>
          <a:blip r:embed="rId3"/>
          <a:stretch>
            <a:fillRect/>
          </a:stretch>
        </p:blipFill>
        <p:spPr>
          <a:xfrm>
            <a:off x="2743200" y="6062472"/>
            <a:ext cx="155448" cy="155448"/>
          </a:xfrm>
          <a:prstGeom prst="rect">
            <a:avLst/>
          </a:prstGeom>
        </p:spPr>
      </p:pic>
      <p:sp>
        <p:nvSpPr>
          <p:cNvPr id="44" name="Text 39"/>
          <p:cNvSpPr/>
          <p:nvPr/>
        </p:nvSpPr>
        <p:spPr>
          <a:xfrm>
            <a:off x="2999232" y="6007608"/>
            <a:ext cx="8259775" cy="237744"/>
          </a:xfrm>
          <a:prstGeom prst="rect">
            <a:avLst/>
          </a:prstGeom>
          <a:noFill/>
          <a:ln/>
        </p:spPr>
        <p:txBody>
          <a:bodyPr wrap="square" rtlCol="0" anchor="ctr"/>
          <a:lstStyle/>
          <a:p>
            <a:pPr indent="0" marL="0">
              <a:buNone/>
            </a:pPr>
            <a:r>
              <a:rPr lang="en-US" sz="1050" dirty="0">
                <a:solidFill>
                  <a:srgbClr val="1E2235"/>
                </a:solidFill>
                <a:latin typeface="Segoe UI" pitchFamily="34" charset="0"/>
                <a:ea typeface="Segoe UI" pitchFamily="34" charset="-122"/>
                <a:cs typeface="Segoe UI" pitchFamily="34" charset="-120"/>
              </a:rPr>
              <a:t>The PCN notice is in the inbox with the subject copied exactly</a:t>
            </a:r>
            <a:endParaRPr lang="en-US" sz="1050" dirty="0"/>
          </a:p>
        </p:txBody>
      </p:sp>
      <p:sp>
        <p:nvSpPr>
          <p:cNvPr id="45" name="Text 40"/>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46" name="Text 41"/>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6 SCENARIOS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Six hands-on scenarios</a:t>
            </a:r>
            <a:endParaRPr lang="en-US" sz="3000" dirty="0"/>
          </a:p>
        </p:txBody>
      </p:sp>
      <p:sp>
        <p:nvSpPr>
          <p:cNvPr id="5" name="Shape 3"/>
          <p:cNvSpPr/>
          <p:nvPr/>
        </p:nvSpPr>
        <p:spPr>
          <a:xfrm>
            <a:off x="640080" y="1828800"/>
            <a:ext cx="1620469"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6" name="Shape 4"/>
          <p:cNvSpPr/>
          <p:nvPr/>
        </p:nvSpPr>
        <p:spPr>
          <a:xfrm>
            <a:off x="640080" y="1828800"/>
            <a:ext cx="1620469" cy="109728"/>
          </a:xfrm>
          <a:prstGeom prst="rect">
            <a:avLst/>
          </a:prstGeom>
          <a:solidFill>
            <a:srgbClr val="1F4E79"/>
          </a:solidFill>
          <a:ln/>
        </p:spPr>
      </p:sp>
      <p:sp>
        <p:nvSpPr>
          <p:cNvPr id="7" name="Shape 5"/>
          <p:cNvSpPr/>
          <p:nvPr/>
        </p:nvSpPr>
        <p:spPr>
          <a:xfrm>
            <a:off x="993115" y="2194560"/>
            <a:ext cx="914400" cy="914400"/>
          </a:xfrm>
          <a:prstGeom prst="ellipse">
            <a:avLst/>
          </a:prstGeom>
          <a:solidFill>
            <a:srgbClr val="1F4E79"/>
          </a:solidFill>
          <a:ln/>
        </p:spPr>
      </p:sp>
      <p:pic>
        <p:nvPicPr>
          <p:cNvPr id="8" name="Image 0" descr="preencoded.png">    </p:cNvPr>
          <p:cNvPicPr>
            <a:picLocks noChangeAspect="1"/>
          </p:cNvPicPr>
          <p:nvPr/>
        </p:nvPicPr>
        <p:blipFill>
          <a:blip r:embed="rId1"/>
          <a:stretch>
            <a:fillRect/>
          </a:stretch>
        </p:blipFill>
        <p:spPr>
          <a:xfrm>
            <a:off x="1194283" y="2395728"/>
            <a:ext cx="512064" cy="512064"/>
          </a:xfrm>
          <a:prstGeom prst="rect">
            <a:avLst/>
          </a:prstGeom>
        </p:spPr>
      </p:pic>
      <p:sp>
        <p:nvSpPr>
          <p:cNvPr id="9" name="Text 6"/>
          <p:cNvSpPr/>
          <p:nvPr/>
        </p:nvSpPr>
        <p:spPr>
          <a:xfrm>
            <a:off x="731520" y="3163824"/>
            <a:ext cx="1437589" cy="273406"/>
          </a:xfrm>
          <a:prstGeom prst="rect">
            <a:avLst/>
          </a:prstGeom>
          <a:noFill/>
          <a:ln/>
        </p:spPr>
        <p:txBody>
          <a:bodyPr wrap="square" rtlCol="0" anchor="t"/>
          <a:lstStyle/>
          <a:p>
            <a:pPr algn="ctr" indent="0" marL="0">
              <a:buNone/>
            </a:pPr>
            <a:r>
              <a:rPr lang="en-US" sz="828" b="1" dirty="0">
                <a:solidFill>
                  <a:srgbClr val="1F4E79"/>
                </a:solidFill>
                <a:latin typeface="Segoe UI" pitchFamily="34" charset="0"/>
                <a:ea typeface="Segoe UI" pitchFamily="34" charset="-122"/>
                <a:cs typeface="Segoe UI" pitchFamily="34" charset="-120"/>
              </a:rPr>
              <a:t>High-Tech Mfg · Product Engineering</a:t>
            </a:r>
            <a:endParaRPr lang="en-US" sz="828" dirty="0"/>
          </a:p>
        </p:txBody>
      </p:sp>
      <p:sp>
        <p:nvSpPr>
          <p:cNvPr id="10" name="Text 7"/>
          <p:cNvSpPr/>
          <p:nvPr/>
        </p:nvSpPr>
        <p:spPr>
          <a:xfrm>
            <a:off x="731520" y="3492094"/>
            <a:ext cx="1437589" cy="713232"/>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Shift Handover: Which Lot Can Actually Move Today</a:t>
            </a:r>
            <a:endParaRPr lang="en-US" sz="1080" dirty="0"/>
          </a:p>
        </p:txBody>
      </p:sp>
      <p:sp>
        <p:nvSpPr>
          <p:cNvPr id="11" name="Text 8"/>
          <p:cNvSpPr/>
          <p:nvPr/>
        </p:nvSpPr>
        <p:spPr>
          <a:xfrm>
            <a:off x="731520" y="4287622"/>
            <a:ext cx="1437589" cy="713232"/>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Daily Briefing · Enterprise Search · Excel · Calendar Management · Scheduled prompt</a:t>
            </a:r>
            <a:endParaRPr lang="en-US" sz="864" dirty="0"/>
          </a:p>
        </p:txBody>
      </p:sp>
      <p:sp>
        <p:nvSpPr>
          <p:cNvPr id="12" name="Text 9"/>
          <p:cNvSpPr/>
          <p:nvPr/>
        </p:nvSpPr>
        <p:spPr>
          <a:xfrm>
            <a:off x="731520" y="5083150"/>
            <a:ext cx="1437589"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~15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13" name="Shape 10"/>
          <p:cNvSpPr/>
          <p:nvPr/>
        </p:nvSpPr>
        <p:spPr>
          <a:xfrm>
            <a:off x="2498293" y="1828800"/>
            <a:ext cx="1620469"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14" name="Shape 11"/>
          <p:cNvSpPr/>
          <p:nvPr/>
        </p:nvSpPr>
        <p:spPr>
          <a:xfrm>
            <a:off x="2498293" y="1828800"/>
            <a:ext cx="1620469" cy="109728"/>
          </a:xfrm>
          <a:prstGeom prst="rect">
            <a:avLst/>
          </a:prstGeom>
          <a:solidFill>
            <a:srgbClr val="0F5132"/>
          </a:solidFill>
          <a:ln/>
        </p:spPr>
      </p:sp>
      <p:sp>
        <p:nvSpPr>
          <p:cNvPr id="15" name="Shape 12"/>
          <p:cNvSpPr/>
          <p:nvPr/>
        </p:nvSpPr>
        <p:spPr>
          <a:xfrm>
            <a:off x="2851328" y="2194560"/>
            <a:ext cx="914400" cy="914400"/>
          </a:xfrm>
          <a:prstGeom prst="ellipse">
            <a:avLst/>
          </a:prstGeom>
          <a:solidFill>
            <a:srgbClr val="0F5132"/>
          </a:solidFill>
          <a:ln/>
        </p:spPr>
      </p:sp>
      <p:pic>
        <p:nvPicPr>
          <p:cNvPr id="16" name="Image 1" descr="preencoded.png">    </p:cNvPr>
          <p:cNvPicPr>
            <a:picLocks noChangeAspect="1"/>
          </p:cNvPicPr>
          <p:nvPr/>
        </p:nvPicPr>
        <p:blipFill>
          <a:blip r:embed="rId2"/>
          <a:stretch>
            <a:fillRect/>
          </a:stretch>
        </p:blipFill>
        <p:spPr>
          <a:xfrm>
            <a:off x="3052496" y="2395728"/>
            <a:ext cx="512064" cy="512064"/>
          </a:xfrm>
          <a:prstGeom prst="rect">
            <a:avLst/>
          </a:prstGeom>
        </p:spPr>
      </p:pic>
      <p:sp>
        <p:nvSpPr>
          <p:cNvPr id="17" name="Text 13"/>
          <p:cNvSpPr/>
          <p:nvPr/>
        </p:nvSpPr>
        <p:spPr>
          <a:xfrm>
            <a:off x="2589733" y="3163824"/>
            <a:ext cx="1437589" cy="273406"/>
          </a:xfrm>
          <a:prstGeom prst="rect">
            <a:avLst/>
          </a:prstGeom>
          <a:noFill/>
          <a:ln/>
        </p:spPr>
        <p:txBody>
          <a:bodyPr wrap="square" rtlCol="0" anchor="t"/>
          <a:lstStyle/>
          <a:p>
            <a:pPr algn="ctr" indent="0" marL="0">
              <a:buNone/>
            </a:pPr>
            <a:r>
              <a:rPr lang="en-US" sz="828" b="1" dirty="0">
                <a:solidFill>
                  <a:srgbClr val="0F5132"/>
                </a:solidFill>
                <a:latin typeface="Segoe UI" pitchFamily="34" charset="0"/>
                <a:ea typeface="Segoe UI" pitchFamily="34" charset="-122"/>
                <a:cs typeface="Segoe UI" pitchFamily="34" charset="-120"/>
              </a:rPr>
              <a:t>High-Tech Mfg · Product Engineering</a:t>
            </a:r>
            <a:endParaRPr lang="en-US" sz="828" dirty="0"/>
          </a:p>
        </p:txBody>
      </p:sp>
      <p:sp>
        <p:nvSpPr>
          <p:cNvPr id="18" name="Text 14"/>
          <p:cNvSpPr/>
          <p:nvPr/>
        </p:nvSpPr>
        <p:spPr>
          <a:xfrm>
            <a:off x="2589733" y="3492094"/>
            <a:ext cx="1437589" cy="713232"/>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A Yield Excursion Whose Common Factor Is Not the Obvious One</a:t>
            </a:r>
            <a:endParaRPr lang="en-US" sz="1080" dirty="0"/>
          </a:p>
        </p:txBody>
      </p:sp>
      <p:sp>
        <p:nvSpPr>
          <p:cNvPr id="19" name="Text 15"/>
          <p:cNvSpPr/>
          <p:nvPr/>
        </p:nvSpPr>
        <p:spPr>
          <a:xfrm>
            <a:off x="2589733" y="4287622"/>
            <a:ext cx="1437589" cy="570586"/>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File upload · Excel · Enterprise Search · Adaptive Cards · Communications</a:t>
            </a:r>
            <a:endParaRPr lang="en-US" sz="864" dirty="0"/>
          </a:p>
        </p:txBody>
      </p:sp>
      <p:sp>
        <p:nvSpPr>
          <p:cNvPr id="20" name="Text 16"/>
          <p:cNvSpPr/>
          <p:nvPr/>
        </p:nvSpPr>
        <p:spPr>
          <a:xfrm>
            <a:off x="2589733" y="4940503"/>
            <a:ext cx="1437589"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~18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21" name="Shape 17"/>
          <p:cNvSpPr/>
          <p:nvPr/>
        </p:nvSpPr>
        <p:spPr>
          <a:xfrm>
            <a:off x="4356506" y="1828800"/>
            <a:ext cx="1620469"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22" name="Shape 18"/>
          <p:cNvSpPr/>
          <p:nvPr/>
        </p:nvSpPr>
        <p:spPr>
          <a:xfrm>
            <a:off x="4356506" y="1828800"/>
            <a:ext cx="1620469" cy="109728"/>
          </a:xfrm>
          <a:prstGeom prst="rect">
            <a:avLst/>
          </a:prstGeom>
          <a:solidFill>
            <a:srgbClr val="6B2D5C"/>
          </a:solidFill>
          <a:ln/>
        </p:spPr>
      </p:sp>
      <p:sp>
        <p:nvSpPr>
          <p:cNvPr id="23" name="Shape 19"/>
          <p:cNvSpPr/>
          <p:nvPr/>
        </p:nvSpPr>
        <p:spPr>
          <a:xfrm>
            <a:off x="4709541" y="2194560"/>
            <a:ext cx="914400" cy="914400"/>
          </a:xfrm>
          <a:prstGeom prst="ellipse">
            <a:avLst/>
          </a:prstGeom>
          <a:solidFill>
            <a:srgbClr val="6B2D5C"/>
          </a:solidFill>
          <a:ln/>
        </p:spPr>
      </p:sp>
      <p:pic>
        <p:nvPicPr>
          <p:cNvPr id="24" name="Image 2" descr="preencoded.png">    </p:cNvPr>
          <p:cNvPicPr>
            <a:picLocks noChangeAspect="1"/>
          </p:cNvPicPr>
          <p:nvPr/>
        </p:nvPicPr>
        <p:blipFill>
          <a:blip r:embed="rId3"/>
          <a:stretch>
            <a:fillRect/>
          </a:stretch>
        </p:blipFill>
        <p:spPr>
          <a:xfrm>
            <a:off x="4910709" y="2395728"/>
            <a:ext cx="512064" cy="512064"/>
          </a:xfrm>
          <a:prstGeom prst="rect">
            <a:avLst/>
          </a:prstGeom>
        </p:spPr>
      </p:pic>
      <p:sp>
        <p:nvSpPr>
          <p:cNvPr id="25" name="Text 20"/>
          <p:cNvSpPr/>
          <p:nvPr/>
        </p:nvSpPr>
        <p:spPr>
          <a:xfrm>
            <a:off x="4447946" y="3163824"/>
            <a:ext cx="1437589" cy="273406"/>
          </a:xfrm>
          <a:prstGeom prst="rect">
            <a:avLst/>
          </a:prstGeom>
          <a:noFill/>
          <a:ln/>
        </p:spPr>
        <p:txBody>
          <a:bodyPr wrap="square" rtlCol="0" anchor="t"/>
          <a:lstStyle/>
          <a:p>
            <a:pPr algn="ctr" indent="0" marL="0">
              <a:buNone/>
            </a:pPr>
            <a:r>
              <a:rPr lang="en-US" sz="828" b="1" dirty="0">
                <a:solidFill>
                  <a:srgbClr val="6B2D5C"/>
                </a:solidFill>
                <a:latin typeface="Segoe UI" pitchFamily="34" charset="0"/>
                <a:ea typeface="Segoe UI" pitchFamily="34" charset="-122"/>
                <a:cs typeface="Segoe UI" pitchFamily="34" charset="-120"/>
              </a:rPr>
              <a:t>High-Tech Mfg · Product Engineering</a:t>
            </a:r>
            <a:endParaRPr lang="en-US" sz="828" dirty="0"/>
          </a:p>
        </p:txBody>
      </p:sp>
      <p:sp>
        <p:nvSpPr>
          <p:cNvPr id="26" name="Text 21"/>
          <p:cNvSpPr/>
          <p:nvPr/>
        </p:nvSpPr>
        <p:spPr>
          <a:xfrm>
            <a:off x="4447946" y="3492094"/>
            <a:ext cx="1437589" cy="713232"/>
          </a:xfrm>
          <a:prstGeom prst="rect">
            <a:avLst/>
          </a:prstGeom>
          <a:noFill/>
          <a:ln/>
        </p:spPr>
        <p:txBody>
          <a:bodyPr wrap="square" rtlCol="0" anchor="t"/>
          <a:lstStyle/>
          <a:p>
            <a:pPr algn="ctr" indent="0" marL="0">
              <a:buNone/>
            </a:pPr>
            <a:r>
              <a:rPr lang="en-US" sz="1080" b="1" dirty="0">
                <a:solidFill>
                  <a:srgbClr val="1E2235"/>
                </a:solidFill>
                <a:latin typeface="Segoe UI" pitchFamily="34" charset="0"/>
                <a:ea typeface="Segoe UI" pitchFamily="34" charset="-122"/>
                <a:cs typeface="Segoe UI" pitchFamily="34" charset="-120"/>
              </a:rPr>
              <a:t>Quarterly Business Review: What the Closure Rate Hides</a:t>
            </a:r>
            <a:endParaRPr lang="en-US" sz="1080" dirty="0"/>
          </a:p>
        </p:txBody>
      </p:sp>
      <p:sp>
        <p:nvSpPr>
          <p:cNvPr id="27" name="Text 22"/>
          <p:cNvSpPr/>
          <p:nvPr/>
        </p:nvSpPr>
        <p:spPr>
          <a:xfrm>
            <a:off x="4447946" y="4287622"/>
            <a:ext cx="1437589" cy="570586"/>
          </a:xfrm>
          <a:prstGeom prst="rect">
            <a:avLst/>
          </a:prstGeom>
          <a:noFill/>
          <a:ln/>
        </p:spPr>
        <p:txBody>
          <a:bodyPr wrap="square" rtlCol="0" anchor="t"/>
          <a:lstStyle/>
          <a:p>
            <a:pPr algn="ctr" indent="0" marL="0">
              <a:lnSpc>
                <a:spcPct val="105000"/>
              </a:lnSpc>
              <a:buNone/>
            </a:pPr>
            <a:r>
              <a:rPr lang="en-US" sz="864" dirty="0">
                <a:solidFill>
                  <a:srgbClr val="5B6079"/>
                </a:solidFill>
                <a:latin typeface="Segoe UI" pitchFamily="34" charset="0"/>
                <a:ea typeface="Segoe UI" pitchFamily="34" charset="-122"/>
                <a:cs typeface="Segoe UI" pitchFamily="34" charset="-120"/>
              </a:rPr>
              <a:t>PowerPoint · Excel · Enterprise Search · Communications · Email</a:t>
            </a:r>
            <a:endParaRPr lang="en-US" sz="864" dirty="0"/>
          </a:p>
        </p:txBody>
      </p:sp>
      <p:sp>
        <p:nvSpPr>
          <p:cNvPr id="28" name="Text 23"/>
          <p:cNvSpPr/>
          <p:nvPr/>
        </p:nvSpPr>
        <p:spPr>
          <a:xfrm>
            <a:off x="4447946" y="4940503"/>
            <a:ext cx="1437589" cy="261518"/>
          </a:xfrm>
          <a:prstGeom prst="rect">
            <a:avLst/>
          </a:prstGeom>
          <a:noFill/>
          <a:ln/>
        </p:spPr>
        <p:txBody>
          <a:bodyPr wrap="square" rtlCol="0" anchor="t"/>
          <a:lstStyle/>
          <a:p>
            <a:pPr algn="ctr" indent="0" marL="0">
              <a:buNone/>
            </a:pPr>
            <a:r>
              <a:rPr lang="en-US" sz="792" dirty="0">
                <a:solidFill>
                  <a:srgbClr val="9AA0C0"/>
                </a:solidFill>
                <a:latin typeface="Segoe UI" pitchFamily="34" charset="0"/>
                <a:ea typeface="Segoe UI" pitchFamily="34" charset="-122"/>
                <a:cs typeface="Segoe UI" pitchFamily="34" charset="-120"/>
              </a:rPr>
              <a:t>~20 min</a:t>
            </a:r>
            <a:endParaRPr lang="en-US" sz="792" dirty="0"/>
          </a:p>
          <a:p>
            <a:pPr algn="ctr" indent="0" marL="0">
              <a:buNone/>
            </a:pPr>
            <a:r>
              <a:rPr lang="en-US" sz="792" dirty="0">
                <a:solidFill>
                  <a:srgbClr val="9AA0C0"/>
                </a:solidFill>
                <a:latin typeface="Segoe UI" pitchFamily="34" charset="0"/>
                <a:ea typeface="Segoe UI" pitchFamily="34" charset="-122"/>
                <a:cs typeface="Segoe UI" pitchFamily="34" charset="-120"/>
              </a:rPr>
              <a:t> ★★★</a:t>
            </a:r>
            <a:endParaRPr lang="en-US" sz="792" dirty="0"/>
          </a:p>
        </p:txBody>
      </p:sp>
      <p:sp>
        <p:nvSpPr>
          <p:cNvPr id="29" name="Shape 24"/>
          <p:cNvSpPr/>
          <p:nvPr/>
        </p:nvSpPr>
        <p:spPr>
          <a:xfrm>
            <a:off x="6214720" y="1828800"/>
            <a:ext cx="1620469"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0" name="Shape 25"/>
          <p:cNvSpPr/>
          <p:nvPr/>
        </p:nvSpPr>
        <p:spPr>
          <a:xfrm>
            <a:off x="6214720" y="1828800"/>
            <a:ext cx="1620469" cy="109728"/>
          </a:xfrm>
          <a:prstGeom prst="rect">
            <a:avLst/>
          </a:prstGeom>
          <a:solidFill>
            <a:srgbClr val="8A4B08"/>
          </a:solidFill>
          <a:ln/>
        </p:spPr>
      </p:sp>
      <p:sp>
        <p:nvSpPr>
          <p:cNvPr id="31" name="Shape 26"/>
          <p:cNvSpPr/>
          <p:nvPr/>
        </p:nvSpPr>
        <p:spPr>
          <a:xfrm>
            <a:off x="6567754" y="2194560"/>
            <a:ext cx="914400" cy="914400"/>
          </a:xfrm>
          <a:prstGeom prst="ellipse">
            <a:avLst/>
          </a:prstGeom>
          <a:solidFill>
            <a:srgbClr val="8A4B08"/>
          </a:solidFill>
          <a:ln/>
        </p:spPr>
      </p:sp>
      <p:pic>
        <p:nvPicPr>
          <p:cNvPr id="32" name="Image 3" descr="preencoded.png">    </p:cNvPr>
          <p:cNvPicPr>
            <a:picLocks noChangeAspect="1"/>
          </p:cNvPicPr>
          <p:nvPr/>
        </p:nvPicPr>
        <p:blipFill>
          <a:blip r:embed="rId4"/>
          <a:stretch>
            <a:fillRect/>
          </a:stretch>
        </p:blipFill>
        <p:spPr>
          <a:xfrm>
            <a:off x="6768922" y="2395728"/>
            <a:ext cx="512064" cy="512064"/>
          </a:xfrm>
          <a:prstGeom prst="rect">
            <a:avLst/>
          </a:prstGeom>
        </p:spPr>
      </p:pic>
      <p:sp>
        <p:nvSpPr>
          <p:cNvPr id="33" name="Text 27"/>
          <p:cNvSpPr/>
          <p:nvPr/>
        </p:nvSpPr>
        <p:spPr>
          <a:xfrm>
            <a:off x="6306160" y="3163824"/>
            <a:ext cx="1437589" cy="296189"/>
          </a:xfrm>
          <a:prstGeom prst="rect">
            <a:avLst/>
          </a:prstGeom>
          <a:noFill/>
          <a:ln/>
        </p:spPr>
        <p:txBody>
          <a:bodyPr wrap="square" rtlCol="0" anchor="t"/>
          <a:lstStyle/>
          <a:p>
            <a:pPr algn="ctr" indent="0" marL="0">
              <a:buNone/>
            </a:pPr>
            <a:r>
              <a:rPr lang="en-US" sz="897" b="1" dirty="0">
                <a:solidFill>
                  <a:srgbClr val="8A4B08"/>
                </a:solidFill>
                <a:latin typeface="Segoe UI" pitchFamily="34" charset="0"/>
                <a:ea typeface="Segoe UI" pitchFamily="34" charset="-122"/>
                <a:cs typeface="Segoe UI" pitchFamily="34" charset="-120"/>
              </a:rPr>
              <a:t>High-Tech Mfg · Product Engineering</a:t>
            </a:r>
            <a:endParaRPr lang="en-US" sz="897" dirty="0"/>
          </a:p>
        </p:txBody>
      </p:sp>
      <p:sp>
        <p:nvSpPr>
          <p:cNvPr id="34" name="Text 28"/>
          <p:cNvSpPr/>
          <p:nvPr/>
        </p:nvSpPr>
        <p:spPr>
          <a:xfrm>
            <a:off x="6306160" y="3514877"/>
            <a:ext cx="1437589" cy="772668"/>
          </a:xfrm>
          <a:prstGeom prst="rect">
            <a:avLst/>
          </a:prstGeom>
          <a:noFill/>
          <a:ln/>
        </p:spPr>
        <p:txBody>
          <a:bodyPr wrap="square" rtlCol="0" anchor="t"/>
          <a:lstStyle/>
          <a:p>
            <a:pPr algn="ctr" indent="0" marL="0">
              <a:buNone/>
            </a:pPr>
            <a:r>
              <a:rPr lang="en-US" sz="1170" b="1" dirty="0">
                <a:solidFill>
                  <a:srgbClr val="1E2235"/>
                </a:solidFill>
                <a:latin typeface="Segoe UI" pitchFamily="34" charset="0"/>
                <a:ea typeface="Segoe UI" pitchFamily="34" charset="-122"/>
                <a:cs typeface="Segoe UI" pitchFamily="34" charset="-120"/>
              </a:rPr>
              <a:t>Assess Every Discontinuation Notice the Moment It Lands</a:t>
            </a:r>
            <a:endParaRPr lang="en-US" sz="1170" dirty="0"/>
          </a:p>
        </p:txBody>
      </p:sp>
      <p:sp>
        <p:nvSpPr>
          <p:cNvPr id="35" name="Text 29"/>
          <p:cNvSpPr/>
          <p:nvPr/>
        </p:nvSpPr>
        <p:spPr>
          <a:xfrm>
            <a:off x="6306160" y="4369841"/>
            <a:ext cx="1437589" cy="463601"/>
          </a:xfrm>
          <a:prstGeom prst="rect">
            <a:avLst/>
          </a:prstGeom>
          <a:noFill/>
          <a:ln/>
        </p:spPr>
        <p:txBody>
          <a:bodyPr wrap="square" rtlCol="0" anchor="t"/>
          <a:lstStyle/>
          <a:p>
            <a:pPr algn="ctr" indent="0" marL="0">
              <a:lnSpc>
                <a:spcPct val="105000"/>
              </a:lnSpc>
              <a:buNone/>
            </a:pPr>
            <a:r>
              <a:rPr lang="en-US" sz="936" dirty="0">
                <a:solidFill>
                  <a:srgbClr val="5B6079"/>
                </a:solidFill>
                <a:latin typeface="Segoe UI" pitchFamily="34" charset="0"/>
                <a:ea typeface="Segoe UI" pitchFamily="34" charset="-122"/>
                <a:cs typeface="Segoe UI" pitchFamily="34" charset="-120"/>
              </a:rPr>
              <a:t>Event trigger · Email · Excel · Enterprise Search</a:t>
            </a:r>
            <a:endParaRPr lang="en-US" sz="936" dirty="0"/>
          </a:p>
        </p:txBody>
      </p:sp>
      <p:sp>
        <p:nvSpPr>
          <p:cNvPr id="36" name="Text 30"/>
          <p:cNvSpPr/>
          <p:nvPr/>
        </p:nvSpPr>
        <p:spPr>
          <a:xfrm>
            <a:off x="6306160" y="4915738"/>
            <a:ext cx="1437589" cy="283312"/>
          </a:xfrm>
          <a:prstGeom prst="rect">
            <a:avLst/>
          </a:prstGeom>
          <a:noFill/>
          <a:ln/>
        </p:spPr>
        <p:txBody>
          <a:bodyPr wrap="square" rtlCol="0" anchor="t"/>
          <a:lstStyle/>
          <a:p>
            <a:pPr algn="ctr" indent="0" marL="0">
              <a:buNone/>
            </a:pPr>
            <a:r>
              <a:rPr lang="en-US" sz="858" dirty="0">
                <a:solidFill>
                  <a:srgbClr val="9AA0C0"/>
                </a:solidFill>
                <a:latin typeface="Segoe UI" pitchFamily="34" charset="0"/>
                <a:ea typeface="Segoe UI" pitchFamily="34" charset="-122"/>
                <a:cs typeface="Segoe UI" pitchFamily="34" charset="-120"/>
              </a:rPr>
              <a:t>~20 min</a:t>
            </a:r>
            <a:endParaRPr lang="en-US" sz="858" dirty="0"/>
          </a:p>
          <a:p>
            <a:pPr algn="ctr" indent="0" marL="0">
              <a:buNone/>
            </a:pPr>
            <a:r>
              <a:rPr lang="en-US" sz="858" dirty="0">
                <a:solidFill>
                  <a:srgbClr val="9AA0C0"/>
                </a:solidFill>
                <a:latin typeface="Segoe UI" pitchFamily="34" charset="0"/>
                <a:ea typeface="Segoe UI" pitchFamily="34" charset="-122"/>
                <a:cs typeface="Segoe UI" pitchFamily="34" charset="-120"/>
              </a:rPr>
              <a:t> ★★★</a:t>
            </a:r>
            <a:endParaRPr lang="en-US" sz="858" dirty="0"/>
          </a:p>
        </p:txBody>
      </p:sp>
      <p:sp>
        <p:nvSpPr>
          <p:cNvPr id="37" name="Shape 31"/>
          <p:cNvSpPr/>
          <p:nvPr/>
        </p:nvSpPr>
        <p:spPr>
          <a:xfrm>
            <a:off x="8072933" y="1828800"/>
            <a:ext cx="1620469"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38" name="Shape 32"/>
          <p:cNvSpPr/>
          <p:nvPr/>
        </p:nvSpPr>
        <p:spPr>
          <a:xfrm>
            <a:off x="8072933" y="1828800"/>
            <a:ext cx="1620469" cy="109728"/>
          </a:xfrm>
          <a:prstGeom prst="rect">
            <a:avLst/>
          </a:prstGeom>
          <a:solidFill>
            <a:srgbClr val="14532D"/>
          </a:solidFill>
          <a:ln/>
        </p:spPr>
      </p:sp>
      <p:sp>
        <p:nvSpPr>
          <p:cNvPr id="39" name="Shape 33"/>
          <p:cNvSpPr/>
          <p:nvPr/>
        </p:nvSpPr>
        <p:spPr>
          <a:xfrm>
            <a:off x="8425967" y="2194560"/>
            <a:ext cx="914400" cy="914400"/>
          </a:xfrm>
          <a:prstGeom prst="ellipse">
            <a:avLst/>
          </a:prstGeom>
          <a:solidFill>
            <a:srgbClr val="14532D"/>
          </a:solidFill>
          <a:ln/>
        </p:spPr>
      </p:sp>
      <p:pic>
        <p:nvPicPr>
          <p:cNvPr id="40" name="Image 4" descr="preencoded.png">    </p:cNvPr>
          <p:cNvPicPr>
            <a:picLocks noChangeAspect="1"/>
          </p:cNvPicPr>
          <p:nvPr/>
        </p:nvPicPr>
        <p:blipFill>
          <a:blip r:embed="rId5"/>
          <a:stretch>
            <a:fillRect/>
          </a:stretch>
        </p:blipFill>
        <p:spPr>
          <a:xfrm>
            <a:off x="8627135" y="2395728"/>
            <a:ext cx="512064" cy="512064"/>
          </a:xfrm>
          <a:prstGeom prst="rect">
            <a:avLst/>
          </a:prstGeom>
        </p:spPr>
      </p:pic>
      <p:sp>
        <p:nvSpPr>
          <p:cNvPr id="41" name="Text 34"/>
          <p:cNvSpPr/>
          <p:nvPr/>
        </p:nvSpPr>
        <p:spPr>
          <a:xfrm>
            <a:off x="8164373" y="3163824"/>
            <a:ext cx="1437589" cy="296189"/>
          </a:xfrm>
          <a:prstGeom prst="rect">
            <a:avLst/>
          </a:prstGeom>
          <a:noFill/>
          <a:ln/>
        </p:spPr>
        <p:txBody>
          <a:bodyPr wrap="square" rtlCol="0" anchor="t"/>
          <a:lstStyle/>
          <a:p>
            <a:pPr algn="ctr" indent="0" marL="0">
              <a:buNone/>
            </a:pPr>
            <a:r>
              <a:rPr lang="en-US" sz="897" b="1" dirty="0">
                <a:solidFill>
                  <a:srgbClr val="14532D"/>
                </a:solidFill>
                <a:latin typeface="Segoe UI" pitchFamily="34" charset="0"/>
                <a:ea typeface="Segoe UI" pitchFamily="34" charset="-122"/>
                <a:cs typeface="Segoe UI" pitchFamily="34" charset="-120"/>
              </a:rPr>
              <a:t>High-Tech Mfg · Product Engineering</a:t>
            </a:r>
            <a:endParaRPr lang="en-US" sz="897" dirty="0"/>
          </a:p>
        </p:txBody>
      </p:sp>
      <p:sp>
        <p:nvSpPr>
          <p:cNvPr id="42" name="Text 35"/>
          <p:cNvSpPr/>
          <p:nvPr/>
        </p:nvSpPr>
        <p:spPr>
          <a:xfrm>
            <a:off x="8164373" y="3514877"/>
            <a:ext cx="1437589" cy="772668"/>
          </a:xfrm>
          <a:prstGeom prst="rect">
            <a:avLst/>
          </a:prstGeom>
          <a:noFill/>
          <a:ln/>
        </p:spPr>
        <p:txBody>
          <a:bodyPr wrap="square" rtlCol="0" anchor="t"/>
          <a:lstStyle/>
          <a:p>
            <a:pPr algn="ctr" indent="0" marL="0">
              <a:buNone/>
            </a:pPr>
            <a:r>
              <a:rPr lang="en-US" sz="1170" b="1" dirty="0">
                <a:solidFill>
                  <a:srgbClr val="1E2235"/>
                </a:solidFill>
                <a:latin typeface="Segoe UI" pitchFamily="34" charset="0"/>
                <a:ea typeface="Segoe UI" pitchFamily="34" charset="-122"/>
                <a:cs typeface="Segoe UI" pitchFamily="34" charset="-120"/>
              </a:rPr>
              <a:t>Eight Audit Findings That Look Like Eight Problems</a:t>
            </a:r>
            <a:endParaRPr lang="en-US" sz="1170" dirty="0"/>
          </a:p>
        </p:txBody>
      </p:sp>
      <p:sp>
        <p:nvSpPr>
          <p:cNvPr id="43" name="Text 36"/>
          <p:cNvSpPr/>
          <p:nvPr/>
        </p:nvSpPr>
        <p:spPr>
          <a:xfrm>
            <a:off x="8164373" y="4369841"/>
            <a:ext cx="1437589" cy="463601"/>
          </a:xfrm>
          <a:prstGeom prst="rect">
            <a:avLst/>
          </a:prstGeom>
          <a:noFill/>
          <a:ln/>
        </p:spPr>
        <p:txBody>
          <a:bodyPr wrap="square" rtlCol="0" anchor="t"/>
          <a:lstStyle/>
          <a:p>
            <a:pPr algn="ctr" indent="0" marL="0">
              <a:lnSpc>
                <a:spcPct val="105000"/>
              </a:lnSpc>
              <a:buNone/>
            </a:pPr>
            <a:r>
              <a:rPr lang="en-US" sz="936" dirty="0">
                <a:solidFill>
                  <a:srgbClr val="5B6079"/>
                </a:solidFill>
                <a:latin typeface="Segoe UI" pitchFamily="34" charset="0"/>
                <a:ea typeface="Segoe UI" pitchFamily="34" charset="-122"/>
                <a:cs typeface="Segoe UI" pitchFamily="34" charset="-120"/>
              </a:rPr>
              <a:t>File upload · PDF · Enterprise Search · Word · Scheduling</a:t>
            </a:r>
            <a:endParaRPr lang="en-US" sz="936" dirty="0"/>
          </a:p>
        </p:txBody>
      </p:sp>
      <p:sp>
        <p:nvSpPr>
          <p:cNvPr id="44" name="Text 37"/>
          <p:cNvSpPr/>
          <p:nvPr/>
        </p:nvSpPr>
        <p:spPr>
          <a:xfrm>
            <a:off x="8164373" y="4915738"/>
            <a:ext cx="1437589" cy="283312"/>
          </a:xfrm>
          <a:prstGeom prst="rect">
            <a:avLst/>
          </a:prstGeom>
          <a:noFill/>
          <a:ln/>
        </p:spPr>
        <p:txBody>
          <a:bodyPr wrap="square" rtlCol="0" anchor="t"/>
          <a:lstStyle/>
          <a:p>
            <a:pPr algn="ctr" indent="0" marL="0">
              <a:buNone/>
            </a:pPr>
            <a:r>
              <a:rPr lang="en-US" sz="858" dirty="0">
                <a:solidFill>
                  <a:srgbClr val="9AA0C0"/>
                </a:solidFill>
                <a:latin typeface="Segoe UI" pitchFamily="34" charset="0"/>
                <a:ea typeface="Segoe UI" pitchFamily="34" charset="-122"/>
                <a:cs typeface="Segoe UI" pitchFamily="34" charset="-120"/>
              </a:rPr>
              <a:t>~20 min</a:t>
            </a:r>
            <a:endParaRPr lang="en-US" sz="858" dirty="0"/>
          </a:p>
          <a:p>
            <a:pPr algn="ctr" indent="0" marL="0">
              <a:buNone/>
            </a:pPr>
            <a:r>
              <a:rPr lang="en-US" sz="858" dirty="0">
                <a:solidFill>
                  <a:srgbClr val="9AA0C0"/>
                </a:solidFill>
                <a:latin typeface="Segoe UI" pitchFamily="34" charset="0"/>
                <a:ea typeface="Segoe UI" pitchFamily="34" charset="-122"/>
                <a:cs typeface="Segoe UI" pitchFamily="34" charset="-120"/>
              </a:rPr>
              <a:t> ★★★</a:t>
            </a:r>
            <a:endParaRPr lang="en-US" sz="858" dirty="0"/>
          </a:p>
        </p:txBody>
      </p:sp>
      <p:sp>
        <p:nvSpPr>
          <p:cNvPr id="45" name="Shape 38"/>
          <p:cNvSpPr/>
          <p:nvPr/>
        </p:nvSpPr>
        <p:spPr>
          <a:xfrm>
            <a:off x="9931146" y="1828800"/>
            <a:ext cx="1620469" cy="3794760"/>
          </a:xfrm>
          <a:prstGeom prst="rect">
            <a:avLst/>
          </a:prstGeom>
          <a:solidFill>
            <a:srgbClr val="FFFFFF"/>
          </a:solidFill>
          <a:ln w="12700">
            <a:solidFill>
              <a:srgbClr val="E4E7F2"/>
            </a:solidFill>
            <a:prstDash val="solid"/>
          </a:ln>
          <a:effectLst>
            <a:outerShdw sx="100000" sy="100000" kx="0" ky="0" algn="bl" rotWithShape="0" blurRad="88900" dist="25400" dir="5400000">
              <a:srgbClr val="9AA0C0">
                <a:alpha val="16000"/>
              </a:srgbClr>
            </a:outerShdw>
          </a:effectLst>
        </p:spPr>
      </p:sp>
      <p:sp>
        <p:nvSpPr>
          <p:cNvPr id="46" name="Shape 39"/>
          <p:cNvSpPr/>
          <p:nvPr/>
        </p:nvSpPr>
        <p:spPr>
          <a:xfrm>
            <a:off x="9931146" y="1828800"/>
            <a:ext cx="1620469" cy="109728"/>
          </a:xfrm>
          <a:prstGeom prst="rect">
            <a:avLst/>
          </a:prstGeom>
          <a:solidFill>
            <a:srgbClr val="7C2D12"/>
          </a:solidFill>
          <a:ln/>
        </p:spPr>
      </p:sp>
      <p:sp>
        <p:nvSpPr>
          <p:cNvPr id="47" name="Shape 40"/>
          <p:cNvSpPr/>
          <p:nvPr/>
        </p:nvSpPr>
        <p:spPr>
          <a:xfrm>
            <a:off x="10284181" y="2194560"/>
            <a:ext cx="914400" cy="914400"/>
          </a:xfrm>
          <a:prstGeom prst="ellipse">
            <a:avLst/>
          </a:prstGeom>
          <a:solidFill>
            <a:srgbClr val="7C2D12"/>
          </a:solidFill>
          <a:ln/>
        </p:spPr>
      </p:sp>
      <p:pic>
        <p:nvPicPr>
          <p:cNvPr id="48" name="Image 5" descr="preencoded.png">    </p:cNvPr>
          <p:cNvPicPr>
            <a:picLocks noChangeAspect="1"/>
          </p:cNvPicPr>
          <p:nvPr/>
        </p:nvPicPr>
        <p:blipFill>
          <a:blip r:embed="rId6"/>
          <a:stretch>
            <a:fillRect/>
          </a:stretch>
        </p:blipFill>
        <p:spPr>
          <a:xfrm>
            <a:off x="10485349" y="2395728"/>
            <a:ext cx="512064" cy="512064"/>
          </a:xfrm>
          <a:prstGeom prst="rect">
            <a:avLst/>
          </a:prstGeom>
        </p:spPr>
      </p:pic>
      <p:sp>
        <p:nvSpPr>
          <p:cNvPr id="49" name="Text 41"/>
          <p:cNvSpPr/>
          <p:nvPr/>
        </p:nvSpPr>
        <p:spPr>
          <a:xfrm>
            <a:off x="10022586" y="3163824"/>
            <a:ext cx="1437589" cy="296189"/>
          </a:xfrm>
          <a:prstGeom prst="rect">
            <a:avLst/>
          </a:prstGeom>
          <a:noFill/>
          <a:ln/>
        </p:spPr>
        <p:txBody>
          <a:bodyPr wrap="square" rtlCol="0" anchor="t"/>
          <a:lstStyle/>
          <a:p>
            <a:pPr algn="ctr" indent="0" marL="0">
              <a:buNone/>
            </a:pPr>
            <a:r>
              <a:rPr lang="en-US" sz="897" b="1" dirty="0">
                <a:solidFill>
                  <a:srgbClr val="7C2D12"/>
                </a:solidFill>
                <a:latin typeface="Segoe UI" pitchFamily="34" charset="0"/>
                <a:ea typeface="Segoe UI" pitchFamily="34" charset="-122"/>
                <a:cs typeface="Segoe UI" pitchFamily="34" charset="-120"/>
              </a:rPr>
              <a:t>High-Tech Mfg · Product Engineering</a:t>
            </a:r>
            <a:endParaRPr lang="en-US" sz="897" dirty="0"/>
          </a:p>
        </p:txBody>
      </p:sp>
      <p:sp>
        <p:nvSpPr>
          <p:cNvPr id="50" name="Text 42"/>
          <p:cNvSpPr/>
          <p:nvPr/>
        </p:nvSpPr>
        <p:spPr>
          <a:xfrm>
            <a:off x="10022586" y="3514877"/>
            <a:ext cx="1437589" cy="772668"/>
          </a:xfrm>
          <a:prstGeom prst="rect">
            <a:avLst/>
          </a:prstGeom>
          <a:noFill/>
          <a:ln/>
        </p:spPr>
        <p:txBody>
          <a:bodyPr wrap="square" rtlCol="0" anchor="t"/>
          <a:lstStyle/>
          <a:p>
            <a:pPr algn="ctr" indent="0" marL="0">
              <a:buNone/>
            </a:pPr>
            <a:r>
              <a:rPr lang="en-US" sz="1170" b="1" dirty="0">
                <a:solidFill>
                  <a:srgbClr val="1E2235"/>
                </a:solidFill>
                <a:latin typeface="Segoe UI" pitchFamily="34" charset="0"/>
                <a:ea typeface="Segoe UI" pitchFamily="34" charset="-122"/>
                <a:cs typeface="Segoe UI" pitchFamily="34" charset="-120"/>
              </a:rPr>
              <a:t>Sample Release Checks, Turned into a Lasting Asset</a:t>
            </a:r>
            <a:endParaRPr lang="en-US" sz="1170" dirty="0"/>
          </a:p>
        </p:txBody>
      </p:sp>
      <p:sp>
        <p:nvSpPr>
          <p:cNvPr id="51" name="Text 43"/>
          <p:cNvSpPr/>
          <p:nvPr/>
        </p:nvSpPr>
        <p:spPr>
          <a:xfrm>
            <a:off x="10022586" y="4369841"/>
            <a:ext cx="1437589" cy="463601"/>
          </a:xfrm>
          <a:prstGeom prst="rect">
            <a:avLst/>
          </a:prstGeom>
          <a:noFill/>
          <a:ln/>
        </p:spPr>
        <p:txBody>
          <a:bodyPr wrap="square" rtlCol="0" anchor="t"/>
          <a:lstStyle/>
          <a:p>
            <a:pPr algn="ctr" indent="0" marL="0">
              <a:lnSpc>
                <a:spcPct val="105000"/>
              </a:lnSpc>
              <a:buNone/>
            </a:pPr>
            <a:r>
              <a:rPr lang="en-US" sz="936" dirty="0">
                <a:solidFill>
                  <a:srgbClr val="5B6079"/>
                </a:solidFill>
                <a:latin typeface="Segoe UI" pitchFamily="34" charset="0"/>
                <a:ea typeface="Segoe UI" pitchFamily="34" charset="-122"/>
                <a:cs typeface="Segoe UI" pitchFamily="34" charset="-120"/>
              </a:rPr>
              <a:t>File upload · Excel · Enterprise Search · Custom skill</a:t>
            </a:r>
            <a:endParaRPr lang="en-US" sz="936" dirty="0"/>
          </a:p>
        </p:txBody>
      </p:sp>
      <p:sp>
        <p:nvSpPr>
          <p:cNvPr id="52" name="Text 44"/>
          <p:cNvSpPr/>
          <p:nvPr/>
        </p:nvSpPr>
        <p:spPr>
          <a:xfrm>
            <a:off x="10022586" y="4915738"/>
            <a:ext cx="1437589" cy="283312"/>
          </a:xfrm>
          <a:prstGeom prst="rect">
            <a:avLst/>
          </a:prstGeom>
          <a:noFill/>
          <a:ln/>
        </p:spPr>
        <p:txBody>
          <a:bodyPr wrap="square" rtlCol="0" anchor="t"/>
          <a:lstStyle/>
          <a:p>
            <a:pPr algn="ctr" indent="0" marL="0">
              <a:buNone/>
            </a:pPr>
            <a:r>
              <a:rPr lang="en-US" sz="858" dirty="0">
                <a:solidFill>
                  <a:srgbClr val="9AA0C0"/>
                </a:solidFill>
                <a:latin typeface="Segoe UI" pitchFamily="34" charset="0"/>
                <a:ea typeface="Segoe UI" pitchFamily="34" charset="-122"/>
                <a:cs typeface="Segoe UI" pitchFamily="34" charset="-120"/>
              </a:rPr>
              <a:t>~22 min</a:t>
            </a:r>
            <a:endParaRPr lang="en-US" sz="858" dirty="0"/>
          </a:p>
          <a:p>
            <a:pPr algn="ctr" indent="0" marL="0">
              <a:buNone/>
            </a:pPr>
            <a:r>
              <a:rPr lang="en-US" sz="858" dirty="0">
                <a:solidFill>
                  <a:srgbClr val="9AA0C0"/>
                </a:solidFill>
                <a:latin typeface="Segoe UI" pitchFamily="34" charset="0"/>
                <a:ea typeface="Segoe UI" pitchFamily="34" charset="-122"/>
                <a:cs typeface="Segoe UI" pitchFamily="34" charset="-120"/>
              </a:rPr>
              <a:t> ★★★</a:t>
            </a:r>
            <a:endParaRPr lang="en-US" sz="858" dirty="0"/>
          </a:p>
        </p:txBody>
      </p:sp>
      <p:sp>
        <p:nvSpPr>
          <p:cNvPr id="53" name="Text 4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54" name="Text 4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F4E79"/>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F4E79"/>
                </a:solidFill>
                <a:latin typeface="Segoe UI" pitchFamily="34" charset="0"/>
                <a:ea typeface="Segoe UI" pitchFamily="34" charset="-122"/>
                <a:cs typeface="Segoe UI" pitchFamily="34" charset="-120"/>
              </a:rPr>
              <a:t>Scenario 01</a:t>
            </a:r>
            <a:endParaRPr lang="en-US" sz="1400" dirty="0"/>
          </a:p>
        </p:txBody>
      </p:sp>
      <p:sp>
        <p:nvSpPr>
          <p:cNvPr id="5" name="Shape 3"/>
          <p:cNvSpPr/>
          <p:nvPr/>
        </p:nvSpPr>
        <p:spPr>
          <a:xfrm>
            <a:off x="502920" y="1143000"/>
            <a:ext cx="1097280" cy="1097280"/>
          </a:xfrm>
          <a:prstGeom prst="ellipse">
            <a:avLst/>
          </a:prstGeom>
          <a:solidFill>
            <a:srgbClr val="1F4E79"/>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High-Tech Mfg · Product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Shift Handover: Which Lot Can Actually Move Today</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~15 min · Level ★★☆</a:t>
            </a:r>
            <a:endParaRPr lang="en-US" sz="1300" dirty="0"/>
          </a:p>
        </p:txBody>
      </p:sp>
      <p:sp>
        <p:nvSpPr>
          <p:cNvPr id="10" name="Shape 7"/>
          <p:cNvSpPr/>
          <p:nvPr/>
        </p:nvSpPr>
        <p:spPr>
          <a:xfrm>
            <a:off x="502920" y="4572000"/>
            <a:ext cx="1719072" cy="329184"/>
          </a:xfrm>
          <a:prstGeom prst="roundRect">
            <a:avLst>
              <a:gd name="adj" fmla="val 50000"/>
            </a:avLst>
          </a:prstGeom>
          <a:solidFill>
            <a:srgbClr val="6366F1"/>
          </a:solidFill>
          <a:ln/>
        </p:spPr>
      </p:sp>
      <p:sp>
        <p:nvSpPr>
          <p:cNvPr id="11" name="Text 8"/>
          <p:cNvSpPr/>
          <p:nvPr/>
        </p:nvSpPr>
        <p:spPr>
          <a:xfrm>
            <a:off x="502920" y="4572000"/>
            <a:ext cx="171907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Daily Briefing</a:t>
            </a:r>
            <a:endParaRPr lang="en-US" sz="1050" dirty="0"/>
          </a:p>
        </p:txBody>
      </p:sp>
      <p:sp>
        <p:nvSpPr>
          <p:cNvPr id="12" name="Shape 9"/>
          <p:cNvSpPr/>
          <p:nvPr/>
        </p:nvSpPr>
        <p:spPr>
          <a:xfrm>
            <a:off x="502920" y="4956048"/>
            <a:ext cx="2020824" cy="329184"/>
          </a:xfrm>
          <a:prstGeom prst="roundRect">
            <a:avLst>
              <a:gd name="adj" fmla="val 50000"/>
            </a:avLst>
          </a:prstGeom>
          <a:solidFill>
            <a:srgbClr val="6366F1"/>
          </a:solidFill>
          <a:ln/>
        </p:spPr>
      </p:sp>
      <p:sp>
        <p:nvSpPr>
          <p:cNvPr id="13" name="Text 10"/>
          <p:cNvSpPr/>
          <p:nvPr/>
        </p:nvSpPr>
        <p:spPr>
          <a:xfrm>
            <a:off x="502920" y="4956048"/>
            <a:ext cx="2020824"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Enterprise Search</a:t>
            </a:r>
            <a:endParaRPr lang="en-US" sz="1050" dirty="0"/>
          </a:p>
        </p:txBody>
      </p:sp>
      <p:sp>
        <p:nvSpPr>
          <p:cNvPr id="14" name="Shape 11"/>
          <p:cNvSpPr/>
          <p:nvPr/>
        </p:nvSpPr>
        <p:spPr>
          <a:xfrm>
            <a:off x="2706624" y="4956048"/>
            <a:ext cx="813816" cy="329184"/>
          </a:xfrm>
          <a:prstGeom prst="roundRect">
            <a:avLst>
              <a:gd name="adj" fmla="val 50000"/>
            </a:avLst>
          </a:prstGeom>
          <a:solidFill>
            <a:srgbClr val="217346"/>
          </a:solidFill>
          <a:ln/>
        </p:spPr>
      </p:sp>
      <p:sp>
        <p:nvSpPr>
          <p:cNvPr id="15" name="Text 12"/>
          <p:cNvSpPr/>
          <p:nvPr/>
        </p:nvSpPr>
        <p:spPr>
          <a:xfrm>
            <a:off x="2706624" y="4956048"/>
            <a:ext cx="813816"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Excel</a:t>
            </a:r>
            <a:endParaRPr lang="en-US" sz="1050" dirty="0"/>
          </a:p>
        </p:txBody>
      </p:sp>
      <p:sp>
        <p:nvSpPr>
          <p:cNvPr id="16" name="Shape 13"/>
          <p:cNvSpPr/>
          <p:nvPr/>
        </p:nvSpPr>
        <p:spPr>
          <a:xfrm>
            <a:off x="502920" y="5340096"/>
            <a:ext cx="2221992" cy="329184"/>
          </a:xfrm>
          <a:prstGeom prst="roundRect">
            <a:avLst>
              <a:gd name="adj" fmla="val 50000"/>
            </a:avLst>
          </a:prstGeom>
          <a:solidFill>
            <a:srgbClr val="6366F1"/>
          </a:solidFill>
          <a:ln/>
        </p:spPr>
      </p:sp>
      <p:sp>
        <p:nvSpPr>
          <p:cNvPr id="17" name="Text 14"/>
          <p:cNvSpPr/>
          <p:nvPr/>
        </p:nvSpPr>
        <p:spPr>
          <a:xfrm>
            <a:off x="502920" y="5340096"/>
            <a:ext cx="222199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Calendar Management</a:t>
            </a:r>
            <a:endParaRPr lang="en-US" sz="1050" dirty="0"/>
          </a:p>
        </p:txBody>
      </p:sp>
      <p:sp>
        <p:nvSpPr>
          <p:cNvPr id="18" name="Shape 15"/>
          <p:cNvSpPr/>
          <p:nvPr/>
        </p:nvSpPr>
        <p:spPr>
          <a:xfrm>
            <a:off x="502920" y="5724144"/>
            <a:ext cx="1920240" cy="329184"/>
          </a:xfrm>
          <a:prstGeom prst="roundRect">
            <a:avLst>
              <a:gd name="adj" fmla="val 50000"/>
            </a:avLst>
          </a:prstGeom>
          <a:solidFill>
            <a:srgbClr val="6366F1"/>
          </a:solidFill>
          <a:ln/>
        </p:spPr>
      </p:sp>
      <p:sp>
        <p:nvSpPr>
          <p:cNvPr id="19" name="Text 16"/>
          <p:cNvSpPr/>
          <p:nvPr/>
        </p:nvSpPr>
        <p:spPr>
          <a:xfrm>
            <a:off x="502920" y="5724144"/>
            <a:ext cx="1920240"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Scheduled prompt</a:t>
            </a:r>
            <a:endParaRPr lang="en-US" sz="1050" dirty="0"/>
          </a:p>
        </p:txBody>
      </p:sp>
      <p:sp>
        <p:nvSpPr>
          <p:cNvPr id="20" name="Text 17"/>
          <p:cNvSpPr/>
          <p:nvPr/>
        </p:nvSpPr>
        <p:spPr>
          <a:xfrm>
            <a:off x="4526280" y="566928"/>
            <a:ext cx="7132320" cy="1371600"/>
          </a:xfrm>
          <a:prstGeom prst="rect">
            <a:avLst/>
          </a:prstGeom>
          <a:noFill/>
          <a:ln/>
        </p:spPr>
        <p:txBody>
          <a:bodyPr wrap="square" rtlCol="0" anchor="t"/>
          <a:lstStyle/>
          <a:p>
            <a:pPr indent="0" marL="0">
              <a:lnSpc>
                <a:spcPct val="130000"/>
              </a:lnSpc>
              <a:buNone/>
            </a:pPr>
            <a:r>
              <a:rPr lang="en-US" sz="1500" dirty="0">
                <a:solidFill>
                  <a:srgbClr val="D7D9F0"/>
                </a:solidFill>
                <a:latin typeface="Segoe UI" pitchFamily="34" charset="0"/>
                <a:ea typeface="Segoe UI" pitchFamily="34" charset="-122"/>
                <a:cs typeface="Segoe UI" pitchFamily="34" charset="-120"/>
              </a:rPr>
              <a:t>You get in at 7:50. The night shift has left one page of handover notes and the hold list has eight entries. The notes say "W-2614 released from hold, day shift can resume" — that sentence is only half true, and the lot has been sitting after mold for too long anyway.</a:t>
            </a:r>
            <a:endParaRPr lang="en-US" sz="1500" dirty="0"/>
          </a:p>
        </p:txBody>
      </p:sp>
      <p:sp>
        <p:nvSpPr>
          <p:cNvPr id="21" name="Text 18"/>
          <p:cNvSpPr/>
          <p:nvPr/>
        </p:nvSpPr>
        <p:spPr>
          <a:xfrm>
            <a:off x="4526280" y="2066544"/>
            <a:ext cx="7132320" cy="365760"/>
          </a:xfrm>
          <a:prstGeom prst="rect">
            <a:avLst/>
          </a:prstGeom>
          <a:noFill/>
          <a:ln/>
        </p:spPr>
        <p:txBody>
          <a:bodyPr wrap="square" rtlCol="0" anchor="ctr"/>
          <a:lstStyle/>
          <a:p>
            <a:pPr indent="0" marL="0">
              <a:buNone/>
            </a:pPr>
            <a:r>
              <a:rPr lang="en-US" sz="1500" b="1" dirty="0">
                <a:solidFill>
                  <a:srgbClr val="1F4E79"/>
                </a:solidFill>
                <a:latin typeface="Segoe UI" pitchFamily="34" charset="0"/>
                <a:ea typeface="Segoe UI" pitchFamily="34" charset="-122"/>
                <a:cs typeface="Segoe UI" pitchFamily="34" charset="-120"/>
              </a:rPr>
              <a:t>Agentic workflow</a:t>
            </a:r>
            <a:endParaRPr lang="en-US" sz="1500" dirty="0"/>
          </a:p>
        </p:txBody>
      </p:sp>
      <p:sp>
        <p:nvSpPr>
          <p:cNvPr id="22" name="Shape 19"/>
          <p:cNvSpPr/>
          <p:nvPr/>
        </p:nvSpPr>
        <p:spPr>
          <a:xfrm>
            <a:off x="4526280" y="2523744"/>
            <a:ext cx="457200" cy="457200"/>
          </a:xfrm>
          <a:prstGeom prst="ellipse">
            <a:avLst/>
          </a:prstGeom>
          <a:solidFill>
            <a:srgbClr val="FFFFFF">
              <a:alpha val="12000"/>
            </a:srgbClr>
          </a:solidFill>
          <a:ln w="19050">
            <a:solidFill>
              <a:srgbClr val="1F4E79"/>
            </a:solidFill>
            <a:prstDash val="solid"/>
          </a:ln>
        </p:spPr>
      </p:sp>
      <p:sp>
        <p:nvSpPr>
          <p:cNvPr id="23" name="Text 20"/>
          <p:cNvSpPr/>
          <p:nvPr/>
        </p:nvSpPr>
        <p:spPr>
          <a:xfrm>
            <a:off x="4526280" y="2523744"/>
            <a:ext cx="457200" cy="457200"/>
          </a:xfrm>
          <a:prstGeom prst="rect">
            <a:avLst/>
          </a:prstGeom>
          <a:noFill/>
          <a:ln/>
        </p:spPr>
        <p:txBody>
          <a:bodyPr wrap="square" rtlCol="0" anchor="ctr"/>
          <a:lstStyle/>
          <a:p>
            <a:pPr algn="ctr" indent="0" marL="0">
              <a:buNone/>
            </a:pPr>
            <a:r>
              <a:rPr lang="en-US" sz="1600" b="1" dirty="0">
                <a:solidFill>
                  <a:srgbClr val="1F4E79"/>
                </a:solidFill>
                <a:latin typeface="Segoe UI" pitchFamily="34" charset="0"/>
                <a:ea typeface="Segoe UI" pitchFamily="34" charset="-122"/>
                <a:cs typeface="Segoe UI" pitchFamily="34" charset="-120"/>
              </a:rPr>
              <a:t>1</a:t>
            </a:r>
            <a:endParaRPr lang="en-US" sz="1600" dirty="0"/>
          </a:p>
        </p:txBody>
      </p:sp>
      <p:sp>
        <p:nvSpPr>
          <p:cNvPr id="24" name="Text 21"/>
          <p:cNvSpPr/>
          <p:nvPr/>
        </p:nvSpPr>
        <p:spPr>
          <a:xfrm>
            <a:off x="5166360" y="250545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Run the morning handover briefing once</a:t>
            </a:r>
            <a:endParaRPr lang="en-US" sz="1600" dirty="0"/>
          </a:p>
        </p:txBody>
      </p:sp>
      <p:sp>
        <p:nvSpPr>
          <p:cNvPr id="25" name="Text 22"/>
          <p:cNvSpPr/>
          <p:nvPr/>
        </p:nvSpPr>
        <p:spPr>
          <a:xfrm>
            <a:off x="5166360" y="287121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The material is already in Cowork_Lab…</a:t>
            </a:r>
            <a:endParaRPr lang="en-US" sz="1300" dirty="0"/>
          </a:p>
        </p:txBody>
      </p:sp>
      <p:sp>
        <p:nvSpPr>
          <p:cNvPr id="26" name="Shape 23"/>
          <p:cNvSpPr/>
          <p:nvPr/>
        </p:nvSpPr>
        <p:spPr>
          <a:xfrm>
            <a:off x="4526280" y="3493008"/>
            <a:ext cx="457200" cy="457200"/>
          </a:xfrm>
          <a:prstGeom prst="ellipse">
            <a:avLst/>
          </a:prstGeom>
          <a:solidFill>
            <a:srgbClr val="FFFFFF">
              <a:alpha val="12000"/>
            </a:srgbClr>
          </a:solidFill>
          <a:ln w="19050">
            <a:solidFill>
              <a:srgbClr val="1F4E79"/>
            </a:solidFill>
            <a:prstDash val="solid"/>
          </a:ln>
        </p:spPr>
      </p:sp>
      <p:sp>
        <p:nvSpPr>
          <p:cNvPr id="27" name="Text 24"/>
          <p:cNvSpPr/>
          <p:nvPr/>
        </p:nvSpPr>
        <p:spPr>
          <a:xfrm>
            <a:off x="4526280" y="3493008"/>
            <a:ext cx="457200" cy="457200"/>
          </a:xfrm>
          <a:prstGeom prst="rect">
            <a:avLst/>
          </a:prstGeom>
          <a:noFill/>
          <a:ln/>
        </p:spPr>
        <p:txBody>
          <a:bodyPr wrap="square" rtlCol="0" anchor="ctr"/>
          <a:lstStyle/>
          <a:p>
            <a:pPr algn="ctr" indent="0" marL="0">
              <a:buNone/>
            </a:pPr>
            <a:r>
              <a:rPr lang="en-US" sz="1600" b="1" dirty="0">
                <a:solidFill>
                  <a:srgbClr val="1F4E79"/>
                </a:solidFill>
                <a:latin typeface="Segoe UI" pitchFamily="34" charset="0"/>
                <a:ea typeface="Segoe UI" pitchFamily="34" charset="-122"/>
                <a:cs typeface="Segoe UI" pitchFamily="34" charset="-120"/>
              </a:rPr>
              <a:t>2</a:t>
            </a:r>
            <a:endParaRPr lang="en-US" sz="1600" dirty="0"/>
          </a:p>
        </p:txBody>
      </p:sp>
      <p:sp>
        <p:nvSpPr>
          <p:cNvPr id="28" name="Text 25"/>
          <p:cNvSpPr/>
          <p:nvPr/>
        </p:nvSpPr>
        <p:spPr>
          <a:xfrm>
            <a:off x="5166360" y="34747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Ask about the lot the handover says is clear</a:t>
            </a:r>
            <a:endParaRPr lang="en-US" sz="1600" dirty="0"/>
          </a:p>
        </p:txBody>
      </p:sp>
      <p:sp>
        <p:nvSpPr>
          <p:cNvPr id="29" name="Text 26"/>
          <p:cNvSpPr/>
          <p:nvPr/>
        </p:nvSpPr>
        <p:spPr>
          <a:xfrm>
            <a:off x="5166360" y="38404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Ask this in the same session — do not start a new one.。</a:t>
            </a:r>
            <a:endParaRPr lang="en-US" sz="1300" dirty="0"/>
          </a:p>
        </p:txBody>
      </p:sp>
      <p:sp>
        <p:nvSpPr>
          <p:cNvPr id="30" name="Shape 27"/>
          <p:cNvSpPr/>
          <p:nvPr/>
        </p:nvSpPr>
        <p:spPr>
          <a:xfrm>
            <a:off x="4526280" y="4462272"/>
            <a:ext cx="457200" cy="457200"/>
          </a:xfrm>
          <a:prstGeom prst="ellipse">
            <a:avLst/>
          </a:prstGeom>
          <a:solidFill>
            <a:srgbClr val="FFFFFF">
              <a:alpha val="12000"/>
            </a:srgbClr>
          </a:solidFill>
          <a:ln w="19050">
            <a:solidFill>
              <a:srgbClr val="1F4E79"/>
            </a:solidFill>
            <a:prstDash val="solid"/>
          </a:ln>
        </p:spPr>
      </p:sp>
      <p:sp>
        <p:nvSpPr>
          <p:cNvPr id="31" name="Text 28"/>
          <p:cNvSpPr/>
          <p:nvPr/>
        </p:nvSpPr>
        <p:spPr>
          <a:xfrm>
            <a:off x="4526280" y="4462272"/>
            <a:ext cx="457200" cy="457200"/>
          </a:xfrm>
          <a:prstGeom prst="rect">
            <a:avLst/>
          </a:prstGeom>
          <a:noFill/>
          <a:ln/>
        </p:spPr>
        <p:txBody>
          <a:bodyPr wrap="square" rtlCol="0" anchor="ctr"/>
          <a:lstStyle/>
          <a:p>
            <a:pPr algn="ctr" indent="0" marL="0">
              <a:buNone/>
            </a:pPr>
            <a:r>
              <a:rPr lang="en-US" sz="1600" b="1" dirty="0">
                <a:solidFill>
                  <a:srgbClr val="1F4E79"/>
                </a:solidFill>
                <a:latin typeface="Segoe UI" pitchFamily="34" charset="0"/>
                <a:ea typeface="Segoe UI" pitchFamily="34" charset="-122"/>
                <a:cs typeface="Segoe UI" pitchFamily="34" charset="-120"/>
              </a:rPr>
              <a:t>3</a:t>
            </a:r>
            <a:endParaRPr lang="en-US" sz="1600" dirty="0"/>
          </a:p>
        </p:txBody>
      </p:sp>
      <p:sp>
        <p:nvSpPr>
          <p:cNvPr id="32" name="Text 29"/>
          <p:cNvSpPr/>
          <p:nvPr/>
        </p:nvSpPr>
        <p:spPr>
          <a:xfrm>
            <a:off x="5166360" y="44439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Now check queue time: even if it were clear, is it still in time?</a:t>
            </a:r>
            <a:endParaRPr lang="en-US" sz="1600" dirty="0"/>
          </a:p>
        </p:txBody>
      </p:sp>
      <p:sp>
        <p:nvSpPr>
          <p:cNvPr id="33" name="Text 30"/>
          <p:cNvSpPr/>
          <p:nvPr/>
        </p:nvSpPr>
        <p:spPr>
          <a:xfrm>
            <a:off x="5166360" y="48097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Keep going in the same session.。</a:t>
            </a:r>
            <a:endParaRPr lang="en-US" sz="1300" dirty="0"/>
          </a:p>
        </p:txBody>
      </p:sp>
      <p:sp>
        <p:nvSpPr>
          <p:cNvPr id="34" name="Shape 31"/>
          <p:cNvSpPr/>
          <p:nvPr/>
        </p:nvSpPr>
        <p:spPr>
          <a:xfrm>
            <a:off x="4526280" y="5431536"/>
            <a:ext cx="457200" cy="457200"/>
          </a:xfrm>
          <a:prstGeom prst="ellipse">
            <a:avLst/>
          </a:prstGeom>
          <a:solidFill>
            <a:srgbClr val="FFFFFF">
              <a:alpha val="12000"/>
            </a:srgbClr>
          </a:solidFill>
          <a:ln w="19050">
            <a:solidFill>
              <a:srgbClr val="1F4E79"/>
            </a:solidFill>
            <a:prstDash val="solid"/>
          </a:ln>
        </p:spPr>
      </p:sp>
      <p:sp>
        <p:nvSpPr>
          <p:cNvPr id="35" name="Text 32"/>
          <p:cNvSpPr/>
          <p:nvPr/>
        </p:nvSpPr>
        <p:spPr>
          <a:xfrm>
            <a:off x="4526280" y="5431536"/>
            <a:ext cx="457200" cy="457200"/>
          </a:xfrm>
          <a:prstGeom prst="rect">
            <a:avLst/>
          </a:prstGeom>
          <a:noFill/>
          <a:ln/>
        </p:spPr>
        <p:txBody>
          <a:bodyPr wrap="square" rtlCol="0" anchor="ctr"/>
          <a:lstStyle/>
          <a:p>
            <a:pPr algn="ctr" indent="0" marL="0">
              <a:buNone/>
            </a:pPr>
            <a:r>
              <a:rPr lang="en-US" sz="1600" b="1" dirty="0">
                <a:solidFill>
                  <a:srgbClr val="1F4E79"/>
                </a:solidFill>
                <a:latin typeface="Segoe UI" pitchFamily="34" charset="0"/>
                <a:ea typeface="Segoe UI" pitchFamily="34" charset="-122"/>
                <a:cs typeface="Segoe UI" pitchFamily="34" charset="-120"/>
              </a:rPr>
              <a:t>4</a:t>
            </a:r>
            <a:endParaRPr lang="en-US" sz="1600" dirty="0"/>
          </a:p>
        </p:txBody>
      </p:sp>
      <p:sp>
        <p:nvSpPr>
          <p:cNvPr id="36" name="Text 33"/>
          <p:cNvSpPr/>
          <p:nvPr/>
        </p:nvSpPr>
        <p:spPr>
          <a:xfrm>
            <a:off x="5166360" y="54132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Turn the briefing into a daily schedule</a:t>
            </a:r>
            <a:endParaRPr lang="en-US" sz="1600" dirty="0"/>
          </a:p>
        </p:txBody>
      </p:sp>
      <p:sp>
        <p:nvSpPr>
          <p:cNvPr id="37" name="Text 34"/>
          <p:cNvSpPr/>
          <p:nvPr/>
        </p:nvSpPr>
        <p:spPr>
          <a:xfrm>
            <a:off x="5166360" y="57790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 schedule card appears — read it before you agree. Choo…</a:t>
            </a:r>
            <a:endParaRPr lang="en-US" sz="1300" dirty="0"/>
          </a:p>
        </p:txBody>
      </p:sp>
      <p:sp>
        <p:nvSpPr>
          <p:cNvPr id="38" name="Text 3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39" name="Text 3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F4E79"/>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F4E79"/>
                </a:solidFill>
                <a:latin typeface="Segoe UI" pitchFamily="34" charset="0"/>
                <a:ea typeface="Segoe UI" pitchFamily="34" charset="-122"/>
                <a:cs typeface="Segoe UI" pitchFamily="34" charset="-120"/>
              </a:rPr>
              <a:t>Scenario 01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mfgx1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F4E79"/>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mfgx1_04b_sched_done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F4E79"/>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F4E79"/>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Holds are summarised by lot, not just the eight rows copied out</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spots that W-2614 carries two holds while the handover note mentions only one</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says plainly that the engineering hold is cleared but the quality hold is not — not a vague "the records disagree"</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0F5132"/>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0F5132"/>
                </a:solidFill>
                <a:latin typeface="Segoe UI" pitchFamily="34" charset="0"/>
                <a:ea typeface="Segoe UI" pitchFamily="34" charset="-122"/>
                <a:cs typeface="Segoe UI" pitchFamily="34" charset="-120"/>
              </a:rPr>
              <a:t>Scenario 02</a:t>
            </a:r>
            <a:endParaRPr lang="en-US" sz="1400" dirty="0"/>
          </a:p>
        </p:txBody>
      </p:sp>
      <p:sp>
        <p:nvSpPr>
          <p:cNvPr id="5" name="Shape 3"/>
          <p:cNvSpPr/>
          <p:nvPr/>
        </p:nvSpPr>
        <p:spPr>
          <a:xfrm>
            <a:off x="502920" y="1143000"/>
            <a:ext cx="1097280" cy="1097280"/>
          </a:xfrm>
          <a:prstGeom prst="ellipse">
            <a:avLst/>
          </a:prstGeom>
          <a:solidFill>
            <a:srgbClr val="0F5132"/>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High-Tech Mfg · Product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A Yield Excursion Whose Common Factor Is Not the Obvious One</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~18 min · Level ★★★</a:t>
            </a:r>
            <a:endParaRPr lang="en-US" sz="1300" dirty="0"/>
          </a:p>
        </p:txBody>
      </p:sp>
      <p:sp>
        <p:nvSpPr>
          <p:cNvPr id="10" name="Shape 7"/>
          <p:cNvSpPr/>
          <p:nvPr/>
        </p:nvSpPr>
        <p:spPr>
          <a:xfrm>
            <a:off x="502920" y="4572000"/>
            <a:ext cx="1417320" cy="329184"/>
          </a:xfrm>
          <a:prstGeom prst="roundRect">
            <a:avLst>
              <a:gd name="adj" fmla="val 50000"/>
            </a:avLst>
          </a:prstGeom>
          <a:solidFill>
            <a:srgbClr val="6366F1"/>
          </a:solidFill>
          <a:ln/>
        </p:spPr>
      </p:sp>
      <p:sp>
        <p:nvSpPr>
          <p:cNvPr id="11" name="Text 8"/>
          <p:cNvSpPr/>
          <p:nvPr/>
        </p:nvSpPr>
        <p:spPr>
          <a:xfrm>
            <a:off x="502920" y="4572000"/>
            <a:ext cx="1417320"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File upload</a:t>
            </a:r>
            <a:endParaRPr lang="en-US" sz="1050" dirty="0"/>
          </a:p>
        </p:txBody>
      </p:sp>
      <p:sp>
        <p:nvSpPr>
          <p:cNvPr id="12" name="Shape 9"/>
          <p:cNvSpPr/>
          <p:nvPr/>
        </p:nvSpPr>
        <p:spPr>
          <a:xfrm>
            <a:off x="2103120" y="4572000"/>
            <a:ext cx="813816" cy="329184"/>
          </a:xfrm>
          <a:prstGeom prst="roundRect">
            <a:avLst>
              <a:gd name="adj" fmla="val 50000"/>
            </a:avLst>
          </a:prstGeom>
          <a:solidFill>
            <a:srgbClr val="217346"/>
          </a:solidFill>
          <a:ln/>
        </p:spPr>
      </p:sp>
      <p:sp>
        <p:nvSpPr>
          <p:cNvPr id="13" name="Text 10"/>
          <p:cNvSpPr/>
          <p:nvPr/>
        </p:nvSpPr>
        <p:spPr>
          <a:xfrm>
            <a:off x="2103120" y="4572000"/>
            <a:ext cx="813816"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Excel</a:t>
            </a:r>
            <a:endParaRPr lang="en-US" sz="1050" dirty="0"/>
          </a:p>
        </p:txBody>
      </p:sp>
      <p:sp>
        <p:nvSpPr>
          <p:cNvPr id="14" name="Shape 11"/>
          <p:cNvSpPr/>
          <p:nvPr/>
        </p:nvSpPr>
        <p:spPr>
          <a:xfrm>
            <a:off x="502920" y="4956048"/>
            <a:ext cx="2020824" cy="329184"/>
          </a:xfrm>
          <a:prstGeom prst="roundRect">
            <a:avLst>
              <a:gd name="adj" fmla="val 50000"/>
            </a:avLst>
          </a:prstGeom>
          <a:solidFill>
            <a:srgbClr val="6366F1"/>
          </a:solidFill>
          <a:ln/>
        </p:spPr>
      </p:sp>
      <p:sp>
        <p:nvSpPr>
          <p:cNvPr id="15" name="Text 12"/>
          <p:cNvSpPr/>
          <p:nvPr/>
        </p:nvSpPr>
        <p:spPr>
          <a:xfrm>
            <a:off x="502920" y="4956048"/>
            <a:ext cx="2020824"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Enterprise Search</a:t>
            </a:r>
            <a:endParaRPr lang="en-US" sz="1050" dirty="0"/>
          </a:p>
        </p:txBody>
      </p:sp>
      <p:sp>
        <p:nvSpPr>
          <p:cNvPr id="16" name="Shape 13"/>
          <p:cNvSpPr/>
          <p:nvPr/>
        </p:nvSpPr>
        <p:spPr>
          <a:xfrm>
            <a:off x="502920" y="5340096"/>
            <a:ext cx="1719072" cy="329184"/>
          </a:xfrm>
          <a:prstGeom prst="roundRect">
            <a:avLst>
              <a:gd name="adj" fmla="val 50000"/>
            </a:avLst>
          </a:prstGeom>
          <a:solidFill>
            <a:srgbClr val="6366F1"/>
          </a:solidFill>
          <a:ln/>
        </p:spPr>
      </p:sp>
      <p:sp>
        <p:nvSpPr>
          <p:cNvPr id="17" name="Text 14"/>
          <p:cNvSpPr/>
          <p:nvPr/>
        </p:nvSpPr>
        <p:spPr>
          <a:xfrm>
            <a:off x="502920" y="5340096"/>
            <a:ext cx="171907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Adaptive Cards</a:t>
            </a:r>
            <a:endParaRPr lang="en-US" sz="1050" dirty="0"/>
          </a:p>
        </p:txBody>
      </p:sp>
      <p:sp>
        <p:nvSpPr>
          <p:cNvPr id="18" name="Shape 15"/>
          <p:cNvSpPr/>
          <p:nvPr/>
        </p:nvSpPr>
        <p:spPr>
          <a:xfrm>
            <a:off x="502920" y="5724144"/>
            <a:ext cx="1719072" cy="329184"/>
          </a:xfrm>
          <a:prstGeom prst="roundRect">
            <a:avLst>
              <a:gd name="adj" fmla="val 50000"/>
            </a:avLst>
          </a:prstGeom>
          <a:solidFill>
            <a:srgbClr val="6366F1"/>
          </a:solidFill>
          <a:ln/>
        </p:spPr>
      </p:sp>
      <p:sp>
        <p:nvSpPr>
          <p:cNvPr id="19" name="Text 16"/>
          <p:cNvSpPr/>
          <p:nvPr/>
        </p:nvSpPr>
        <p:spPr>
          <a:xfrm>
            <a:off x="502920" y="5724144"/>
            <a:ext cx="1719072" cy="329184"/>
          </a:xfrm>
          <a:prstGeom prst="rect">
            <a:avLst/>
          </a:prstGeom>
          <a:noFill/>
          <a:ln/>
        </p:spPr>
        <p:txBody>
          <a:bodyPr wrap="square"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Communications</a:t>
            </a:r>
            <a:endParaRPr lang="en-US" sz="1050" dirty="0"/>
          </a:p>
        </p:txBody>
      </p:sp>
      <p:sp>
        <p:nvSpPr>
          <p:cNvPr id="20" name="Text 17"/>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Six FB-820 lots have come in under 92% over the past fortnight, more than five points below the normal lots. The line's first instinct is "we changed substrate lot". Lay all twelve lots side by side and the common factor turns out to be something else entirely — and the maintenance log has the fingerprint.</a:t>
            </a:r>
            <a:endParaRPr lang="en-US" sz="1200" dirty="0"/>
          </a:p>
        </p:txBody>
      </p:sp>
      <p:sp>
        <p:nvSpPr>
          <p:cNvPr id="21" name="Text 18"/>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0F5132"/>
                </a:solidFill>
                <a:latin typeface="Segoe UI" pitchFamily="34" charset="0"/>
                <a:ea typeface="Segoe UI" pitchFamily="34" charset="-122"/>
                <a:cs typeface="Segoe UI" pitchFamily="34" charset="-120"/>
              </a:rPr>
              <a:t>Agentic workflow</a:t>
            </a:r>
            <a:endParaRPr lang="en-US" sz="1500" dirty="0"/>
          </a:p>
        </p:txBody>
      </p:sp>
      <p:sp>
        <p:nvSpPr>
          <p:cNvPr id="22" name="Shape 19"/>
          <p:cNvSpPr/>
          <p:nvPr/>
        </p:nvSpPr>
        <p:spPr>
          <a:xfrm>
            <a:off x="4526280" y="2112264"/>
            <a:ext cx="457200" cy="457200"/>
          </a:xfrm>
          <a:prstGeom prst="ellipse">
            <a:avLst/>
          </a:prstGeom>
          <a:solidFill>
            <a:srgbClr val="FFFFFF">
              <a:alpha val="12000"/>
            </a:srgbClr>
          </a:solidFill>
          <a:ln w="19050">
            <a:solidFill>
              <a:srgbClr val="0F5132"/>
            </a:solidFill>
            <a:prstDash val="solid"/>
          </a:ln>
        </p:spPr>
      </p:sp>
      <p:sp>
        <p:nvSpPr>
          <p:cNvPr id="23" name="Text 20"/>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0F5132"/>
                </a:solidFill>
                <a:latin typeface="Segoe UI" pitchFamily="34" charset="0"/>
                <a:ea typeface="Segoe UI" pitchFamily="34" charset="-122"/>
                <a:cs typeface="Segoe UI" pitchFamily="34" charset="-120"/>
              </a:rPr>
              <a:t>1</a:t>
            </a:r>
            <a:endParaRPr lang="en-US" sz="1600" dirty="0"/>
          </a:p>
        </p:txBody>
      </p:sp>
      <p:sp>
        <p:nvSpPr>
          <p:cNvPr id="24" name="Text 21"/>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Upload the yield detail and let it find the common factor</a:t>
            </a:r>
            <a:endParaRPr lang="en-US" sz="1600" dirty="0"/>
          </a:p>
        </p:txBody>
      </p:sp>
      <p:sp>
        <p:nvSpPr>
          <p:cNvPr id="25" name="Text 22"/>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Drag MFGX2_FB820_Lot_Yield_Detail.csv into the chat box …</a:t>
            </a:r>
            <a:endParaRPr lang="en-US" sz="1300" dirty="0"/>
          </a:p>
        </p:txBody>
      </p:sp>
      <p:sp>
        <p:nvSpPr>
          <p:cNvPr id="26" name="Shape 23"/>
          <p:cNvSpPr/>
          <p:nvPr/>
        </p:nvSpPr>
        <p:spPr>
          <a:xfrm>
            <a:off x="4526280" y="2971800"/>
            <a:ext cx="457200" cy="457200"/>
          </a:xfrm>
          <a:prstGeom prst="ellipse">
            <a:avLst/>
          </a:prstGeom>
          <a:solidFill>
            <a:srgbClr val="FFFFFF">
              <a:alpha val="12000"/>
            </a:srgbClr>
          </a:solidFill>
          <a:ln w="19050">
            <a:solidFill>
              <a:srgbClr val="0F5132"/>
            </a:solidFill>
            <a:prstDash val="solid"/>
          </a:ln>
        </p:spPr>
      </p:sp>
      <p:sp>
        <p:nvSpPr>
          <p:cNvPr id="27" name="Text 24"/>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0F5132"/>
                </a:solidFill>
                <a:latin typeface="Segoe UI" pitchFamily="34" charset="0"/>
                <a:ea typeface="Segoe UI" pitchFamily="34" charset="-122"/>
                <a:cs typeface="Segoe UI" pitchFamily="34" charset="-120"/>
              </a:rPr>
              <a:t>2</a:t>
            </a:r>
            <a:endParaRPr lang="en-US" sz="1600" dirty="0"/>
          </a:p>
        </p:txBody>
      </p:sp>
      <p:sp>
        <p:nvSpPr>
          <p:cNvPr id="28" name="Text 25"/>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With the factor pinned down, go back to the maintenance log</a:t>
            </a:r>
            <a:endParaRPr lang="en-US" sz="1600" dirty="0"/>
          </a:p>
        </p:txBody>
      </p:sp>
      <p:sp>
        <p:nvSpPr>
          <p:cNvPr id="29" name="Text 26"/>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Keep going in the same session.。</a:t>
            </a:r>
            <a:endParaRPr lang="en-US" sz="1300" dirty="0"/>
          </a:p>
        </p:txBody>
      </p:sp>
      <p:sp>
        <p:nvSpPr>
          <p:cNvPr id="30" name="Shape 27"/>
          <p:cNvSpPr/>
          <p:nvPr/>
        </p:nvSpPr>
        <p:spPr>
          <a:xfrm>
            <a:off x="4526280" y="3831336"/>
            <a:ext cx="457200" cy="457200"/>
          </a:xfrm>
          <a:prstGeom prst="ellipse">
            <a:avLst/>
          </a:prstGeom>
          <a:solidFill>
            <a:srgbClr val="FFFFFF">
              <a:alpha val="12000"/>
            </a:srgbClr>
          </a:solidFill>
          <a:ln w="19050">
            <a:solidFill>
              <a:srgbClr val="0F5132"/>
            </a:solidFill>
            <a:prstDash val="solid"/>
          </a:ln>
        </p:spPr>
      </p:sp>
      <p:sp>
        <p:nvSpPr>
          <p:cNvPr id="31" name="Text 28"/>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0F5132"/>
                </a:solidFill>
                <a:latin typeface="Segoe UI" pitchFamily="34" charset="0"/>
                <a:ea typeface="Segoe UI" pitchFamily="34" charset="-122"/>
                <a:cs typeface="Segoe UI" pitchFamily="34" charset="-120"/>
              </a:rPr>
              <a:t>3</a:t>
            </a:r>
            <a:endParaRPr lang="en-US" sz="1600" dirty="0"/>
          </a:p>
        </p:txBody>
      </p:sp>
      <p:sp>
        <p:nvSpPr>
          <p:cNvPr id="32" name="Text 29"/>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Produce the root-cause workbook</a:t>
            </a:r>
            <a:endParaRPr lang="en-US" sz="1600" dirty="0"/>
          </a:p>
        </p:txBody>
      </p:sp>
      <p:sp>
        <p:nvSpPr>
          <p:cNvPr id="33" name="Text 30"/>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file appears under Output folder in the side panel a…</a:t>
            </a:r>
            <a:endParaRPr lang="en-US" sz="1300" dirty="0"/>
          </a:p>
        </p:txBody>
      </p:sp>
      <p:sp>
        <p:nvSpPr>
          <p:cNvPr id="34" name="Shape 31"/>
          <p:cNvSpPr/>
          <p:nvPr/>
        </p:nvSpPr>
        <p:spPr>
          <a:xfrm>
            <a:off x="4526280" y="4690872"/>
            <a:ext cx="457200" cy="457200"/>
          </a:xfrm>
          <a:prstGeom prst="ellipse">
            <a:avLst/>
          </a:prstGeom>
          <a:solidFill>
            <a:srgbClr val="FFFFFF">
              <a:alpha val="12000"/>
            </a:srgbClr>
          </a:solidFill>
          <a:ln w="19050">
            <a:solidFill>
              <a:srgbClr val="0F5132"/>
            </a:solidFill>
            <a:prstDash val="solid"/>
          </a:ln>
        </p:spPr>
      </p:sp>
      <p:sp>
        <p:nvSpPr>
          <p:cNvPr id="35" name="Text 32"/>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0F5132"/>
                </a:solidFill>
                <a:latin typeface="Segoe UI" pitchFamily="34" charset="0"/>
                <a:ea typeface="Segoe UI" pitchFamily="34" charset="-122"/>
                <a:cs typeface="Segoe UI" pitchFamily="34" charset="-120"/>
              </a:rPr>
              <a:t>4</a:t>
            </a:r>
            <a:endParaRPr lang="en-US" sz="1600" dirty="0"/>
          </a:p>
        </p:txBody>
      </p:sp>
      <p:sp>
        <p:nvSpPr>
          <p:cNvPr id="36" name="Text 33"/>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Make a summary card you can read in three seconds</a:t>
            </a:r>
            <a:endParaRPr lang="en-US" sz="1600" dirty="0"/>
          </a:p>
        </p:txBody>
      </p:sp>
      <p:sp>
        <p:nvSpPr>
          <p:cNvPr id="37" name="Text 34"/>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card renders inline in the conversation — it is not …</a:t>
            </a:r>
            <a:endParaRPr lang="en-US" sz="1300" dirty="0"/>
          </a:p>
        </p:txBody>
      </p:sp>
      <p:sp>
        <p:nvSpPr>
          <p:cNvPr id="38" name="Shape 35"/>
          <p:cNvSpPr/>
          <p:nvPr/>
        </p:nvSpPr>
        <p:spPr>
          <a:xfrm>
            <a:off x="4526280" y="5550408"/>
            <a:ext cx="457200" cy="457200"/>
          </a:xfrm>
          <a:prstGeom prst="ellipse">
            <a:avLst/>
          </a:prstGeom>
          <a:solidFill>
            <a:srgbClr val="FFFFFF">
              <a:alpha val="12000"/>
            </a:srgbClr>
          </a:solidFill>
          <a:ln w="19050">
            <a:solidFill>
              <a:srgbClr val="0F5132"/>
            </a:solidFill>
            <a:prstDash val="solid"/>
          </a:ln>
        </p:spPr>
      </p:sp>
      <p:sp>
        <p:nvSpPr>
          <p:cNvPr id="39" name="Text 36"/>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0F5132"/>
                </a:solidFill>
                <a:latin typeface="Segoe UI" pitchFamily="34" charset="0"/>
                <a:ea typeface="Segoe UI" pitchFamily="34" charset="-122"/>
                <a:cs typeface="Segoe UI" pitchFamily="34" charset="-120"/>
              </a:rPr>
              <a:t>5</a:t>
            </a:r>
            <a:endParaRPr lang="en-US" sz="1600" dirty="0"/>
          </a:p>
        </p:txBody>
      </p:sp>
      <p:sp>
        <p:nvSpPr>
          <p:cNvPr id="40" name="Text 37"/>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Post it to the quality war-room channel</a:t>
            </a:r>
            <a:endParaRPr lang="en-US" sz="1600" dirty="0"/>
          </a:p>
        </p:txBody>
      </p:sp>
      <p:sp>
        <p:nvSpPr>
          <p:cNvPr id="41" name="Text 38"/>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An approval card appears showing the full text of the po…</a:t>
            </a:r>
            <a:endParaRPr lang="en-US" sz="1300" dirty="0"/>
          </a:p>
        </p:txBody>
      </p:sp>
      <p:sp>
        <p:nvSpPr>
          <p:cNvPr id="42" name="Text 3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43" name="Text 4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0F5132"/>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0F5132"/>
                </a:solidFill>
                <a:latin typeface="Segoe UI" pitchFamily="34" charset="0"/>
                <a:ea typeface="Segoe UI" pitchFamily="34" charset="-122"/>
                <a:cs typeface="Segoe UI" pitchFamily="34" charset="-120"/>
              </a:rPr>
              <a:t>Scenario 02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mfgx2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0F5132"/>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mfgx2_05b_posted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0F5132"/>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0F5132"/>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looked the control limit up in the procedure instead of taking the rough 92% from the conversation</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six low-yield lots are identified — none missed, none added</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comparison runs both ways — not just what the bad lots share, but whether the good lots share it too</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6B2D5C"/>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6B2D5C"/>
                </a:solidFill>
                <a:latin typeface="Segoe UI" pitchFamily="34" charset="0"/>
                <a:ea typeface="Segoe UI" pitchFamily="34" charset="-122"/>
                <a:cs typeface="Segoe UI" pitchFamily="34" charset="-120"/>
              </a:rPr>
              <a:t>Scenario 03</a:t>
            </a:r>
            <a:endParaRPr lang="en-US" sz="1400" dirty="0"/>
          </a:p>
        </p:txBody>
      </p:sp>
      <p:sp>
        <p:nvSpPr>
          <p:cNvPr id="5" name="Shape 3"/>
          <p:cNvSpPr/>
          <p:nvPr/>
        </p:nvSpPr>
        <p:spPr>
          <a:xfrm>
            <a:off x="502920" y="1143000"/>
            <a:ext cx="1097280" cy="1097280"/>
          </a:xfrm>
          <a:prstGeom prst="ellipse">
            <a:avLst/>
          </a:prstGeom>
          <a:solidFill>
            <a:srgbClr val="6B2D5C"/>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High-Tech Mfg · Product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Quarterly Business Review: What the Closure Rate Hides</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316736" cy="402336"/>
          </a:xfrm>
          <a:prstGeom prst="roundRect">
            <a:avLst>
              <a:gd name="adj" fmla="val 50000"/>
            </a:avLst>
          </a:prstGeom>
          <a:solidFill>
            <a:srgbClr val="C43E1C"/>
          </a:solidFill>
          <a:ln/>
        </p:spPr>
      </p:sp>
      <p:sp>
        <p:nvSpPr>
          <p:cNvPr id="11" name="Text 8"/>
          <p:cNvSpPr/>
          <p:nvPr/>
        </p:nvSpPr>
        <p:spPr>
          <a:xfrm>
            <a:off x="502920" y="4572000"/>
            <a:ext cx="131673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PowerPoint</a:t>
            </a:r>
            <a:endParaRPr lang="en-US" sz="1200" dirty="0"/>
          </a:p>
        </p:txBody>
      </p:sp>
      <p:sp>
        <p:nvSpPr>
          <p:cNvPr id="12" name="Shape 9"/>
          <p:cNvSpPr/>
          <p:nvPr/>
        </p:nvSpPr>
        <p:spPr>
          <a:xfrm>
            <a:off x="2002536" y="4572000"/>
            <a:ext cx="813816" cy="402336"/>
          </a:xfrm>
          <a:prstGeom prst="roundRect">
            <a:avLst>
              <a:gd name="adj" fmla="val 50000"/>
            </a:avLst>
          </a:prstGeom>
          <a:solidFill>
            <a:srgbClr val="217346"/>
          </a:solidFill>
          <a:ln/>
        </p:spPr>
      </p:sp>
      <p:sp>
        <p:nvSpPr>
          <p:cNvPr id="13" name="Text 10"/>
          <p:cNvSpPr/>
          <p:nvPr/>
        </p:nvSpPr>
        <p:spPr>
          <a:xfrm>
            <a:off x="2002536"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6" name="Shape 13"/>
          <p:cNvSpPr/>
          <p:nvPr/>
        </p:nvSpPr>
        <p:spPr>
          <a:xfrm>
            <a:off x="502920" y="5577840"/>
            <a:ext cx="1719072" cy="402336"/>
          </a:xfrm>
          <a:prstGeom prst="roundRect">
            <a:avLst>
              <a:gd name="adj" fmla="val 50000"/>
            </a:avLst>
          </a:prstGeom>
          <a:solidFill>
            <a:srgbClr val="6366F1"/>
          </a:solidFill>
          <a:ln/>
        </p:spPr>
      </p:sp>
      <p:sp>
        <p:nvSpPr>
          <p:cNvPr id="17" name="Text 14"/>
          <p:cNvSpPr/>
          <p:nvPr/>
        </p:nvSpPr>
        <p:spPr>
          <a:xfrm>
            <a:off x="502920" y="5577840"/>
            <a:ext cx="171907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Communications</a:t>
            </a:r>
            <a:endParaRPr lang="en-US" sz="1200" dirty="0"/>
          </a:p>
        </p:txBody>
      </p:sp>
      <p:sp>
        <p:nvSpPr>
          <p:cNvPr id="18" name="Shape 15"/>
          <p:cNvSpPr/>
          <p:nvPr/>
        </p:nvSpPr>
        <p:spPr>
          <a:xfrm>
            <a:off x="2404872" y="5577840"/>
            <a:ext cx="813816" cy="402336"/>
          </a:xfrm>
          <a:prstGeom prst="roundRect">
            <a:avLst>
              <a:gd name="adj" fmla="val 50000"/>
            </a:avLst>
          </a:prstGeom>
          <a:solidFill>
            <a:srgbClr val="6366F1"/>
          </a:solidFill>
          <a:ln/>
        </p:spPr>
      </p:sp>
      <p:sp>
        <p:nvSpPr>
          <p:cNvPr id="19" name="Text 16"/>
          <p:cNvSpPr/>
          <p:nvPr/>
        </p:nvSpPr>
        <p:spPr>
          <a:xfrm>
            <a:off x="2404872" y="557784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Email</a:t>
            </a:r>
            <a:endParaRPr lang="en-US" sz="1200" dirty="0"/>
          </a:p>
        </p:txBody>
      </p:sp>
      <p:sp>
        <p:nvSpPr>
          <p:cNvPr id="20" name="Text 17"/>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The quarterly business review with Fabrikam is next week. Fourteen complaints this quarter, thirteen closed — a 92.9% closure rate, which presents nicely. The trouble is the customer can do that arithmetic too. What they will actually ask about is something else, and the answer is hiding inside the thirteen you closed.</a:t>
            </a:r>
            <a:endParaRPr lang="en-US" sz="1200" dirty="0"/>
          </a:p>
        </p:txBody>
      </p:sp>
      <p:sp>
        <p:nvSpPr>
          <p:cNvPr id="21" name="Text 18"/>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6B2D5C"/>
                </a:solidFill>
                <a:latin typeface="Segoe UI" pitchFamily="34" charset="0"/>
                <a:ea typeface="Segoe UI" pitchFamily="34" charset="-122"/>
                <a:cs typeface="Segoe UI" pitchFamily="34" charset="-120"/>
              </a:rPr>
              <a:t>Agentic workflow</a:t>
            </a:r>
            <a:endParaRPr lang="en-US" sz="1500" dirty="0"/>
          </a:p>
        </p:txBody>
      </p:sp>
      <p:sp>
        <p:nvSpPr>
          <p:cNvPr id="22" name="Shape 19"/>
          <p:cNvSpPr/>
          <p:nvPr/>
        </p:nvSpPr>
        <p:spPr>
          <a:xfrm>
            <a:off x="4526280" y="2112264"/>
            <a:ext cx="457200" cy="457200"/>
          </a:xfrm>
          <a:prstGeom prst="ellipse">
            <a:avLst/>
          </a:prstGeom>
          <a:solidFill>
            <a:srgbClr val="FFFFFF">
              <a:alpha val="12000"/>
            </a:srgbClr>
          </a:solidFill>
          <a:ln w="19050">
            <a:solidFill>
              <a:srgbClr val="6B2D5C"/>
            </a:solidFill>
            <a:prstDash val="solid"/>
          </a:ln>
        </p:spPr>
      </p:sp>
      <p:sp>
        <p:nvSpPr>
          <p:cNvPr id="23" name="Text 20"/>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6B2D5C"/>
                </a:solidFill>
                <a:latin typeface="Segoe UI" pitchFamily="34" charset="0"/>
                <a:ea typeface="Segoe UI" pitchFamily="34" charset="-122"/>
                <a:cs typeface="Segoe UI" pitchFamily="34" charset="-120"/>
              </a:rPr>
              <a:t>1</a:t>
            </a:r>
            <a:endParaRPr lang="en-US" sz="1600" dirty="0"/>
          </a:p>
        </p:txBody>
      </p:sp>
      <p:sp>
        <p:nvSpPr>
          <p:cNvPr id="24" name="Text 21"/>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Start with the complaint statistics for the quarter</a:t>
            </a:r>
            <a:endParaRPr lang="en-US" sz="1600" dirty="0"/>
          </a:p>
        </p:txBody>
      </p:sp>
      <p:sp>
        <p:nvSpPr>
          <p:cNvPr id="25" name="Text 22"/>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 everything is in Cowork_Lab/Advanced…</a:t>
            </a:r>
            <a:endParaRPr lang="en-US" sz="1300" dirty="0"/>
          </a:p>
        </p:txBody>
      </p:sp>
      <p:sp>
        <p:nvSpPr>
          <p:cNvPr id="26" name="Shape 23"/>
          <p:cNvSpPr/>
          <p:nvPr/>
        </p:nvSpPr>
        <p:spPr>
          <a:xfrm>
            <a:off x="4526280" y="2971800"/>
            <a:ext cx="457200" cy="457200"/>
          </a:xfrm>
          <a:prstGeom prst="ellipse">
            <a:avLst/>
          </a:prstGeom>
          <a:solidFill>
            <a:srgbClr val="FFFFFF">
              <a:alpha val="12000"/>
            </a:srgbClr>
          </a:solidFill>
          <a:ln w="19050">
            <a:solidFill>
              <a:srgbClr val="6B2D5C"/>
            </a:solidFill>
            <a:prstDash val="solid"/>
          </a:ln>
        </p:spPr>
      </p:sp>
      <p:sp>
        <p:nvSpPr>
          <p:cNvPr id="27" name="Text 24"/>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6B2D5C"/>
                </a:solidFill>
                <a:latin typeface="Segoe UI" pitchFamily="34" charset="0"/>
                <a:ea typeface="Segoe UI" pitchFamily="34" charset="-122"/>
                <a:cs typeface="Segoe UI" pitchFamily="34" charset="-120"/>
              </a:rPr>
              <a:t>2</a:t>
            </a:r>
            <a:endParaRPr lang="en-US" sz="1600" dirty="0"/>
          </a:p>
        </p:txBody>
      </p:sp>
      <p:sp>
        <p:nvSpPr>
          <p:cNvPr id="28" name="Text 25"/>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Check for repeat failure modes, as the standard requires</a:t>
            </a:r>
            <a:endParaRPr lang="en-US" sz="1600" dirty="0"/>
          </a:p>
        </p:txBody>
      </p:sp>
      <p:sp>
        <p:nvSpPr>
          <p:cNvPr id="29" name="Text 26"/>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Keep going in the same session.。</a:t>
            </a:r>
            <a:endParaRPr lang="en-US" sz="1300" dirty="0"/>
          </a:p>
        </p:txBody>
      </p:sp>
      <p:sp>
        <p:nvSpPr>
          <p:cNvPr id="30" name="Shape 27"/>
          <p:cNvSpPr/>
          <p:nvPr/>
        </p:nvSpPr>
        <p:spPr>
          <a:xfrm>
            <a:off x="4526280" y="3831336"/>
            <a:ext cx="457200" cy="457200"/>
          </a:xfrm>
          <a:prstGeom prst="ellipse">
            <a:avLst/>
          </a:prstGeom>
          <a:solidFill>
            <a:srgbClr val="FFFFFF">
              <a:alpha val="12000"/>
            </a:srgbClr>
          </a:solidFill>
          <a:ln w="19050">
            <a:solidFill>
              <a:srgbClr val="6B2D5C"/>
            </a:solidFill>
            <a:prstDash val="solid"/>
          </a:ln>
        </p:spPr>
      </p:sp>
      <p:sp>
        <p:nvSpPr>
          <p:cNvPr id="31" name="Text 28"/>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6B2D5C"/>
                </a:solidFill>
                <a:latin typeface="Segoe UI" pitchFamily="34" charset="0"/>
                <a:ea typeface="Segoe UI" pitchFamily="34" charset="-122"/>
                <a:cs typeface="Segoe UI" pitchFamily="34" charset="-120"/>
              </a:rPr>
              <a:t>3</a:t>
            </a:r>
            <a:endParaRPr lang="en-US" sz="1600" dirty="0"/>
          </a:p>
        </p:txBody>
      </p:sp>
      <p:sp>
        <p:nvSpPr>
          <p:cNvPr id="32" name="Text 29"/>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Work out the risk forecast: where the next one lands</a:t>
            </a:r>
            <a:endParaRPr lang="en-US" sz="1600" dirty="0"/>
          </a:p>
        </p:txBody>
      </p:sp>
      <p:sp>
        <p:nvSpPr>
          <p:cNvPr id="33" name="Text 30"/>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Keep going in the same session.。</a:t>
            </a:r>
            <a:endParaRPr lang="en-US" sz="1300" dirty="0"/>
          </a:p>
        </p:txBody>
      </p:sp>
      <p:sp>
        <p:nvSpPr>
          <p:cNvPr id="34" name="Shape 31"/>
          <p:cNvSpPr/>
          <p:nvPr/>
        </p:nvSpPr>
        <p:spPr>
          <a:xfrm>
            <a:off x="4526280" y="4690872"/>
            <a:ext cx="457200" cy="457200"/>
          </a:xfrm>
          <a:prstGeom prst="ellipse">
            <a:avLst/>
          </a:prstGeom>
          <a:solidFill>
            <a:srgbClr val="FFFFFF">
              <a:alpha val="12000"/>
            </a:srgbClr>
          </a:solidFill>
          <a:ln w="19050">
            <a:solidFill>
              <a:srgbClr val="6B2D5C"/>
            </a:solidFill>
            <a:prstDash val="solid"/>
          </a:ln>
        </p:spPr>
      </p:sp>
      <p:sp>
        <p:nvSpPr>
          <p:cNvPr id="35" name="Text 32"/>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6B2D5C"/>
                </a:solidFill>
                <a:latin typeface="Segoe UI" pitchFamily="34" charset="0"/>
                <a:ea typeface="Segoe UI" pitchFamily="34" charset="-122"/>
                <a:cs typeface="Segoe UI" pitchFamily="34" charset="-120"/>
              </a:rPr>
              <a:t>4</a:t>
            </a:r>
            <a:endParaRPr lang="en-US" sz="1600" dirty="0"/>
          </a:p>
        </p:txBody>
      </p:sp>
      <p:sp>
        <p:nvSpPr>
          <p:cNvPr id="36" name="Text 33"/>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Build the QBR deck to the six required sections</a:t>
            </a:r>
            <a:endParaRPr lang="en-US" sz="1600" dirty="0"/>
          </a:p>
        </p:txBody>
      </p:sp>
      <p:sp>
        <p:nvSpPr>
          <p:cNvPr id="37" name="Text 34"/>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deck appears under Output folder in the side panel a…</a:t>
            </a:r>
            <a:endParaRPr lang="en-US" sz="1300" dirty="0"/>
          </a:p>
        </p:txBody>
      </p:sp>
      <p:sp>
        <p:nvSpPr>
          <p:cNvPr id="38" name="Shape 35"/>
          <p:cNvSpPr/>
          <p:nvPr/>
        </p:nvSpPr>
        <p:spPr>
          <a:xfrm>
            <a:off x="4526280" y="5550408"/>
            <a:ext cx="457200" cy="457200"/>
          </a:xfrm>
          <a:prstGeom prst="ellipse">
            <a:avLst/>
          </a:prstGeom>
          <a:solidFill>
            <a:srgbClr val="FFFFFF">
              <a:alpha val="12000"/>
            </a:srgbClr>
          </a:solidFill>
          <a:ln w="19050">
            <a:solidFill>
              <a:srgbClr val="6B2D5C"/>
            </a:solidFill>
            <a:prstDash val="solid"/>
          </a:ln>
        </p:spPr>
      </p:sp>
      <p:sp>
        <p:nvSpPr>
          <p:cNvPr id="39" name="Text 36"/>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6B2D5C"/>
                </a:solidFill>
                <a:latin typeface="Segoe UI" pitchFamily="34" charset="0"/>
                <a:ea typeface="Segoe UI" pitchFamily="34" charset="-122"/>
                <a:cs typeface="Segoe UI" pitchFamily="34" charset="-120"/>
              </a:rPr>
              <a:t>5</a:t>
            </a:r>
            <a:endParaRPr lang="en-US" sz="1600" dirty="0"/>
          </a:p>
        </p:txBody>
      </p:sp>
      <p:sp>
        <p:nvSpPr>
          <p:cNvPr id="40" name="Text 37"/>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Send the quality manager a review request</a:t>
            </a:r>
            <a:endParaRPr lang="en-US" sz="1600" dirty="0"/>
          </a:p>
        </p:txBody>
      </p:sp>
      <p:sp>
        <p:nvSpPr>
          <p:cNvPr id="41" name="Text 38"/>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Address it to yourself or a colleague agreed in advance.…</a:t>
            </a:r>
            <a:endParaRPr lang="en-US" sz="1300" dirty="0"/>
          </a:p>
        </p:txBody>
      </p:sp>
      <p:sp>
        <p:nvSpPr>
          <p:cNvPr id="42" name="Text 3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43" name="Text 4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B2D5C"/>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B2D5C"/>
                </a:solidFill>
                <a:latin typeface="Segoe UI" pitchFamily="34" charset="0"/>
                <a:ea typeface="Segoe UI" pitchFamily="34" charset="-122"/>
                <a:cs typeface="Segoe UI" pitchFamily="34" charset="-120"/>
              </a:rPr>
              <a:t>Scenario 03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mfgx3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6B2D5C"/>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mfgx3_05b_sent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6B2D5C"/>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6B2D5C"/>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closure rate is 13 of 14, 92.9% — the open case is not counted as closed</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found in the QBR standard that section three also has to disclose repeating failure modes</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picks out that substrate gold-plating delamination occurs three times, rather than letting it disappear into the spread of fourteen cases</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8A4B08"/>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8A4B08"/>
                </a:solidFill>
                <a:latin typeface="Segoe UI" pitchFamily="34" charset="0"/>
                <a:ea typeface="Segoe UI" pitchFamily="34" charset="-122"/>
                <a:cs typeface="Segoe UI" pitchFamily="34" charset="-120"/>
              </a:rPr>
              <a:t>Scenario 04</a:t>
            </a:r>
            <a:endParaRPr lang="en-US" sz="1400" dirty="0"/>
          </a:p>
        </p:txBody>
      </p:sp>
      <p:sp>
        <p:nvSpPr>
          <p:cNvPr id="5" name="Shape 3"/>
          <p:cNvSpPr/>
          <p:nvPr/>
        </p:nvSpPr>
        <p:spPr>
          <a:xfrm>
            <a:off x="502920" y="1143000"/>
            <a:ext cx="1097280" cy="1097280"/>
          </a:xfrm>
          <a:prstGeom prst="ellipse">
            <a:avLst/>
          </a:prstGeom>
          <a:solidFill>
            <a:srgbClr val="8A4B08"/>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High-Tech Mfg · Product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Assess Every Discontinuation Notice the Moment It Lands</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618488" cy="402336"/>
          </a:xfrm>
          <a:prstGeom prst="roundRect">
            <a:avLst>
              <a:gd name="adj" fmla="val 50000"/>
            </a:avLst>
          </a:prstGeom>
          <a:solidFill>
            <a:srgbClr val="6366F1"/>
          </a:solidFill>
          <a:ln/>
        </p:spPr>
      </p:sp>
      <p:sp>
        <p:nvSpPr>
          <p:cNvPr id="11" name="Text 8"/>
          <p:cNvSpPr/>
          <p:nvPr/>
        </p:nvSpPr>
        <p:spPr>
          <a:xfrm>
            <a:off x="502920" y="4572000"/>
            <a:ext cx="1618488"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Event trigger</a:t>
            </a:r>
            <a:endParaRPr lang="en-US" sz="1200" dirty="0"/>
          </a:p>
        </p:txBody>
      </p:sp>
      <p:sp>
        <p:nvSpPr>
          <p:cNvPr id="12" name="Shape 9"/>
          <p:cNvSpPr/>
          <p:nvPr/>
        </p:nvSpPr>
        <p:spPr>
          <a:xfrm>
            <a:off x="2304288" y="4572000"/>
            <a:ext cx="813816" cy="402336"/>
          </a:xfrm>
          <a:prstGeom prst="roundRect">
            <a:avLst>
              <a:gd name="adj" fmla="val 50000"/>
            </a:avLst>
          </a:prstGeom>
          <a:solidFill>
            <a:srgbClr val="6366F1"/>
          </a:solidFill>
          <a:ln/>
        </p:spPr>
      </p:sp>
      <p:sp>
        <p:nvSpPr>
          <p:cNvPr id="13" name="Text 10"/>
          <p:cNvSpPr/>
          <p:nvPr/>
        </p:nvSpPr>
        <p:spPr>
          <a:xfrm>
            <a:off x="2304288"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Email</a:t>
            </a:r>
            <a:endParaRPr lang="en-US" sz="1200" dirty="0"/>
          </a:p>
        </p:txBody>
      </p:sp>
      <p:sp>
        <p:nvSpPr>
          <p:cNvPr id="14" name="Shape 11"/>
          <p:cNvSpPr/>
          <p:nvPr/>
        </p:nvSpPr>
        <p:spPr>
          <a:xfrm>
            <a:off x="502920" y="5074920"/>
            <a:ext cx="813816" cy="402336"/>
          </a:xfrm>
          <a:prstGeom prst="roundRect">
            <a:avLst>
              <a:gd name="adj" fmla="val 50000"/>
            </a:avLst>
          </a:prstGeom>
          <a:solidFill>
            <a:srgbClr val="217346"/>
          </a:solidFill>
          <a:ln/>
        </p:spPr>
      </p:sp>
      <p:sp>
        <p:nvSpPr>
          <p:cNvPr id="15" name="Text 12"/>
          <p:cNvSpPr/>
          <p:nvPr/>
        </p:nvSpPr>
        <p:spPr>
          <a:xfrm>
            <a:off x="502920" y="507492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6" name="Shape 13"/>
          <p:cNvSpPr/>
          <p:nvPr/>
        </p:nvSpPr>
        <p:spPr>
          <a:xfrm>
            <a:off x="1499616" y="5074920"/>
            <a:ext cx="2020824" cy="402336"/>
          </a:xfrm>
          <a:prstGeom prst="roundRect">
            <a:avLst>
              <a:gd name="adj" fmla="val 50000"/>
            </a:avLst>
          </a:prstGeom>
          <a:solidFill>
            <a:srgbClr val="6366F1"/>
          </a:solidFill>
          <a:ln/>
        </p:spPr>
      </p:sp>
      <p:sp>
        <p:nvSpPr>
          <p:cNvPr id="17" name="Text 14"/>
          <p:cNvSpPr/>
          <p:nvPr/>
        </p:nvSpPr>
        <p:spPr>
          <a:xfrm>
            <a:off x="1499616"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8" name="Text 15"/>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The gold wire supplier has issued a discontinuation notice with a last time buy of 30 November 2026. You have 1,250 spools and burn 88 a month, so there is over a year of cover and nothing to worry about — until you open the BOM and find the part is also attached to a product that has not started production yet.</a:t>
            </a:r>
            <a:endParaRPr lang="en-US" sz="1200" dirty="0"/>
          </a:p>
        </p:txBody>
      </p:sp>
      <p:sp>
        <p:nvSpPr>
          <p:cNvPr id="19" name="Text 16"/>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8A4B08"/>
                </a:solidFill>
                <a:latin typeface="Segoe UI" pitchFamily="34" charset="0"/>
                <a:ea typeface="Segoe UI" pitchFamily="34" charset="-122"/>
                <a:cs typeface="Segoe UI" pitchFamily="34" charset="-120"/>
              </a:rPr>
              <a:t>Agentic workflow</a:t>
            </a:r>
            <a:endParaRPr lang="en-US" sz="1500" dirty="0"/>
          </a:p>
        </p:txBody>
      </p:sp>
      <p:sp>
        <p:nvSpPr>
          <p:cNvPr id="20" name="Shape 17"/>
          <p:cNvSpPr/>
          <p:nvPr/>
        </p:nvSpPr>
        <p:spPr>
          <a:xfrm>
            <a:off x="4526280" y="2112264"/>
            <a:ext cx="457200" cy="457200"/>
          </a:xfrm>
          <a:prstGeom prst="ellipse">
            <a:avLst/>
          </a:prstGeom>
          <a:solidFill>
            <a:srgbClr val="FFFFFF">
              <a:alpha val="12000"/>
            </a:srgbClr>
          </a:solidFill>
          <a:ln w="19050">
            <a:solidFill>
              <a:srgbClr val="8A4B08"/>
            </a:solidFill>
            <a:prstDash val="solid"/>
          </a:ln>
        </p:spPr>
      </p:sp>
      <p:sp>
        <p:nvSpPr>
          <p:cNvPr id="21" name="Text 18"/>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8A4B08"/>
                </a:solidFill>
                <a:latin typeface="Segoe UI" pitchFamily="34" charset="0"/>
                <a:ea typeface="Segoe UI" pitchFamily="34" charset="-122"/>
                <a:cs typeface="Segoe UI" pitchFamily="34" charset="-120"/>
              </a:rPr>
              <a:t>1</a:t>
            </a:r>
            <a:endParaRPr lang="en-US" sz="1600" dirty="0"/>
          </a:p>
        </p:txBody>
      </p:sp>
      <p:sp>
        <p:nvSpPr>
          <p:cNvPr id="22" name="Text 19"/>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Do one assessment by hand, to see what the job involves</a:t>
            </a:r>
            <a:endParaRPr lang="en-US" sz="1600" dirty="0"/>
          </a:p>
        </p:txBody>
      </p:sp>
      <p:sp>
        <p:nvSpPr>
          <p:cNvPr id="23" name="Text 20"/>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Nothing to upload. The PCN is in your inbox; the BOM and…</a:t>
            </a:r>
            <a:endParaRPr lang="en-US" sz="1300" dirty="0"/>
          </a:p>
        </p:txBody>
      </p:sp>
      <p:sp>
        <p:nvSpPr>
          <p:cNvPr id="24" name="Shape 21"/>
          <p:cNvSpPr/>
          <p:nvPr/>
        </p:nvSpPr>
        <p:spPr>
          <a:xfrm>
            <a:off x="4526280" y="2971800"/>
            <a:ext cx="457200" cy="457200"/>
          </a:xfrm>
          <a:prstGeom prst="ellipse">
            <a:avLst/>
          </a:prstGeom>
          <a:solidFill>
            <a:srgbClr val="FFFFFF">
              <a:alpha val="12000"/>
            </a:srgbClr>
          </a:solidFill>
          <a:ln w="19050">
            <a:solidFill>
              <a:srgbClr val="8A4B08"/>
            </a:solidFill>
            <a:prstDash val="solid"/>
          </a:ln>
        </p:spPr>
      </p:sp>
      <p:sp>
        <p:nvSpPr>
          <p:cNvPr id="25" name="Text 22"/>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8A4B08"/>
                </a:solidFill>
                <a:latin typeface="Segoe UI" pitchFamily="34" charset="0"/>
                <a:ea typeface="Segoe UI" pitchFamily="34" charset="-122"/>
                <a:cs typeface="Segoe UI" pitchFamily="34" charset="-120"/>
              </a:rPr>
              <a:t>2</a:t>
            </a:r>
            <a:endParaRPr lang="en-US" sz="1600" dirty="0"/>
          </a:p>
        </p:txBody>
      </p:sp>
      <p:sp>
        <p:nvSpPr>
          <p:cNvPr id="26" name="Text 23"/>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Recalculate as the standard requires — count the product not yet in production</a:t>
            </a:r>
            <a:endParaRPr lang="en-US" sz="1600" dirty="0"/>
          </a:p>
        </p:txBody>
      </p:sp>
      <p:sp>
        <p:nvSpPr>
          <p:cNvPr id="27" name="Text 24"/>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Keep going in the same session.。</a:t>
            </a:r>
            <a:endParaRPr lang="en-US" sz="1300" dirty="0"/>
          </a:p>
        </p:txBody>
      </p:sp>
      <p:sp>
        <p:nvSpPr>
          <p:cNvPr id="28" name="Shape 25"/>
          <p:cNvSpPr/>
          <p:nvPr/>
        </p:nvSpPr>
        <p:spPr>
          <a:xfrm>
            <a:off x="4526280" y="3831336"/>
            <a:ext cx="457200" cy="457200"/>
          </a:xfrm>
          <a:prstGeom prst="ellipse">
            <a:avLst/>
          </a:prstGeom>
          <a:solidFill>
            <a:srgbClr val="FFFFFF">
              <a:alpha val="12000"/>
            </a:srgbClr>
          </a:solidFill>
          <a:ln w="19050">
            <a:solidFill>
              <a:srgbClr val="8A4B08"/>
            </a:solidFill>
            <a:prstDash val="solid"/>
          </a:ln>
        </p:spPr>
      </p:sp>
      <p:sp>
        <p:nvSpPr>
          <p:cNvPr id="29" name="Text 26"/>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8A4B08"/>
                </a:solidFill>
                <a:latin typeface="Segoe UI" pitchFamily="34" charset="0"/>
                <a:ea typeface="Segoe UI" pitchFamily="34" charset="-122"/>
                <a:cs typeface="Segoe UI" pitchFamily="34" charset="-120"/>
              </a:rPr>
              <a:t>3</a:t>
            </a:r>
            <a:endParaRPr lang="en-US" sz="1600" dirty="0"/>
          </a:p>
        </p:txBody>
      </p:sp>
      <p:sp>
        <p:nvSpPr>
          <p:cNvPr id="30" name="Text 27"/>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Work out the last time buy quantity and the timeline</a:t>
            </a:r>
            <a:endParaRPr lang="en-US" sz="1600" dirty="0"/>
          </a:p>
        </p:txBody>
      </p:sp>
      <p:sp>
        <p:nvSpPr>
          <p:cNvPr id="31" name="Text 28"/>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Keep going in the same session.。</a:t>
            </a:r>
            <a:endParaRPr lang="en-US" sz="1300" dirty="0"/>
          </a:p>
        </p:txBody>
      </p:sp>
      <p:sp>
        <p:nvSpPr>
          <p:cNvPr id="32" name="Shape 29"/>
          <p:cNvSpPr/>
          <p:nvPr/>
        </p:nvSpPr>
        <p:spPr>
          <a:xfrm>
            <a:off x="4526280" y="4690872"/>
            <a:ext cx="457200" cy="457200"/>
          </a:xfrm>
          <a:prstGeom prst="ellipse">
            <a:avLst/>
          </a:prstGeom>
          <a:solidFill>
            <a:srgbClr val="FFFFFF">
              <a:alpha val="12000"/>
            </a:srgbClr>
          </a:solidFill>
          <a:ln w="19050">
            <a:solidFill>
              <a:srgbClr val="8A4B08"/>
            </a:solidFill>
            <a:prstDash val="solid"/>
          </a:ln>
        </p:spPr>
      </p:sp>
      <p:sp>
        <p:nvSpPr>
          <p:cNvPr id="33" name="Text 30"/>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8A4B08"/>
                </a:solidFill>
                <a:latin typeface="Segoe UI" pitchFamily="34" charset="0"/>
                <a:ea typeface="Segoe UI" pitchFamily="34" charset="-122"/>
                <a:cs typeface="Segoe UI" pitchFamily="34" charset="-120"/>
              </a:rPr>
              <a:t>4</a:t>
            </a:r>
            <a:endParaRPr lang="en-US" sz="1600" dirty="0"/>
          </a:p>
        </p:txBody>
      </p:sp>
      <p:sp>
        <p:nvSpPr>
          <p:cNvPr id="34" name="Text 31"/>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Arm the trigger so the next PCN assesses itself</a:t>
            </a:r>
            <a:endParaRPr lang="en-US" sz="1600" dirty="0"/>
          </a:p>
        </p:txBody>
      </p:sp>
      <p:sp>
        <p:nvSpPr>
          <p:cNvPr id="35" name="Text 32"/>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 Set up trigger? card appears with three fields: When (…</a:t>
            </a:r>
            <a:endParaRPr lang="en-US" sz="1300" dirty="0"/>
          </a:p>
        </p:txBody>
      </p:sp>
      <p:sp>
        <p:nvSpPr>
          <p:cNvPr id="36" name="Shape 33"/>
          <p:cNvSpPr/>
          <p:nvPr/>
        </p:nvSpPr>
        <p:spPr>
          <a:xfrm>
            <a:off x="4526280" y="5550408"/>
            <a:ext cx="457200" cy="457200"/>
          </a:xfrm>
          <a:prstGeom prst="ellipse">
            <a:avLst/>
          </a:prstGeom>
          <a:solidFill>
            <a:srgbClr val="FFFFFF">
              <a:alpha val="12000"/>
            </a:srgbClr>
          </a:solidFill>
          <a:ln w="19050">
            <a:solidFill>
              <a:srgbClr val="8A4B08"/>
            </a:solidFill>
            <a:prstDash val="solid"/>
          </a:ln>
        </p:spPr>
      </p:sp>
      <p:sp>
        <p:nvSpPr>
          <p:cNvPr id="37" name="Text 34"/>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8A4B08"/>
                </a:solidFill>
                <a:latin typeface="Segoe UI" pitchFamily="34" charset="0"/>
                <a:ea typeface="Segoe UI" pitchFamily="34" charset="-122"/>
                <a:cs typeface="Segoe UI" pitchFamily="34" charset="-120"/>
              </a:rPr>
              <a:t>5</a:t>
            </a:r>
            <a:endParaRPr lang="en-US" sz="1600" dirty="0"/>
          </a:p>
        </p:txBody>
      </p:sp>
      <p:sp>
        <p:nvSpPr>
          <p:cNvPr id="38" name="Text 35"/>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Send the second mail and prove the trigger fires</a:t>
            </a:r>
            <a:endParaRPr lang="en-US" sz="1600" dirty="0"/>
          </a:p>
        </p:txBody>
      </p:sp>
      <p:sp>
        <p:nvSpPr>
          <p:cNvPr id="39" name="Text 36"/>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Only now send yourself MFGX4_Trigger_Test_Email.md, copy…</a:t>
            </a:r>
            <a:endParaRPr lang="en-US" sz="1300" dirty="0"/>
          </a:p>
        </p:txBody>
      </p:sp>
      <p:sp>
        <p:nvSpPr>
          <p:cNvPr id="40" name="Text 3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41" name="Text 3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8A4B08"/>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8A4B08"/>
                </a:solidFill>
                <a:latin typeface="Segoe UI" pitchFamily="34" charset="0"/>
                <a:ea typeface="Segoe UI" pitchFamily="34" charset="-122"/>
                <a:cs typeface="Segoe UI" pitchFamily="34" charset="-120"/>
              </a:rPr>
              <a:t>Scenario 04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mfgx4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8A4B08"/>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mfgx4_05b_mail_approve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8A4B08"/>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8A4B08"/>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first pass gives roughly fourteen months of cover, consistent with inventory divided by current monthly usage</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goes and reads the PCN handling standard for the requirements instead of waiting to be told what to calculate</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spots that where-used lists three products while current usage covers only two, and names the missing one</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14532D"/>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14532D"/>
                </a:solidFill>
                <a:latin typeface="Segoe UI" pitchFamily="34" charset="0"/>
                <a:ea typeface="Segoe UI" pitchFamily="34" charset="-122"/>
                <a:cs typeface="Segoe UI" pitchFamily="34" charset="-120"/>
              </a:rPr>
              <a:t>Scenario 05</a:t>
            </a:r>
            <a:endParaRPr lang="en-US" sz="1400" dirty="0"/>
          </a:p>
        </p:txBody>
      </p:sp>
      <p:sp>
        <p:nvSpPr>
          <p:cNvPr id="5" name="Shape 3"/>
          <p:cNvSpPr/>
          <p:nvPr/>
        </p:nvSpPr>
        <p:spPr>
          <a:xfrm>
            <a:off x="502920" y="1143000"/>
            <a:ext cx="1097280" cy="1097280"/>
          </a:xfrm>
          <a:prstGeom prst="ellipse">
            <a:avLst/>
          </a:prstGeom>
          <a:solidFill>
            <a:srgbClr val="14532D"/>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High-Tech Mfg · Product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Eight Audit Findings That Look Like Eight Problems</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~20 min · Level ★★★</a:t>
            </a:r>
            <a:endParaRPr lang="en-US" sz="1300" dirty="0"/>
          </a:p>
        </p:txBody>
      </p:sp>
      <p:sp>
        <p:nvSpPr>
          <p:cNvPr id="10" name="Shape 7"/>
          <p:cNvSpPr/>
          <p:nvPr/>
        </p:nvSpPr>
        <p:spPr>
          <a:xfrm>
            <a:off x="502920" y="4572000"/>
            <a:ext cx="1417320" cy="402336"/>
          </a:xfrm>
          <a:prstGeom prst="roundRect">
            <a:avLst>
              <a:gd name="adj" fmla="val 50000"/>
            </a:avLst>
          </a:prstGeom>
          <a:solidFill>
            <a:srgbClr val="6366F1"/>
          </a:solidFill>
          <a:ln/>
        </p:spPr>
      </p:sp>
      <p:sp>
        <p:nvSpPr>
          <p:cNvPr id="11" name="Text 8"/>
          <p:cNvSpPr/>
          <p:nvPr/>
        </p:nvSpPr>
        <p:spPr>
          <a:xfrm>
            <a:off x="502920" y="4572000"/>
            <a:ext cx="141732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File upload</a:t>
            </a:r>
            <a:endParaRPr lang="en-US" sz="1200" dirty="0"/>
          </a:p>
        </p:txBody>
      </p:sp>
      <p:sp>
        <p:nvSpPr>
          <p:cNvPr id="12" name="Shape 9"/>
          <p:cNvSpPr/>
          <p:nvPr/>
        </p:nvSpPr>
        <p:spPr>
          <a:xfrm>
            <a:off x="2103120" y="4572000"/>
            <a:ext cx="612648" cy="402336"/>
          </a:xfrm>
          <a:prstGeom prst="roundRect">
            <a:avLst>
              <a:gd name="adj" fmla="val 50000"/>
            </a:avLst>
          </a:prstGeom>
          <a:solidFill>
            <a:srgbClr val="6366F1"/>
          </a:solidFill>
          <a:ln/>
        </p:spPr>
      </p:sp>
      <p:sp>
        <p:nvSpPr>
          <p:cNvPr id="13" name="Text 10"/>
          <p:cNvSpPr/>
          <p:nvPr/>
        </p:nvSpPr>
        <p:spPr>
          <a:xfrm>
            <a:off x="2103120" y="4572000"/>
            <a:ext cx="612648"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PDF</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6" name="Shape 13"/>
          <p:cNvSpPr/>
          <p:nvPr/>
        </p:nvSpPr>
        <p:spPr>
          <a:xfrm>
            <a:off x="2706624" y="5074920"/>
            <a:ext cx="713232" cy="402336"/>
          </a:xfrm>
          <a:prstGeom prst="roundRect">
            <a:avLst>
              <a:gd name="adj" fmla="val 50000"/>
            </a:avLst>
          </a:prstGeom>
          <a:solidFill>
            <a:srgbClr val="2B579A"/>
          </a:solidFill>
          <a:ln/>
        </p:spPr>
      </p:sp>
      <p:sp>
        <p:nvSpPr>
          <p:cNvPr id="17" name="Text 14"/>
          <p:cNvSpPr/>
          <p:nvPr/>
        </p:nvSpPr>
        <p:spPr>
          <a:xfrm>
            <a:off x="2706624" y="5074920"/>
            <a:ext cx="713232"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Word</a:t>
            </a:r>
            <a:endParaRPr lang="en-US" sz="1200" dirty="0"/>
          </a:p>
        </p:txBody>
      </p:sp>
      <p:sp>
        <p:nvSpPr>
          <p:cNvPr id="18" name="Shape 15"/>
          <p:cNvSpPr/>
          <p:nvPr/>
        </p:nvSpPr>
        <p:spPr>
          <a:xfrm>
            <a:off x="502920" y="5577840"/>
            <a:ext cx="1316736" cy="402336"/>
          </a:xfrm>
          <a:prstGeom prst="roundRect">
            <a:avLst>
              <a:gd name="adj" fmla="val 50000"/>
            </a:avLst>
          </a:prstGeom>
          <a:solidFill>
            <a:srgbClr val="6366F1"/>
          </a:solidFill>
          <a:ln/>
        </p:spPr>
      </p:sp>
      <p:sp>
        <p:nvSpPr>
          <p:cNvPr id="19" name="Text 16"/>
          <p:cNvSpPr/>
          <p:nvPr/>
        </p:nvSpPr>
        <p:spPr>
          <a:xfrm>
            <a:off x="502920" y="5577840"/>
            <a:ext cx="131673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Scheduling</a:t>
            </a:r>
            <a:endParaRPr lang="en-US" sz="1200" dirty="0"/>
          </a:p>
        </p:txBody>
      </p:sp>
      <p:sp>
        <p:nvSpPr>
          <p:cNvPr id="20" name="Text 17"/>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Fabrikam's audit has left you a PDF with eight findings spread across document control, wire bond, mold and shipping, and a corrective action plan due in ten working days. The instinct is to answer them one by one — under the customer's own response standard, that gets the whole submission rejected.</a:t>
            </a:r>
            <a:endParaRPr lang="en-US" sz="1200" dirty="0"/>
          </a:p>
        </p:txBody>
      </p:sp>
      <p:sp>
        <p:nvSpPr>
          <p:cNvPr id="21" name="Text 18"/>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14532D"/>
                </a:solidFill>
                <a:latin typeface="Segoe UI" pitchFamily="34" charset="0"/>
                <a:ea typeface="Segoe UI" pitchFamily="34" charset="-122"/>
                <a:cs typeface="Segoe UI" pitchFamily="34" charset="-120"/>
              </a:rPr>
              <a:t>Agentic workflow</a:t>
            </a:r>
            <a:endParaRPr lang="en-US" sz="1500" dirty="0"/>
          </a:p>
        </p:txBody>
      </p:sp>
      <p:sp>
        <p:nvSpPr>
          <p:cNvPr id="22" name="Shape 19"/>
          <p:cNvSpPr/>
          <p:nvPr/>
        </p:nvSpPr>
        <p:spPr>
          <a:xfrm>
            <a:off x="4526280" y="2112264"/>
            <a:ext cx="457200" cy="457200"/>
          </a:xfrm>
          <a:prstGeom prst="ellipse">
            <a:avLst/>
          </a:prstGeom>
          <a:solidFill>
            <a:srgbClr val="FFFFFF">
              <a:alpha val="12000"/>
            </a:srgbClr>
          </a:solidFill>
          <a:ln w="19050">
            <a:solidFill>
              <a:srgbClr val="14532D"/>
            </a:solidFill>
            <a:prstDash val="solid"/>
          </a:ln>
        </p:spPr>
      </p:sp>
      <p:sp>
        <p:nvSpPr>
          <p:cNvPr id="23" name="Text 20"/>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14532D"/>
                </a:solidFill>
                <a:latin typeface="Segoe UI" pitchFamily="34" charset="0"/>
                <a:ea typeface="Segoe UI" pitchFamily="34" charset="-122"/>
                <a:cs typeface="Segoe UI" pitchFamily="34" charset="-120"/>
              </a:rPr>
              <a:t>1</a:t>
            </a:r>
            <a:endParaRPr lang="en-US" sz="1600" dirty="0"/>
          </a:p>
        </p:txBody>
      </p:sp>
      <p:sp>
        <p:nvSpPr>
          <p:cNvPr id="24" name="Text 21"/>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Upload the audit report and turn it into a table</a:t>
            </a:r>
            <a:endParaRPr lang="en-US" sz="1600" dirty="0"/>
          </a:p>
        </p:txBody>
      </p:sp>
      <p:sp>
        <p:nvSpPr>
          <p:cNvPr id="25" name="Text 22"/>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Drag MFGX5_Fabrikam_Audit_Findings_Report.pdf into the c…</a:t>
            </a:r>
            <a:endParaRPr lang="en-US" sz="1300" dirty="0"/>
          </a:p>
        </p:txBody>
      </p:sp>
      <p:sp>
        <p:nvSpPr>
          <p:cNvPr id="26" name="Shape 23"/>
          <p:cNvSpPr/>
          <p:nvPr/>
        </p:nvSpPr>
        <p:spPr>
          <a:xfrm>
            <a:off x="4526280" y="2971800"/>
            <a:ext cx="457200" cy="457200"/>
          </a:xfrm>
          <a:prstGeom prst="ellipse">
            <a:avLst/>
          </a:prstGeom>
          <a:solidFill>
            <a:srgbClr val="FFFFFF">
              <a:alpha val="12000"/>
            </a:srgbClr>
          </a:solidFill>
          <a:ln w="19050">
            <a:solidFill>
              <a:srgbClr val="14532D"/>
            </a:solidFill>
            <a:prstDash val="solid"/>
          </a:ln>
        </p:spPr>
      </p:sp>
      <p:sp>
        <p:nvSpPr>
          <p:cNvPr id="27" name="Text 24"/>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14532D"/>
                </a:solidFill>
                <a:latin typeface="Segoe UI" pitchFamily="34" charset="0"/>
                <a:ea typeface="Segoe UI" pitchFamily="34" charset="-122"/>
                <a:cs typeface="Segoe UI" pitchFamily="34" charset="-120"/>
              </a:rPr>
              <a:t>2</a:t>
            </a:r>
            <a:endParaRPr lang="en-US" sz="1600" dirty="0"/>
          </a:p>
        </p:txBody>
      </p:sp>
      <p:sp>
        <p:nvSpPr>
          <p:cNvPr id="28" name="Text 25"/>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Check each one against the procedure: not written, or written and ignored?</a:t>
            </a:r>
            <a:endParaRPr lang="en-US" sz="1600" dirty="0"/>
          </a:p>
        </p:txBody>
      </p:sp>
      <p:sp>
        <p:nvSpPr>
          <p:cNvPr id="29" name="Text 26"/>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Keep going in the same session.。</a:t>
            </a:r>
            <a:endParaRPr lang="en-US" sz="1300" dirty="0"/>
          </a:p>
        </p:txBody>
      </p:sp>
      <p:sp>
        <p:nvSpPr>
          <p:cNvPr id="30" name="Shape 27"/>
          <p:cNvSpPr/>
          <p:nvPr/>
        </p:nvSpPr>
        <p:spPr>
          <a:xfrm>
            <a:off x="4526280" y="3831336"/>
            <a:ext cx="457200" cy="457200"/>
          </a:xfrm>
          <a:prstGeom prst="ellipse">
            <a:avLst/>
          </a:prstGeom>
          <a:solidFill>
            <a:srgbClr val="FFFFFF">
              <a:alpha val="12000"/>
            </a:srgbClr>
          </a:solidFill>
          <a:ln w="19050">
            <a:solidFill>
              <a:srgbClr val="14532D"/>
            </a:solidFill>
            <a:prstDash val="solid"/>
          </a:ln>
        </p:spPr>
      </p:sp>
      <p:sp>
        <p:nvSpPr>
          <p:cNvPr id="31" name="Text 28"/>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14532D"/>
                </a:solidFill>
                <a:latin typeface="Segoe UI" pitchFamily="34" charset="0"/>
                <a:ea typeface="Segoe UI" pitchFamily="34" charset="-122"/>
                <a:cs typeface="Segoe UI" pitchFamily="34" charset="-120"/>
              </a:rPr>
              <a:t>3</a:t>
            </a:r>
            <a:endParaRPr lang="en-US" sz="1600" dirty="0"/>
          </a:p>
        </p:txBody>
      </p:sp>
      <p:sp>
        <p:nvSpPr>
          <p:cNvPr id="32" name="Text 29"/>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Find the common root cause: how many problems are these really?</a:t>
            </a:r>
            <a:endParaRPr lang="en-US" sz="1600" dirty="0"/>
          </a:p>
        </p:txBody>
      </p:sp>
      <p:sp>
        <p:nvSpPr>
          <p:cNvPr id="33" name="Text 30"/>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Keep going in the same session.。</a:t>
            </a:r>
            <a:endParaRPr lang="en-US" sz="1300" dirty="0"/>
          </a:p>
        </p:txBody>
      </p:sp>
      <p:sp>
        <p:nvSpPr>
          <p:cNvPr id="34" name="Shape 31"/>
          <p:cNvSpPr/>
          <p:nvPr/>
        </p:nvSpPr>
        <p:spPr>
          <a:xfrm>
            <a:off x="4526280" y="4690872"/>
            <a:ext cx="457200" cy="457200"/>
          </a:xfrm>
          <a:prstGeom prst="ellipse">
            <a:avLst/>
          </a:prstGeom>
          <a:solidFill>
            <a:srgbClr val="FFFFFF">
              <a:alpha val="12000"/>
            </a:srgbClr>
          </a:solidFill>
          <a:ln w="19050">
            <a:solidFill>
              <a:srgbClr val="14532D"/>
            </a:solidFill>
            <a:prstDash val="solid"/>
          </a:ln>
        </p:spPr>
      </p:sp>
      <p:sp>
        <p:nvSpPr>
          <p:cNvPr id="35" name="Text 32"/>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14532D"/>
                </a:solidFill>
                <a:latin typeface="Segoe UI" pitchFamily="34" charset="0"/>
                <a:ea typeface="Segoe UI" pitchFamily="34" charset="-122"/>
                <a:cs typeface="Segoe UI" pitchFamily="34" charset="-120"/>
              </a:rPr>
              <a:t>4</a:t>
            </a:r>
            <a:endParaRPr lang="en-US" sz="1600" dirty="0"/>
          </a:p>
        </p:txBody>
      </p:sp>
      <p:sp>
        <p:nvSpPr>
          <p:cNvPr id="36" name="Text 33"/>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Produce the CAP to the response standard</a:t>
            </a:r>
            <a:endParaRPr lang="en-US" sz="1600" dirty="0"/>
          </a:p>
        </p:txBody>
      </p:sp>
      <p:sp>
        <p:nvSpPr>
          <p:cNvPr id="37" name="Text 34"/>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The Word file appears under Output folder in the side pa…</a:t>
            </a:r>
            <a:endParaRPr lang="en-US" sz="1300" dirty="0"/>
          </a:p>
        </p:txBody>
      </p:sp>
      <p:sp>
        <p:nvSpPr>
          <p:cNvPr id="38" name="Shape 35"/>
          <p:cNvSpPr/>
          <p:nvPr/>
        </p:nvSpPr>
        <p:spPr>
          <a:xfrm>
            <a:off x="4526280" y="5550408"/>
            <a:ext cx="457200" cy="457200"/>
          </a:xfrm>
          <a:prstGeom prst="ellipse">
            <a:avLst/>
          </a:prstGeom>
          <a:solidFill>
            <a:srgbClr val="FFFFFF">
              <a:alpha val="12000"/>
            </a:srgbClr>
          </a:solidFill>
          <a:ln w="19050">
            <a:solidFill>
              <a:srgbClr val="14532D"/>
            </a:solidFill>
            <a:prstDash val="solid"/>
          </a:ln>
        </p:spPr>
      </p:sp>
      <p:sp>
        <p:nvSpPr>
          <p:cNvPr id="39" name="Text 36"/>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14532D"/>
                </a:solidFill>
                <a:latin typeface="Segoe UI" pitchFamily="34" charset="0"/>
                <a:ea typeface="Segoe UI" pitchFamily="34" charset="-122"/>
                <a:cs typeface="Segoe UI" pitchFamily="34" charset="-120"/>
              </a:rPr>
              <a:t>5</a:t>
            </a:r>
            <a:endParaRPr lang="en-US" sz="1600" dirty="0"/>
          </a:p>
        </p:txBody>
      </p:sp>
      <p:sp>
        <p:nvSpPr>
          <p:cNvPr id="40" name="Text 37"/>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Schedule the cross-functional CAP review</a:t>
            </a:r>
            <a:endParaRPr lang="en-US" sz="1600" dirty="0"/>
          </a:p>
        </p:txBody>
      </p:sp>
      <p:sp>
        <p:nvSpPr>
          <p:cNvPr id="41" name="Text 38"/>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Attendees come from the audit response contact list — th…</a:t>
            </a:r>
            <a:endParaRPr lang="en-US" sz="1300" dirty="0"/>
          </a:p>
        </p:txBody>
      </p:sp>
      <p:sp>
        <p:nvSpPr>
          <p:cNvPr id="42" name="Text 39"/>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43" name="Text 40"/>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14532D"/>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14532D"/>
                </a:solidFill>
                <a:latin typeface="Segoe UI" pitchFamily="34" charset="0"/>
                <a:ea typeface="Segoe UI" pitchFamily="34" charset="-122"/>
                <a:cs typeface="Segoe UI" pitchFamily="34" charset="-120"/>
              </a:rPr>
              <a:t>Scenario 05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mfgx5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14532D"/>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mfgx5_05b_meeting_done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14532D"/>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14532D"/>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eight findings are extracted, including the ones buried mid-paragraph</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Major and Minor counts are right, and both the response deadline and the interim-action deadline for Majors are picked up</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separates written-but-not-followed from not-written-at-all, rather than lumping everything together</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031"/>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C1E4A"/>
          </a:solidFill>
          <a:ln/>
        </p:spPr>
      </p:sp>
      <p:sp>
        <p:nvSpPr>
          <p:cNvPr id="3" name="Shape 1"/>
          <p:cNvSpPr/>
          <p:nvPr/>
        </p:nvSpPr>
        <p:spPr>
          <a:xfrm>
            <a:off x="0" y="0"/>
            <a:ext cx="146304" cy="6858000"/>
          </a:xfrm>
          <a:prstGeom prst="rect">
            <a:avLst/>
          </a:prstGeom>
          <a:solidFill>
            <a:srgbClr val="7C2D12"/>
          </a:solidFill>
          <a:ln/>
        </p:spPr>
      </p:sp>
      <p:sp>
        <p:nvSpPr>
          <p:cNvPr id="4" name="Text 2"/>
          <p:cNvSpPr/>
          <p:nvPr/>
        </p:nvSpPr>
        <p:spPr>
          <a:xfrm>
            <a:off x="502920" y="640080"/>
            <a:ext cx="3200400" cy="365760"/>
          </a:xfrm>
          <a:prstGeom prst="rect">
            <a:avLst/>
          </a:prstGeom>
          <a:noFill/>
          <a:ln/>
        </p:spPr>
        <p:txBody>
          <a:bodyPr wrap="square" rtlCol="0" anchor="ctr"/>
          <a:lstStyle/>
          <a:p>
            <a:pPr indent="0" marL="0">
              <a:buNone/>
            </a:pPr>
            <a:r>
              <a:rPr lang="en-US" sz="1400" b="1" spc="200" kern="0" dirty="0">
                <a:solidFill>
                  <a:srgbClr val="7C2D12"/>
                </a:solidFill>
                <a:latin typeface="Segoe UI" pitchFamily="34" charset="0"/>
                <a:ea typeface="Segoe UI" pitchFamily="34" charset="-122"/>
                <a:cs typeface="Segoe UI" pitchFamily="34" charset="-120"/>
              </a:rPr>
              <a:t>Scenario 06</a:t>
            </a:r>
            <a:endParaRPr lang="en-US" sz="1400" dirty="0"/>
          </a:p>
        </p:txBody>
      </p:sp>
      <p:sp>
        <p:nvSpPr>
          <p:cNvPr id="5" name="Shape 3"/>
          <p:cNvSpPr/>
          <p:nvPr/>
        </p:nvSpPr>
        <p:spPr>
          <a:xfrm>
            <a:off x="502920" y="1143000"/>
            <a:ext cx="1097280" cy="1097280"/>
          </a:xfrm>
          <a:prstGeom prst="ellipse">
            <a:avLst/>
          </a:prstGeom>
          <a:solidFill>
            <a:srgbClr val="7C2D12"/>
          </a:solidFill>
          <a:ln/>
        </p:spPr>
      </p:sp>
      <p:pic>
        <p:nvPicPr>
          <p:cNvPr id="6" name="Image 0" descr="preencoded.png">    </p:cNvPr>
          <p:cNvPicPr>
            <a:picLocks noChangeAspect="1"/>
          </p:cNvPicPr>
          <p:nvPr/>
        </p:nvPicPr>
        <p:blipFill>
          <a:blip r:embed="rId1"/>
          <a:stretch>
            <a:fillRect/>
          </a:stretch>
        </p:blipFill>
        <p:spPr>
          <a:xfrm>
            <a:off x="804672" y="1444752"/>
            <a:ext cx="493776" cy="493776"/>
          </a:xfrm>
          <a:prstGeom prst="rect">
            <a:avLst/>
          </a:prstGeom>
        </p:spPr>
      </p:pic>
      <p:sp>
        <p:nvSpPr>
          <p:cNvPr id="7" name="Text 4"/>
          <p:cNvSpPr/>
          <p:nvPr/>
        </p:nvSpPr>
        <p:spPr>
          <a:xfrm>
            <a:off x="502920" y="2377440"/>
            <a:ext cx="3200400" cy="320040"/>
          </a:xfrm>
          <a:prstGeom prst="rect">
            <a:avLst/>
          </a:prstGeom>
          <a:noFill/>
          <a:ln/>
        </p:spPr>
        <p:txBody>
          <a:bodyPr wrap="square" rtlCol="0" anchor="ctr"/>
          <a:lstStyle/>
          <a:p>
            <a:pPr indent="0" marL="0">
              <a:buNone/>
            </a:pPr>
            <a:r>
              <a:rPr lang="en-US" sz="1300" b="1" dirty="0">
                <a:solidFill>
                  <a:srgbClr val="B9BCE0"/>
                </a:solidFill>
                <a:latin typeface="Segoe UI" pitchFamily="34" charset="0"/>
                <a:ea typeface="Segoe UI" pitchFamily="34" charset="-122"/>
                <a:cs typeface="Segoe UI" pitchFamily="34" charset="-120"/>
              </a:rPr>
              <a:t>High-Tech Mfg · Product Engineering</a:t>
            </a:r>
            <a:endParaRPr lang="en-US" sz="1300" dirty="0"/>
          </a:p>
        </p:txBody>
      </p:sp>
      <p:sp>
        <p:nvSpPr>
          <p:cNvPr id="8" name="Text 5"/>
          <p:cNvSpPr/>
          <p:nvPr/>
        </p:nvSpPr>
        <p:spPr>
          <a:xfrm>
            <a:off x="502920" y="2697480"/>
            <a:ext cx="3291840" cy="1325880"/>
          </a:xfrm>
          <a:prstGeom prst="rect">
            <a:avLst/>
          </a:prstGeom>
          <a:noFill/>
          <a:ln/>
        </p:spPr>
        <p:txBody>
          <a:bodyPr wrap="square" rtlCol="0" anchor="t"/>
          <a:lstStyle/>
          <a:p>
            <a:pPr indent="0" marL="0">
              <a:buNone/>
            </a:pPr>
            <a:r>
              <a:rPr lang="en-US" sz="2400" b="1" dirty="0">
                <a:solidFill>
                  <a:srgbClr val="FFFFFF"/>
                </a:solidFill>
                <a:latin typeface="Segoe UI" pitchFamily="34" charset="0"/>
                <a:ea typeface="Segoe UI" pitchFamily="34" charset="-122"/>
                <a:cs typeface="Segoe UI" pitchFamily="34" charset="-120"/>
              </a:rPr>
              <a:t>Sample Release Checks, Turned into a Lasting Asset</a:t>
            </a:r>
            <a:endParaRPr lang="en-US" sz="2400" dirty="0"/>
          </a:p>
        </p:txBody>
      </p:sp>
      <p:sp>
        <p:nvSpPr>
          <p:cNvPr id="9" name="Text 6"/>
          <p:cNvSpPr/>
          <p:nvPr/>
        </p:nvSpPr>
        <p:spPr>
          <a:xfrm>
            <a:off x="502920" y="4114800"/>
            <a:ext cx="3291840" cy="320040"/>
          </a:xfrm>
          <a:prstGeom prst="rect">
            <a:avLst/>
          </a:prstGeom>
          <a:noFill/>
          <a:ln/>
        </p:spPr>
        <p:txBody>
          <a:bodyPr wrap="square" rtlCol="0" anchor="ctr"/>
          <a:lstStyle/>
          <a:p>
            <a:pPr indent="0" marL="0">
              <a:buNone/>
            </a:pPr>
            <a:r>
              <a:rPr lang="en-US" sz="1300" dirty="0">
                <a:solidFill>
                  <a:srgbClr val="9FA3CC"/>
                </a:solidFill>
                <a:latin typeface="Segoe UI" pitchFamily="34" charset="0"/>
                <a:ea typeface="Segoe UI" pitchFamily="34" charset="-122"/>
                <a:cs typeface="Segoe UI" pitchFamily="34" charset="-120"/>
              </a:rPr>
              <a:t>⏱ ~22 min · Level ★★★</a:t>
            </a:r>
            <a:endParaRPr lang="en-US" sz="1300" dirty="0"/>
          </a:p>
        </p:txBody>
      </p:sp>
      <p:sp>
        <p:nvSpPr>
          <p:cNvPr id="10" name="Shape 7"/>
          <p:cNvSpPr/>
          <p:nvPr/>
        </p:nvSpPr>
        <p:spPr>
          <a:xfrm>
            <a:off x="502920" y="4572000"/>
            <a:ext cx="1417320" cy="402336"/>
          </a:xfrm>
          <a:prstGeom prst="roundRect">
            <a:avLst>
              <a:gd name="adj" fmla="val 50000"/>
            </a:avLst>
          </a:prstGeom>
          <a:solidFill>
            <a:srgbClr val="6366F1"/>
          </a:solidFill>
          <a:ln/>
        </p:spPr>
      </p:sp>
      <p:sp>
        <p:nvSpPr>
          <p:cNvPr id="11" name="Text 8"/>
          <p:cNvSpPr/>
          <p:nvPr/>
        </p:nvSpPr>
        <p:spPr>
          <a:xfrm>
            <a:off x="502920" y="4572000"/>
            <a:ext cx="1417320"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File upload</a:t>
            </a:r>
            <a:endParaRPr lang="en-US" sz="1200" dirty="0"/>
          </a:p>
        </p:txBody>
      </p:sp>
      <p:sp>
        <p:nvSpPr>
          <p:cNvPr id="12" name="Shape 9"/>
          <p:cNvSpPr/>
          <p:nvPr/>
        </p:nvSpPr>
        <p:spPr>
          <a:xfrm>
            <a:off x="2103120" y="4572000"/>
            <a:ext cx="813816" cy="402336"/>
          </a:xfrm>
          <a:prstGeom prst="roundRect">
            <a:avLst>
              <a:gd name="adj" fmla="val 50000"/>
            </a:avLst>
          </a:prstGeom>
          <a:solidFill>
            <a:srgbClr val="217346"/>
          </a:solidFill>
          <a:ln/>
        </p:spPr>
      </p:sp>
      <p:sp>
        <p:nvSpPr>
          <p:cNvPr id="13" name="Text 10"/>
          <p:cNvSpPr/>
          <p:nvPr/>
        </p:nvSpPr>
        <p:spPr>
          <a:xfrm>
            <a:off x="2103120" y="4572000"/>
            <a:ext cx="813816"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Excel</a:t>
            </a:r>
            <a:endParaRPr lang="en-US" sz="1200" dirty="0"/>
          </a:p>
        </p:txBody>
      </p:sp>
      <p:sp>
        <p:nvSpPr>
          <p:cNvPr id="14" name="Shape 11"/>
          <p:cNvSpPr/>
          <p:nvPr/>
        </p:nvSpPr>
        <p:spPr>
          <a:xfrm>
            <a:off x="502920" y="5074920"/>
            <a:ext cx="2020824" cy="402336"/>
          </a:xfrm>
          <a:prstGeom prst="roundRect">
            <a:avLst>
              <a:gd name="adj" fmla="val 50000"/>
            </a:avLst>
          </a:prstGeom>
          <a:solidFill>
            <a:srgbClr val="6366F1"/>
          </a:solidFill>
          <a:ln/>
        </p:spPr>
      </p:sp>
      <p:sp>
        <p:nvSpPr>
          <p:cNvPr id="15" name="Text 12"/>
          <p:cNvSpPr/>
          <p:nvPr/>
        </p:nvSpPr>
        <p:spPr>
          <a:xfrm>
            <a:off x="502920" y="5074920"/>
            <a:ext cx="202082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Enterprise Search</a:t>
            </a:r>
            <a:endParaRPr lang="en-US" sz="1200" dirty="0"/>
          </a:p>
        </p:txBody>
      </p:sp>
      <p:sp>
        <p:nvSpPr>
          <p:cNvPr id="16" name="Shape 13"/>
          <p:cNvSpPr/>
          <p:nvPr/>
        </p:nvSpPr>
        <p:spPr>
          <a:xfrm>
            <a:off x="502920" y="5577840"/>
            <a:ext cx="1517904" cy="402336"/>
          </a:xfrm>
          <a:prstGeom prst="roundRect">
            <a:avLst>
              <a:gd name="adj" fmla="val 50000"/>
            </a:avLst>
          </a:prstGeom>
          <a:solidFill>
            <a:srgbClr val="7A4DDB"/>
          </a:solidFill>
          <a:ln/>
        </p:spPr>
      </p:sp>
      <p:sp>
        <p:nvSpPr>
          <p:cNvPr id="17" name="Text 14"/>
          <p:cNvSpPr/>
          <p:nvPr/>
        </p:nvSpPr>
        <p:spPr>
          <a:xfrm>
            <a:off x="502920" y="5577840"/>
            <a:ext cx="1517904" cy="402336"/>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Custom skill</a:t>
            </a:r>
            <a:endParaRPr lang="en-US" sz="1200" dirty="0"/>
          </a:p>
        </p:txBody>
      </p:sp>
      <p:sp>
        <p:nvSpPr>
          <p:cNvPr id="18" name="Text 15"/>
          <p:cNvSpPr/>
          <p:nvPr/>
        </p:nvSpPr>
        <p:spPr>
          <a:xfrm>
            <a:off x="4526280" y="566928"/>
            <a:ext cx="7132320" cy="960120"/>
          </a:xfrm>
          <a:prstGeom prst="rect">
            <a:avLst/>
          </a:prstGeom>
          <a:noFill/>
          <a:ln/>
        </p:spPr>
        <p:txBody>
          <a:bodyPr wrap="square" rtlCol="0" anchor="t"/>
          <a:lstStyle/>
          <a:p>
            <a:pPr indent="0" marL="0">
              <a:lnSpc>
                <a:spcPct val="130000"/>
              </a:lnSpc>
              <a:buNone/>
            </a:pPr>
            <a:r>
              <a:rPr lang="en-US" sz="1200" dirty="0">
                <a:solidFill>
                  <a:srgbClr val="D7D9F0"/>
                </a:solidFill>
                <a:latin typeface="Segoe UI" pitchFamily="34" charset="0"/>
                <a:ea typeface="Segoe UI" pitchFamily="34" charset="-122"/>
                <a:cs typeface="Segoe UI" pitchFamily="34" charset="-120"/>
              </a:rPr>
              <a:t>Engineering sample release means rereading the criteria every single time. One of today's four requests is annotated "customer approval obtained in writing" — the approval genuinely exists, and the request still cannot be released. Once you have worked through them, turn the criteria into a skill.</a:t>
            </a:r>
            <a:endParaRPr lang="en-US" sz="1200" dirty="0"/>
          </a:p>
        </p:txBody>
      </p:sp>
      <p:sp>
        <p:nvSpPr>
          <p:cNvPr id="19" name="Text 16"/>
          <p:cNvSpPr/>
          <p:nvPr/>
        </p:nvSpPr>
        <p:spPr>
          <a:xfrm>
            <a:off x="4526280" y="1655064"/>
            <a:ext cx="7132320" cy="365760"/>
          </a:xfrm>
          <a:prstGeom prst="rect">
            <a:avLst/>
          </a:prstGeom>
          <a:noFill/>
          <a:ln/>
        </p:spPr>
        <p:txBody>
          <a:bodyPr wrap="square" rtlCol="0" anchor="ctr"/>
          <a:lstStyle/>
          <a:p>
            <a:pPr indent="0" marL="0">
              <a:buNone/>
            </a:pPr>
            <a:r>
              <a:rPr lang="en-US" sz="1500" b="1" dirty="0">
                <a:solidFill>
                  <a:srgbClr val="7C2D12"/>
                </a:solidFill>
                <a:latin typeface="Segoe UI" pitchFamily="34" charset="0"/>
                <a:ea typeface="Segoe UI" pitchFamily="34" charset="-122"/>
                <a:cs typeface="Segoe UI" pitchFamily="34" charset="-120"/>
              </a:rPr>
              <a:t>Agentic workflow</a:t>
            </a:r>
            <a:endParaRPr lang="en-US" sz="1500" dirty="0"/>
          </a:p>
        </p:txBody>
      </p:sp>
      <p:sp>
        <p:nvSpPr>
          <p:cNvPr id="20" name="Shape 17"/>
          <p:cNvSpPr/>
          <p:nvPr/>
        </p:nvSpPr>
        <p:spPr>
          <a:xfrm>
            <a:off x="4526280" y="2112264"/>
            <a:ext cx="457200" cy="457200"/>
          </a:xfrm>
          <a:prstGeom prst="ellipse">
            <a:avLst/>
          </a:prstGeom>
          <a:solidFill>
            <a:srgbClr val="FFFFFF">
              <a:alpha val="12000"/>
            </a:srgbClr>
          </a:solidFill>
          <a:ln w="19050">
            <a:solidFill>
              <a:srgbClr val="7C2D12"/>
            </a:solidFill>
            <a:prstDash val="solid"/>
          </a:ln>
        </p:spPr>
      </p:sp>
      <p:sp>
        <p:nvSpPr>
          <p:cNvPr id="21" name="Text 18"/>
          <p:cNvSpPr/>
          <p:nvPr/>
        </p:nvSpPr>
        <p:spPr>
          <a:xfrm>
            <a:off x="4526280" y="2112264"/>
            <a:ext cx="457200" cy="457200"/>
          </a:xfrm>
          <a:prstGeom prst="rect">
            <a:avLst/>
          </a:prstGeom>
          <a:noFill/>
          <a:ln/>
        </p:spPr>
        <p:txBody>
          <a:bodyPr wrap="square" rtlCol="0" anchor="ctr"/>
          <a:lstStyle/>
          <a:p>
            <a:pPr algn="ctr" indent="0" marL="0">
              <a:buNone/>
            </a:pPr>
            <a:r>
              <a:rPr lang="en-US" sz="1600" b="1" dirty="0">
                <a:solidFill>
                  <a:srgbClr val="7C2D12"/>
                </a:solidFill>
                <a:latin typeface="Segoe UI" pitchFamily="34" charset="0"/>
                <a:ea typeface="Segoe UI" pitchFamily="34" charset="-122"/>
                <a:cs typeface="Segoe UI" pitchFamily="34" charset="-120"/>
              </a:rPr>
              <a:t>1</a:t>
            </a:r>
            <a:endParaRPr lang="en-US" sz="1600" dirty="0"/>
          </a:p>
        </p:txBody>
      </p:sp>
      <p:sp>
        <p:nvSpPr>
          <p:cNvPr id="22" name="Text 19"/>
          <p:cNvSpPr/>
          <p:nvPr/>
        </p:nvSpPr>
        <p:spPr>
          <a:xfrm>
            <a:off x="5166360" y="2093976"/>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Upload the requests and rule on them one by one</a:t>
            </a:r>
            <a:endParaRPr lang="en-US" sz="1600" dirty="0"/>
          </a:p>
        </p:txBody>
      </p:sp>
      <p:sp>
        <p:nvSpPr>
          <p:cNvPr id="23" name="Text 20"/>
          <p:cNvSpPr/>
          <p:nvPr/>
        </p:nvSpPr>
        <p:spPr>
          <a:xfrm>
            <a:off x="5166360" y="2459736"/>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Drag MFGX6_Sample_Shipment_Requests_0921.csv into the ch…</a:t>
            </a:r>
            <a:endParaRPr lang="en-US" sz="1300" dirty="0"/>
          </a:p>
        </p:txBody>
      </p:sp>
      <p:sp>
        <p:nvSpPr>
          <p:cNvPr id="24" name="Shape 21"/>
          <p:cNvSpPr/>
          <p:nvPr/>
        </p:nvSpPr>
        <p:spPr>
          <a:xfrm>
            <a:off x="4526280" y="2971800"/>
            <a:ext cx="457200" cy="457200"/>
          </a:xfrm>
          <a:prstGeom prst="ellipse">
            <a:avLst/>
          </a:prstGeom>
          <a:solidFill>
            <a:srgbClr val="FFFFFF">
              <a:alpha val="12000"/>
            </a:srgbClr>
          </a:solidFill>
          <a:ln w="19050">
            <a:solidFill>
              <a:srgbClr val="7C2D12"/>
            </a:solidFill>
            <a:prstDash val="solid"/>
          </a:ln>
        </p:spPr>
      </p:sp>
      <p:sp>
        <p:nvSpPr>
          <p:cNvPr id="25" name="Text 22"/>
          <p:cNvSpPr/>
          <p:nvPr/>
        </p:nvSpPr>
        <p:spPr>
          <a:xfrm>
            <a:off x="4526280" y="2971800"/>
            <a:ext cx="457200" cy="457200"/>
          </a:xfrm>
          <a:prstGeom prst="rect">
            <a:avLst/>
          </a:prstGeom>
          <a:noFill/>
          <a:ln/>
        </p:spPr>
        <p:txBody>
          <a:bodyPr wrap="square" rtlCol="0" anchor="ctr"/>
          <a:lstStyle/>
          <a:p>
            <a:pPr algn="ctr" indent="0" marL="0">
              <a:buNone/>
            </a:pPr>
            <a:r>
              <a:rPr lang="en-US" sz="1600" b="1" dirty="0">
                <a:solidFill>
                  <a:srgbClr val="7C2D12"/>
                </a:solidFill>
                <a:latin typeface="Segoe UI" pitchFamily="34" charset="0"/>
                <a:ea typeface="Segoe UI" pitchFamily="34" charset="-122"/>
                <a:cs typeface="Segoe UI" pitchFamily="34" charset="-120"/>
              </a:rPr>
              <a:t>2</a:t>
            </a:r>
            <a:endParaRPr lang="en-US" sz="1600" dirty="0"/>
          </a:p>
        </p:txBody>
      </p:sp>
      <p:sp>
        <p:nvSpPr>
          <p:cNvPr id="26" name="Text 23"/>
          <p:cNvSpPr/>
          <p:nvPr/>
        </p:nvSpPr>
        <p:spPr>
          <a:xfrm>
            <a:off x="5166360" y="2953512"/>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Ask about the second one: the customer agreed, so why not?</a:t>
            </a:r>
            <a:endParaRPr lang="en-US" sz="1600" dirty="0"/>
          </a:p>
        </p:txBody>
      </p:sp>
      <p:sp>
        <p:nvSpPr>
          <p:cNvPr id="27" name="Text 24"/>
          <p:cNvSpPr/>
          <p:nvPr/>
        </p:nvSpPr>
        <p:spPr>
          <a:xfrm>
            <a:off x="5166360" y="3319272"/>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Keep going in the same session.。</a:t>
            </a:r>
            <a:endParaRPr lang="en-US" sz="1300" dirty="0"/>
          </a:p>
        </p:txBody>
      </p:sp>
      <p:sp>
        <p:nvSpPr>
          <p:cNvPr id="28" name="Shape 25"/>
          <p:cNvSpPr/>
          <p:nvPr/>
        </p:nvSpPr>
        <p:spPr>
          <a:xfrm>
            <a:off x="4526280" y="3831336"/>
            <a:ext cx="457200" cy="457200"/>
          </a:xfrm>
          <a:prstGeom prst="ellipse">
            <a:avLst/>
          </a:prstGeom>
          <a:solidFill>
            <a:srgbClr val="FFFFFF">
              <a:alpha val="12000"/>
            </a:srgbClr>
          </a:solidFill>
          <a:ln w="19050">
            <a:solidFill>
              <a:srgbClr val="7C2D12"/>
            </a:solidFill>
            <a:prstDash val="solid"/>
          </a:ln>
        </p:spPr>
      </p:sp>
      <p:sp>
        <p:nvSpPr>
          <p:cNvPr id="29" name="Text 26"/>
          <p:cNvSpPr/>
          <p:nvPr/>
        </p:nvSpPr>
        <p:spPr>
          <a:xfrm>
            <a:off x="4526280" y="3831336"/>
            <a:ext cx="457200" cy="457200"/>
          </a:xfrm>
          <a:prstGeom prst="rect">
            <a:avLst/>
          </a:prstGeom>
          <a:noFill/>
          <a:ln/>
        </p:spPr>
        <p:txBody>
          <a:bodyPr wrap="square" rtlCol="0" anchor="ctr"/>
          <a:lstStyle/>
          <a:p>
            <a:pPr algn="ctr" indent="0" marL="0">
              <a:buNone/>
            </a:pPr>
            <a:r>
              <a:rPr lang="en-US" sz="1600" b="1" dirty="0">
                <a:solidFill>
                  <a:srgbClr val="7C2D12"/>
                </a:solidFill>
                <a:latin typeface="Segoe UI" pitchFamily="34" charset="0"/>
                <a:ea typeface="Segoe UI" pitchFamily="34" charset="-122"/>
                <a:cs typeface="Segoe UI" pitchFamily="34" charset="-120"/>
              </a:rPr>
              <a:t>3</a:t>
            </a:r>
            <a:endParaRPr lang="en-US" sz="1600" dirty="0"/>
          </a:p>
        </p:txBody>
      </p:sp>
      <p:sp>
        <p:nvSpPr>
          <p:cNvPr id="30" name="Text 27"/>
          <p:cNvSpPr/>
          <p:nvPr/>
        </p:nvSpPr>
        <p:spPr>
          <a:xfrm>
            <a:off x="5166360" y="3813048"/>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Turn the criteria into a custom skill</a:t>
            </a:r>
            <a:endParaRPr lang="en-US" sz="1600" dirty="0"/>
          </a:p>
        </p:txBody>
      </p:sp>
      <p:sp>
        <p:nvSpPr>
          <p:cNvPr id="31" name="Text 28"/>
          <p:cNvSpPr/>
          <p:nvPr/>
        </p:nvSpPr>
        <p:spPr>
          <a:xfrm>
            <a:off x="5166360" y="4178808"/>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 Custom skills are not supported on mobile. Do this in…</a:t>
            </a:r>
            <a:endParaRPr lang="en-US" sz="1300" dirty="0"/>
          </a:p>
        </p:txBody>
      </p:sp>
      <p:sp>
        <p:nvSpPr>
          <p:cNvPr id="32" name="Shape 29"/>
          <p:cNvSpPr/>
          <p:nvPr/>
        </p:nvSpPr>
        <p:spPr>
          <a:xfrm>
            <a:off x="4526280" y="4690872"/>
            <a:ext cx="457200" cy="457200"/>
          </a:xfrm>
          <a:prstGeom prst="ellipse">
            <a:avLst/>
          </a:prstGeom>
          <a:solidFill>
            <a:srgbClr val="FFFFFF">
              <a:alpha val="12000"/>
            </a:srgbClr>
          </a:solidFill>
          <a:ln w="19050">
            <a:solidFill>
              <a:srgbClr val="7C2D12"/>
            </a:solidFill>
            <a:prstDash val="solid"/>
          </a:ln>
        </p:spPr>
      </p:sp>
      <p:sp>
        <p:nvSpPr>
          <p:cNvPr id="33" name="Text 30"/>
          <p:cNvSpPr/>
          <p:nvPr/>
        </p:nvSpPr>
        <p:spPr>
          <a:xfrm>
            <a:off x="4526280" y="4690872"/>
            <a:ext cx="457200" cy="457200"/>
          </a:xfrm>
          <a:prstGeom prst="rect">
            <a:avLst/>
          </a:prstGeom>
          <a:noFill/>
          <a:ln/>
        </p:spPr>
        <p:txBody>
          <a:bodyPr wrap="square" rtlCol="0" anchor="ctr"/>
          <a:lstStyle/>
          <a:p>
            <a:pPr algn="ctr" indent="0" marL="0">
              <a:buNone/>
            </a:pPr>
            <a:r>
              <a:rPr lang="en-US" sz="1600" b="1" dirty="0">
                <a:solidFill>
                  <a:srgbClr val="7C2D12"/>
                </a:solidFill>
                <a:latin typeface="Segoe UI" pitchFamily="34" charset="0"/>
                <a:ea typeface="Segoe UI" pitchFamily="34" charset="-122"/>
                <a:cs typeface="Segoe UI" pitchFamily="34" charset="-120"/>
              </a:rPr>
              <a:t>4</a:t>
            </a:r>
            <a:endParaRPr lang="en-US" sz="1600" dirty="0"/>
          </a:p>
        </p:txBody>
      </p:sp>
      <p:sp>
        <p:nvSpPr>
          <p:cNvPr id="34" name="Text 31"/>
          <p:cNvSpPr/>
          <p:nvPr/>
        </p:nvSpPr>
        <p:spPr>
          <a:xfrm>
            <a:off x="5166360" y="4672584"/>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Read the skill report it produces by itself</a:t>
            </a:r>
            <a:endParaRPr lang="en-US" sz="1600" dirty="0"/>
          </a:p>
        </p:txBody>
      </p:sp>
      <p:sp>
        <p:nvSpPr>
          <p:cNvPr id="35" name="Text 32"/>
          <p:cNvSpPr/>
          <p:nvPr/>
        </p:nvSpPr>
        <p:spPr>
          <a:xfrm>
            <a:off x="5166360" y="5038344"/>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Cowork evaluates the skill automatically after creating …</a:t>
            </a:r>
            <a:endParaRPr lang="en-US" sz="1300" dirty="0"/>
          </a:p>
        </p:txBody>
      </p:sp>
      <p:sp>
        <p:nvSpPr>
          <p:cNvPr id="36" name="Shape 33"/>
          <p:cNvSpPr/>
          <p:nvPr/>
        </p:nvSpPr>
        <p:spPr>
          <a:xfrm>
            <a:off x="4526280" y="5550408"/>
            <a:ext cx="457200" cy="457200"/>
          </a:xfrm>
          <a:prstGeom prst="ellipse">
            <a:avLst/>
          </a:prstGeom>
          <a:solidFill>
            <a:srgbClr val="FFFFFF">
              <a:alpha val="12000"/>
            </a:srgbClr>
          </a:solidFill>
          <a:ln w="19050">
            <a:solidFill>
              <a:srgbClr val="7C2D12"/>
            </a:solidFill>
            <a:prstDash val="solid"/>
          </a:ln>
        </p:spPr>
      </p:sp>
      <p:sp>
        <p:nvSpPr>
          <p:cNvPr id="37" name="Text 34"/>
          <p:cNvSpPr/>
          <p:nvPr/>
        </p:nvSpPr>
        <p:spPr>
          <a:xfrm>
            <a:off x="4526280" y="5550408"/>
            <a:ext cx="457200" cy="457200"/>
          </a:xfrm>
          <a:prstGeom prst="rect">
            <a:avLst/>
          </a:prstGeom>
          <a:noFill/>
          <a:ln/>
        </p:spPr>
        <p:txBody>
          <a:bodyPr wrap="square" rtlCol="0" anchor="ctr"/>
          <a:lstStyle/>
          <a:p>
            <a:pPr algn="ctr" indent="0" marL="0">
              <a:buNone/>
            </a:pPr>
            <a:r>
              <a:rPr lang="en-US" sz="1600" b="1" dirty="0">
                <a:solidFill>
                  <a:srgbClr val="7C2D12"/>
                </a:solidFill>
                <a:latin typeface="Segoe UI" pitchFamily="34" charset="0"/>
                <a:ea typeface="Segoe UI" pitchFamily="34" charset="-122"/>
                <a:cs typeface="Segoe UI" pitchFamily="34" charset="-120"/>
              </a:rPr>
              <a:t>5</a:t>
            </a:r>
            <a:endParaRPr lang="en-US" sz="1600" dirty="0"/>
          </a:p>
        </p:txBody>
      </p:sp>
      <p:sp>
        <p:nvSpPr>
          <p:cNvPr id="38" name="Text 35"/>
          <p:cNvSpPr/>
          <p:nvPr/>
        </p:nvSpPr>
        <p:spPr>
          <a:xfrm>
            <a:off x="5166360" y="5532120"/>
            <a:ext cx="6492240" cy="365760"/>
          </a:xfrm>
          <a:prstGeom prst="rect">
            <a:avLst/>
          </a:prstGeom>
          <a:noFill/>
          <a:ln/>
        </p:spPr>
        <p:txBody>
          <a:bodyPr wrap="square" rtlCol="0" anchor="ctr"/>
          <a:lstStyle/>
          <a:p>
            <a:pPr indent="0" marL="0">
              <a:buNone/>
            </a:pPr>
            <a:r>
              <a:rPr lang="en-US" sz="1600" b="1" dirty="0">
                <a:solidFill>
                  <a:srgbClr val="FFFFFF"/>
                </a:solidFill>
                <a:latin typeface="Segoe UI" pitchFamily="34" charset="0"/>
                <a:ea typeface="Segoe UI" pitchFamily="34" charset="-122"/>
                <a:cs typeface="Segoe UI" pitchFamily="34" charset="-120"/>
              </a:rPr>
              <a:t>Start a fresh session and prove the skill loads</a:t>
            </a:r>
            <a:endParaRPr lang="en-US" sz="1600" dirty="0"/>
          </a:p>
        </p:txBody>
      </p:sp>
      <p:sp>
        <p:nvSpPr>
          <p:cNvPr id="39" name="Text 36"/>
          <p:cNvSpPr/>
          <p:nvPr/>
        </p:nvSpPr>
        <p:spPr>
          <a:xfrm>
            <a:off x="5166360" y="5897880"/>
            <a:ext cx="6492240" cy="502920"/>
          </a:xfrm>
          <a:prstGeom prst="rect">
            <a:avLst/>
          </a:prstGeom>
          <a:noFill/>
          <a:ln/>
        </p:spPr>
        <p:txBody>
          <a:bodyPr wrap="square" rtlCol="0" anchor="ctr"/>
          <a:lstStyle/>
          <a:p>
            <a:pPr indent="0" marL="0">
              <a:lnSpc>
                <a:spcPct val="115000"/>
              </a:lnSpc>
              <a:buNone/>
            </a:pPr>
            <a:r>
              <a:rPr lang="en-US" sz="1300" dirty="0">
                <a:solidFill>
                  <a:srgbClr val="AEB2D8"/>
                </a:solidFill>
                <a:latin typeface="Segoe UI" pitchFamily="34" charset="0"/>
                <a:ea typeface="Segoe UI" pitchFamily="34" charset="-122"/>
                <a:cs typeface="Segoe UI" pitchFamily="34" charset="-120"/>
              </a:rPr>
              <a:t>Go back to the home page and start a completely new sess…</a:t>
            </a:r>
            <a:endParaRPr lang="en-US" sz="1300" dirty="0"/>
          </a:p>
        </p:txBody>
      </p:sp>
      <p:sp>
        <p:nvSpPr>
          <p:cNvPr id="40" name="Text 3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41" name="Text 3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7C2D12"/>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7C2D12"/>
                </a:solidFill>
                <a:latin typeface="Segoe UI" pitchFamily="34" charset="0"/>
                <a:ea typeface="Segoe UI" pitchFamily="34" charset="-122"/>
                <a:cs typeface="Segoe UI" pitchFamily="34" charset="-120"/>
              </a:rPr>
              <a:t>Scenario 06 · Live demo</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What Cowork does, and what it produces</a:t>
            </a:r>
            <a:endParaRPr lang="en-US" sz="3000" dirty="0"/>
          </a:p>
        </p:txBody>
      </p:sp>
      <p:sp>
        <p:nvSpPr>
          <p:cNvPr id="5" name="Shape 3"/>
          <p:cNvSpPr/>
          <p:nvPr/>
        </p:nvSpPr>
        <p:spPr>
          <a:xfrm>
            <a:off x="137754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6" name="Image 0" descr="C:\temp\CoworkLab\v3\_working\screenshots\mfgx6_01_input_en.png">    </p:cNvPr>
          <p:cNvPicPr>
            <a:picLocks noChangeAspect="1"/>
          </p:cNvPicPr>
          <p:nvPr/>
        </p:nvPicPr>
        <p:blipFill>
          <a:blip r:embed="rId1"/>
          <a:stretch>
            <a:fillRect/>
          </a:stretch>
        </p:blipFill>
        <p:spPr>
          <a:xfrm>
            <a:off x="1432408" y="1828800"/>
            <a:ext cx="4434840" cy="2904283"/>
          </a:xfrm>
          <a:prstGeom prst="rect">
            <a:avLst/>
          </a:prstGeom>
        </p:spPr>
      </p:pic>
      <p:sp>
        <p:nvSpPr>
          <p:cNvPr id="7" name="Text 4"/>
          <p:cNvSpPr/>
          <p:nvPr/>
        </p:nvSpPr>
        <p:spPr>
          <a:xfrm>
            <a:off x="1432408" y="4824523"/>
            <a:ext cx="4434840" cy="292608"/>
          </a:xfrm>
          <a:prstGeom prst="rect">
            <a:avLst/>
          </a:prstGeom>
          <a:noFill/>
          <a:ln/>
        </p:spPr>
        <p:txBody>
          <a:bodyPr wrap="square" rtlCol="0" anchor="ctr"/>
          <a:lstStyle/>
          <a:p>
            <a:pPr algn="ctr" indent="0" marL="0">
              <a:buNone/>
            </a:pPr>
            <a:r>
              <a:rPr lang="en-US" sz="1350" b="1" dirty="0">
                <a:solidFill>
                  <a:srgbClr val="7C2D12"/>
                </a:solidFill>
                <a:latin typeface="Segoe UI" pitchFamily="34" charset="0"/>
                <a:ea typeface="Segoe UI" pitchFamily="34" charset="-122"/>
                <a:cs typeface="Segoe UI" pitchFamily="34" charset="-120"/>
              </a:rPr>
              <a:t>① Your input and prompt</a:t>
            </a:r>
            <a:endParaRPr lang="en-US" sz="1350" dirty="0"/>
          </a:p>
        </p:txBody>
      </p:sp>
      <p:sp>
        <p:nvSpPr>
          <p:cNvPr id="8" name="Shape 5"/>
          <p:cNvSpPr/>
          <p:nvPr/>
        </p:nvSpPr>
        <p:spPr>
          <a:xfrm>
            <a:off x="6269584" y="1773936"/>
            <a:ext cx="4544568" cy="3014011"/>
          </a:xfrm>
          <a:prstGeom prst="rect">
            <a:avLst/>
          </a:prstGeom>
          <a:solidFill>
            <a:srgbClr val="FFFFFF"/>
          </a:solidFill>
          <a:ln w="12700">
            <a:solidFill>
              <a:srgbClr val="E4E7F2"/>
            </a:solidFill>
            <a:prstDash val="solid"/>
          </a:ln>
          <a:effectLst>
            <a:outerShdw sx="100000" sy="100000" kx="0" ky="0" algn="bl" rotWithShape="0" blurRad="114300" dist="38100" dir="5400000">
              <a:srgbClr val="8A90B5">
                <a:alpha val="22000"/>
              </a:srgbClr>
            </a:outerShdw>
          </a:effectLst>
        </p:spPr>
      </p:sp>
      <p:pic>
        <p:nvPicPr>
          <p:cNvPr id="9" name="Image 1" descr="C:\temp\CoworkLab\v3\_working\screenshots\mfgx6_05b_skill_fired_en.png">    </p:cNvPr>
          <p:cNvPicPr>
            <a:picLocks noChangeAspect="1"/>
          </p:cNvPicPr>
          <p:nvPr/>
        </p:nvPicPr>
        <p:blipFill>
          <a:blip r:embed="rId2"/>
          <a:stretch>
            <a:fillRect/>
          </a:stretch>
        </p:blipFill>
        <p:spPr>
          <a:xfrm>
            <a:off x="6324448" y="1828800"/>
            <a:ext cx="4434840" cy="2904283"/>
          </a:xfrm>
          <a:prstGeom prst="rect">
            <a:avLst/>
          </a:prstGeom>
        </p:spPr>
      </p:pic>
      <p:sp>
        <p:nvSpPr>
          <p:cNvPr id="10" name="Text 6"/>
          <p:cNvSpPr/>
          <p:nvPr/>
        </p:nvSpPr>
        <p:spPr>
          <a:xfrm>
            <a:off x="6324448" y="4824523"/>
            <a:ext cx="4434840" cy="292608"/>
          </a:xfrm>
          <a:prstGeom prst="rect">
            <a:avLst/>
          </a:prstGeom>
          <a:noFill/>
          <a:ln/>
        </p:spPr>
        <p:txBody>
          <a:bodyPr wrap="square" rtlCol="0" anchor="ctr"/>
          <a:lstStyle/>
          <a:p>
            <a:pPr algn="ctr" indent="0" marL="0">
              <a:buNone/>
            </a:pPr>
            <a:r>
              <a:rPr lang="en-US" sz="1350" b="1" dirty="0">
                <a:solidFill>
                  <a:srgbClr val="7C2D12"/>
                </a:solidFill>
                <a:latin typeface="Segoe UI" pitchFamily="34" charset="0"/>
                <a:ea typeface="Segoe UI" pitchFamily="34" charset="-122"/>
                <a:cs typeface="Segoe UI" pitchFamily="34" charset="-120"/>
              </a:rPr>
              <a:t>② The result</a:t>
            </a:r>
            <a:endParaRPr lang="en-US" sz="1350" dirty="0"/>
          </a:p>
        </p:txBody>
      </p:sp>
      <p:sp>
        <p:nvSpPr>
          <p:cNvPr id="11" name="Shape 7"/>
          <p:cNvSpPr/>
          <p:nvPr/>
        </p:nvSpPr>
        <p:spPr>
          <a:xfrm>
            <a:off x="640080" y="5226859"/>
            <a:ext cx="10911535" cy="1143000"/>
          </a:xfrm>
          <a:prstGeom prst="rect">
            <a:avLst/>
          </a:prstGeom>
          <a:solidFill>
            <a:srgbClr val="FFFFFF"/>
          </a:solidFill>
          <a:ln w="12700">
            <a:solidFill>
              <a:srgbClr val="E4E7F2"/>
            </a:solidFill>
            <a:prstDash val="solid"/>
          </a:ln>
        </p:spPr>
      </p:sp>
      <p:sp>
        <p:nvSpPr>
          <p:cNvPr id="12" name="Shape 8"/>
          <p:cNvSpPr/>
          <p:nvPr/>
        </p:nvSpPr>
        <p:spPr>
          <a:xfrm>
            <a:off x="640080" y="5226859"/>
            <a:ext cx="91440" cy="1143000"/>
          </a:xfrm>
          <a:prstGeom prst="rect">
            <a:avLst/>
          </a:prstGeom>
          <a:solidFill>
            <a:srgbClr val="7C2D12"/>
          </a:solidFill>
          <a:ln/>
        </p:spPr>
      </p:sp>
      <p:sp>
        <p:nvSpPr>
          <p:cNvPr id="13" name="Text 9"/>
          <p:cNvSpPr/>
          <p:nvPr/>
        </p:nvSpPr>
        <p:spPr>
          <a:xfrm>
            <a:off x="914400" y="5336587"/>
            <a:ext cx="1783080" cy="320040"/>
          </a:xfrm>
          <a:prstGeom prst="rect">
            <a:avLst/>
          </a:prstGeom>
          <a:noFill/>
          <a:ln/>
        </p:spPr>
        <p:txBody>
          <a:bodyPr wrap="square" rtlCol="0" anchor="ctr"/>
          <a:lstStyle/>
          <a:p>
            <a:pPr indent="0" marL="0">
              <a:buNone/>
            </a:pPr>
            <a:r>
              <a:rPr lang="en-US" sz="1400" b="1" dirty="0">
                <a:solidFill>
                  <a:srgbClr val="1E2235"/>
                </a:solidFill>
                <a:latin typeface="Segoe UI" pitchFamily="34" charset="0"/>
                <a:ea typeface="Segoe UI" pitchFamily="34" charset="-122"/>
                <a:cs typeface="Segoe UI" pitchFamily="34" charset="-120"/>
              </a:rPr>
              <a:t>Check the output</a:t>
            </a:r>
            <a:endParaRPr lang="en-US" sz="1400" dirty="0"/>
          </a:p>
        </p:txBody>
      </p:sp>
      <p:pic>
        <p:nvPicPr>
          <p:cNvPr id="14" name="Image 2" descr="preencoded.png">    </p:cNvPr>
          <p:cNvPicPr>
            <a:picLocks noChangeAspect="1"/>
          </p:cNvPicPr>
          <p:nvPr/>
        </p:nvPicPr>
        <p:blipFill>
          <a:blip r:embed="rId3"/>
          <a:stretch>
            <a:fillRect/>
          </a:stretch>
        </p:blipFill>
        <p:spPr>
          <a:xfrm>
            <a:off x="2880360" y="5373163"/>
            <a:ext cx="182880" cy="182880"/>
          </a:xfrm>
          <a:prstGeom prst="rect">
            <a:avLst/>
          </a:prstGeom>
        </p:spPr>
      </p:pic>
      <p:sp>
        <p:nvSpPr>
          <p:cNvPr id="15" name="Text 10"/>
          <p:cNvSpPr/>
          <p:nvPr/>
        </p:nvSpPr>
        <p:spPr>
          <a:xfrm>
            <a:off x="3154680" y="5318299"/>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All four get a clear verdict — none fudged or punted to "needs manual review"</a:t>
            </a:r>
            <a:endParaRPr lang="en-US" sz="1300" dirty="0"/>
          </a:p>
        </p:txBody>
      </p:sp>
      <p:pic>
        <p:nvPicPr>
          <p:cNvPr id="16" name="Image 3" descr="preencoded.png">    </p:cNvPr>
          <p:cNvPicPr>
            <a:picLocks noChangeAspect="1"/>
          </p:cNvPicPr>
          <p:nvPr/>
        </p:nvPicPr>
        <p:blipFill>
          <a:blip r:embed="rId4"/>
          <a:stretch>
            <a:fillRect/>
          </a:stretch>
        </p:blipFill>
        <p:spPr>
          <a:xfrm>
            <a:off x="2880360" y="5711491"/>
            <a:ext cx="182880" cy="182880"/>
          </a:xfrm>
          <a:prstGeom prst="rect">
            <a:avLst/>
          </a:prstGeom>
        </p:spPr>
      </p:pic>
      <p:sp>
        <p:nvSpPr>
          <p:cNvPr id="17" name="Text 11"/>
          <p:cNvSpPr/>
          <p:nvPr/>
        </p:nvSpPr>
        <p:spPr>
          <a:xfrm>
            <a:off x="3154680" y="5656627"/>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The second is blocked — it does not take the requester's "customer approval obtained" note at face value</a:t>
            </a:r>
            <a:endParaRPr lang="en-US" sz="1300" dirty="0"/>
          </a:p>
        </p:txBody>
      </p:sp>
      <p:pic>
        <p:nvPicPr>
          <p:cNvPr id="18" name="Image 4" descr="preencoded.png">    </p:cNvPr>
          <p:cNvPicPr>
            <a:picLocks noChangeAspect="1"/>
          </p:cNvPicPr>
          <p:nvPr/>
        </p:nvPicPr>
        <p:blipFill>
          <a:blip r:embed="rId5"/>
          <a:stretch>
            <a:fillRect/>
          </a:stretch>
        </p:blipFill>
        <p:spPr>
          <a:xfrm>
            <a:off x="2880360" y="6049819"/>
            <a:ext cx="182880" cy="182880"/>
          </a:xfrm>
          <a:prstGeom prst="rect">
            <a:avLst/>
          </a:prstGeom>
        </p:spPr>
      </p:pic>
      <p:sp>
        <p:nvSpPr>
          <p:cNvPr id="19" name="Text 12"/>
          <p:cNvSpPr/>
          <p:nvPr/>
        </p:nvSpPr>
        <p:spPr>
          <a:xfrm>
            <a:off x="3154680" y="5994955"/>
            <a:ext cx="8122615" cy="310896"/>
          </a:xfrm>
          <a:prstGeom prst="rect">
            <a:avLst/>
          </a:prstGeom>
          <a:noFill/>
          <a:ln/>
        </p:spPr>
        <p:txBody>
          <a:bodyPr wrap="square" rtlCol="0" anchor="ctr"/>
          <a:lstStyle/>
          <a:p>
            <a:pPr indent="0" marL="0">
              <a:buNone/>
            </a:pPr>
            <a:r>
              <a:rPr lang="en-US" sz="1300" dirty="0">
                <a:solidFill>
                  <a:srgbClr val="1E2235"/>
                </a:solidFill>
                <a:latin typeface="Segoe UI" pitchFamily="34" charset="0"/>
                <a:ea typeface="Segoe UI" pitchFamily="34" charset="-122"/>
                <a:cs typeface="Segoe UI" pitchFamily="34" charset="-120"/>
              </a:rPr>
              <a:t>It articulates that a valid customer approval and a deviation still inside its validity period are two separate conditions</a:t>
            </a:r>
            <a:endParaRPr lang="en-US" sz="1300" dirty="0"/>
          </a:p>
        </p:txBody>
      </p:sp>
      <p:sp>
        <p:nvSpPr>
          <p:cNvPr id="20" name="Text 13"/>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21" name="Text 14"/>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6366F1"/>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6366F1"/>
                </a:solidFill>
                <a:latin typeface="Segoe UI" pitchFamily="34" charset="0"/>
                <a:ea typeface="Segoe UI" pitchFamily="34" charset="-122"/>
                <a:cs typeface="Segoe UI" pitchFamily="34" charset="-120"/>
              </a:rPr>
              <a:t>MAKE IT YOURS</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1E2235"/>
                </a:solidFill>
                <a:latin typeface="Segoe UI" pitchFamily="34" charset="0"/>
                <a:ea typeface="Segoe UI" pitchFamily="34" charset="-122"/>
                <a:cs typeface="Segoe UI" pitchFamily="34" charset="-120"/>
              </a:rPr>
              <a:t>Extend it to your own work</a:t>
            </a:r>
            <a:endParaRPr lang="en-US" sz="3000" dirty="0"/>
          </a:p>
        </p:txBody>
      </p:sp>
      <p:sp>
        <p:nvSpPr>
          <p:cNvPr id="5" name="Shape 3"/>
          <p:cNvSpPr/>
          <p:nvPr/>
        </p:nvSpPr>
        <p:spPr>
          <a:xfrm>
            <a:off x="640080" y="1783080"/>
            <a:ext cx="10911535" cy="659892"/>
          </a:xfrm>
          <a:prstGeom prst="rect">
            <a:avLst/>
          </a:prstGeom>
          <a:solidFill>
            <a:srgbClr val="FFFFFF"/>
          </a:solidFill>
          <a:ln w="12700">
            <a:solidFill>
              <a:srgbClr val="E4E7F2"/>
            </a:solidFill>
            <a:prstDash val="solid"/>
          </a:ln>
        </p:spPr>
      </p:sp>
      <p:sp>
        <p:nvSpPr>
          <p:cNvPr id="6" name="Shape 4"/>
          <p:cNvSpPr/>
          <p:nvPr/>
        </p:nvSpPr>
        <p:spPr>
          <a:xfrm>
            <a:off x="868680" y="1866138"/>
            <a:ext cx="493776" cy="493776"/>
          </a:xfrm>
          <a:prstGeom prst="ellipse">
            <a:avLst/>
          </a:prstGeom>
          <a:solidFill>
            <a:srgbClr val="1F4E79"/>
          </a:solidFill>
          <a:ln/>
        </p:spPr>
      </p:sp>
      <p:pic>
        <p:nvPicPr>
          <p:cNvPr id="7" name="Image 0" descr="preencoded.png">    </p:cNvPr>
          <p:cNvPicPr>
            <a:picLocks noChangeAspect="1"/>
          </p:cNvPicPr>
          <p:nvPr/>
        </p:nvPicPr>
        <p:blipFill>
          <a:blip r:embed="rId1"/>
          <a:stretch>
            <a:fillRect/>
          </a:stretch>
        </p:blipFill>
        <p:spPr>
          <a:xfrm>
            <a:off x="996696" y="1994154"/>
            <a:ext cx="237744" cy="237744"/>
          </a:xfrm>
          <a:prstGeom prst="rect">
            <a:avLst/>
          </a:prstGeom>
        </p:spPr>
      </p:pic>
      <p:sp>
        <p:nvSpPr>
          <p:cNvPr id="8" name="Text 5"/>
          <p:cNvSpPr/>
          <p:nvPr/>
        </p:nvSpPr>
        <p:spPr>
          <a:xfrm>
            <a:off x="1554480" y="1819656"/>
            <a:ext cx="2286000" cy="586740"/>
          </a:xfrm>
          <a:prstGeom prst="rect">
            <a:avLst/>
          </a:prstGeom>
          <a:noFill/>
          <a:ln/>
        </p:spPr>
        <p:txBody>
          <a:bodyPr wrap="square" rtlCol="0" anchor="ctr"/>
          <a:lstStyle/>
          <a:p>
            <a:pPr indent="0" marL="0">
              <a:buNone/>
            </a:pPr>
            <a:r>
              <a:rPr lang="en-US" sz="1300" b="1" dirty="0">
                <a:solidFill>
                  <a:srgbClr val="1F4E79"/>
                </a:solidFill>
                <a:latin typeface="Segoe UI" pitchFamily="34" charset="0"/>
                <a:ea typeface="Segoe UI" pitchFamily="34" charset="-122"/>
                <a:cs typeface="Segoe UI" pitchFamily="34" charset="-120"/>
              </a:rPr>
              <a:t>High-Tech Mfg · Product Engineering</a:t>
            </a:r>
            <a:endParaRPr lang="en-US" sz="1300" dirty="0"/>
          </a:p>
        </p:txBody>
      </p:sp>
      <p:sp>
        <p:nvSpPr>
          <p:cNvPr id="9" name="Text 6"/>
          <p:cNvSpPr/>
          <p:nvPr/>
        </p:nvSpPr>
        <p:spPr>
          <a:xfrm>
            <a:off x="3749040" y="1819656"/>
            <a:ext cx="7619695" cy="586740"/>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Change the calendar section to "only meetings where I have to decide something today" and see how it judges which ones those are.</a:t>
            </a:r>
            <a:endParaRPr lang="en-US" sz="1250" dirty="0"/>
          </a:p>
        </p:txBody>
      </p:sp>
      <p:sp>
        <p:nvSpPr>
          <p:cNvPr id="10" name="Shape 7"/>
          <p:cNvSpPr/>
          <p:nvPr/>
        </p:nvSpPr>
        <p:spPr>
          <a:xfrm>
            <a:off x="640080" y="2552700"/>
            <a:ext cx="10911535" cy="659892"/>
          </a:xfrm>
          <a:prstGeom prst="rect">
            <a:avLst/>
          </a:prstGeom>
          <a:solidFill>
            <a:srgbClr val="FFFFFF"/>
          </a:solidFill>
          <a:ln w="12700">
            <a:solidFill>
              <a:srgbClr val="E4E7F2"/>
            </a:solidFill>
            <a:prstDash val="solid"/>
          </a:ln>
        </p:spPr>
      </p:sp>
      <p:sp>
        <p:nvSpPr>
          <p:cNvPr id="11" name="Shape 8"/>
          <p:cNvSpPr/>
          <p:nvPr/>
        </p:nvSpPr>
        <p:spPr>
          <a:xfrm>
            <a:off x="868680" y="2635758"/>
            <a:ext cx="493776" cy="493776"/>
          </a:xfrm>
          <a:prstGeom prst="ellipse">
            <a:avLst/>
          </a:prstGeom>
          <a:solidFill>
            <a:srgbClr val="0F5132"/>
          </a:solidFill>
          <a:ln/>
        </p:spPr>
      </p:sp>
      <p:pic>
        <p:nvPicPr>
          <p:cNvPr id="12" name="Image 1" descr="preencoded.png">    </p:cNvPr>
          <p:cNvPicPr>
            <a:picLocks noChangeAspect="1"/>
          </p:cNvPicPr>
          <p:nvPr/>
        </p:nvPicPr>
        <p:blipFill>
          <a:blip r:embed="rId2"/>
          <a:stretch>
            <a:fillRect/>
          </a:stretch>
        </p:blipFill>
        <p:spPr>
          <a:xfrm>
            <a:off x="996696" y="2763774"/>
            <a:ext cx="237744" cy="237744"/>
          </a:xfrm>
          <a:prstGeom prst="rect">
            <a:avLst/>
          </a:prstGeom>
        </p:spPr>
      </p:pic>
      <p:sp>
        <p:nvSpPr>
          <p:cNvPr id="13" name="Text 9"/>
          <p:cNvSpPr/>
          <p:nvPr/>
        </p:nvSpPr>
        <p:spPr>
          <a:xfrm>
            <a:off x="1554480" y="2589276"/>
            <a:ext cx="2286000" cy="586740"/>
          </a:xfrm>
          <a:prstGeom prst="rect">
            <a:avLst/>
          </a:prstGeom>
          <a:noFill/>
          <a:ln/>
        </p:spPr>
        <p:txBody>
          <a:bodyPr wrap="square" rtlCol="0" anchor="ctr"/>
          <a:lstStyle/>
          <a:p>
            <a:pPr indent="0" marL="0">
              <a:buNone/>
            </a:pPr>
            <a:r>
              <a:rPr lang="en-US" sz="1300" b="1" dirty="0">
                <a:solidFill>
                  <a:srgbClr val="0F5132"/>
                </a:solidFill>
                <a:latin typeface="Segoe UI" pitchFamily="34" charset="0"/>
                <a:ea typeface="Segoe UI" pitchFamily="34" charset="-122"/>
                <a:cs typeface="Segoe UI" pitchFamily="34" charset="-120"/>
              </a:rPr>
              <a:t>High-Tech Mfg · Product Engineering</a:t>
            </a:r>
            <a:endParaRPr lang="en-US" sz="1300" dirty="0"/>
          </a:p>
        </p:txBody>
      </p:sp>
      <p:sp>
        <p:nvSpPr>
          <p:cNvPr id="14" name="Text 10"/>
          <p:cNvSpPr/>
          <p:nvPr/>
        </p:nvSpPr>
        <p:spPr>
          <a:xfrm>
            <a:off x="3749040" y="2589276"/>
            <a:ext cx="7619695" cy="586740"/>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Add two more lots that used the same chamber but came out normal, and see whether it overturns its own conclusion.</a:t>
            </a:r>
            <a:endParaRPr lang="en-US" sz="1250" dirty="0"/>
          </a:p>
        </p:txBody>
      </p:sp>
      <p:sp>
        <p:nvSpPr>
          <p:cNvPr id="15" name="Shape 11"/>
          <p:cNvSpPr/>
          <p:nvPr/>
        </p:nvSpPr>
        <p:spPr>
          <a:xfrm>
            <a:off x="640080" y="3322320"/>
            <a:ext cx="10911535" cy="659892"/>
          </a:xfrm>
          <a:prstGeom prst="rect">
            <a:avLst/>
          </a:prstGeom>
          <a:solidFill>
            <a:srgbClr val="FFFFFF"/>
          </a:solidFill>
          <a:ln w="12700">
            <a:solidFill>
              <a:srgbClr val="E4E7F2"/>
            </a:solidFill>
            <a:prstDash val="solid"/>
          </a:ln>
        </p:spPr>
      </p:sp>
      <p:sp>
        <p:nvSpPr>
          <p:cNvPr id="16" name="Shape 12"/>
          <p:cNvSpPr/>
          <p:nvPr/>
        </p:nvSpPr>
        <p:spPr>
          <a:xfrm>
            <a:off x="868680" y="3405378"/>
            <a:ext cx="493776" cy="493776"/>
          </a:xfrm>
          <a:prstGeom prst="ellipse">
            <a:avLst/>
          </a:prstGeom>
          <a:solidFill>
            <a:srgbClr val="6B2D5C"/>
          </a:solidFill>
          <a:ln/>
        </p:spPr>
      </p:sp>
      <p:pic>
        <p:nvPicPr>
          <p:cNvPr id="17" name="Image 2" descr="preencoded.png">    </p:cNvPr>
          <p:cNvPicPr>
            <a:picLocks noChangeAspect="1"/>
          </p:cNvPicPr>
          <p:nvPr/>
        </p:nvPicPr>
        <p:blipFill>
          <a:blip r:embed="rId3"/>
          <a:stretch>
            <a:fillRect/>
          </a:stretch>
        </p:blipFill>
        <p:spPr>
          <a:xfrm>
            <a:off x="996696" y="3533394"/>
            <a:ext cx="237744" cy="237744"/>
          </a:xfrm>
          <a:prstGeom prst="rect">
            <a:avLst/>
          </a:prstGeom>
        </p:spPr>
      </p:pic>
      <p:sp>
        <p:nvSpPr>
          <p:cNvPr id="18" name="Text 13"/>
          <p:cNvSpPr/>
          <p:nvPr/>
        </p:nvSpPr>
        <p:spPr>
          <a:xfrm>
            <a:off x="1554480" y="3358896"/>
            <a:ext cx="2286000" cy="586740"/>
          </a:xfrm>
          <a:prstGeom prst="rect">
            <a:avLst/>
          </a:prstGeom>
          <a:noFill/>
          <a:ln/>
        </p:spPr>
        <p:txBody>
          <a:bodyPr wrap="square" rtlCol="0" anchor="ctr"/>
          <a:lstStyle/>
          <a:p>
            <a:pPr indent="0" marL="0">
              <a:buNone/>
            </a:pPr>
            <a:r>
              <a:rPr lang="en-US" sz="1300" b="1" dirty="0">
                <a:solidFill>
                  <a:srgbClr val="6B2D5C"/>
                </a:solidFill>
                <a:latin typeface="Segoe UI" pitchFamily="34" charset="0"/>
                <a:ea typeface="Segoe UI" pitchFamily="34" charset="-122"/>
                <a:cs typeface="Segoe UI" pitchFamily="34" charset="-120"/>
              </a:rPr>
              <a:t>High-Tech Mfg · Product Engineering</a:t>
            </a:r>
            <a:endParaRPr lang="en-US" sz="1300" dirty="0"/>
          </a:p>
        </p:txBody>
      </p:sp>
      <p:sp>
        <p:nvSpPr>
          <p:cNvPr id="19" name="Text 14"/>
          <p:cNvSpPr/>
          <p:nvPr/>
        </p:nvSpPr>
        <p:spPr>
          <a:xfrm>
            <a:off x="3749040" y="3358896"/>
            <a:ext cx="7619695" cy="586740"/>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Ask for two versions of the risk forecast — one for the customer, one for internal use — and compare how they differ.</a:t>
            </a:r>
            <a:endParaRPr lang="en-US" sz="1250" dirty="0"/>
          </a:p>
        </p:txBody>
      </p:sp>
      <p:sp>
        <p:nvSpPr>
          <p:cNvPr id="20" name="Shape 15"/>
          <p:cNvSpPr/>
          <p:nvPr/>
        </p:nvSpPr>
        <p:spPr>
          <a:xfrm>
            <a:off x="640080" y="4091940"/>
            <a:ext cx="10911535" cy="659892"/>
          </a:xfrm>
          <a:prstGeom prst="rect">
            <a:avLst/>
          </a:prstGeom>
          <a:solidFill>
            <a:srgbClr val="FFFFFF"/>
          </a:solidFill>
          <a:ln w="12700">
            <a:solidFill>
              <a:srgbClr val="E4E7F2"/>
            </a:solidFill>
            <a:prstDash val="solid"/>
          </a:ln>
        </p:spPr>
      </p:sp>
      <p:sp>
        <p:nvSpPr>
          <p:cNvPr id="21" name="Shape 16"/>
          <p:cNvSpPr/>
          <p:nvPr/>
        </p:nvSpPr>
        <p:spPr>
          <a:xfrm>
            <a:off x="868680" y="4174998"/>
            <a:ext cx="493776" cy="493776"/>
          </a:xfrm>
          <a:prstGeom prst="ellipse">
            <a:avLst/>
          </a:prstGeom>
          <a:solidFill>
            <a:srgbClr val="8A4B08"/>
          </a:solidFill>
          <a:ln/>
        </p:spPr>
      </p:sp>
      <p:pic>
        <p:nvPicPr>
          <p:cNvPr id="22" name="Image 3" descr="preencoded.png">    </p:cNvPr>
          <p:cNvPicPr>
            <a:picLocks noChangeAspect="1"/>
          </p:cNvPicPr>
          <p:nvPr/>
        </p:nvPicPr>
        <p:blipFill>
          <a:blip r:embed="rId4"/>
          <a:stretch>
            <a:fillRect/>
          </a:stretch>
        </p:blipFill>
        <p:spPr>
          <a:xfrm>
            <a:off x="996696" y="4303014"/>
            <a:ext cx="237744" cy="237744"/>
          </a:xfrm>
          <a:prstGeom prst="rect">
            <a:avLst/>
          </a:prstGeom>
        </p:spPr>
      </p:pic>
      <p:sp>
        <p:nvSpPr>
          <p:cNvPr id="23" name="Text 17"/>
          <p:cNvSpPr/>
          <p:nvPr/>
        </p:nvSpPr>
        <p:spPr>
          <a:xfrm>
            <a:off x="1554480" y="4128516"/>
            <a:ext cx="2286000" cy="586740"/>
          </a:xfrm>
          <a:prstGeom prst="rect">
            <a:avLst/>
          </a:prstGeom>
          <a:noFill/>
          <a:ln/>
        </p:spPr>
        <p:txBody>
          <a:bodyPr wrap="square" rtlCol="0" anchor="ctr"/>
          <a:lstStyle/>
          <a:p>
            <a:pPr indent="0" marL="0">
              <a:buNone/>
            </a:pPr>
            <a:r>
              <a:rPr lang="en-US" sz="1300" b="1" dirty="0">
                <a:solidFill>
                  <a:srgbClr val="8A4B08"/>
                </a:solidFill>
                <a:latin typeface="Segoe UI" pitchFamily="34" charset="0"/>
                <a:ea typeface="Segoe UI" pitchFamily="34" charset="-122"/>
                <a:cs typeface="Segoe UI" pitchFamily="34" charset="-120"/>
              </a:rPr>
              <a:t>High-Tech Mfg · Product Engineering</a:t>
            </a:r>
            <a:endParaRPr lang="en-US" sz="1300" dirty="0"/>
          </a:p>
        </p:txBody>
      </p:sp>
      <p:sp>
        <p:nvSpPr>
          <p:cNvPr id="24" name="Text 18"/>
          <p:cNvSpPr/>
          <p:nvPr/>
        </p:nvSpPr>
        <p:spPr>
          <a:xfrm>
            <a:off x="3749040" y="4128516"/>
            <a:ext cx="7619695" cy="586740"/>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Narrow the trigger to mail from specific supplier domains, so internally forwarded copies do not set it off.</a:t>
            </a:r>
            <a:endParaRPr lang="en-US" sz="1250" dirty="0"/>
          </a:p>
        </p:txBody>
      </p:sp>
      <p:sp>
        <p:nvSpPr>
          <p:cNvPr id="25" name="Shape 19"/>
          <p:cNvSpPr/>
          <p:nvPr/>
        </p:nvSpPr>
        <p:spPr>
          <a:xfrm>
            <a:off x="640080" y="4861560"/>
            <a:ext cx="10911535" cy="659892"/>
          </a:xfrm>
          <a:prstGeom prst="rect">
            <a:avLst/>
          </a:prstGeom>
          <a:solidFill>
            <a:srgbClr val="FFFFFF"/>
          </a:solidFill>
          <a:ln w="12700">
            <a:solidFill>
              <a:srgbClr val="E4E7F2"/>
            </a:solidFill>
            <a:prstDash val="solid"/>
          </a:ln>
        </p:spPr>
      </p:sp>
      <p:sp>
        <p:nvSpPr>
          <p:cNvPr id="26" name="Shape 20"/>
          <p:cNvSpPr/>
          <p:nvPr/>
        </p:nvSpPr>
        <p:spPr>
          <a:xfrm>
            <a:off x="868680" y="4944618"/>
            <a:ext cx="493776" cy="493776"/>
          </a:xfrm>
          <a:prstGeom prst="ellipse">
            <a:avLst/>
          </a:prstGeom>
          <a:solidFill>
            <a:srgbClr val="14532D"/>
          </a:solidFill>
          <a:ln/>
        </p:spPr>
      </p:sp>
      <p:pic>
        <p:nvPicPr>
          <p:cNvPr id="27" name="Image 4" descr="preencoded.png">    </p:cNvPr>
          <p:cNvPicPr>
            <a:picLocks noChangeAspect="1"/>
          </p:cNvPicPr>
          <p:nvPr/>
        </p:nvPicPr>
        <p:blipFill>
          <a:blip r:embed="rId5"/>
          <a:stretch>
            <a:fillRect/>
          </a:stretch>
        </p:blipFill>
        <p:spPr>
          <a:xfrm>
            <a:off x="996696" y="5072634"/>
            <a:ext cx="237744" cy="237744"/>
          </a:xfrm>
          <a:prstGeom prst="rect">
            <a:avLst/>
          </a:prstGeom>
        </p:spPr>
      </p:pic>
      <p:sp>
        <p:nvSpPr>
          <p:cNvPr id="28" name="Text 21"/>
          <p:cNvSpPr/>
          <p:nvPr/>
        </p:nvSpPr>
        <p:spPr>
          <a:xfrm>
            <a:off x="1554480" y="4898136"/>
            <a:ext cx="2286000" cy="586740"/>
          </a:xfrm>
          <a:prstGeom prst="rect">
            <a:avLst/>
          </a:prstGeom>
          <a:noFill/>
          <a:ln/>
        </p:spPr>
        <p:txBody>
          <a:bodyPr wrap="square" rtlCol="0" anchor="ctr"/>
          <a:lstStyle/>
          <a:p>
            <a:pPr indent="0" marL="0">
              <a:buNone/>
            </a:pPr>
            <a:r>
              <a:rPr lang="en-US" sz="1300" b="1" dirty="0">
                <a:solidFill>
                  <a:srgbClr val="14532D"/>
                </a:solidFill>
                <a:latin typeface="Segoe UI" pitchFamily="34" charset="0"/>
                <a:ea typeface="Segoe UI" pitchFamily="34" charset="-122"/>
                <a:cs typeface="Segoe UI" pitchFamily="34" charset="-120"/>
              </a:rPr>
              <a:t>High-Tech Mfg · Product Engineering</a:t>
            </a:r>
            <a:endParaRPr lang="en-US" sz="1300" dirty="0"/>
          </a:p>
        </p:txBody>
      </p:sp>
      <p:sp>
        <p:nvSpPr>
          <p:cNvPr id="29" name="Text 22"/>
          <p:cNvSpPr/>
          <p:nvPr/>
        </p:nvSpPr>
        <p:spPr>
          <a:xfrm>
            <a:off x="3749040" y="4898136"/>
            <a:ext cx="7619695" cy="586740"/>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Ask it to draft the missing clause for the change control procedure — buffer period, withdrawal timing and owner.</a:t>
            </a:r>
            <a:endParaRPr lang="en-US" sz="1250" dirty="0"/>
          </a:p>
        </p:txBody>
      </p:sp>
      <p:sp>
        <p:nvSpPr>
          <p:cNvPr id="30" name="Shape 23"/>
          <p:cNvSpPr/>
          <p:nvPr/>
        </p:nvSpPr>
        <p:spPr>
          <a:xfrm>
            <a:off x="640080" y="5631180"/>
            <a:ext cx="10911535" cy="659892"/>
          </a:xfrm>
          <a:prstGeom prst="rect">
            <a:avLst/>
          </a:prstGeom>
          <a:solidFill>
            <a:srgbClr val="FFFFFF"/>
          </a:solidFill>
          <a:ln w="12700">
            <a:solidFill>
              <a:srgbClr val="E4E7F2"/>
            </a:solidFill>
            <a:prstDash val="solid"/>
          </a:ln>
        </p:spPr>
      </p:sp>
      <p:sp>
        <p:nvSpPr>
          <p:cNvPr id="31" name="Shape 24"/>
          <p:cNvSpPr/>
          <p:nvPr/>
        </p:nvSpPr>
        <p:spPr>
          <a:xfrm>
            <a:off x="868680" y="5714238"/>
            <a:ext cx="493776" cy="493776"/>
          </a:xfrm>
          <a:prstGeom prst="ellipse">
            <a:avLst/>
          </a:prstGeom>
          <a:solidFill>
            <a:srgbClr val="7C2D12"/>
          </a:solidFill>
          <a:ln/>
        </p:spPr>
      </p:sp>
      <p:pic>
        <p:nvPicPr>
          <p:cNvPr id="32" name="Image 5" descr="preencoded.png">    </p:cNvPr>
          <p:cNvPicPr>
            <a:picLocks noChangeAspect="1"/>
          </p:cNvPicPr>
          <p:nvPr/>
        </p:nvPicPr>
        <p:blipFill>
          <a:blip r:embed="rId6"/>
          <a:stretch>
            <a:fillRect/>
          </a:stretch>
        </p:blipFill>
        <p:spPr>
          <a:xfrm>
            <a:off x="996696" y="5842254"/>
            <a:ext cx="237744" cy="237744"/>
          </a:xfrm>
          <a:prstGeom prst="rect">
            <a:avLst/>
          </a:prstGeom>
        </p:spPr>
      </p:pic>
      <p:sp>
        <p:nvSpPr>
          <p:cNvPr id="33" name="Text 25"/>
          <p:cNvSpPr/>
          <p:nvPr/>
        </p:nvSpPr>
        <p:spPr>
          <a:xfrm>
            <a:off x="1554480" y="5667756"/>
            <a:ext cx="2286000" cy="586740"/>
          </a:xfrm>
          <a:prstGeom prst="rect">
            <a:avLst/>
          </a:prstGeom>
          <a:noFill/>
          <a:ln/>
        </p:spPr>
        <p:txBody>
          <a:bodyPr wrap="square" rtlCol="0" anchor="ctr"/>
          <a:lstStyle/>
          <a:p>
            <a:pPr indent="0" marL="0">
              <a:buNone/>
            </a:pPr>
            <a:r>
              <a:rPr lang="en-US" sz="1300" b="1" dirty="0">
                <a:solidFill>
                  <a:srgbClr val="7C2D12"/>
                </a:solidFill>
                <a:latin typeface="Segoe UI" pitchFamily="34" charset="0"/>
                <a:ea typeface="Segoe UI" pitchFamily="34" charset="-122"/>
                <a:cs typeface="Segoe UI" pitchFamily="34" charset="-120"/>
              </a:rPr>
              <a:t>High-Tech Mfg · Product Engineering</a:t>
            </a:r>
            <a:endParaRPr lang="en-US" sz="1300" dirty="0"/>
          </a:p>
        </p:txBody>
      </p:sp>
      <p:sp>
        <p:nvSpPr>
          <p:cNvPr id="34" name="Text 26"/>
          <p:cNvSpPr/>
          <p:nvPr/>
        </p:nvSpPr>
        <p:spPr>
          <a:xfrm>
            <a:off x="3749040" y="5667756"/>
            <a:ext cx="7619695" cy="586740"/>
          </a:xfrm>
          <a:prstGeom prst="rect">
            <a:avLst/>
          </a:prstGeom>
          <a:noFill/>
          <a:ln/>
        </p:spPr>
        <p:txBody>
          <a:bodyPr wrap="square" rtlCol="0" anchor="ctr"/>
          <a:lstStyle/>
          <a:p>
            <a:pPr indent="0" marL="0">
              <a:lnSpc>
                <a:spcPct val="110000"/>
              </a:lnSpc>
              <a:buNone/>
            </a:pPr>
            <a:r>
              <a:rPr lang="en-US" sz="1250" dirty="0">
                <a:solidFill>
                  <a:srgbClr val="1E2235"/>
                </a:solidFill>
                <a:latin typeface="Segoe UI" pitchFamily="34" charset="0"/>
                <a:ea typeface="Segoe UI" pitchFamily="34" charset="-122"/>
                <a:cs typeface="Segoe UI" pitchFamily="34" charset="-120"/>
              </a:rPr>
              <a:t>💡 Add a rule warning when a deviation expires within 30 days, and see whether it flags the next one early.</a:t>
            </a:r>
            <a:endParaRPr lang="en-US" sz="1250" dirty="0"/>
          </a:p>
        </p:txBody>
      </p:sp>
      <p:sp>
        <p:nvSpPr>
          <p:cNvPr id="35" name="Text 27"/>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5B6079"/>
                </a:solidFill>
                <a:latin typeface="Segoe UI" pitchFamily="34" charset="0"/>
                <a:ea typeface="Segoe UI" pitchFamily="34" charset="-122"/>
                <a:cs typeface="Segoe UI" pitchFamily="34" charset="-120"/>
              </a:rPr>
              <a:t>Microsoft 365 Copilot Cowork</a:t>
            </a:r>
            <a:endParaRPr lang="en-US" sz="900" dirty="0"/>
          </a:p>
        </p:txBody>
      </p:sp>
      <p:sp>
        <p:nvSpPr>
          <p:cNvPr id="36" name="Text 28"/>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5B6079"/>
                </a:solidFill>
                <a:latin typeface="Segoe UI" pitchFamily="34" charset="0"/>
                <a:ea typeface="Segoe UI" pitchFamily="34" charset="-122"/>
                <a:cs typeface="Segoe U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384048" cy="128016"/>
          </a:xfrm>
          <a:prstGeom prst="rect">
            <a:avLst/>
          </a:prstGeom>
          <a:solidFill>
            <a:srgbClr val="22D3EE"/>
          </a:solidFill>
          <a:ln/>
        </p:spPr>
      </p:sp>
      <p:sp>
        <p:nvSpPr>
          <p:cNvPr id="3" name="Text 1"/>
          <p:cNvSpPr/>
          <p:nvPr/>
        </p:nvSpPr>
        <p:spPr>
          <a:xfrm>
            <a:off x="1143000" y="457200"/>
            <a:ext cx="8229600" cy="310896"/>
          </a:xfrm>
          <a:prstGeom prst="rect">
            <a:avLst/>
          </a:prstGeom>
          <a:noFill/>
          <a:ln/>
        </p:spPr>
        <p:txBody>
          <a:bodyPr wrap="square" rtlCol="0" anchor="ctr"/>
          <a:lstStyle/>
          <a:p>
            <a:pPr indent="0" marL="0">
              <a:buNone/>
            </a:pPr>
            <a:r>
              <a:rPr lang="en-US" sz="1200" b="1" spc="200" kern="0" dirty="0">
                <a:solidFill>
                  <a:srgbClr val="22D3EE"/>
                </a:solidFill>
                <a:latin typeface="Segoe UI" pitchFamily="34" charset="0"/>
                <a:ea typeface="Segoe UI" pitchFamily="34" charset="-122"/>
                <a:cs typeface="Segoe UI" pitchFamily="34" charset="-120"/>
              </a:rPr>
              <a:t>TRUST &amp; CONTROL</a:t>
            </a:r>
            <a:endParaRPr lang="en-US" sz="1200" dirty="0"/>
          </a:p>
        </p:txBody>
      </p:sp>
      <p:sp>
        <p:nvSpPr>
          <p:cNvPr id="4" name="Text 2"/>
          <p:cNvSpPr/>
          <p:nvPr/>
        </p:nvSpPr>
        <p:spPr>
          <a:xfrm>
            <a:off x="640080" y="786384"/>
            <a:ext cx="10972800" cy="640080"/>
          </a:xfrm>
          <a:prstGeom prst="rect">
            <a:avLst/>
          </a:prstGeom>
          <a:noFill/>
          <a:ln/>
        </p:spPr>
        <p:txBody>
          <a:bodyPr wrap="square" rtlCol="0" anchor="ctr"/>
          <a:lstStyle/>
          <a:p>
            <a:pPr indent="0" marL="0">
              <a:buNone/>
            </a:pPr>
            <a:r>
              <a:rPr lang="en-US" sz="3000" b="1" dirty="0">
                <a:solidFill>
                  <a:srgbClr val="FFFFFF"/>
                </a:solidFill>
                <a:latin typeface="Segoe UI" pitchFamily="34" charset="0"/>
                <a:ea typeface="Segoe UI" pitchFamily="34" charset="-122"/>
                <a:cs typeface="Segoe UI" pitchFamily="34" charset="-120"/>
              </a:rPr>
              <a:t>Automated — but you're still the decision maker</a:t>
            </a:r>
            <a:endParaRPr lang="en-US" sz="3000" dirty="0"/>
          </a:p>
        </p:txBody>
      </p:sp>
      <p:sp>
        <p:nvSpPr>
          <p:cNvPr id="5" name="Shape 3"/>
          <p:cNvSpPr/>
          <p:nvPr/>
        </p:nvSpPr>
        <p:spPr>
          <a:xfrm>
            <a:off x="640080" y="1874520"/>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6" name="Image 0" descr="preencoded.png">    </p:cNvPr>
          <p:cNvPicPr>
            <a:picLocks noChangeAspect="1"/>
          </p:cNvPicPr>
          <p:nvPr/>
        </p:nvPicPr>
        <p:blipFill>
          <a:blip r:embed="rId2"/>
          <a:stretch>
            <a:fillRect/>
          </a:stretch>
        </p:blipFill>
        <p:spPr>
          <a:xfrm>
            <a:off x="804672" y="2039112"/>
            <a:ext cx="448056" cy="448056"/>
          </a:xfrm>
          <a:prstGeom prst="rect">
            <a:avLst/>
          </a:prstGeom>
        </p:spPr>
      </p:pic>
      <p:sp>
        <p:nvSpPr>
          <p:cNvPr id="7" name="Text 4"/>
          <p:cNvSpPr/>
          <p:nvPr/>
        </p:nvSpPr>
        <p:spPr>
          <a:xfrm>
            <a:off x="1691640" y="1856232"/>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Approval before action</a:t>
            </a:r>
            <a:endParaRPr lang="en-US" sz="1700" dirty="0"/>
          </a:p>
        </p:txBody>
      </p:sp>
      <p:sp>
        <p:nvSpPr>
          <p:cNvPr id="8" name="Text 5"/>
          <p:cNvSpPr/>
          <p:nvPr/>
        </p:nvSpPr>
        <p:spPr>
          <a:xfrm>
            <a:off x="1691640" y="2203704"/>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Medium/high-risk actions show a RISK-LEVEL; sending mail, posting to Teams or creating meetings all open as an editable preview and go out only after approval.</a:t>
            </a:r>
            <a:endParaRPr lang="en-US" sz="1300" dirty="0"/>
          </a:p>
        </p:txBody>
      </p:sp>
      <p:sp>
        <p:nvSpPr>
          <p:cNvPr id="9" name="Shape 6"/>
          <p:cNvSpPr/>
          <p:nvPr/>
        </p:nvSpPr>
        <p:spPr>
          <a:xfrm>
            <a:off x="640080" y="3044952"/>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0" name="Image 1" descr="preencoded.png">    </p:cNvPr>
          <p:cNvPicPr>
            <a:picLocks noChangeAspect="1"/>
          </p:cNvPicPr>
          <p:nvPr/>
        </p:nvPicPr>
        <p:blipFill>
          <a:blip r:embed="rId3"/>
          <a:stretch>
            <a:fillRect/>
          </a:stretch>
        </p:blipFill>
        <p:spPr>
          <a:xfrm>
            <a:off x="804672" y="3209544"/>
            <a:ext cx="448056" cy="448056"/>
          </a:xfrm>
          <a:prstGeom prst="rect">
            <a:avLst/>
          </a:prstGeom>
        </p:spPr>
      </p:pic>
      <p:sp>
        <p:nvSpPr>
          <p:cNvPr id="11" name="Text 7"/>
          <p:cNvSpPr/>
          <p:nvPr/>
        </p:nvSpPr>
        <p:spPr>
          <a:xfrm>
            <a:off x="1691640" y="3026664"/>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Scope you control</a:t>
            </a:r>
            <a:endParaRPr lang="en-US" sz="1700" dirty="0"/>
          </a:p>
        </p:txBody>
      </p:sp>
      <p:sp>
        <p:nvSpPr>
          <p:cNvPr id="12" name="Text 8"/>
          <p:cNvSpPr/>
          <p:nvPr/>
        </p:nvSpPr>
        <p:spPr>
          <a:xfrm>
            <a:off x="1691640" y="3374136"/>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Don't-ask-again can be limited to a recipient, a domain, or always; tasks can be soft/hard paused, resumed or cancelled.</a:t>
            </a:r>
            <a:endParaRPr lang="en-US" sz="1300" dirty="0"/>
          </a:p>
        </p:txBody>
      </p:sp>
      <p:sp>
        <p:nvSpPr>
          <p:cNvPr id="13" name="Shape 9"/>
          <p:cNvSpPr/>
          <p:nvPr/>
        </p:nvSpPr>
        <p:spPr>
          <a:xfrm>
            <a:off x="640080" y="4215384"/>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4" name="Image 2" descr="preencoded.png">    </p:cNvPr>
          <p:cNvPicPr>
            <a:picLocks noChangeAspect="1"/>
          </p:cNvPicPr>
          <p:nvPr/>
        </p:nvPicPr>
        <p:blipFill>
          <a:blip r:embed="rId4"/>
          <a:stretch>
            <a:fillRect/>
          </a:stretch>
        </p:blipFill>
        <p:spPr>
          <a:xfrm>
            <a:off x="804672" y="4379976"/>
            <a:ext cx="448056" cy="448056"/>
          </a:xfrm>
          <a:prstGeom prst="rect">
            <a:avLst/>
          </a:prstGeom>
        </p:spPr>
      </p:pic>
      <p:sp>
        <p:nvSpPr>
          <p:cNvPr id="15" name="Text 10"/>
          <p:cNvSpPr/>
          <p:nvPr/>
        </p:nvSpPr>
        <p:spPr>
          <a:xfrm>
            <a:off x="1691640" y="4197096"/>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Automated tasks have guardrails too</a:t>
            </a:r>
            <a:endParaRPr lang="en-US" sz="1700" dirty="0"/>
          </a:p>
        </p:txBody>
      </p:sp>
      <p:sp>
        <p:nvSpPr>
          <p:cNvPr id="16" name="Text 11"/>
          <p:cNvSpPr/>
          <p:nvPr/>
        </p:nvSpPr>
        <p:spPr>
          <a:xfrm>
            <a:off x="1691640" y="4544568"/>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Scheduled prompts and event-driven tasks have run-frequency limits and loop protection; they always run with the creator's permissions, and are recorded in the unified audit log alongside all other Cowork activity, under Microsoft Purview policy.</a:t>
            </a:r>
            <a:endParaRPr lang="en-US" sz="1300" dirty="0"/>
          </a:p>
        </p:txBody>
      </p:sp>
      <p:sp>
        <p:nvSpPr>
          <p:cNvPr id="17" name="Shape 12"/>
          <p:cNvSpPr/>
          <p:nvPr/>
        </p:nvSpPr>
        <p:spPr>
          <a:xfrm>
            <a:off x="640080" y="5385816"/>
            <a:ext cx="777240" cy="777240"/>
          </a:xfrm>
          <a:prstGeom prst="roundRect">
            <a:avLst>
              <a:gd name="adj" fmla="val 18824"/>
            </a:avLst>
          </a:prstGeom>
          <a:solidFill>
            <a:srgbClr val="FFFFFF">
              <a:alpha val="14000"/>
            </a:srgbClr>
          </a:solidFill>
          <a:ln w="12700">
            <a:solidFill>
              <a:srgbClr val="22D3EE">
                <a:alpha val="60000"/>
              </a:srgbClr>
            </a:solidFill>
            <a:prstDash val="solid"/>
          </a:ln>
        </p:spPr>
      </p:sp>
      <p:pic>
        <p:nvPicPr>
          <p:cNvPr id="18" name="Image 3" descr="preencoded.png">    </p:cNvPr>
          <p:cNvPicPr>
            <a:picLocks noChangeAspect="1"/>
          </p:cNvPicPr>
          <p:nvPr/>
        </p:nvPicPr>
        <p:blipFill>
          <a:blip r:embed="rId5"/>
          <a:stretch>
            <a:fillRect/>
          </a:stretch>
        </p:blipFill>
        <p:spPr>
          <a:xfrm>
            <a:off x="804672" y="5550408"/>
            <a:ext cx="448056" cy="448056"/>
          </a:xfrm>
          <a:prstGeom prst="rect">
            <a:avLst/>
          </a:prstGeom>
        </p:spPr>
      </p:pic>
      <p:sp>
        <p:nvSpPr>
          <p:cNvPr id="19" name="Text 13"/>
          <p:cNvSpPr/>
          <p:nvPr/>
        </p:nvSpPr>
        <p:spPr>
          <a:xfrm>
            <a:off x="1691640" y="5367528"/>
            <a:ext cx="6858000" cy="347472"/>
          </a:xfrm>
          <a:prstGeom prst="rect">
            <a:avLst/>
          </a:prstGeom>
          <a:noFill/>
          <a:ln/>
        </p:spPr>
        <p:txBody>
          <a:bodyPr wrap="square"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Know the limits</a:t>
            </a:r>
            <a:endParaRPr lang="en-US" sz="1700" dirty="0"/>
          </a:p>
        </p:txBody>
      </p:sp>
      <p:sp>
        <p:nvSpPr>
          <p:cNvPr id="20" name="Text 14"/>
          <p:cNvSpPr/>
          <p:nvPr/>
        </p:nvSpPr>
        <p:spPr>
          <a:xfrm>
            <a:off x="1691640" y="5715000"/>
            <a:ext cx="9966960" cy="658368"/>
          </a:xfrm>
          <a:prstGeom prst="rect">
            <a:avLst/>
          </a:prstGeom>
          <a:noFill/>
          <a:ln/>
        </p:spPr>
        <p:txBody>
          <a:bodyPr wrap="square" rtlCol="0" anchor="ctr"/>
          <a:lstStyle/>
          <a:p>
            <a:pPr indent="0" marL="0">
              <a:lnSpc>
                <a:spcPct val="118000"/>
              </a:lnSpc>
              <a:buNone/>
            </a:pPr>
            <a:r>
              <a:rPr lang="en-US" sz="1300" dirty="0">
                <a:solidFill>
                  <a:srgbClr val="C7CAEC"/>
                </a:solidFill>
                <a:latin typeface="Segoe UI" pitchFamily="34" charset="0"/>
                <a:ea typeface="Segoe UI" pitchFamily="34" charset="-122"/>
                <a:cs typeface="Segoe UI" pitchFamily="34" charset="-120"/>
              </a:rPr>
              <a:t>No access to local files, no deleting OneDrive/SharePoint files, no reading encrypted files; attachments under 200MB; custom skills and third-party plugins aren't validated by Microsoft, so review the output yourself. Microsoft explicitly lists it as unsuitable where accuracy must be guaranteed without human review.</a:t>
            </a:r>
            <a:endParaRPr lang="en-US" sz="1300" dirty="0"/>
          </a:p>
        </p:txBody>
      </p:sp>
      <p:sp>
        <p:nvSpPr>
          <p:cNvPr id="21" name="Text 15"/>
          <p:cNvSpPr/>
          <p:nvPr/>
        </p:nvSpPr>
        <p:spPr>
          <a:xfrm>
            <a:off x="640080" y="6473952"/>
            <a:ext cx="5486400" cy="274320"/>
          </a:xfrm>
          <a:prstGeom prst="rect">
            <a:avLst/>
          </a:prstGeom>
          <a:noFill/>
          <a:ln/>
        </p:spPr>
        <p:txBody>
          <a:bodyPr wrap="square" rtlCol="0" anchor="ctr"/>
          <a:lstStyle/>
          <a:p>
            <a:pPr algn="l" indent="0" marL="0">
              <a:buNone/>
            </a:pPr>
            <a:r>
              <a:rPr lang="en-US" sz="900" dirty="0">
                <a:solidFill>
                  <a:srgbClr val="8A8FB5"/>
                </a:solidFill>
                <a:latin typeface="Segoe UI" pitchFamily="34" charset="0"/>
                <a:ea typeface="Segoe UI" pitchFamily="34" charset="-122"/>
                <a:cs typeface="Segoe UI" pitchFamily="34" charset="-120"/>
              </a:rPr>
              <a:t>Microsoft 365 Copilot Cowork</a:t>
            </a:r>
            <a:endParaRPr lang="en-US" sz="900" dirty="0"/>
          </a:p>
        </p:txBody>
      </p:sp>
      <p:sp>
        <p:nvSpPr>
          <p:cNvPr id="22" name="Text 16"/>
          <p:cNvSpPr/>
          <p:nvPr/>
        </p:nvSpPr>
        <p:spPr>
          <a:xfrm>
            <a:off x="11002975" y="6473952"/>
            <a:ext cx="548640" cy="274320"/>
          </a:xfrm>
          <a:prstGeom prst="rect">
            <a:avLst/>
          </a:prstGeom>
          <a:noFill/>
          <a:ln/>
        </p:spPr>
        <p:txBody>
          <a:bodyPr wrap="square" rtlCol="0" anchor="ctr"/>
          <a:lstStyle/>
          <a:p>
            <a:pPr algn="r" indent="0" marL="0">
              <a:buNone/>
            </a:pPr>
            <a:r>
              <a:rPr lang="en-US" sz="900" dirty="0">
                <a:solidFill>
                  <a:srgbClr val="8A8FB5"/>
                </a:solidFill>
                <a:latin typeface="Segoe UI" pitchFamily="34" charset="0"/>
                <a:ea typeface="Segoe UI" pitchFamily="34" charset="-122"/>
                <a:cs typeface="Segoe U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1554480"/>
            <a:ext cx="10058400" cy="82296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Start practising now</a:t>
            </a:r>
            <a:endParaRPr lang="en-US" sz="4000" dirty="0"/>
          </a:p>
        </p:txBody>
      </p:sp>
      <p:sp>
        <p:nvSpPr>
          <p:cNvPr id="3" name="Shape 1"/>
          <p:cNvSpPr/>
          <p:nvPr/>
        </p:nvSpPr>
        <p:spPr>
          <a:xfrm>
            <a:off x="640080" y="2606040"/>
            <a:ext cx="8686800" cy="868680"/>
          </a:xfrm>
          <a:prstGeom prst="roundRect">
            <a:avLst>
              <a:gd name="adj" fmla="val 12632"/>
            </a:avLst>
          </a:prstGeom>
          <a:solidFill>
            <a:srgbClr val="FFFFFF">
              <a:alpha val="10000"/>
            </a:srgbClr>
          </a:solidFill>
          <a:ln w="12700">
            <a:solidFill>
              <a:srgbClr val="FFFFFF">
                <a:alpha val="35000"/>
              </a:srgbClr>
            </a:solidFill>
            <a:prstDash val="solid"/>
          </a:ln>
        </p:spPr>
      </p:sp>
      <p:pic>
        <p:nvPicPr>
          <p:cNvPr id="4" name="Image 0" descr="preencoded.png">    </p:cNvPr>
          <p:cNvPicPr>
            <a:picLocks noChangeAspect="1"/>
          </p:cNvPicPr>
          <p:nvPr/>
        </p:nvPicPr>
        <p:blipFill>
          <a:blip r:embed="rId2"/>
          <a:stretch>
            <a:fillRect/>
          </a:stretch>
        </p:blipFill>
        <p:spPr>
          <a:xfrm>
            <a:off x="914400" y="2880360"/>
            <a:ext cx="329184" cy="329184"/>
          </a:xfrm>
          <a:prstGeom prst="rect">
            <a:avLst/>
          </a:prstGeom>
        </p:spPr>
      </p:pic>
      <p:sp>
        <p:nvSpPr>
          <p:cNvPr id="5" name="Text 2"/>
          <p:cNvSpPr/>
          <p:nvPr/>
        </p:nvSpPr>
        <p:spPr>
          <a:xfrm>
            <a:off x="1417320" y="2715768"/>
            <a:ext cx="7315200" cy="32004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Cowork Playbook</a:t>
            </a:r>
            <a:endParaRPr lang="en-US" sz="1400" dirty="0"/>
          </a:p>
        </p:txBody>
      </p:sp>
      <p:sp>
        <p:nvSpPr>
          <p:cNvPr id="6" name="Text 3">
            <a:hlinkClick r:id="rId3" tooltip=""/>
          </p:cNvPr>
          <p:cNvSpPr/>
          <p:nvPr/>
        </p:nvSpPr>
        <p:spPr>
          <a:xfrm>
            <a:off x="1417320" y="3008376"/>
            <a:ext cx="7772400" cy="320040"/>
          </a:xfrm>
          <a:prstGeom prst="rect">
            <a:avLst/>
          </a:prstGeom>
          <a:noFill/>
          <a:ln/>
        </p:spPr>
        <p:txBody>
          <a:bodyPr wrap="square" rtlCol="0" anchor="ctr"/>
          <a:lstStyle/>
          <a:p>
            <a:pPr indent="0" marL="0">
              <a:buNone/>
            </a:pPr>
            <a:r>
              <a:rPr lang="en-US" sz="1300" u="sng" dirty="0">
                <a:solidFill>
                  <a:srgbClr val="9FE9FF"/>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aka.ms/CoworkPlaybook</a:t>
            </a:r>
            <a:endParaRPr lang="en-US" sz="1300" dirty="0"/>
          </a:p>
        </p:txBody>
      </p:sp>
      <p:pic>
        <p:nvPicPr>
          <p:cNvPr id="7" name="Image 1" descr="preencoded.png">    </p:cNvPr>
          <p:cNvPicPr>
            <a:picLocks noChangeAspect="1"/>
          </p:cNvPicPr>
          <p:nvPr/>
        </p:nvPicPr>
        <p:blipFill>
          <a:blip r:embed="rId4"/>
          <a:stretch>
            <a:fillRect/>
          </a:stretch>
        </p:blipFill>
        <p:spPr>
          <a:xfrm>
            <a:off x="640080" y="3950208"/>
            <a:ext cx="237744" cy="237744"/>
          </a:xfrm>
          <a:prstGeom prst="rect">
            <a:avLst/>
          </a:prstGeom>
        </p:spPr>
      </p:pic>
      <p:sp>
        <p:nvSpPr>
          <p:cNvPr id="8" name="Text 4"/>
          <p:cNvSpPr/>
          <p:nvPr/>
        </p:nvSpPr>
        <p:spPr>
          <a:xfrm>
            <a:off x="1005840" y="3895344"/>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Start with the scenario closest to your own work</a:t>
            </a:r>
            <a:endParaRPr lang="en-US" sz="1400" dirty="0"/>
          </a:p>
        </p:txBody>
      </p:sp>
      <p:pic>
        <p:nvPicPr>
          <p:cNvPr id="9" name="Image 2" descr="preencoded.png">    </p:cNvPr>
          <p:cNvPicPr>
            <a:picLocks noChangeAspect="1"/>
          </p:cNvPicPr>
          <p:nvPr/>
        </p:nvPicPr>
        <p:blipFill>
          <a:blip r:embed="rId5"/>
          <a:stretch>
            <a:fillRect/>
          </a:stretch>
        </p:blipFill>
        <p:spPr>
          <a:xfrm>
            <a:off x="640080" y="4425696"/>
            <a:ext cx="237744" cy="237744"/>
          </a:xfrm>
          <a:prstGeom prst="rect">
            <a:avLst/>
          </a:prstGeom>
        </p:spPr>
      </p:pic>
      <p:sp>
        <p:nvSpPr>
          <p:cNvPr id="10" name="Text 5"/>
          <p:cNvSpPr/>
          <p:nvPr/>
        </p:nvSpPr>
        <p:spPr>
          <a:xfrm>
            <a:off x="1005840" y="4370832"/>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Custom skills live in OneDrive at /Documents/Cowork/skills/ as SKILL.md (up to 50, 1MB each)</a:t>
            </a:r>
            <a:endParaRPr lang="en-US" sz="1400" dirty="0"/>
          </a:p>
        </p:txBody>
      </p:sp>
      <p:pic>
        <p:nvPicPr>
          <p:cNvPr id="11" name="Image 3" descr="preencoded.png">    </p:cNvPr>
          <p:cNvPicPr>
            <a:picLocks noChangeAspect="1"/>
          </p:cNvPicPr>
          <p:nvPr/>
        </p:nvPicPr>
        <p:blipFill>
          <a:blip r:embed="rId6"/>
          <a:stretch>
            <a:fillRect/>
          </a:stretch>
        </p:blipFill>
        <p:spPr>
          <a:xfrm>
            <a:off x="640080" y="4901184"/>
            <a:ext cx="237744" cy="237744"/>
          </a:xfrm>
          <a:prstGeom prst="rect">
            <a:avLst/>
          </a:prstGeom>
        </p:spPr>
      </p:pic>
      <p:sp>
        <p:nvSpPr>
          <p:cNvPr id="12" name="Text 6"/>
          <p:cNvSpPr/>
          <p:nvPr/>
        </p:nvSpPr>
        <p:spPr>
          <a:xfrm>
            <a:off x="1005840" y="4846320"/>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Model picker: Auto (default), GPT 5.5 Frontier, GPT 5.6 Sol/Terra, GPT 6 Astra, Opus 5, Claude Sonnet 5, Claude Fable 5.1</a:t>
            </a:r>
            <a:endParaRPr lang="en-US" sz="1400" dirty="0"/>
          </a:p>
        </p:txBody>
      </p:sp>
      <p:pic>
        <p:nvPicPr>
          <p:cNvPr id="13" name="Image 4" descr="preencoded.png">    </p:cNvPr>
          <p:cNvPicPr>
            <a:picLocks noChangeAspect="1"/>
          </p:cNvPicPr>
          <p:nvPr/>
        </p:nvPicPr>
        <p:blipFill>
          <a:blip r:embed="rId7"/>
          <a:stretch>
            <a:fillRect/>
          </a:stretch>
        </p:blipFill>
        <p:spPr>
          <a:xfrm>
            <a:off x="640080" y="5376672"/>
            <a:ext cx="237744" cy="237744"/>
          </a:xfrm>
          <a:prstGeom prst="rect">
            <a:avLst/>
          </a:prstGeom>
        </p:spPr>
      </p:pic>
      <p:sp>
        <p:nvSpPr>
          <p:cNvPr id="14" name="Text 7"/>
          <p:cNvSpPr/>
          <p:nvPr/>
        </p:nvSpPr>
        <p:spPr>
          <a:xfrm>
            <a:off x="1005840" y="5321808"/>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Effort: Light / Medium (default) / High / Extra High / Max — higher is more thorough, but slower and uses more credits</a:t>
            </a:r>
            <a:endParaRPr lang="en-US" sz="1400" dirty="0"/>
          </a:p>
        </p:txBody>
      </p:sp>
      <p:pic>
        <p:nvPicPr>
          <p:cNvPr id="15" name="Image 5" descr="preencoded.png">    </p:cNvPr>
          <p:cNvPicPr>
            <a:picLocks noChangeAspect="1"/>
          </p:cNvPicPr>
          <p:nvPr/>
        </p:nvPicPr>
        <p:blipFill>
          <a:blip r:embed="rId8"/>
          <a:stretch>
            <a:fillRect/>
          </a:stretch>
        </p:blipFill>
        <p:spPr>
          <a:xfrm>
            <a:off x="640080" y="5852160"/>
            <a:ext cx="237744" cy="237744"/>
          </a:xfrm>
          <a:prstGeom prst="rect">
            <a:avLst/>
          </a:prstGeom>
        </p:spPr>
      </p:pic>
      <p:sp>
        <p:nvSpPr>
          <p:cNvPr id="16" name="Text 8"/>
          <p:cNvSpPr/>
          <p:nvPr/>
        </p:nvSpPr>
        <p:spPr>
          <a:xfrm>
            <a:off x="1005840" y="5797296"/>
            <a:ext cx="9144000" cy="365760"/>
          </a:xfrm>
          <a:prstGeom prst="rect">
            <a:avLst/>
          </a:prstGeom>
          <a:noFill/>
          <a:ln/>
        </p:spPr>
        <p:txBody>
          <a:bodyPr wrap="square" rtlCol="0" anchor="ctr"/>
          <a:lstStyle/>
          <a:p>
            <a:pPr indent="0" marL="0">
              <a:buNone/>
            </a:pPr>
            <a:r>
              <a:rPr lang="en-US" sz="1400" dirty="0">
                <a:solidFill>
                  <a:srgbClr val="E3E5F7"/>
                </a:solidFill>
                <a:latin typeface="Segoe UI" pitchFamily="34" charset="0"/>
                <a:ea typeface="Segoe UI" pitchFamily="34" charset="-122"/>
                <a:cs typeface="Segoe UI" pitchFamily="34" charset="-120"/>
              </a:rPr>
              <a:t>Want it to fire by itself? Set a scheduled prompt (up to 25) or an event-driven task (incoming mail / @mention) on the "Automations" page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2377440"/>
            <a:ext cx="10058400" cy="1097280"/>
          </a:xfrm>
          <a:prstGeom prst="rect">
            <a:avLst/>
          </a:prstGeom>
          <a:noFill/>
          <a:ln/>
        </p:spPr>
        <p:txBody>
          <a:bodyPr wrap="square" rtlCol="0" anchor="ctr"/>
          <a:lstStyle/>
          <a:p>
            <a:pPr indent="0" marL="0">
              <a:buNone/>
            </a:pPr>
            <a:r>
              <a:rPr lang="en-US" sz="6000" b="1" dirty="0">
                <a:solidFill>
                  <a:srgbClr val="FFFFFF"/>
                </a:solidFill>
                <a:latin typeface="Segoe UI" pitchFamily="34" charset="0"/>
                <a:ea typeface="Segoe UI" pitchFamily="34" charset="-122"/>
                <a:cs typeface="Segoe UI" pitchFamily="34" charset="-120"/>
              </a:rPr>
              <a:t>Thank you</a:t>
            </a:r>
            <a:endParaRPr lang="en-US" sz="6000" dirty="0"/>
          </a:p>
        </p:txBody>
      </p:sp>
      <p:sp>
        <p:nvSpPr>
          <p:cNvPr id="3" name="Text 1"/>
          <p:cNvSpPr/>
          <p:nvPr/>
        </p:nvSpPr>
        <p:spPr>
          <a:xfrm>
            <a:off x="640080" y="3611880"/>
            <a:ext cx="10058400" cy="548640"/>
          </a:xfrm>
          <a:prstGeom prst="rect">
            <a:avLst/>
          </a:prstGeom>
          <a:noFill/>
          <a:ln/>
        </p:spPr>
        <p:txBody>
          <a:bodyPr wrap="square" rtlCol="0" anchor="ctr"/>
          <a:lstStyle/>
          <a:p>
            <a:pPr indent="0" marL="0">
              <a:buNone/>
            </a:pPr>
            <a:r>
              <a:rPr lang="en-US" sz="1800" dirty="0">
                <a:solidFill>
                  <a:srgbClr val="C7CAEC"/>
                </a:solidFill>
                <a:latin typeface="Segoe UI" pitchFamily="34" charset="0"/>
                <a:ea typeface="Segoe UI" pitchFamily="34" charset="-122"/>
                <a:cs typeface="Segoe UI" pitchFamily="34" charset="-120"/>
              </a:rPr>
              <a:t>From asking to delegating — you set the standard, Cowork does the work.</a:t>
            </a:r>
            <a:endParaRPr lang="en-US" sz="1800" dirty="0"/>
          </a:p>
        </p:txBody>
      </p:sp>
      <p:sp>
        <p:nvSpPr>
          <p:cNvPr id="4" name="Shape 2"/>
          <p:cNvSpPr/>
          <p:nvPr/>
        </p:nvSpPr>
        <p:spPr>
          <a:xfrm>
            <a:off x="640080" y="4389120"/>
            <a:ext cx="3200400" cy="0"/>
          </a:xfrm>
          <a:prstGeom prst="line">
            <a:avLst/>
          </a:prstGeom>
          <a:noFill/>
          <a:ln w="12700">
            <a:solidFill>
              <a:srgbClr val="FFFFFF">
                <a:alpha val="30000"/>
              </a:srgbClr>
            </a:solidFill>
            <a:prstDash val="solid"/>
          </a:ln>
        </p:spPr>
      </p:sp>
      <p:sp>
        <p:nvSpPr>
          <p:cNvPr id="5" name="Text 3"/>
          <p:cNvSpPr/>
          <p:nvPr/>
        </p:nvSpPr>
        <p:spPr>
          <a:xfrm>
            <a:off x="640080" y="4526280"/>
            <a:ext cx="10058400" cy="365760"/>
          </a:xfrm>
          <a:prstGeom prst="rect">
            <a:avLst/>
          </a:prstGeom>
          <a:noFill/>
          <a:ln/>
        </p:spPr>
        <p:txBody>
          <a:bodyPr wrap="square" rtlCol="0" anchor="ctr"/>
          <a:lstStyle/>
          <a:p>
            <a:pPr indent="0" marL="0">
              <a:buNone/>
            </a:pPr>
            <a:r>
              <a:rPr lang="en-US" sz="1200" dirty="0">
                <a:solidFill>
                  <a:srgbClr val="9FA3CC"/>
                </a:solidFill>
                <a:latin typeface="Segoe UI" pitchFamily="34" charset="0"/>
                <a:ea typeface="Segoe UI" pitchFamily="34" charset="-122"/>
                <a:cs typeface="Segoe UI" pitchFamily="34" charset="-120"/>
              </a:rPr>
              <a:t>Microsoft 365 Copilot Cowork · Training deck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365 Copilot Cowork Training</dc:title>
  <dc:subject>PptxGenJS Presentation</dc:subject>
  <dc:creator>Andy Hung</dc:creator>
  <cp:lastModifiedBy>Andy Hung</cp:lastModifiedBy>
  <cp:revision>1</cp:revision>
  <dcterms:created xsi:type="dcterms:W3CDTF">2026-09-21T21:00:42Z</dcterms:created>
  <dcterms:modified xsi:type="dcterms:W3CDTF">2026-09-21T21:00:42Z</dcterms:modified>
</cp:coreProperties>
</file>