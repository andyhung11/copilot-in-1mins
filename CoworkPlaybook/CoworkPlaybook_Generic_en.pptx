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hyperlink" Target="https://aka.ms/CoworkPlaybook" TargetMode="External"/><Relationship Id="rId1" Type="http://schemas.openxmlformats.org/officeDocument/2006/relationships/image" Target="../media/Slide-21-image-1.png"/><Relationship Id="rId2" Type="http://schemas.openxmlformats.org/officeDocument/2006/relationships/image" Target="../media/image-21-2.png"/><Relationship Id="rId4" Type="http://schemas.openxmlformats.org/officeDocument/2006/relationships/image" Target="../media/image-21-3.png"/><Relationship Id="rId5" Type="http://schemas.openxmlformats.org/officeDocument/2006/relationships/image" Target="../media/image-21-4.png"/><Relationship Id="rId6" Type="http://schemas.openxmlformats.org/officeDocument/2006/relationships/image" Target="../media/image-21-5.png"/><Relationship Id="rId7" Type="http://schemas.openxmlformats.org/officeDocument/2006/relationships/image" Target="../media/image-21-6.png"/><Relationship Id="rId8" Type="http://schemas.openxmlformats.org/officeDocument/2006/relationships/image" Target="../media/image-21-7.png"/><Relationship Id="rId9" Type="http://schemas.openxmlformats.org/officeDocument/2006/relationships/slideLayout" Target="../slideLayouts/slideLayout1.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1371600"/>
            <a:ext cx="2788920" cy="457200"/>
          </a:xfrm>
          <a:prstGeom prst="roundRect">
            <a:avLst>
              <a:gd name="adj" fmla="val 50000"/>
            </a:avLst>
          </a:prstGeom>
          <a:solidFill>
            <a:srgbClr val="FFFFFF">
              <a:alpha val="12000"/>
            </a:srgbClr>
          </a:solidFill>
          <a:ln w="12700">
            <a:solidFill>
              <a:srgbClr val="FFFFFF">
                <a:alpha val="30000"/>
              </a:srgbClr>
            </a:solidFill>
            <a:prstDash val="solid"/>
          </a:ln>
        </p:spPr>
      </p:sp>
      <p:pic>
        <p:nvPicPr>
          <p:cNvPr id="3" name="Image 0" descr="preencoded.png">    </p:cNvPr>
          <p:cNvPicPr>
            <a:picLocks noChangeAspect="1"/>
          </p:cNvPicPr>
          <p:nvPr/>
        </p:nvPicPr>
        <p:blipFill>
          <a:blip r:embed="rId2"/>
          <a:stretch>
            <a:fillRect/>
          </a:stretch>
        </p:blipFill>
        <p:spPr>
          <a:xfrm>
            <a:off x="841248" y="1481328"/>
            <a:ext cx="237744" cy="237744"/>
          </a:xfrm>
          <a:prstGeom prst="rect">
            <a:avLst/>
          </a:prstGeom>
        </p:spPr>
      </p:pic>
      <p:sp>
        <p:nvSpPr>
          <p:cNvPr id="4" name="Text 1"/>
          <p:cNvSpPr/>
          <p:nvPr/>
        </p:nvSpPr>
        <p:spPr>
          <a:xfrm>
            <a:off x="1143000" y="1371600"/>
            <a:ext cx="2377440" cy="45720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Microsoft 365 Copilot</a:t>
            </a:r>
            <a:endParaRPr lang="en-US" sz="1300" dirty="0"/>
          </a:p>
        </p:txBody>
      </p:sp>
      <p:sp>
        <p:nvSpPr>
          <p:cNvPr id="5" name="Text 2"/>
          <p:cNvSpPr/>
          <p:nvPr/>
        </p:nvSpPr>
        <p:spPr>
          <a:xfrm>
            <a:off x="603504" y="1874520"/>
            <a:ext cx="10058400" cy="1280160"/>
          </a:xfrm>
          <a:prstGeom prst="rect">
            <a:avLst/>
          </a:prstGeom>
          <a:noFill/>
          <a:ln/>
        </p:spPr>
        <p:txBody>
          <a:bodyPr wrap="square" rtlCol="0" anchor="ctr"/>
          <a:lstStyle/>
          <a:p>
            <a:pPr indent="0" marL="0">
              <a:buNone/>
            </a:pPr>
            <a:r>
              <a:rPr lang="en-US" sz="8400" b="1" dirty="0">
                <a:solidFill>
                  <a:srgbClr val="FFFFFF"/>
                </a:solidFill>
                <a:latin typeface="Segoe UI" pitchFamily="34" charset="0"/>
                <a:ea typeface="Segoe UI" pitchFamily="34" charset="-122"/>
                <a:cs typeface="Segoe UI" pitchFamily="34" charset="-120"/>
              </a:rPr>
              <a:t>Cowork</a:t>
            </a:r>
            <a:endParaRPr lang="en-US" sz="8400" dirty="0"/>
          </a:p>
        </p:txBody>
      </p:sp>
      <p:sp>
        <p:nvSpPr>
          <p:cNvPr id="6" name="Text 3"/>
          <p:cNvSpPr/>
          <p:nvPr/>
        </p:nvSpPr>
        <p:spPr>
          <a:xfrm>
            <a:off x="640080" y="3154680"/>
            <a:ext cx="10058400" cy="731520"/>
          </a:xfrm>
          <a:prstGeom prst="rect">
            <a:avLst/>
          </a:prstGeom>
          <a:noFill/>
          <a:ln/>
        </p:spPr>
        <p:txBody>
          <a:bodyPr wrap="square" rtlCol="0" anchor="ctr"/>
          <a:lstStyle/>
          <a:p>
            <a:pPr indent="0" marL="0">
              <a:buNone/>
            </a:pPr>
            <a:r>
              <a:rPr lang="en-US" sz="3400" b="1" dirty="0">
                <a:solidFill>
                  <a:srgbClr val="CFC9FF"/>
                </a:solidFill>
                <a:latin typeface="Segoe UI" pitchFamily="34" charset="0"/>
                <a:ea typeface="Segoe UI" pitchFamily="34" charset="-122"/>
                <a:cs typeface="Segoe UI" pitchFamily="34" charset="-120"/>
              </a:rPr>
              <a:t>Agentic AI at work</a:t>
            </a:r>
            <a:endParaRPr lang="en-US" sz="3400" dirty="0"/>
          </a:p>
        </p:txBody>
      </p:sp>
      <p:sp>
        <p:nvSpPr>
          <p:cNvPr id="7" name="Text 4"/>
          <p:cNvSpPr/>
          <p:nvPr/>
        </p:nvSpPr>
        <p:spPr>
          <a:xfrm>
            <a:off x="640080" y="3977640"/>
            <a:ext cx="9601200" cy="548640"/>
          </a:xfrm>
          <a:prstGeom prst="rect">
            <a:avLst/>
          </a:prstGeom>
          <a:noFill/>
          <a:ln/>
        </p:spPr>
        <p:txBody>
          <a:bodyPr wrap="square" rtlCol="0" anchor="ctr"/>
          <a:lstStyle/>
          <a:p>
            <a:pPr indent="0" marL="0">
              <a:buNone/>
            </a:pPr>
            <a:r>
              <a:rPr lang="en-US" sz="1600" dirty="0">
                <a:solidFill>
                  <a:srgbClr val="B9BCE0"/>
                </a:solidFill>
                <a:latin typeface="Segoe UI" pitchFamily="34" charset="0"/>
                <a:ea typeface="Segoe UI" pitchFamily="34" charset="-122"/>
                <a:cs typeface="Segoe UI" pitchFamily="34" charset="-120"/>
              </a:rPr>
              <a:t>Five general-purpose scenarios showing how Copilot executes across apps, shows a risk level before medium/high-risk actions, and waits for your approval</a:t>
            </a:r>
            <a:endParaRPr lang="en-US" sz="1600" dirty="0"/>
          </a:p>
        </p:txBody>
      </p:sp>
      <p:sp>
        <p:nvSpPr>
          <p:cNvPr id="8" name="Shape 5"/>
          <p:cNvSpPr/>
          <p:nvPr/>
        </p:nvSpPr>
        <p:spPr>
          <a:xfrm>
            <a:off x="640080" y="5074920"/>
            <a:ext cx="3840480" cy="0"/>
          </a:xfrm>
          <a:prstGeom prst="line">
            <a:avLst/>
          </a:prstGeom>
          <a:noFill/>
          <a:ln w="12700">
            <a:solidFill>
              <a:srgbClr val="FFFFFF">
                <a:alpha val="25000"/>
              </a:srgbClr>
            </a:solidFill>
            <a:prstDash val="solid"/>
          </a:ln>
        </p:spPr>
      </p:sp>
      <p:sp>
        <p:nvSpPr>
          <p:cNvPr id="9" name="Text 6"/>
          <p:cNvSpPr/>
          <p:nvPr/>
        </p:nvSpPr>
        <p:spPr>
          <a:xfrm>
            <a:off x="640080" y="5212080"/>
            <a:ext cx="7315200" cy="36576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Training deck · client-ready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AGENDA</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we'll cover</a:t>
            </a:r>
            <a:endParaRPr lang="en-US" sz="3000" dirty="0"/>
          </a:p>
        </p:txBody>
      </p:sp>
      <p:sp>
        <p:nvSpPr>
          <p:cNvPr id="5" name="Text 3"/>
          <p:cNvSpPr/>
          <p:nvPr/>
        </p:nvSpPr>
        <p:spPr>
          <a:xfrm>
            <a:off x="640080" y="16642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01</a:t>
            </a:r>
            <a:endParaRPr lang="en-US" sz="3400" dirty="0"/>
          </a:p>
        </p:txBody>
      </p:sp>
      <p:sp>
        <p:nvSpPr>
          <p:cNvPr id="6" name="Text 4"/>
          <p:cNvSpPr/>
          <p:nvPr/>
        </p:nvSpPr>
        <p:spPr>
          <a:xfrm>
            <a:off x="1737360" y="17007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Meet Cowork</a:t>
            </a:r>
            <a:endParaRPr lang="en-US" sz="1900" dirty="0"/>
          </a:p>
        </p:txBody>
      </p:sp>
      <p:sp>
        <p:nvSpPr>
          <p:cNvPr id="7" name="Text 5"/>
          <p:cNvSpPr/>
          <p:nvPr/>
        </p:nvSpPr>
        <p:spPr>
          <a:xfrm>
            <a:off x="1737360" y="21214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What agentic AI is, and how it differs from Copilot Chat</a:t>
            </a:r>
            <a:endParaRPr lang="en-US" sz="1350" dirty="0"/>
          </a:p>
        </p:txBody>
      </p:sp>
      <p:sp>
        <p:nvSpPr>
          <p:cNvPr id="8" name="Text 6"/>
          <p:cNvSpPr/>
          <p:nvPr/>
        </p:nvSpPr>
        <p:spPr>
          <a:xfrm>
            <a:off x="640080" y="25786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02</a:t>
            </a:r>
            <a:endParaRPr lang="en-US" sz="3400" dirty="0"/>
          </a:p>
        </p:txBody>
      </p:sp>
      <p:sp>
        <p:nvSpPr>
          <p:cNvPr id="9" name="Text 7"/>
          <p:cNvSpPr/>
          <p:nvPr/>
        </p:nvSpPr>
        <p:spPr>
          <a:xfrm>
            <a:off x="1737360" y="26151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Core capabilities</a:t>
            </a:r>
            <a:endParaRPr lang="en-US" sz="1900" dirty="0"/>
          </a:p>
        </p:txBody>
      </p:sp>
      <p:sp>
        <p:nvSpPr>
          <p:cNvPr id="10" name="Text 8"/>
          <p:cNvSpPr/>
          <p:nvPr/>
        </p:nvSpPr>
        <p:spPr>
          <a:xfrm>
            <a:off x="1737360" y="30358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Skills, workspace, approval before action, self-verification</a:t>
            </a:r>
            <a:endParaRPr lang="en-US" sz="1350" dirty="0"/>
          </a:p>
        </p:txBody>
      </p:sp>
      <p:sp>
        <p:nvSpPr>
          <p:cNvPr id="11" name="Text 9"/>
          <p:cNvSpPr/>
          <p:nvPr/>
        </p:nvSpPr>
        <p:spPr>
          <a:xfrm>
            <a:off x="640080" y="34930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03</a:t>
            </a:r>
            <a:endParaRPr lang="en-US" sz="3400" dirty="0"/>
          </a:p>
        </p:txBody>
      </p:sp>
      <p:sp>
        <p:nvSpPr>
          <p:cNvPr id="12" name="Text 10"/>
          <p:cNvSpPr/>
          <p:nvPr/>
        </p:nvSpPr>
        <p:spPr>
          <a:xfrm>
            <a:off x="1737360" y="35295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Set up your practice environment</a:t>
            </a:r>
            <a:endParaRPr lang="en-US" sz="1900" dirty="0"/>
          </a:p>
        </p:txBody>
      </p:sp>
      <p:sp>
        <p:nvSpPr>
          <p:cNvPr id="13" name="Text 11"/>
          <p:cNvSpPr/>
          <p:nvPr/>
        </p:nvSpPr>
        <p:spPr>
          <a:xfrm>
            <a:off x="1737360" y="39502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Download the samples and drop them into the chat; note which scenarios touch your mailbox and calendar</a:t>
            </a:r>
            <a:endParaRPr lang="en-US" sz="1350" dirty="0"/>
          </a:p>
        </p:txBody>
      </p:sp>
      <p:sp>
        <p:nvSpPr>
          <p:cNvPr id="14" name="Text 12"/>
          <p:cNvSpPr/>
          <p:nvPr/>
        </p:nvSpPr>
        <p:spPr>
          <a:xfrm>
            <a:off x="640080" y="44074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04</a:t>
            </a:r>
            <a:endParaRPr lang="en-US" sz="3400" dirty="0"/>
          </a:p>
        </p:txBody>
      </p:sp>
      <p:sp>
        <p:nvSpPr>
          <p:cNvPr id="15" name="Text 13"/>
          <p:cNvSpPr/>
          <p:nvPr/>
        </p:nvSpPr>
        <p:spPr>
          <a:xfrm>
            <a:off x="1737360" y="44439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Five hands-on scenarios</a:t>
            </a:r>
            <a:endParaRPr lang="en-US" sz="1900" dirty="0"/>
          </a:p>
        </p:txBody>
      </p:sp>
      <p:sp>
        <p:nvSpPr>
          <p:cNvPr id="16" name="Text 14"/>
          <p:cNvSpPr/>
          <p:nvPr/>
        </p:nvSpPr>
        <p:spPr>
          <a:xfrm>
            <a:off x="1737360" y="48646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Inbox, client visit, data, research deck, custom skill — one workflow at a time</a:t>
            </a:r>
            <a:endParaRPr lang="en-US" sz="1350" dirty="0"/>
          </a:p>
        </p:txBody>
      </p:sp>
      <p:sp>
        <p:nvSpPr>
          <p:cNvPr id="17" name="Text 15"/>
          <p:cNvSpPr/>
          <p:nvPr/>
        </p:nvSpPr>
        <p:spPr>
          <a:xfrm>
            <a:off x="640080" y="53218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05</a:t>
            </a:r>
            <a:endParaRPr lang="en-US" sz="3400" dirty="0"/>
          </a:p>
        </p:txBody>
      </p:sp>
      <p:sp>
        <p:nvSpPr>
          <p:cNvPr id="18" name="Text 16"/>
          <p:cNvSpPr/>
          <p:nvPr/>
        </p:nvSpPr>
        <p:spPr>
          <a:xfrm>
            <a:off x="1737360" y="53583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Make it your own</a:t>
            </a:r>
            <a:endParaRPr lang="en-US" sz="1900" dirty="0"/>
          </a:p>
        </p:txBody>
      </p:sp>
      <p:sp>
        <p:nvSpPr>
          <p:cNvPr id="19" name="Text 17"/>
          <p:cNvSpPr/>
          <p:nvPr/>
        </p:nvSpPr>
        <p:spPr>
          <a:xfrm>
            <a:off x="1737360" y="57790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How to extend these scenarios to your own work</a:t>
            </a:r>
            <a:endParaRPr lang="en-US" sz="1350" dirty="0"/>
          </a:p>
        </p:txBody>
      </p:sp>
      <p:sp>
        <p:nvSpPr>
          <p:cNvPr id="20" name="Text 18"/>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9"/>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WHAT IS COWORK</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From "chat" to "agentic execution"</a:t>
            </a:r>
            <a:endParaRPr lang="en-US" sz="3000" dirty="0"/>
          </a:p>
        </p:txBody>
      </p:sp>
      <p:sp>
        <p:nvSpPr>
          <p:cNvPr id="5" name="Text 3"/>
          <p:cNvSpPr/>
          <p:nvPr/>
        </p:nvSpPr>
        <p:spPr>
          <a:xfrm>
            <a:off x="640080" y="1737360"/>
            <a:ext cx="10881360" cy="457200"/>
          </a:xfrm>
          <a:prstGeom prst="rect">
            <a:avLst/>
          </a:prstGeom>
          <a:noFill/>
          <a:ln/>
        </p:spPr>
        <p:txBody>
          <a:bodyPr wrap="square" rtlCol="0" anchor="ctr"/>
          <a:lstStyle/>
          <a:p>
            <a:pPr indent="0" marL="0">
              <a:buNone/>
            </a:pPr>
            <a:r>
              <a:rPr lang="en-US" sz="2200" dirty="0">
                <a:solidFill>
                  <a:srgbClr val="000000"/>
                </a:solidFill>
                <a:latin typeface="Segoe UI" pitchFamily="34" charset="0"/>
                <a:ea typeface="Segoe UI" pitchFamily="34" charset="-122"/>
                <a:cs typeface="Segoe UI" pitchFamily="34" charset="-120"/>
              </a:rPr>
              <a:t>Cowork is Copilot's </a:t>
            </a:r>
            <a:pPr indent="0" marL="0">
              <a:buNone/>
            </a:pPr>
            <a:r>
              <a:rPr lang="en-US" sz="2200" b="1" dirty="0">
                <a:solidFill>
                  <a:srgbClr val="6366F1"/>
                </a:solidFill>
                <a:latin typeface="Segoe UI" pitchFamily="34" charset="0"/>
                <a:ea typeface="Segoe UI" pitchFamily="34" charset="-122"/>
                <a:cs typeface="Segoe UI" pitchFamily="34" charset="-120"/>
              </a:rPr>
              <a:t>agentic</a:t>
            </a:r>
            <a:pPr indent="0" marL="0">
              <a:buNone/>
            </a:pPr>
            <a:r>
              <a:rPr lang="en-US" sz="2200" dirty="0">
                <a:solidFill>
                  <a:srgbClr val="000000"/>
                </a:solidFill>
                <a:latin typeface="Segoe UI" pitchFamily="34" charset="0"/>
                <a:ea typeface="Segoe UI" pitchFamily="34" charset="-122"/>
                <a:cs typeface="Segoe UI" pitchFamily="34" charset="-120"/>
              </a:rPr>
              <a:t> working mode.</a:t>
            </a:r>
            <a:endParaRPr lang="en-US" sz="2200" dirty="0"/>
          </a:p>
        </p:txBody>
      </p:sp>
      <p:sp>
        <p:nvSpPr>
          <p:cNvPr id="6" name="Text 4"/>
          <p:cNvSpPr/>
          <p:nvPr/>
        </p:nvSpPr>
        <p:spPr>
          <a:xfrm>
            <a:off x="640080" y="2286000"/>
            <a:ext cx="10881360" cy="914400"/>
          </a:xfrm>
          <a:prstGeom prst="rect">
            <a:avLst/>
          </a:prstGeom>
          <a:noFill/>
          <a:ln/>
        </p:spPr>
        <p:txBody>
          <a:bodyPr wrap="square" rtlCol="0" anchor="ctr"/>
          <a:lstStyle/>
          <a:p>
            <a:pPr indent="0" marL="0">
              <a:lnSpc>
                <a:spcPct val="130000"/>
              </a:lnSpc>
              <a:buNone/>
            </a:pPr>
            <a:r>
              <a:rPr lang="en-US" sz="1500" dirty="0">
                <a:solidFill>
                  <a:srgbClr val="5B6079"/>
                </a:solidFill>
                <a:latin typeface="Segoe UI" pitchFamily="34" charset="0"/>
                <a:ea typeface="Segoe UI" pitchFamily="34" charset="-122"/>
                <a:cs typeface="Segoe UI" pitchFamily="34" charset="-120"/>
              </a:rPr>
              <a:t>You hand it a goal; it breaks the work into steps, reads your cloud files, loads the skills it needs, produces results across apps and checks its own work — pausing for your approval, with a risk level shown, before any medium or high-risk action. You move from quick single-turn answers to handing over a task that actually gets done.</a:t>
            </a:r>
            <a:endParaRPr lang="en-US" sz="1500" dirty="0"/>
          </a:p>
        </p:txBody>
      </p:sp>
      <p:sp>
        <p:nvSpPr>
          <p:cNvPr id="7" name="Shape 5"/>
          <p:cNvSpPr/>
          <p:nvPr/>
        </p:nvSpPr>
        <p:spPr>
          <a:xfrm>
            <a:off x="640080"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8" name="Shape 6"/>
          <p:cNvSpPr/>
          <p:nvPr/>
        </p:nvSpPr>
        <p:spPr>
          <a:xfrm>
            <a:off x="640080" y="3611880"/>
            <a:ext cx="3454298" cy="82296"/>
          </a:xfrm>
          <a:prstGeom prst="rect">
            <a:avLst/>
          </a:prstGeom>
          <a:solidFill>
            <a:srgbClr val="94A3B8"/>
          </a:solidFill>
          <a:ln/>
        </p:spPr>
      </p:sp>
      <p:pic>
        <p:nvPicPr>
          <p:cNvPr id="9" name="Image 0" descr="preencoded.png">    </p:cNvPr>
          <p:cNvPicPr>
            <a:picLocks noChangeAspect="1"/>
          </p:cNvPicPr>
          <p:nvPr/>
        </p:nvPicPr>
        <p:blipFill>
          <a:blip r:embed="rId1"/>
          <a:stretch>
            <a:fillRect/>
          </a:stretch>
        </p:blipFill>
        <p:spPr>
          <a:xfrm>
            <a:off x="960120" y="3931920"/>
            <a:ext cx="457200" cy="457200"/>
          </a:xfrm>
          <a:prstGeom prst="rect">
            <a:avLst/>
          </a:prstGeom>
        </p:spPr>
      </p:pic>
      <p:sp>
        <p:nvSpPr>
          <p:cNvPr id="10" name="Text 7"/>
          <p:cNvSpPr/>
          <p:nvPr/>
        </p:nvSpPr>
        <p:spPr>
          <a:xfrm>
            <a:off x="960120" y="4526280"/>
            <a:ext cx="2814218" cy="365760"/>
          </a:xfrm>
          <a:prstGeom prst="rect">
            <a:avLst/>
          </a:prstGeom>
          <a:noFill/>
          <a:ln/>
        </p:spPr>
        <p:txBody>
          <a:bodyPr wrap="square" rtlCol="0" anchor="ctr"/>
          <a:lstStyle/>
          <a:p>
            <a:pPr indent="0" marL="0">
              <a:buNone/>
            </a:pPr>
            <a:r>
              <a:rPr lang="en-US" sz="1700" b="1" dirty="0">
                <a:solidFill>
                  <a:srgbClr val="1E2235"/>
                </a:solidFill>
                <a:latin typeface="Segoe UI" pitchFamily="34" charset="0"/>
                <a:ea typeface="Segoe UI" pitchFamily="34" charset="-122"/>
                <a:cs typeface="Segoe UI" pitchFamily="34" charset="-120"/>
              </a:rPr>
              <a:t>Copilot Chat</a:t>
            </a:r>
            <a:endParaRPr lang="en-US" sz="1700" dirty="0"/>
          </a:p>
        </p:txBody>
      </p:sp>
      <p:sp>
        <p:nvSpPr>
          <p:cNvPr id="11" name="Text 8"/>
          <p:cNvSpPr/>
          <p:nvPr/>
        </p:nvSpPr>
        <p:spPr>
          <a:xfrm>
            <a:off x="960120"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Segoe UI" pitchFamily="34" charset="0"/>
                <a:ea typeface="Segoe UI" pitchFamily="34" charset="-122"/>
                <a:cs typeface="Segoe UI" pitchFamily="34" charset="-120"/>
              </a:rPr>
              <a:t>Quick single-turn answers; great for instant replies and brainstorming.</a:t>
            </a:r>
            <a:endParaRPr lang="en-US" sz="1400" dirty="0"/>
          </a:p>
        </p:txBody>
      </p:sp>
      <p:sp>
        <p:nvSpPr>
          <p:cNvPr id="12" name="Shape 9"/>
          <p:cNvSpPr/>
          <p:nvPr/>
        </p:nvSpPr>
        <p:spPr>
          <a:xfrm>
            <a:off x="4368698"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13" name="Shape 10"/>
          <p:cNvSpPr/>
          <p:nvPr/>
        </p:nvSpPr>
        <p:spPr>
          <a:xfrm>
            <a:off x="4368698" y="3611880"/>
            <a:ext cx="3454298" cy="82296"/>
          </a:xfrm>
          <a:prstGeom prst="rect">
            <a:avLst/>
          </a:prstGeom>
          <a:solidFill>
            <a:srgbClr val="6366F1"/>
          </a:solidFill>
          <a:ln/>
        </p:spPr>
      </p:sp>
      <p:pic>
        <p:nvPicPr>
          <p:cNvPr id="14" name="Image 1" descr="preencoded.png">    </p:cNvPr>
          <p:cNvPicPr>
            <a:picLocks noChangeAspect="1"/>
          </p:cNvPicPr>
          <p:nvPr/>
        </p:nvPicPr>
        <p:blipFill>
          <a:blip r:embed="rId2"/>
          <a:stretch>
            <a:fillRect/>
          </a:stretch>
        </p:blipFill>
        <p:spPr>
          <a:xfrm>
            <a:off x="4688738" y="3931920"/>
            <a:ext cx="457200" cy="457200"/>
          </a:xfrm>
          <a:prstGeom prst="rect">
            <a:avLst/>
          </a:prstGeom>
        </p:spPr>
      </p:pic>
      <p:sp>
        <p:nvSpPr>
          <p:cNvPr id="15" name="Text 11"/>
          <p:cNvSpPr/>
          <p:nvPr/>
        </p:nvSpPr>
        <p:spPr>
          <a:xfrm>
            <a:off x="4688738" y="4526280"/>
            <a:ext cx="2814218" cy="365760"/>
          </a:xfrm>
          <a:prstGeom prst="rect">
            <a:avLst/>
          </a:prstGeom>
          <a:noFill/>
          <a:ln/>
        </p:spPr>
        <p:txBody>
          <a:bodyPr wrap="square" rtlCol="0" anchor="ctr"/>
          <a:lstStyle/>
          <a:p>
            <a:pPr indent="0" marL="0">
              <a:buNone/>
            </a:pPr>
            <a:r>
              <a:rPr lang="en-US" sz="1700" b="1" dirty="0">
                <a:solidFill>
                  <a:srgbClr val="1E2235"/>
                </a:solidFill>
                <a:latin typeface="Segoe UI" pitchFamily="34" charset="0"/>
                <a:ea typeface="Segoe UI" pitchFamily="34" charset="-122"/>
                <a:cs typeface="Segoe UI" pitchFamily="34" charset="-120"/>
              </a:rPr>
              <a:t>Cowork agent</a:t>
            </a:r>
            <a:endParaRPr lang="en-US" sz="1700" dirty="0"/>
          </a:p>
        </p:txBody>
      </p:sp>
      <p:sp>
        <p:nvSpPr>
          <p:cNvPr id="16" name="Text 12"/>
          <p:cNvSpPr/>
          <p:nvPr/>
        </p:nvSpPr>
        <p:spPr>
          <a:xfrm>
            <a:off x="4688738"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Segoe UI" pitchFamily="34" charset="0"/>
                <a:ea typeface="Segoe UI" pitchFamily="34" charset="-122"/>
                <a:cs typeface="Segoe UI" pitchFamily="34" charset="-120"/>
              </a:rPr>
              <a:t>You give a goal; it executes autonomously across apps, for minutes to hours.</a:t>
            </a:r>
            <a:endParaRPr lang="en-US" sz="1400" dirty="0"/>
          </a:p>
        </p:txBody>
      </p:sp>
      <p:sp>
        <p:nvSpPr>
          <p:cNvPr id="17" name="Shape 13"/>
          <p:cNvSpPr/>
          <p:nvPr/>
        </p:nvSpPr>
        <p:spPr>
          <a:xfrm>
            <a:off x="8097317"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18" name="Shape 14"/>
          <p:cNvSpPr/>
          <p:nvPr/>
        </p:nvSpPr>
        <p:spPr>
          <a:xfrm>
            <a:off x="8097317" y="3611880"/>
            <a:ext cx="3454298" cy="82296"/>
          </a:xfrm>
          <a:prstGeom prst="rect">
            <a:avLst/>
          </a:prstGeom>
          <a:solidFill>
            <a:srgbClr val="8B5CF6"/>
          </a:solidFill>
          <a:ln/>
        </p:spPr>
      </p:sp>
      <p:pic>
        <p:nvPicPr>
          <p:cNvPr id="19" name="Image 2" descr="preencoded.png">    </p:cNvPr>
          <p:cNvPicPr>
            <a:picLocks noChangeAspect="1"/>
          </p:cNvPicPr>
          <p:nvPr/>
        </p:nvPicPr>
        <p:blipFill>
          <a:blip r:embed="rId3"/>
          <a:stretch>
            <a:fillRect/>
          </a:stretch>
        </p:blipFill>
        <p:spPr>
          <a:xfrm>
            <a:off x="8417357" y="3931920"/>
            <a:ext cx="457200" cy="457200"/>
          </a:xfrm>
          <a:prstGeom prst="rect">
            <a:avLst/>
          </a:prstGeom>
        </p:spPr>
      </p:pic>
      <p:sp>
        <p:nvSpPr>
          <p:cNvPr id="20" name="Text 15"/>
          <p:cNvSpPr/>
          <p:nvPr/>
        </p:nvSpPr>
        <p:spPr>
          <a:xfrm>
            <a:off x="8417357" y="4526280"/>
            <a:ext cx="2814218" cy="365760"/>
          </a:xfrm>
          <a:prstGeom prst="rect">
            <a:avLst/>
          </a:prstGeom>
          <a:noFill/>
          <a:ln/>
        </p:spPr>
        <p:txBody>
          <a:bodyPr wrap="square" rtlCol="0" anchor="ctr"/>
          <a:lstStyle/>
          <a:p>
            <a:pPr indent="0" marL="0">
              <a:buNone/>
            </a:pPr>
            <a:r>
              <a:rPr lang="en-US" sz="1700" b="1" dirty="0">
                <a:solidFill>
                  <a:srgbClr val="1E2235"/>
                </a:solidFill>
                <a:latin typeface="Segoe UI" pitchFamily="34" charset="0"/>
                <a:ea typeface="Segoe UI" pitchFamily="34" charset="-122"/>
                <a:cs typeface="Segoe UI" pitchFamily="34" charset="-120"/>
              </a:rPr>
              <a:t>You stay in charge</a:t>
            </a:r>
            <a:endParaRPr lang="en-US" sz="1700" dirty="0"/>
          </a:p>
        </p:txBody>
      </p:sp>
      <p:sp>
        <p:nvSpPr>
          <p:cNvPr id="21" name="Text 16"/>
          <p:cNvSpPr/>
          <p:nvPr/>
        </p:nvSpPr>
        <p:spPr>
          <a:xfrm>
            <a:off x="8417357"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Segoe UI" pitchFamily="34" charset="0"/>
                <a:ea typeface="Segoe UI" pitchFamily="34" charset="-122"/>
                <a:cs typeface="Segoe UI" pitchFamily="34" charset="-120"/>
              </a:rPr>
              <a:t>Anything outbound or affecting others pauses for your approval.</a:t>
            </a:r>
            <a:endParaRPr lang="en-US" sz="1400" dirty="0"/>
          </a:p>
        </p:txBody>
      </p:sp>
      <p:sp>
        <p:nvSpPr>
          <p:cNvPr id="22" name="Text 17"/>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3" name="Text 18"/>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COMPARISON</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Cowork vs. Copilot Chat</a:t>
            </a:r>
            <a:endParaRPr lang="en-US" sz="3000" dirty="0"/>
          </a:p>
        </p:txBody>
      </p:sp>
      <p:sp>
        <p:nvSpPr>
          <p:cNvPr id="5" name="Shape 3"/>
          <p:cNvSpPr/>
          <p:nvPr/>
        </p:nvSpPr>
        <p:spPr>
          <a:xfrm>
            <a:off x="640080" y="1737360"/>
            <a:ext cx="2743200" cy="457200"/>
          </a:xfrm>
          <a:prstGeom prst="rect">
            <a:avLst/>
          </a:prstGeom>
          <a:solidFill>
            <a:srgbClr val="EEF0F8"/>
          </a:solidFill>
          <a:ln/>
        </p:spPr>
      </p:sp>
      <p:sp>
        <p:nvSpPr>
          <p:cNvPr id="6" name="Shape 4"/>
          <p:cNvSpPr/>
          <p:nvPr/>
        </p:nvSpPr>
        <p:spPr>
          <a:xfrm>
            <a:off x="3383280" y="1737360"/>
            <a:ext cx="4023360" cy="457200"/>
          </a:xfrm>
          <a:prstGeom prst="rect">
            <a:avLst/>
          </a:prstGeom>
          <a:solidFill>
            <a:srgbClr val="0F1031"/>
          </a:solidFill>
          <a:ln/>
        </p:spPr>
      </p:sp>
      <p:sp>
        <p:nvSpPr>
          <p:cNvPr id="7" name="Shape 5"/>
          <p:cNvSpPr/>
          <p:nvPr/>
        </p:nvSpPr>
        <p:spPr>
          <a:xfrm>
            <a:off x="7406640" y="1737360"/>
            <a:ext cx="4142232" cy="457200"/>
          </a:xfrm>
          <a:prstGeom prst="rect">
            <a:avLst/>
          </a:prstGeom>
          <a:solidFill>
            <a:srgbClr val="6366F1"/>
          </a:solidFill>
          <a:ln/>
        </p:spPr>
      </p:sp>
      <p:sp>
        <p:nvSpPr>
          <p:cNvPr id="8" name="Text 6"/>
          <p:cNvSpPr/>
          <p:nvPr/>
        </p:nvSpPr>
        <p:spPr>
          <a:xfrm>
            <a:off x="640080" y="1737360"/>
            <a:ext cx="2743200" cy="457200"/>
          </a:xfrm>
          <a:prstGeom prst="rect">
            <a:avLst/>
          </a:prstGeom>
          <a:noFill/>
          <a:ln/>
        </p:spPr>
        <p:txBody>
          <a:bodyPr wrap="square" rtlCol="0" anchor="ctr"/>
          <a:lstStyle/>
          <a:p>
            <a:pPr indent="0" marL="0">
              <a:buNone/>
            </a:pPr>
            <a:endParaRPr lang="en-US" dirty="0"/>
          </a:p>
        </p:txBody>
      </p:sp>
      <p:sp>
        <p:nvSpPr>
          <p:cNvPr id="9" name="Text 7"/>
          <p:cNvSpPr/>
          <p:nvPr/>
        </p:nvSpPr>
        <p:spPr>
          <a:xfrm>
            <a:off x="3383280" y="1737360"/>
            <a:ext cx="4023360" cy="45720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Copilot Chat</a:t>
            </a:r>
            <a:endParaRPr lang="en-US" sz="1400" dirty="0"/>
          </a:p>
        </p:txBody>
      </p:sp>
      <p:sp>
        <p:nvSpPr>
          <p:cNvPr id="10" name="Text 8"/>
          <p:cNvSpPr/>
          <p:nvPr/>
        </p:nvSpPr>
        <p:spPr>
          <a:xfrm>
            <a:off x="7406640" y="1737360"/>
            <a:ext cx="4142232" cy="45720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Copilot Cowork</a:t>
            </a:r>
            <a:endParaRPr lang="en-US" sz="1400" dirty="0"/>
          </a:p>
        </p:txBody>
      </p:sp>
      <p:sp>
        <p:nvSpPr>
          <p:cNvPr id="11" name="Shape 9"/>
          <p:cNvSpPr/>
          <p:nvPr/>
        </p:nvSpPr>
        <p:spPr>
          <a:xfrm>
            <a:off x="640080" y="2194560"/>
            <a:ext cx="10908792" cy="457200"/>
          </a:xfrm>
          <a:prstGeom prst="rect">
            <a:avLst/>
          </a:prstGeom>
          <a:solidFill>
            <a:srgbClr val="F2F4FB"/>
          </a:solidFill>
          <a:ln/>
        </p:spPr>
      </p:sp>
      <p:sp>
        <p:nvSpPr>
          <p:cNvPr id="12" name="Text 10"/>
          <p:cNvSpPr/>
          <p:nvPr/>
        </p:nvSpPr>
        <p:spPr>
          <a:xfrm>
            <a:off x="822960" y="21945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Quick single-turn Q&amp;A</a:t>
            </a:r>
            <a:endParaRPr lang="en-US" sz="1250" dirty="0"/>
          </a:p>
        </p:txBody>
      </p:sp>
      <p:sp>
        <p:nvSpPr>
          <p:cNvPr id="13" name="Text 11"/>
          <p:cNvSpPr/>
          <p:nvPr/>
        </p:nvSpPr>
        <p:spPr>
          <a:xfrm>
            <a:off x="3566160" y="21945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Quick single-turn Q&amp;A</a:t>
            </a:r>
            <a:endParaRPr lang="en-US" sz="1250" dirty="0"/>
          </a:p>
        </p:txBody>
      </p:sp>
      <p:sp>
        <p:nvSpPr>
          <p:cNvPr id="14" name="Text 12"/>
          <p:cNvSpPr/>
          <p:nvPr/>
        </p:nvSpPr>
        <p:spPr>
          <a:xfrm>
            <a:off x="7589520" y="21945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Hand over a goal; autonomous multi-step work across apps</a:t>
            </a:r>
            <a:endParaRPr lang="en-US" sz="1250" dirty="0"/>
          </a:p>
        </p:txBody>
      </p:sp>
      <p:sp>
        <p:nvSpPr>
          <p:cNvPr id="15" name="Shape 13"/>
          <p:cNvSpPr/>
          <p:nvPr/>
        </p:nvSpPr>
        <p:spPr>
          <a:xfrm>
            <a:off x="640080" y="2651760"/>
            <a:ext cx="10908792" cy="457200"/>
          </a:xfrm>
          <a:prstGeom prst="rect">
            <a:avLst/>
          </a:prstGeom>
          <a:solidFill>
            <a:srgbClr val="FFFFFF"/>
          </a:solidFill>
          <a:ln/>
        </p:spPr>
      </p:sp>
      <p:sp>
        <p:nvSpPr>
          <p:cNvPr id="16" name="Text 14"/>
          <p:cNvSpPr/>
          <p:nvPr/>
        </p:nvSpPr>
        <p:spPr>
          <a:xfrm>
            <a:off x="822960" y="26517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Seconds to minutes</a:t>
            </a:r>
            <a:endParaRPr lang="en-US" sz="1250" dirty="0"/>
          </a:p>
        </p:txBody>
      </p:sp>
      <p:sp>
        <p:nvSpPr>
          <p:cNvPr id="17" name="Text 15"/>
          <p:cNvSpPr/>
          <p:nvPr/>
        </p:nvSpPr>
        <p:spPr>
          <a:xfrm>
            <a:off x="3566160" y="26517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Seconds to minutes</a:t>
            </a:r>
            <a:endParaRPr lang="en-US" sz="1250" dirty="0"/>
          </a:p>
        </p:txBody>
      </p:sp>
      <p:sp>
        <p:nvSpPr>
          <p:cNvPr id="18" name="Text 16"/>
          <p:cNvSpPr/>
          <p:nvPr/>
        </p:nvSpPr>
        <p:spPr>
          <a:xfrm>
            <a:off x="7589520" y="26517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Minutes to hours (autonomous)</a:t>
            </a:r>
            <a:endParaRPr lang="en-US" sz="1250" dirty="0"/>
          </a:p>
        </p:txBody>
      </p:sp>
      <p:sp>
        <p:nvSpPr>
          <p:cNvPr id="19" name="Shape 17"/>
          <p:cNvSpPr/>
          <p:nvPr/>
        </p:nvSpPr>
        <p:spPr>
          <a:xfrm>
            <a:off x="640080" y="3108960"/>
            <a:ext cx="10908792" cy="457200"/>
          </a:xfrm>
          <a:prstGeom prst="rect">
            <a:avLst/>
          </a:prstGeom>
          <a:solidFill>
            <a:srgbClr val="F2F4FB"/>
          </a:solidFill>
          <a:ln/>
        </p:spPr>
      </p:sp>
      <p:sp>
        <p:nvSpPr>
          <p:cNvPr id="20" name="Text 18"/>
          <p:cNvSpPr/>
          <p:nvPr/>
        </p:nvSpPr>
        <p:spPr>
          <a:xfrm>
            <a:off x="822960" y="31089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Single step, single session</a:t>
            </a:r>
            <a:endParaRPr lang="en-US" sz="1250" dirty="0"/>
          </a:p>
        </p:txBody>
      </p:sp>
      <p:sp>
        <p:nvSpPr>
          <p:cNvPr id="21" name="Text 19"/>
          <p:cNvSpPr/>
          <p:nvPr/>
        </p:nvSpPr>
        <p:spPr>
          <a:xfrm>
            <a:off x="3566160" y="31089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Single step, single session</a:t>
            </a:r>
            <a:endParaRPr lang="en-US" sz="1250" dirty="0"/>
          </a:p>
        </p:txBody>
      </p:sp>
      <p:sp>
        <p:nvSpPr>
          <p:cNvPr id="22" name="Text 20"/>
          <p:cNvSpPr/>
          <p:nvPr/>
        </p:nvSpPr>
        <p:spPr>
          <a:xfrm>
            <a:off x="7589520" y="31089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Multi-step workflows across tasks and sources</a:t>
            </a:r>
            <a:endParaRPr lang="en-US" sz="1250" dirty="0"/>
          </a:p>
        </p:txBody>
      </p:sp>
      <p:sp>
        <p:nvSpPr>
          <p:cNvPr id="23" name="Shape 21"/>
          <p:cNvSpPr/>
          <p:nvPr/>
        </p:nvSpPr>
        <p:spPr>
          <a:xfrm>
            <a:off x="640080" y="3566160"/>
            <a:ext cx="10908792" cy="457200"/>
          </a:xfrm>
          <a:prstGeom prst="rect">
            <a:avLst/>
          </a:prstGeom>
          <a:solidFill>
            <a:srgbClr val="FFFFFF"/>
          </a:solidFill>
          <a:ln/>
        </p:spPr>
      </p:sp>
      <p:sp>
        <p:nvSpPr>
          <p:cNvPr id="24" name="Text 22"/>
          <p:cNvSpPr/>
          <p:nvPr/>
        </p:nvSpPr>
        <p:spPr>
          <a:xfrm>
            <a:off x="822960" y="35661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Paste in a snippet</a:t>
            </a:r>
            <a:endParaRPr lang="en-US" sz="1250" dirty="0"/>
          </a:p>
        </p:txBody>
      </p:sp>
      <p:sp>
        <p:nvSpPr>
          <p:cNvPr id="25" name="Text 23"/>
          <p:cNvSpPr/>
          <p:nvPr/>
        </p:nvSpPr>
        <p:spPr>
          <a:xfrm>
            <a:off x="3566160" y="35661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Paste in a snippet</a:t>
            </a:r>
            <a:endParaRPr lang="en-US" sz="1250" dirty="0"/>
          </a:p>
        </p:txBody>
      </p:sp>
      <p:sp>
        <p:nvSpPr>
          <p:cNvPr id="26" name="Text 24"/>
          <p:cNvSpPr/>
          <p:nvPr/>
        </p:nvSpPr>
        <p:spPr>
          <a:xfrm>
            <a:off x="7589520" y="35661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Reads cloud attachments and creates new files; no access to local files</a:t>
            </a:r>
            <a:endParaRPr lang="en-US" sz="1250" dirty="0"/>
          </a:p>
        </p:txBody>
      </p:sp>
      <p:sp>
        <p:nvSpPr>
          <p:cNvPr id="27" name="Shape 25"/>
          <p:cNvSpPr/>
          <p:nvPr/>
        </p:nvSpPr>
        <p:spPr>
          <a:xfrm>
            <a:off x="640080" y="4023360"/>
            <a:ext cx="10908792" cy="457200"/>
          </a:xfrm>
          <a:prstGeom prst="rect">
            <a:avLst/>
          </a:prstGeom>
          <a:solidFill>
            <a:srgbClr val="F2F4FB"/>
          </a:solidFill>
          <a:ln/>
        </p:spPr>
      </p:sp>
      <p:sp>
        <p:nvSpPr>
          <p:cNvPr id="28" name="Text 26"/>
          <p:cNvSpPr/>
          <p:nvPr/>
        </p:nvSpPr>
        <p:spPr>
          <a:xfrm>
            <a:off x="822960" y="40233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One conversational capability</a:t>
            </a:r>
            <a:endParaRPr lang="en-US" sz="1250" dirty="0"/>
          </a:p>
        </p:txBody>
      </p:sp>
      <p:sp>
        <p:nvSpPr>
          <p:cNvPr id="29" name="Text 27"/>
          <p:cNvSpPr/>
          <p:nvPr/>
        </p:nvSpPr>
        <p:spPr>
          <a:xfrm>
            <a:off x="3566160" y="40233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One conversational capability</a:t>
            </a:r>
            <a:endParaRPr lang="en-US" sz="1250" dirty="0"/>
          </a:p>
        </p:txBody>
      </p:sp>
      <p:sp>
        <p:nvSpPr>
          <p:cNvPr id="30" name="Text 28"/>
          <p:cNvSpPr/>
          <p:nvPr/>
        </p:nvSpPr>
        <p:spPr>
          <a:xfrm>
            <a:off x="7589520" y="40233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Loads 14 built-in skills plus your custom ones automatically</a:t>
            </a:r>
            <a:endParaRPr lang="en-US" sz="1250" dirty="0"/>
          </a:p>
        </p:txBody>
      </p:sp>
      <p:sp>
        <p:nvSpPr>
          <p:cNvPr id="31" name="Shape 29"/>
          <p:cNvSpPr/>
          <p:nvPr/>
        </p:nvSpPr>
        <p:spPr>
          <a:xfrm>
            <a:off x="640080" y="4480560"/>
            <a:ext cx="10908792" cy="457200"/>
          </a:xfrm>
          <a:prstGeom prst="rect">
            <a:avLst/>
          </a:prstGeom>
          <a:solidFill>
            <a:srgbClr val="FFFFFF"/>
          </a:solidFill>
          <a:ln/>
        </p:spPr>
      </p:sp>
      <p:sp>
        <p:nvSpPr>
          <p:cNvPr id="32" name="Text 30"/>
          <p:cNvSpPr/>
          <p:nvPr/>
        </p:nvSpPr>
        <p:spPr>
          <a:xfrm>
            <a:off x="822960" y="44805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Text in the chat window</a:t>
            </a:r>
            <a:endParaRPr lang="en-US" sz="1250" dirty="0"/>
          </a:p>
        </p:txBody>
      </p:sp>
      <p:sp>
        <p:nvSpPr>
          <p:cNvPr id="33" name="Text 31"/>
          <p:cNvSpPr/>
          <p:nvPr/>
        </p:nvSpPr>
        <p:spPr>
          <a:xfrm>
            <a:off x="3566160" y="44805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Text in the chat window</a:t>
            </a:r>
            <a:endParaRPr lang="en-US" sz="1250" dirty="0"/>
          </a:p>
        </p:txBody>
      </p:sp>
      <p:sp>
        <p:nvSpPr>
          <p:cNvPr id="34" name="Text 32"/>
          <p:cNvSpPr/>
          <p:nvPr/>
        </p:nvSpPr>
        <p:spPr>
          <a:xfrm>
            <a:off x="7589520" y="44805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Real documents, spreadsheets and decks in OneDrive</a:t>
            </a:r>
            <a:endParaRPr lang="en-US" sz="1250" dirty="0"/>
          </a:p>
        </p:txBody>
      </p:sp>
      <p:sp>
        <p:nvSpPr>
          <p:cNvPr id="35" name="Shape 33"/>
          <p:cNvSpPr/>
          <p:nvPr/>
        </p:nvSpPr>
        <p:spPr>
          <a:xfrm>
            <a:off x="640080" y="4937760"/>
            <a:ext cx="10908792" cy="457200"/>
          </a:xfrm>
          <a:prstGeom prst="rect">
            <a:avLst/>
          </a:prstGeom>
          <a:solidFill>
            <a:srgbClr val="F2F4FB"/>
          </a:solidFill>
          <a:ln/>
        </p:spPr>
      </p:sp>
      <p:sp>
        <p:nvSpPr>
          <p:cNvPr id="36" name="Text 34"/>
          <p:cNvSpPr/>
          <p:nvPr/>
        </p:nvSpPr>
        <p:spPr>
          <a:xfrm>
            <a:off x="822960" y="49377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You have to open it and prompt every time</a:t>
            </a:r>
            <a:endParaRPr lang="en-US" sz="1250" dirty="0"/>
          </a:p>
        </p:txBody>
      </p:sp>
      <p:sp>
        <p:nvSpPr>
          <p:cNvPr id="37" name="Text 35"/>
          <p:cNvSpPr/>
          <p:nvPr/>
        </p:nvSpPr>
        <p:spPr>
          <a:xfrm>
            <a:off x="3566160" y="49377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You have to open it and prompt every time</a:t>
            </a:r>
            <a:endParaRPr lang="en-US" sz="1250" dirty="0"/>
          </a:p>
        </p:txBody>
      </p:sp>
      <p:sp>
        <p:nvSpPr>
          <p:cNvPr id="38" name="Text 36"/>
          <p:cNvSpPr/>
          <p:nvPr/>
        </p:nvSpPr>
        <p:spPr>
          <a:xfrm>
            <a:off x="7589520" y="49377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Scheduled prompts / event-driven: runs on incoming mail or an @mention</a:t>
            </a:r>
            <a:endParaRPr lang="en-US" sz="1250" dirty="0"/>
          </a:p>
        </p:txBody>
      </p:sp>
      <p:sp>
        <p:nvSpPr>
          <p:cNvPr id="39" name="Shape 37"/>
          <p:cNvSpPr/>
          <p:nvPr/>
        </p:nvSpPr>
        <p:spPr>
          <a:xfrm>
            <a:off x="640080" y="5394960"/>
            <a:ext cx="10908792" cy="457200"/>
          </a:xfrm>
          <a:prstGeom prst="rect">
            <a:avLst/>
          </a:prstGeom>
          <a:solidFill>
            <a:srgbClr val="FFFFFF"/>
          </a:solidFill>
          <a:ln/>
        </p:spPr>
      </p:sp>
      <p:sp>
        <p:nvSpPr>
          <p:cNvPr id="40" name="Text 38"/>
          <p:cNvSpPr/>
          <p:nvPr/>
        </p:nvSpPr>
        <p:spPr>
          <a:xfrm>
            <a:off x="822960" y="53949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Grounded in M365 data</a:t>
            </a:r>
            <a:endParaRPr lang="en-US" sz="1250" dirty="0"/>
          </a:p>
        </p:txBody>
      </p:sp>
      <p:sp>
        <p:nvSpPr>
          <p:cNvPr id="41" name="Text 39"/>
          <p:cNvSpPr/>
          <p:nvPr/>
        </p:nvSpPr>
        <p:spPr>
          <a:xfrm>
            <a:off x="3566160" y="53949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Grounded in M365 data</a:t>
            </a:r>
            <a:endParaRPr lang="en-US" sz="1250" dirty="0"/>
          </a:p>
        </p:txBody>
      </p:sp>
      <p:sp>
        <p:nvSpPr>
          <p:cNvPr id="42" name="Text 40"/>
          <p:cNvSpPr/>
          <p:nvPr/>
        </p:nvSpPr>
        <p:spPr>
          <a:xfrm>
            <a:off x="7589520" y="53949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Connects to external systems via Plugins / MCP — the partner catalogue now lists 92 plugins (D365, SAP, Fabric and more)</a:t>
            </a:r>
            <a:endParaRPr lang="en-US" sz="1250" dirty="0"/>
          </a:p>
        </p:txBody>
      </p:sp>
      <p:sp>
        <p:nvSpPr>
          <p:cNvPr id="43" name="Shape 41"/>
          <p:cNvSpPr/>
          <p:nvPr/>
        </p:nvSpPr>
        <p:spPr>
          <a:xfrm>
            <a:off x="640080" y="5852160"/>
            <a:ext cx="10908792" cy="457200"/>
          </a:xfrm>
          <a:prstGeom prst="rect">
            <a:avLst/>
          </a:prstGeom>
          <a:solidFill>
            <a:srgbClr val="F2F4FB"/>
          </a:solidFill>
          <a:ln/>
        </p:spPr>
      </p:sp>
      <p:sp>
        <p:nvSpPr>
          <p:cNvPr id="44" name="Text 42"/>
          <p:cNvSpPr/>
          <p:nvPr/>
        </p:nvSpPr>
        <p:spPr>
          <a:xfrm>
            <a:off x="822960" y="58521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You judge for yourself</a:t>
            </a:r>
            <a:endParaRPr lang="en-US" sz="1250" dirty="0"/>
          </a:p>
        </p:txBody>
      </p:sp>
      <p:sp>
        <p:nvSpPr>
          <p:cNvPr id="45" name="Text 43"/>
          <p:cNvSpPr/>
          <p:nvPr/>
        </p:nvSpPr>
        <p:spPr>
          <a:xfrm>
            <a:off x="3566160" y="58521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You judge for yourself</a:t>
            </a:r>
            <a:endParaRPr lang="en-US" sz="1250" dirty="0"/>
          </a:p>
        </p:txBody>
      </p:sp>
      <p:sp>
        <p:nvSpPr>
          <p:cNvPr id="46" name="Text 44"/>
          <p:cNvSpPr/>
          <p:nvPr/>
        </p:nvSpPr>
        <p:spPr>
          <a:xfrm>
            <a:off x="7589520" y="58521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Medium/high-risk actions show a risk level and run only after approval</a:t>
            </a:r>
            <a:endParaRPr lang="en-US" sz="1250" dirty="0"/>
          </a:p>
        </p:txBody>
      </p:sp>
      <p:sp>
        <p:nvSpPr>
          <p:cNvPr id="47" name="Text 4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48" name="Text 4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CORE CAPABILITIES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Four things that set Cowork apart</a:t>
            </a:r>
            <a:endParaRPr lang="en-US" sz="3000" dirty="0"/>
          </a:p>
        </p:txBody>
      </p:sp>
      <p:sp>
        <p:nvSpPr>
          <p:cNvPr id="5" name="Shape 3"/>
          <p:cNvSpPr/>
          <p:nvPr/>
        </p:nvSpPr>
        <p:spPr>
          <a:xfrm>
            <a:off x="640080" y="17373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6" name="Shape 4"/>
          <p:cNvSpPr/>
          <p:nvPr/>
        </p:nvSpPr>
        <p:spPr>
          <a:xfrm>
            <a:off x="960120" y="2084832"/>
            <a:ext cx="868680" cy="868680"/>
          </a:xfrm>
          <a:prstGeom prst="roundRect">
            <a:avLst>
              <a:gd name="adj" fmla="val 16842"/>
            </a:avLst>
          </a:prstGeom>
          <a:solidFill>
            <a:srgbClr val="7A4DDB"/>
          </a:solidFill>
          <a:ln/>
        </p:spPr>
      </p:sp>
      <p:pic>
        <p:nvPicPr>
          <p:cNvPr id="7" name="Image 0" descr="preencoded.png">    </p:cNvPr>
          <p:cNvPicPr>
            <a:picLocks noChangeAspect="1"/>
          </p:cNvPicPr>
          <p:nvPr/>
        </p:nvPicPr>
        <p:blipFill>
          <a:blip r:embed="rId1"/>
          <a:stretch>
            <a:fillRect/>
          </a:stretch>
        </p:blipFill>
        <p:spPr>
          <a:xfrm>
            <a:off x="1170432" y="2295144"/>
            <a:ext cx="448056" cy="448056"/>
          </a:xfrm>
          <a:prstGeom prst="rect">
            <a:avLst/>
          </a:prstGeom>
        </p:spPr>
      </p:pic>
      <p:sp>
        <p:nvSpPr>
          <p:cNvPr id="8" name="Text 5"/>
          <p:cNvSpPr/>
          <p:nvPr/>
        </p:nvSpPr>
        <p:spPr>
          <a:xfrm>
            <a:off x="2011680" y="21214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14 built-in skills</a:t>
            </a:r>
            <a:endParaRPr lang="en-US" sz="1800" dirty="0"/>
          </a:p>
        </p:txBody>
      </p:sp>
      <p:sp>
        <p:nvSpPr>
          <p:cNvPr id="9" name="Text 6"/>
          <p:cNvSpPr/>
          <p:nvPr/>
        </p:nvSpPr>
        <p:spPr>
          <a:xfrm>
            <a:off x="2011680" y="26060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Segoe UI" pitchFamily="34" charset="0"/>
                <a:ea typeface="Segoe UI" pitchFamily="34" charset="-122"/>
                <a:cs typeface="Segoe UI" pitchFamily="34" charset="-120"/>
              </a:rPr>
              <a:t>Word, Excel, PowerPoint, PDF, Email, Scheduling, Calendar Management, Meetings, Daily Briefing, Enterprise Search, Deep Research, Communications, Adaptive Cards, App (Frontier).</a:t>
            </a:r>
            <a:endParaRPr lang="en-US" sz="1300" dirty="0"/>
          </a:p>
        </p:txBody>
      </p:sp>
      <p:sp>
        <p:nvSpPr>
          <p:cNvPr id="10" name="Shape 7"/>
          <p:cNvSpPr/>
          <p:nvPr/>
        </p:nvSpPr>
        <p:spPr>
          <a:xfrm>
            <a:off x="6324448" y="17373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11" name="Shape 8"/>
          <p:cNvSpPr/>
          <p:nvPr/>
        </p:nvSpPr>
        <p:spPr>
          <a:xfrm>
            <a:off x="6644488" y="2084832"/>
            <a:ext cx="868680" cy="868680"/>
          </a:xfrm>
          <a:prstGeom prst="roundRect">
            <a:avLst>
              <a:gd name="adj" fmla="val 16842"/>
            </a:avLst>
          </a:prstGeom>
          <a:solidFill>
            <a:srgbClr val="0F6CBD"/>
          </a:solidFill>
          <a:ln/>
        </p:spPr>
      </p:sp>
      <p:pic>
        <p:nvPicPr>
          <p:cNvPr id="12" name="Image 1" descr="preencoded.png">    </p:cNvPr>
          <p:cNvPicPr>
            <a:picLocks noChangeAspect="1"/>
          </p:cNvPicPr>
          <p:nvPr/>
        </p:nvPicPr>
        <p:blipFill>
          <a:blip r:embed="rId2"/>
          <a:stretch>
            <a:fillRect/>
          </a:stretch>
        </p:blipFill>
        <p:spPr>
          <a:xfrm>
            <a:off x="6854800" y="2295144"/>
            <a:ext cx="448056" cy="448056"/>
          </a:xfrm>
          <a:prstGeom prst="rect">
            <a:avLst/>
          </a:prstGeom>
        </p:spPr>
      </p:pic>
      <p:sp>
        <p:nvSpPr>
          <p:cNvPr id="13" name="Text 9"/>
          <p:cNvSpPr/>
          <p:nvPr/>
        </p:nvSpPr>
        <p:spPr>
          <a:xfrm>
            <a:off x="7696048" y="21214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Workspace</a:t>
            </a:r>
            <a:endParaRPr lang="en-US" sz="1800" dirty="0"/>
          </a:p>
        </p:txBody>
      </p:sp>
      <p:sp>
        <p:nvSpPr>
          <p:cNvPr id="14" name="Text 10"/>
          <p:cNvSpPr/>
          <p:nvPr/>
        </p:nvSpPr>
        <p:spPr>
          <a:xfrm>
            <a:off x="7696048" y="26060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Segoe UI" pitchFamily="34" charset="0"/>
                <a:ea typeface="Segoe UI" pitchFamily="34" charset="-122"/>
                <a:cs typeface="Segoe UI" pitchFamily="34" charset="-120"/>
              </a:rPr>
              <a:t>The side panel shows progress, input files, output files, loaded skills, schedules and granted permissions all at once — the process stays traceable.</a:t>
            </a:r>
            <a:endParaRPr lang="en-US" sz="1300" dirty="0"/>
          </a:p>
        </p:txBody>
      </p:sp>
      <p:sp>
        <p:nvSpPr>
          <p:cNvPr id="15" name="Shape 11"/>
          <p:cNvSpPr/>
          <p:nvPr/>
        </p:nvSpPr>
        <p:spPr>
          <a:xfrm>
            <a:off x="640080" y="42519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16" name="Shape 12"/>
          <p:cNvSpPr/>
          <p:nvPr/>
        </p:nvSpPr>
        <p:spPr>
          <a:xfrm>
            <a:off x="960120" y="4599432"/>
            <a:ext cx="868680" cy="868680"/>
          </a:xfrm>
          <a:prstGeom prst="roundRect">
            <a:avLst>
              <a:gd name="adj" fmla="val 16842"/>
            </a:avLst>
          </a:prstGeom>
          <a:solidFill>
            <a:srgbClr val="0A8F5B"/>
          </a:solidFill>
          <a:ln/>
        </p:spPr>
      </p:sp>
      <p:pic>
        <p:nvPicPr>
          <p:cNvPr id="17" name="Image 2" descr="preencoded.png">    </p:cNvPr>
          <p:cNvPicPr>
            <a:picLocks noChangeAspect="1"/>
          </p:cNvPicPr>
          <p:nvPr/>
        </p:nvPicPr>
        <p:blipFill>
          <a:blip r:embed="rId3"/>
          <a:stretch>
            <a:fillRect/>
          </a:stretch>
        </p:blipFill>
        <p:spPr>
          <a:xfrm>
            <a:off x="1170432" y="4809744"/>
            <a:ext cx="448056" cy="448056"/>
          </a:xfrm>
          <a:prstGeom prst="rect">
            <a:avLst/>
          </a:prstGeom>
        </p:spPr>
      </p:pic>
      <p:sp>
        <p:nvSpPr>
          <p:cNvPr id="18" name="Text 13"/>
          <p:cNvSpPr/>
          <p:nvPr/>
        </p:nvSpPr>
        <p:spPr>
          <a:xfrm>
            <a:off x="2011680" y="46360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Approval before action</a:t>
            </a:r>
            <a:endParaRPr lang="en-US" sz="1800" dirty="0"/>
          </a:p>
        </p:txBody>
      </p:sp>
      <p:sp>
        <p:nvSpPr>
          <p:cNvPr id="19" name="Text 14"/>
          <p:cNvSpPr/>
          <p:nvPr/>
        </p:nvSpPr>
        <p:spPr>
          <a:xfrm>
            <a:off x="2011680" y="51206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Segoe UI" pitchFamily="34" charset="0"/>
                <a:ea typeface="Segoe UI" pitchFamily="34" charset="-122"/>
                <a:cs typeface="Segoe UI" pitchFamily="34" charset="-120"/>
              </a:rPr>
              <a:t>Medium/high-risk actions show a RISK-LEVEL; approve, cancel, or set don't-ask-again per recipient, per domain or always; multiple pending actions can be approved together.</a:t>
            </a:r>
            <a:endParaRPr lang="en-US" sz="1300" dirty="0"/>
          </a:p>
        </p:txBody>
      </p:sp>
      <p:sp>
        <p:nvSpPr>
          <p:cNvPr id="20" name="Shape 15"/>
          <p:cNvSpPr/>
          <p:nvPr/>
        </p:nvSpPr>
        <p:spPr>
          <a:xfrm>
            <a:off x="6324448" y="42519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21" name="Shape 16"/>
          <p:cNvSpPr/>
          <p:nvPr/>
        </p:nvSpPr>
        <p:spPr>
          <a:xfrm>
            <a:off x="6644488" y="4599432"/>
            <a:ext cx="868680" cy="868680"/>
          </a:xfrm>
          <a:prstGeom prst="roundRect">
            <a:avLst>
              <a:gd name="adj" fmla="val 16842"/>
            </a:avLst>
          </a:prstGeom>
          <a:solidFill>
            <a:srgbClr val="CA5010"/>
          </a:solidFill>
          <a:ln/>
        </p:spPr>
      </p:sp>
      <p:pic>
        <p:nvPicPr>
          <p:cNvPr id="22" name="Image 3" descr="preencoded.png">    </p:cNvPr>
          <p:cNvPicPr>
            <a:picLocks noChangeAspect="1"/>
          </p:cNvPicPr>
          <p:nvPr/>
        </p:nvPicPr>
        <p:blipFill>
          <a:blip r:embed="rId4"/>
          <a:stretch>
            <a:fillRect/>
          </a:stretch>
        </p:blipFill>
        <p:spPr>
          <a:xfrm>
            <a:off x="6854800" y="4809744"/>
            <a:ext cx="448056" cy="448056"/>
          </a:xfrm>
          <a:prstGeom prst="rect">
            <a:avLst/>
          </a:prstGeom>
        </p:spPr>
      </p:pic>
      <p:sp>
        <p:nvSpPr>
          <p:cNvPr id="23" name="Text 17"/>
          <p:cNvSpPr/>
          <p:nvPr/>
        </p:nvSpPr>
        <p:spPr>
          <a:xfrm>
            <a:off x="7696048" y="46360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What's new</a:t>
            </a:r>
            <a:endParaRPr lang="en-US" sz="1800" dirty="0"/>
          </a:p>
        </p:txBody>
      </p:sp>
      <p:sp>
        <p:nvSpPr>
          <p:cNvPr id="24" name="Text 18"/>
          <p:cNvSpPr/>
          <p:nvPr/>
        </p:nvSpPr>
        <p:spPr>
          <a:xfrm>
            <a:off x="7696048" y="5120640"/>
            <a:ext cx="3626968" cy="1325880"/>
          </a:xfrm>
          <a:prstGeom prst="rect">
            <a:avLst/>
          </a:prstGeom>
          <a:noFill/>
          <a:ln/>
        </p:spPr>
        <p:txBody>
          <a:bodyPr wrap="square" rtlCol="0" anchor="t"/>
          <a:lstStyle/>
          <a:p>
            <a:pPr indent="0" marL="0">
              <a:lnSpc>
                <a:spcPct val="118000"/>
              </a:lnSpc>
              <a:buNone/>
            </a:pPr>
            <a:r>
              <a:rPr lang="en-US" sz="1050" dirty="0">
                <a:solidFill>
                  <a:srgbClr val="5B6079"/>
                </a:solidFill>
                <a:latin typeface="Segoe UI" pitchFamily="34" charset="0"/>
                <a:ea typeface="Segoe UI" pitchFamily="34" charset="-122"/>
                <a:cs typeface="Segoe UI" pitchFamily="34" charset="-120"/>
              </a:rPr>
              <a:t>Scheduled prompts (up to 25) and event-driven tasks; five Effort levels to balance quality against cost; every custom skill gets an automatic Skill Report (0–100 across four dimensions, plus five separate gates including a Safety and RAI scan); local Edge browser (GA since Aug 2026); image generation; Plugins / MCP for external systems.</a:t>
            </a:r>
            <a:endParaRPr lang="en-US" sz="1050" dirty="0"/>
          </a:p>
        </p:txBody>
      </p:sp>
      <p:sp>
        <p:nvSpPr>
          <p:cNvPr id="25" name="Text 19"/>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6" name="Text 20"/>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HOW IT WORKS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happens inside one agentic workflow</a:t>
            </a:r>
            <a:endParaRPr lang="en-US" sz="3000" dirty="0"/>
          </a:p>
        </p:txBody>
      </p:sp>
      <p:sp>
        <p:nvSpPr>
          <p:cNvPr id="5" name="Shape 3"/>
          <p:cNvSpPr/>
          <p:nvPr/>
        </p:nvSpPr>
        <p:spPr>
          <a:xfrm>
            <a:off x="640080"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6" name="Shape 4"/>
          <p:cNvSpPr/>
          <p:nvPr/>
        </p:nvSpPr>
        <p:spPr>
          <a:xfrm>
            <a:off x="1042416" y="2697480"/>
            <a:ext cx="768096" cy="768096"/>
          </a:xfrm>
          <a:prstGeom prst="ellipse">
            <a:avLst/>
          </a:prstGeom>
          <a:solidFill>
            <a:srgbClr val="6366F1"/>
          </a:solidFill>
          <a:ln/>
        </p:spPr>
      </p:sp>
      <p:pic>
        <p:nvPicPr>
          <p:cNvPr id="7" name="Image 0" descr="preencoded.png">    </p:cNvPr>
          <p:cNvPicPr>
            <a:picLocks noChangeAspect="1"/>
          </p:cNvPicPr>
          <p:nvPr/>
        </p:nvPicPr>
        <p:blipFill>
          <a:blip r:embed="rId1"/>
          <a:stretch>
            <a:fillRect/>
          </a:stretch>
        </p:blipFill>
        <p:spPr>
          <a:xfrm>
            <a:off x="1207008" y="2862072"/>
            <a:ext cx="438912" cy="438912"/>
          </a:xfrm>
          <a:prstGeom prst="rect">
            <a:avLst/>
          </a:prstGeom>
        </p:spPr>
      </p:pic>
      <p:sp>
        <p:nvSpPr>
          <p:cNvPr id="8" name="Text 5"/>
          <p:cNvSpPr/>
          <p:nvPr/>
        </p:nvSpPr>
        <p:spPr>
          <a:xfrm>
            <a:off x="640080"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Take the goal</a:t>
            </a:r>
            <a:endParaRPr lang="en-US" sz="1400" dirty="0"/>
          </a:p>
        </p:txBody>
      </p:sp>
      <p:sp>
        <p:nvSpPr>
          <p:cNvPr id="9" name="Text 6"/>
          <p:cNvSpPr/>
          <p:nvPr/>
        </p:nvSpPr>
        <p:spPr>
          <a:xfrm>
            <a:off x="640080"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Upload files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Give the instruction</a:t>
            </a:r>
            <a:endParaRPr lang="en-US" sz="1200" dirty="0"/>
          </a:p>
        </p:txBody>
      </p:sp>
      <p:pic>
        <p:nvPicPr>
          <p:cNvPr id="10" name="Image 1" descr="preencoded.png">    </p:cNvPr>
          <p:cNvPicPr>
            <a:picLocks noChangeAspect="1"/>
          </p:cNvPicPr>
          <p:nvPr/>
        </p:nvPicPr>
        <p:blipFill>
          <a:blip r:embed="rId2"/>
          <a:stretch>
            <a:fillRect/>
          </a:stretch>
        </p:blipFill>
        <p:spPr>
          <a:xfrm>
            <a:off x="2259757" y="2971800"/>
            <a:ext cx="201168" cy="201168"/>
          </a:xfrm>
          <a:prstGeom prst="rect">
            <a:avLst/>
          </a:prstGeom>
        </p:spPr>
      </p:pic>
      <p:sp>
        <p:nvSpPr>
          <p:cNvPr id="11" name="Shape 7"/>
          <p:cNvSpPr/>
          <p:nvPr/>
        </p:nvSpPr>
        <p:spPr>
          <a:xfrm>
            <a:off x="2507833"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12" name="Shape 8"/>
          <p:cNvSpPr/>
          <p:nvPr/>
        </p:nvSpPr>
        <p:spPr>
          <a:xfrm>
            <a:off x="2910169" y="2697480"/>
            <a:ext cx="768096" cy="768096"/>
          </a:xfrm>
          <a:prstGeom prst="ellipse">
            <a:avLst/>
          </a:prstGeom>
          <a:solidFill>
            <a:srgbClr val="6366F1"/>
          </a:solidFill>
          <a:ln/>
        </p:spPr>
      </p:sp>
      <p:pic>
        <p:nvPicPr>
          <p:cNvPr id="13" name="Image 2" descr="preencoded.png">    </p:cNvPr>
          <p:cNvPicPr>
            <a:picLocks noChangeAspect="1"/>
          </p:cNvPicPr>
          <p:nvPr/>
        </p:nvPicPr>
        <p:blipFill>
          <a:blip r:embed="rId3"/>
          <a:stretch>
            <a:fillRect/>
          </a:stretch>
        </p:blipFill>
        <p:spPr>
          <a:xfrm>
            <a:off x="3074761" y="2862072"/>
            <a:ext cx="438912" cy="438912"/>
          </a:xfrm>
          <a:prstGeom prst="rect">
            <a:avLst/>
          </a:prstGeom>
        </p:spPr>
      </p:pic>
      <p:sp>
        <p:nvSpPr>
          <p:cNvPr id="14" name="Text 9"/>
          <p:cNvSpPr/>
          <p:nvPr/>
        </p:nvSpPr>
        <p:spPr>
          <a:xfrm>
            <a:off x="2507833"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Plan</a:t>
            </a:r>
            <a:endParaRPr lang="en-US" sz="1400" dirty="0"/>
          </a:p>
        </p:txBody>
      </p:sp>
      <p:sp>
        <p:nvSpPr>
          <p:cNvPr id="15" name="Text 10"/>
          <p:cNvSpPr/>
          <p:nvPr/>
        </p:nvSpPr>
        <p:spPr>
          <a:xfrm>
            <a:off x="2507833"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Understand the task</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Break it into steps</a:t>
            </a:r>
            <a:endParaRPr lang="en-US" sz="1200" dirty="0"/>
          </a:p>
        </p:txBody>
      </p:sp>
      <p:pic>
        <p:nvPicPr>
          <p:cNvPr id="16" name="Image 3" descr="preencoded.png">    </p:cNvPr>
          <p:cNvPicPr>
            <a:picLocks noChangeAspect="1"/>
          </p:cNvPicPr>
          <p:nvPr/>
        </p:nvPicPr>
        <p:blipFill>
          <a:blip r:embed="rId4"/>
          <a:stretch>
            <a:fillRect/>
          </a:stretch>
        </p:blipFill>
        <p:spPr>
          <a:xfrm>
            <a:off x="4127510" y="2971800"/>
            <a:ext cx="201168" cy="201168"/>
          </a:xfrm>
          <a:prstGeom prst="rect">
            <a:avLst/>
          </a:prstGeom>
        </p:spPr>
      </p:pic>
      <p:sp>
        <p:nvSpPr>
          <p:cNvPr id="17" name="Shape 11"/>
          <p:cNvSpPr/>
          <p:nvPr/>
        </p:nvSpPr>
        <p:spPr>
          <a:xfrm>
            <a:off x="4375587"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18" name="Shape 12"/>
          <p:cNvSpPr/>
          <p:nvPr/>
        </p:nvSpPr>
        <p:spPr>
          <a:xfrm>
            <a:off x="4777923" y="2697480"/>
            <a:ext cx="768096" cy="768096"/>
          </a:xfrm>
          <a:prstGeom prst="ellipse">
            <a:avLst/>
          </a:prstGeom>
          <a:solidFill>
            <a:srgbClr val="6366F1"/>
          </a:solidFill>
          <a:ln/>
        </p:spPr>
      </p:sp>
      <p:pic>
        <p:nvPicPr>
          <p:cNvPr id="19" name="Image 4" descr="preencoded.png">    </p:cNvPr>
          <p:cNvPicPr>
            <a:picLocks noChangeAspect="1"/>
          </p:cNvPicPr>
          <p:nvPr/>
        </p:nvPicPr>
        <p:blipFill>
          <a:blip r:embed="rId5"/>
          <a:stretch>
            <a:fillRect/>
          </a:stretch>
        </p:blipFill>
        <p:spPr>
          <a:xfrm>
            <a:off x="4942515" y="2862072"/>
            <a:ext cx="438912" cy="438912"/>
          </a:xfrm>
          <a:prstGeom prst="rect">
            <a:avLst/>
          </a:prstGeom>
        </p:spPr>
      </p:pic>
      <p:sp>
        <p:nvSpPr>
          <p:cNvPr id="20" name="Text 13"/>
          <p:cNvSpPr/>
          <p:nvPr/>
        </p:nvSpPr>
        <p:spPr>
          <a:xfrm>
            <a:off x="4375587"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Load skills</a:t>
            </a:r>
            <a:endParaRPr lang="en-US" sz="1400" dirty="0"/>
          </a:p>
        </p:txBody>
      </p:sp>
      <p:sp>
        <p:nvSpPr>
          <p:cNvPr id="21" name="Text 14"/>
          <p:cNvSpPr/>
          <p:nvPr/>
        </p:nvSpPr>
        <p:spPr>
          <a:xfrm>
            <a:off x="4375587"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14 built-in</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 custom</a:t>
            </a:r>
            <a:endParaRPr lang="en-US" sz="1200" dirty="0"/>
          </a:p>
        </p:txBody>
      </p:sp>
      <p:pic>
        <p:nvPicPr>
          <p:cNvPr id="22" name="Image 5" descr="preencoded.png">    </p:cNvPr>
          <p:cNvPicPr>
            <a:picLocks noChangeAspect="1"/>
          </p:cNvPicPr>
          <p:nvPr/>
        </p:nvPicPr>
        <p:blipFill>
          <a:blip r:embed="rId6"/>
          <a:stretch>
            <a:fillRect/>
          </a:stretch>
        </p:blipFill>
        <p:spPr>
          <a:xfrm>
            <a:off x="5995264" y="2971800"/>
            <a:ext cx="201168" cy="201168"/>
          </a:xfrm>
          <a:prstGeom prst="rect">
            <a:avLst/>
          </a:prstGeom>
        </p:spPr>
      </p:pic>
      <p:sp>
        <p:nvSpPr>
          <p:cNvPr id="23" name="Shape 15"/>
          <p:cNvSpPr/>
          <p:nvPr/>
        </p:nvSpPr>
        <p:spPr>
          <a:xfrm>
            <a:off x="6243340"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24" name="Shape 16"/>
          <p:cNvSpPr/>
          <p:nvPr/>
        </p:nvSpPr>
        <p:spPr>
          <a:xfrm>
            <a:off x="6645676" y="2697480"/>
            <a:ext cx="768096" cy="768096"/>
          </a:xfrm>
          <a:prstGeom prst="ellipse">
            <a:avLst/>
          </a:prstGeom>
          <a:solidFill>
            <a:srgbClr val="6366F1"/>
          </a:solidFill>
          <a:ln/>
        </p:spPr>
      </p:sp>
      <p:pic>
        <p:nvPicPr>
          <p:cNvPr id="25" name="Image 6" descr="preencoded.png">    </p:cNvPr>
          <p:cNvPicPr>
            <a:picLocks noChangeAspect="1"/>
          </p:cNvPicPr>
          <p:nvPr/>
        </p:nvPicPr>
        <p:blipFill>
          <a:blip r:embed="rId7"/>
          <a:stretch>
            <a:fillRect/>
          </a:stretch>
        </p:blipFill>
        <p:spPr>
          <a:xfrm>
            <a:off x="6810268" y="2862072"/>
            <a:ext cx="438912" cy="438912"/>
          </a:xfrm>
          <a:prstGeom prst="rect">
            <a:avLst/>
          </a:prstGeom>
        </p:spPr>
      </p:pic>
      <p:sp>
        <p:nvSpPr>
          <p:cNvPr id="26" name="Text 17"/>
          <p:cNvSpPr/>
          <p:nvPr/>
        </p:nvSpPr>
        <p:spPr>
          <a:xfrm>
            <a:off x="6243340"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Execute</a:t>
            </a:r>
            <a:endParaRPr lang="en-US" sz="1400" dirty="0"/>
          </a:p>
        </p:txBody>
      </p:sp>
      <p:sp>
        <p:nvSpPr>
          <p:cNvPr id="27" name="Text 18"/>
          <p:cNvSpPr/>
          <p:nvPr/>
        </p:nvSpPr>
        <p:spPr>
          <a:xfrm>
            <a:off x="6243340"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Create documents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spreadsheets / mail</a:t>
            </a:r>
            <a:endParaRPr lang="en-US" sz="1200" dirty="0"/>
          </a:p>
        </p:txBody>
      </p:sp>
      <p:pic>
        <p:nvPicPr>
          <p:cNvPr id="28" name="Image 7" descr="preencoded.png">    </p:cNvPr>
          <p:cNvPicPr>
            <a:picLocks noChangeAspect="1"/>
          </p:cNvPicPr>
          <p:nvPr/>
        </p:nvPicPr>
        <p:blipFill>
          <a:blip r:embed="rId8"/>
          <a:stretch>
            <a:fillRect/>
          </a:stretch>
        </p:blipFill>
        <p:spPr>
          <a:xfrm>
            <a:off x="7863017" y="2971800"/>
            <a:ext cx="201168" cy="201168"/>
          </a:xfrm>
          <a:prstGeom prst="rect">
            <a:avLst/>
          </a:prstGeom>
        </p:spPr>
      </p:pic>
      <p:sp>
        <p:nvSpPr>
          <p:cNvPr id="29" name="Shape 19"/>
          <p:cNvSpPr/>
          <p:nvPr/>
        </p:nvSpPr>
        <p:spPr>
          <a:xfrm>
            <a:off x="8111094"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30" name="Shape 20"/>
          <p:cNvSpPr/>
          <p:nvPr/>
        </p:nvSpPr>
        <p:spPr>
          <a:xfrm>
            <a:off x="8513430" y="2697480"/>
            <a:ext cx="768096" cy="768096"/>
          </a:xfrm>
          <a:prstGeom prst="ellipse">
            <a:avLst/>
          </a:prstGeom>
          <a:solidFill>
            <a:srgbClr val="6366F1"/>
          </a:solidFill>
          <a:ln/>
        </p:spPr>
      </p:sp>
      <p:pic>
        <p:nvPicPr>
          <p:cNvPr id="31" name="Image 8" descr="preencoded.png">    </p:cNvPr>
          <p:cNvPicPr>
            <a:picLocks noChangeAspect="1"/>
          </p:cNvPicPr>
          <p:nvPr/>
        </p:nvPicPr>
        <p:blipFill>
          <a:blip r:embed="rId9"/>
          <a:stretch>
            <a:fillRect/>
          </a:stretch>
        </p:blipFill>
        <p:spPr>
          <a:xfrm>
            <a:off x="8678022" y="2862072"/>
            <a:ext cx="438912" cy="438912"/>
          </a:xfrm>
          <a:prstGeom prst="rect">
            <a:avLst/>
          </a:prstGeom>
        </p:spPr>
      </p:pic>
      <p:sp>
        <p:nvSpPr>
          <p:cNvPr id="32" name="Text 21"/>
          <p:cNvSpPr/>
          <p:nvPr/>
        </p:nvSpPr>
        <p:spPr>
          <a:xfrm>
            <a:off x="8111094"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Self-verify</a:t>
            </a:r>
            <a:endParaRPr lang="en-US" sz="1400" dirty="0"/>
          </a:p>
        </p:txBody>
      </p:sp>
      <p:sp>
        <p:nvSpPr>
          <p:cNvPr id="33" name="Text 22"/>
          <p:cNvSpPr/>
          <p:nvPr/>
        </p:nvSpPr>
        <p:spPr>
          <a:xfrm>
            <a:off x="8111094"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Check the numbers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and consistency</a:t>
            </a:r>
            <a:endParaRPr lang="en-US" sz="1200" dirty="0"/>
          </a:p>
        </p:txBody>
      </p:sp>
      <p:pic>
        <p:nvPicPr>
          <p:cNvPr id="34" name="Image 9" descr="preencoded.png">    </p:cNvPr>
          <p:cNvPicPr>
            <a:picLocks noChangeAspect="1"/>
          </p:cNvPicPr>
          <p:nvPr/>
        </p:nvPicPr>
        <p:blipFill>
          <a:blip r:embed="rId10"/>
          <a:stretch>
            <a:fillRect/>
          </a:stretch>
        </p:blipFill>
        <p:spPr>
          <a:xfrm>
            <a:off x="9730770" y="2971800"/>
            <a:ext cx="201168" cy="201168"/>
          </a:xfrm>
          <a:prstGeom prst="rect">
            <a:avLst/>
          </a:prstGeom>
        </p:spPr>
      </p:pic>
      <p:sp>
        <p:nvSpPr>
          <p:cNvPr id="35" name="Shape 23"/>
          <p:cNvSpPr/>
          <p:nvPr/>
        </p:nvSpPr>
        <p:spPr>
          <a:xfrm>
            <a:off x="9978847"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36" name="Shape 24"/>
          <p:cNvSpPr/>
          <p:nvPr/>
        </p:nvSpPr>
        <p:spPr>
          <a:xfrm>
            <a:off x="10381183" y="2697480"/>
            <a:ext cx="768096" cy="768096"/>
          </a:xfrm>
          <a:prstGeom prst="ellipse">
            <a:avLst/>
          </a:prstGeom>
          <a:solidFill>
            <a:srgbClr val="8B5CF6"/>
          </a:solidFill>
          <a:ln/>
        </p:spPr>
      </p:sp>
      <p:pic>
        <p:nvPicPr>
          <p:cNvPr id="37" name="Image 10" descr="preencoded.png">    </p:cNvPr>
          <p:cNvPicPr>
            <a:picLocks noChangeAspect="1"/>
          </p:cNvPicPr>
          <p:nvPr/>
        </p:nvPicPr>
        <p:blipFill>
          <a:blip r:embed="rId11"/>
          <a:stretch>
            <a:fillRect/>
          </a:stretch>
        </p:blipFill>
        <p:spPr>
          <a:xfrm>
            <a:off x="10545775" y="2862072"/>
            <a:ext cx="438912" cy="438912"/>
          </a:xfrm>
          <a:prstGeom prst="rect">
            <a:avLst/>
          </a:prstGeom>
        </p:spPr>
      </p:pic>
      <p:sp>
        <p:nvSpPr>
          <p:cNvPr id="38" name="Text 25"/>
          <p:cNvSpPr/>
          <p:nvPr/>
        </p:nvSpPr>
        <p:spPr>
          <a:xfrm>
            <a:off x="9978847"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Approval before action</a:t>
            </a:r>
            <a:endParaRPr lang="en-US" sz="1400" dirty="0"/>
          </a:p>
        </p:txBody>
      </p:sp>
      <p:sp>
        <p:nvSpPr>
          <p:cNvPr id="39" name="Text 26"/>
          <p:cNvSpPr/>
          <p:nvPr/>
        </p:nvSpPr>
        <p:spPr>
          <a:xfrm>
            <a:off x="9978847"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Outbound actions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wait for you</a:t>
            </a:r>
            <a:endParaRPr lang="en-US" sz="1200" dirty="0"/>
          </a:p>
        </p:txBody>
      </p:sp>
      <p:sp>
        <p:nvSpPr>
          <p:cNvPr id="40" name="Text 27"/>
          <p:cNvSpPr/>
          <p:nvPr/>
        </p:nvSpPr>
        <p:spPr>
          <a:xfrm>
            <a:off x="640080" y="4937760"/>
            <a:ext cx="10972800" cy="320040"/>
          </a:xfrm>
          <a:prstGeom prst="rect">
            <a:avLst/>
          </a:prstGeom>
          <a:noFill/>
          <a:ln/>
        </p:spPr>
        <p:txBody>
          <a:bodyPr wrap="square" rtlCol="0" anchor="ctr"/>
          <a:lstStyle/>
          <a:p>
            <a:pPr algn="ctr" indent="0" marL="0">
              <a:buNone/>
            </a:pPr>
            <a:r>
              <a:rPr lang="en-US" sz="1400" i="1" dirty="0">
                <a:solidFill>
                  <a:srgbClr val="5B6079"/>
                </a:solidFill>
                <a:latin typeface="Segoe UI" pitchFamily="34" charset="0"/>
                <a:ea typeface="Segoe UI" pitchFamily="34" charset="-122"/>
                <a:cs typeface="Segoe UI" pitchFamily="34" charset="-120"/>
              </a:rPr>
              <a:t>The whole process is visible in the "Workspace" panel; you can soft/hard pause, resume or cancel a task.</a:t>
            </a:r>
            <a:endParaRPr lang="en-US" sz="1400" dirty="0"/>
          </a:p>
        </p:txBody>
      </p:sp>
      <p:sp>
        <p:nvSpPr>
          <p:cNvPr id="41" name="Text 28"/>
          <p:cNvSpPr/>
          <p:nvPr/>
        </p:nvSpPr>
        <p:spPr>
          <a:xfrm>
            <a:off x="640080" y="5285232"/>
            <a:ext cx="10972800" cy="457200"/>
          </a:xfrm>
          <a:prstGeom prst="rect">
            <a:avLst/>
          </a:prstGeom>
          <a:noFill/>
          <a:ln/>
        </p:spPr>
        <p:txBody>
          <a:bodyPr wrap="square" rtlCol="0" anchor="ctr"/>
          <a:lstStyle/>
          <a:p>
            <a:pPr algn="ctr" indent="0" marL="0">
              <a:buNone/>
            </a:pPr>
            <a:r>
              <a:rPr lang="en-US" sz="1300" i="1" dirty="0">
                <a:solidFill>
                  <a:srgbClr val="5B6079"/>
                </a:solidFill>
                <a:latin typeface="Segoe UI" pitchFamily="34" charset="0"/>
                <a:ea typeface="Segoe UI" pitchFamily="34" charset="-122"/>
                <a:cs typeface="Segoe UI" pitchFamily="34" charset="-120"/>
              </a:rPr>
              <a:t>It doesn't only start from chat: you can also have it fire automatically when a matching email arrives or you're @mentioned (event-driven tasks) — with the same self-verification and approval flow.</a:t>
            </a:r>
            <a:endParaRPr lang="en-US" sz="1300" dirty="0"/>
          </a:p>
        </p:txBody>
      </p:sp>
      <p:sp>
        <p:nvSpPr>
          <p:cNvPr id="42" name="Text 29"/>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43" name="Text 30"/>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BEFORE YOU START</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Set up your practice environment</a:t>
            </a:r>
            <a:endParaRPr lang="en-US" sz="3000" dirty="0"/>
          </a:p>
        </p:txBody>
      </p:sp>
      <p:sp>
        <p:nvSpPr>
          <p:cNvPr id="5" name="Text 3"/>
          <p:cNvSpPr/>
          <p:nvPr/>
        </p:nvSpPr>
        <p:spPr>
          <a:xfrm>
            <a:off x="640080" y="1481328"/>
            <a:ext cx="10972800" cy="329184"/>
          </a:xfrm>
          <a:prstGeom prst="rect">
            <a:avLst/>
          </a:prstGeom>
          <a:noFill/>
          <a:ln/>
        </p:spPr>
        <p:txBody>
          <a:bodyPr wrap="square" rtlCol="0" anchor="ctr"/>
          <a:lstStyle/>
          <a:p>
            <a:pPr indent="0" marL="0">
              <a:buNone/>
            </a:pPr>
            <a:r>
              <a:rPr lang="en-US" sz="1300" dirty="0">
                <a:solidFill>
                  <a:srgbClr val="5B6079"/>
                </a:solidFill>
                <a:latin typeface="Segoe UI" pitchFamily="34" charset="0"/>
                <a:ea typeface="Segoe UI" pitchFamily="34" charset="-122"/>
                <a:cs typeface="Segoe UI" pitchFamily="34" charset="-120"/>
              </a:rPr>
              <a:t>Download the samples and drop them into the chat — no need to put them in OneDrive first · Setup time about 8 minutes</a:t>
            </a:r>
            <a:endParaRPr lang="en-US" sz="1300" dirty="0"/>
          </a:p>
        </p:txBody>
      </p:sp>
      <p:sp>
        <p:nvSpPr>
          <p:cNvPr id="6" name="Shape 4"/>
          <p:cNvSpPr/>
          <p:nvPr/>
        </p:nvSpPr>
        <p:spPr>
          <a:xfrm>
            <a:off x="640080" y="1874520"/>
            <a:ext cx="5272888" cy="777240"/>
          </a:xfrm>
          <a:prstGeom prst="rect">
            <a:avLst/>
          </a:prstGeom>
          <a:solidFill>
            <a:srgbClr val="FFFFFF"/>
          </a:solidFill>
          <a:ln w="12700">
            <a:solidFill>
              <a:srgbClr val="E4E7F2"/>
            </a:solidFill>
            <a:prstDash val="solid"/>
          </a:ln>
        </p:spPr>
      </p:sp>
      <p:sp>
        <p:nvSpPr>
          <p:cNvPr id="7" name="Shape 5"/>
          <p:cNvSpPr/>
          <p:nvPr/>
        </p:nvSpPr>
        <p:spPr>
          <a:xfrm>
            <a:off x="640080" y="1874520"/>
            <a:ext cx="68580" cy="777240"/>
          </a:xfrm>
          <a:prstGeom prst="rect">
            <a:avLst/>
          </a:prstGeom>
          <a:solidFill>
            <a:srgbClr val="6366F1"/>
          </a:solidFill>
          <a:ln/>
        </p:spPr>
      </p:sp>
      <p:sp>
        <p:nvSpPr>
          <p:cNvPr id="8" name="Text 6"/>
          <p:cNvSpPr/>
          <p:nvPr/>
        </p:nvSpPr>
        <p:spPr>
          <a:xfrm>
            <a:off x="804672" y="1929384"/>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9" name="Text 7"/>
          <p:cNvSpPr/>
          <p:nvPr/>
        </p:nvSpPr>
        <p:spPr>
          <a:xfrm>
            <a:off x="1243584" y="1920240"/>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Download the sample files</a:t>
            </a:r>
            <a:endParaRPr lang="en-US" sz="1250" dirty="0"/>
          </a:p>
        </p:txBody>
      </p:sp>
      <p:sp>
        <p:nvSpPr>
          <p:cNvPr id="10" name="Text 8"/>
          <p:cNvSpPr/>
          <p:nvPr/>
        </p:nvSpPr>
        <p:spPr>
          <a:xfrm>
            <a:off x="1243584" y="2194560"/>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Every scenario has download links in its “Reference file…</a:t>
            </a:r>
            <a:endParaRPr lang="en-US" sz="1050" dirty="0"/>
          </a:p>
        </p:txBody>
      </p:sp>
      <p:sp>
        <p:nvSpPr>
          <p:cNvPr id="11" name="Shape 9"/>
          <p:cNvSpPr/>
          <p:nvPr/>
        </p:nvSpPr>
        <p:spPr>
          <a:xfrm>
            <a:off x="6278728" y="1874520"/>
            <a:ext cx="5272888" cy="777240"/>
          </a:xfrm>
          <a:prstGeom prst="rect">
            <a:avLst/>
          </a:prstGeom>
          <a:solidFill>
            <a:srgbClr val="FFFFFF"/>
          </a:solidFill>
          <a:ln w="12700">
            <a:solidFill>
              <a:srgbClr val="E4E7F2"/>
            </a:solidFill>
            <a:prstDash val="solid"/>
          </a:ln>
        </p:spPr>
      </p:sp>
      <p:sp>
        <p:nvSpPr>
          <p:cNvPr id="12" name="Shape 10"/>
          <p:cNvSpPr/>
          <p:nvPr/>
        </p:nvSpPr>
        <p:spPr>
          <a:xfrm>
            <a:off x="6278728" y="1874520"/>
            <a:ext cx="68580" cy="777240"/>
          </a:xfrm>
          <a:prstGeom prst="rect">
            <a:avLst/>
          </a:prstGeom>
          <a:solidFill>
            <a:srgbClr val="6366F1"/>
          </a:solidFill>
          <a:ln/>
        </p:spPr>
      </p:sp>
      <p:sp>
        <p:nvSpPr>
          <p:cNvPr id="13" name="Text 11"/>
          <p:cNvSpPr/>
          <p:nvPr/>
        </p:nvSpPr>
        <p:spPr>
          <a:xfrm>
            <a:off x="6443320" y="1929384"/>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14" name="Text 12"/>
          <p:cNvSpPr/>
          <p:nvPr/>
        </p:nvSpPr>
        <p:spPr>
          <a:xfrm>
            <a:off x="6882232" y="1920240"/>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Mailbox: it drafts, it does not send on its own</a:t>
            </a:r>
            <a:endParaRPr lang="en-US" sz="1250" dirty="0"/>
          </a:p>
        </p:txBody>
      </p:sp>
      <p:sp>
        <p:nvSpPr>
          <p:cNvPr id="15" name="Text 13"/>
          <p:cNvSpPr/>
          <p:nvPr/>
        </p:nvSpPr>
        <p:spPr>
          <a:xfrm>
            <a:off x="6882232" y="2194560"/>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Several scenarios have Cowork draft emails. It always sa…</a:t>
            </a:r>
            <a:endParaRPr lang="en-US" sz="1050" dirty="0"/>
          </a:p>
        </p:txBody>
      </p:sp>
      <p:sp>
        <p:nvSpPr>
          <p:cNvPr id="16" name="Shape 14"/>
          <p:cNvSpPr/>
          <p:nvPr/>
        </p:nvSpPr>
        <p:spPr>
          <a:xfrm>
            <a:off x="640080" y="2779776"/>
            <a:ext cx="5272888" cy="777240"/>
          </a:xfrm>
          <a:prstGeom prst="rect">
            <a:avLst/>
          </a:prstGeom>
          <a:solidFill>
            <a:srgbClr val="FFFFFF"/>
          </a:solidFill>
          <a:ln w="12700">
            <a:solidFill>
              <a:srgbClr val="E4E7F2"/>
            </a:solidFill>
            <a:prstDash val="solid"/>
          </a:ln>
        </p:spPr>
      </p:sp>
      <p:sp>
        <p:nvSpPr>
          <p:cNvPr id="17" name="Shape 15"/>
          <p:cNvSpPr/>
          <p:nvPr/>
        </p:nvSpPr>
        <p:spPr>
          <a:xfrm>
            <a:off x="640080" y="2779776"/>
            <a:ext cx="68580" cy="777240"/>
          </a:xfrm>
          <a:prstGeom prst="rect">
            <a:avLst/>
          </a:prstGeom>
          <a:solidFill>
            <a:srgbClr val="6366F1"/>
          </a:solidFill>
          <a:ln/>
        </p:spPr>
      </p:sp>
      <p:sp>
        <p:nvSpPr>
          <p:cNvPr id="18" name="Text 16"/>
          <p:cNvSpPr/>
          <p:nvPr/>
        </p:nvSpPr>
        <p:spPr>
          <a:xfrm>
            <a:off x="804672" y="2834640"/>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19" name="Text 17"/>
          <p:cNvSpPr/>
          <p:nvPr/>
        </p:nvSpPr>
        <p:spPr>
          <a:xfrm>
            <a:off x="1243584" y="2825496"/>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Calendar: leave some room this week</a:t>
            </a:r>
            <a:endParaRPr lang="en-US" sz="1250" dirty="0"/>
          </a:p>
        </p:txBody>
      </p:sp>
      <p:sp>
        <p:nvSpPr>
          <p:cNvPr id="20" name="Text 18"/>
          <p:cNvSpPr/>
          <p:nvPr/>
        </p:nvSpPr>
        <p:spPr>
          <a:xfrm>
            <a:off x="1243584" y="3099816"/>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Some scenarios have Cowork schedule meetings or reminder…</a:t>
            </a:r>
            <a:endParaRPr lang="en-US" sz="1050" dirty="0"/>
          </a:p>
        </p:txBody>
      </p:sp>
      <p:sp>
        <p:nvSpPr>
          <p:cNvPr id="21" name="Shape 19"/>
          <p:cNvSpPr/>
          <p:nvPr/>
        </p:nvSpPr>
        <p:spPr>
          <a:xfrm>
            <a:off x="6278728" y="2779776"/>
            <a:ext cx="5272888" cy="777240"/>
          </a:xfrm>
          <a:prstGeom prst="rect">
            <a:avLst/>
          </a:prstGeom>
          <a:solidFill>
            <a:srgbClr val="FFFFFF"/>
          </a:solidFill>
          <a:ln w="12700">
            <a:solidFill>
              <a:srgbClr val="E4E7F2"/>
            </a:solidFill>
            <a:prstDash val="solid"/>
          </a:ln>
        </p:spPr>
      </p:sp>
      <p:sp>
        <p:nvSpPr>
          <p:cNvPr id="22" name="Shape 20"/>
          <p:cNvSpPr/>
          <p:nvPr/>
        </p:nvSpPr>
        <p:spPr>
          <a:xfrm>
            <a:off x="6278728" y="2779776"/>
            <a:ext cx="68580" cy="777240"/>
          </a:xfrm>
          <a:prstGeom prst="rect">
            <a:avLst/>
          </a:prstGeom>
          <a:solidFill>
            <a:srgbClr val="6366F1"/>
          </a:solidFill>
          <a:ln/>
        </p:spPr>
      </p:sp>
      <p:sp>
        <p:nvSpPr>
          <p:cNvPr id="23" name="Text 21"/>
          <p:cNvSpPr/>
          <p:nvPr/>
        </p:nvSpPr>
        <p:spPr>
          <a:xfrm>
            <a:off x="6443320" y="2834640"/>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24" name="Text 22"/>
          <p:cNvSpPr/>
          <p:nvPr/>
        </p:nvSpPr>
        <p:spPr>
          <a:xfrm>
            <a:off x="6882232" y="2825496"/>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Output lands in your OneDrive</a:t>
            </a:r>
            <a:endParaRPr lang="en-US" sz="1250" dirty="0"/>
          </a:p>
        </p:txBody>
      </p:sp>
      <p:sp>
        <p:nvSpPr>
          <p:cNvPr id="25" name="Text 23"/>
          <p:cNvSpPr/>
          <p:nvPr/>
        </p:nvSpPr>
        <p:spPr>
          <a:xfrm>
            <a:off x="6882232" y="3099816"/>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Files Cowork creates are saved to your own OneDrive, and…</a:t>
            </a:r>
            <a:endParaRPr lang="en-US" sz="1050" dirty="0"/>
          </a:p>
        </p:txBody>
      </p:sp>
      <p:sp>
        <p:nvSpPr>
          <p:cNvPr id="26" name="Shape 24"/>
          <p:cNvSpPr/>
          <p:nvPr/>
        </p:nvSpPr>
        <p:spPr>
          <a:xfrm>
            <a:off x="640080" y="3685032"/>
            <a:ext cx="5272888" cy="777240"/>
          </a:xfrm>
          <a:prstGeom prst="rect">
            <a:avLst/>
          </a:prstGeom>
          <a:solidFill>
            <a:srgbClr val="FFFFFF"/>
          </a:solidFill>
          <a:ln w="12700">
            <a:solidFill>
              <a:srgbClr val="E4E7F2"/>
            </a:solidFill>
            <a:prstDash val="solid"/>
          </a:ln>
        </p:spPr>
      </p:sp>
      <p:sp>
        <p:nvSpPr>
          <p:cNvPr id="27" name="Shape 25"/>
          <p:cNvSpPr/>
          <p:nvPr/>
        </p:nvSpPr>
        <p:spPr>
          <a:xfrm>
            <a:off x="640080" y="3685032"/>
            <a:ext cx="68580" cy="777240"/>
          </a:xfrm>
          <a:prstGeom prst="rect">
            <a:avLst/>
          </a:prstGeom>
          <a:solidFill>
            <a:srgbClr val="6366F1"/>
          </a:solidFill>
          <a:ln/>
        </p:spPr>
      </p:sp>
      <p:sp>
        <p:nvSpPr>
          <p:cNvPr id="28" name="Text 26"/>
          <p:cNvSpPr/>
          <p:nvPr/>
        </p:nvSpPr>
        <p:spPr>
          <a:xfrm>
            <a:off x="804672" y="3739896"/>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29" name="Text 27"/>
          <p:cNvSpPr/>
          <p:nvPr/>
        </p:nvSpPr>
        <p:spPr>
          <a:xfrm>
            <a:off x="1243584" y="3730752"/>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Skills folder: you build it live, so do not pre-load it</a:t>
            </a:r>
            <a:endParaRPr lang="en-US" sz="1250" dirty="0"/>
          </a:p>
        </p:txBody>
      </p:sp>
      <p:sp>
        <p:nvSpPr>
          <p:cNvPr id="30" name="Text 28"/>
          <p:cNvSpPr/>
          <p:nvPr/>
        </p:nvSpPr>
        <p:spPr>
          <a:xfrm>
            <a:off x="1243584" y="4005072"/>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One scenario walks you through creating a custom skill l…</a:t>
            </a:r>
            <a:endParaRPr lang="en-US" sz="1050" dirty="0"/>
          </a:p>
        </p:txBody>
      </p:sp>
      <p:sp>
        <p:nvSpPr>
          <p:cNvPr id="31" name="Shape 29"/>
          <p:cNvSpPr/>
          <p:nvPr/>
        </p:nvSpPr>
        <p:spPr>
          <a:xfrm>
            <a:off x="6278728" y="3685032"/>
            <a:ext cx="5272888" cy="777240"/>
          </a:xfrm>
          <a:prstGeom prst="rect">
            <a:avLst/>
          </a:prstGeom>
          <a:solidFill>
            <a:srgbClr val="FFFFFF"/>
          </a:solidFill>
          <a:ln w="12700">
            <a:solidFill>
              <a:srgbClr val="E4E7F2"/>
            </a:solidFill>
            <a:prstDash val="solid"/>
          </a:ln>
        </p:spPr>
      </p:sp>
      <p:sp>
        <p:nvSpPr>
          <p:cNvPr id="32" name="Shape 30"/>
          <p:cNvSpPr/>
          <p:nvPr/>
        </p:nvSpPr>
        <p:spPr>
          <a:xfrm>
            <a:off x="6278728" y="3685032"/>
            <a:ext cx="68580" cy="777240"/>
          </a:xfrm>
          <a:prstGeom prst="rect">
            <a:avLst/>
          </a:prstGeom>
          <a:solidFill>
            <a:srgbClr val="6366F1"/>
          </a:solidFill>
          <a:ln/>
        </p:spPr>
      </p:sp>
      <p:sp>
        <p:nvSpPr>
          <p:cNvPr id="33" name="Text 31"/>
          <p:cNvSpPr/>
          <p:nvPr/>
        </p:nvSpPr>
        <p:spPr>
          <a:xfrm>
            <a:off x="6443320" y="3739896"/>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34" name="Text 32"/>
          <p:cNvSpPr/>
          <p:nvPr/>
        </p:nvSpPr>
        <p:spPr>
          <a:xfrm>
            <a:off x="6882232" y="3730752"/>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Automations page: clear out anything left over</a:t>
            </a:r>
            <a:endParaRPr lang="en-US" sz="1250" dirty="0"/>
          </a:p>
        </p:txBody>
      </p:sp>
      <p:sp>
        <p:nvSpPr>
          <p:cNvPr id="35" name="Text 33"/>
          <p:cNvSpPr/>
          <p:nvPr/>
        </p:nvSpPr>
        <p:spPr>
          <a:xfrm>
            <a:off x="6882232" y="4005072"/>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Some scenarios create a scheduled prompt or an event-dri…</a:t>
            </a:r>
            <a:endParaRPr lang="en-US" sz="1050" dirty="0"/>
          </a:p>
        </p:txBody>
      </p:sp>
      <p:sp>
        <p:nvSpPr>
          <p:cNvPr id="36" name="Shape 34"/>
          <p:cNvSpPr/>
          <p:nvPr/>
        </p:nvSpPr>
        <p:spPr>
          <a:xfrm>
            <a:off x="640080" y="4590288"/>
            <a:ext cx="5272888" cy="777240"/>
          </a:xfrm>
          <a:prstGeom prst="rect">
            <a:avLst/>
          </a:prstGeom>
          <a:solidFill>
            <a:srgbClr val="FFFFFF"/>
          </a:solidFill>
          <a:ln w="12700">
            <a:solidFill>
              <a:srgbClr val="E4E7F2"/>
            </a:solidFill>
            <a:prstDash val="solid"/>
          </a:ln>
        </p:spPr>
      </p:sp>
      <p:sp>
        <p:nvSpPr>
          <p:cNvPr id="37" name="Shape 35"/>
          <p:cNvSpPr/>
          <p:nvPr/>
        </p:nvSpPr>
        <p:spPr>
          <a:xfrm>
            <a:off x="640080" y="4590288"/>
            <a:ext cx="68580" cy="777240"/>
          </a:xfrm>
          <a:prstGeom prst="rect">
            <a:avLst/>
          </a:prstGeom>
          <a:solidFill>
            <a:srgbClr val="6366F1"/>
          </a:solidFill>
          <a:ln/>
        </p:spPr>
      </p:sp>
      <p:sp>
        <p:nvSpPr>
          <p:cNvPr id="38" name="Text 36"/>
          <p:cNvSpPr/>
          <p:nvPr/>
        </p:nvSpPr>
        <p:spPr>
          <a:xfrm>
            <a:off x="804672" y="4645152"/>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39" name="Text 37"/>
          <p:cNvSpPr/>
          <p:nvPr/>
        </p:nvSpPr>
        <p:spPr>
          <a:xfrm>
            <a:off x="1243584" y="4636008"/>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Enterprise Search: your tenant needs something to find</a:t>
            </a:r>
            <a:endParaRPr lang="en-US" sz="1250" dirty="0"/>
          </a:p>
        </p:txBody>
      </p:sp>
      <p:sp>
        <p:nvSpPr>
          <p:cNvPr id="40" name="Text 38"/>
          <p:cNvSpPr/>
          <p:nvPr/>
        </p:nvSpPr>
        <p:spPr>
          <a:xfrm>
            <a:off x="1243584" y="4910328"/>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Some scenarios have Cowork run Enterprise Search across …</a:t>
            </a:r>
            <a:endParaRPr lang="en-US" sz="1050" dirty="0"/>
          </a:p>
        </p:txBody>
      </p:sp>
      <p:sp>
        <p:nvSpPr>
          <p:cNvPr id="41" name="Shape 39"/>
          <p:cNvSpPr/>
          <p:nvPr/>
        </p:nvSpPr>
        <p:spPr>
          <a:xfrm>
            <a:off x="6278728" y="4590288"/>
            <a:ext cx="5272888" cy="777240"/>
          </a:xfrm>
          <a:prstGeom prst="rect">
            <a:avLst/>
          </a:prstGeom>
          <a:solidFill>
            <a:srgbClr val="FFFFFF"/>
          </a:solidFill>
          <a:ln w="12700">
            <a:solidFill>
              <a:srgbClr val="E4E7F2"/>
            </a:solidFill>
            <a:prstDash val="solid"/>
          </a:ln>
        </p:spPr>
      </p:sp>
      <p:sp>
        <p:nvSpPr>
          <p:cNvPr id="42" name="Shape 40"/>
          <p:cNvSpPr/>
          <p:nvPr/>
        </p:nvSpPr>
        <p:spPr>
          <a:xfrm>
            <a:off x="6278728" y="4590288"/>
            <a:ext cx="68580" cy="777240"/>
          </a:xfrm>
          <a:prstGeom prst="rect">
            <a:avLst/>
          </a:prstGeom>
          <a:solidFill>
            <a:srgbClr val="6366F1"/>
          </a:solidFill>
          <a:ln/>
        </p:spPr>
      </p:sp>
      <p:sp>
        <p:nvSpPr>
          <p:cNvPr id="43" name="Text 41"/>
          <p:cNvSpPr/>
          <p:nvPr/>
        </p:nvSpPr>
        <p:spPr>
          <a:xfrm>
            <a:off x="6443320" y="4645152"/>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44" name="Text 42"/>
          <p:cNvSpPr/>
          <p:nvPr/>
        </p:nvSpPr>
        <p:spPr>
          <a:xfrm>
            <a:off x="6882232" y="4636008"/>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 Deep Research is slow and costly — dry-run it first</a:t>
            </a:r>
            <a:endParaRPr lang="en-US" sz="1250" dirty="0"/>
          </a:p>
        </p:txBody>
      </p:sp>
      <p:sp>
        <p:nvSpPr>
          <p:cNvPr id="45" name="Text 43"/>
          <p:cNvSpPr/>
          <p:nvPr/>
        </p:nvSpPr>
        <p:spPr>
          <a:xfrm>
            <a:off x="6882232" y="4910328"/>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One scenario uses Deep Research. It genuinely searches a…</a:t>
            </a:r>
            <a:endParaRPr lang="en-US" sz="1050" dirty="0"/>
          </a:p>
        </p:txBody>
      </p:sp>
      <p:sp>
        <p:nvSpPr>
          <p:cNvPr id="46" name="Shape 44"/>
          <p:cNvSpPr/>
          <p:nvPr/>
        </p:nvSpPr>
        <p:spPr>
          <a:xfrm>
            <a:off x="640080" y="5532120"/>
            <a:ext cx="10911535" cy="749808"/>
          </a:xfrm>
          <a:prstGeom prst="rect">
            <a:avLst/>
          </a:prstGeom>
          <a:solidFill>
            <a:srgbClr val="FFFFFF"/>
          </a:solidFill>
          <a:ln w="12700">
            <a:solidFill>
              <a:srgbClr val="E4E7F2"/>
            </a:solidFill>
            <a:prstDash val="solid"/>
          </a:ln>
        </p:spPr>
      </p:sp>
      <p:sp>
        <p:nvSpPr>
          <p:cNvPr id="47" name="Shape 45"/>
          <p:cNvSpPr/>
          <p:nvPr/>
        </p:nvSpPr>
        <p:spPr>
          <a:xfrm>
            <a:off x="640080" y="5532120"/>
            <a:ext cx="91440" cy="749808"/>
          </a:xfrm>
          <a:prstGeom prst="rect">
            <a:avLst/>
          </a:prstGeom>
          <a:solidFill>
            <a:srgbClr val="6366F1"/>
          </a:solidFill>
          <a:ln/>
        </p:spPr>
      </p:sp>
      <p:sp>
        <p:nvSpPr>
          <p:cNvPr id="48" name="Text 46"/>
          <p:cNvSpPr/>
          <p:nvPr/>
        </p:nvSpPr>
        <p:spPr>
          <a:xfrm>
            <a:off x="914400" y="5614416"/>
            <a:ext cx="1828800" cy="274320"/>
          </a:xfrm>
          <a:prstGeom prst="rect">
            <a:avLst/>
          </a:prstGeom>
          <a:noFill/>
          <a:ln/>
        </p:spPr>
        <p:txBody>
          <a:bodyPr wrap="square" rtlCol="0" anchor="ctr"/>
          <a:lstStyle/>
          <a:p>
            <a:pPr indent="0" marL="0">
              <a:buNone/>
            </a:pPr>
            <a:r>
              <a:rPr lang="en-US" sz="1200" b="1" dirty="0">
                <a:solidFill>
                  <a:srgbClr val="1E2235"/>
                </a:solidFill>
                <a:latin typeface="Segoe UI" pitchFamily="34" charset="0"/>
                <a:ea typeface="Segoe UI" pitchFamily="34" charset="-122"/>
                <a:cs typeface="Segoe UI" pitchFamily="34" charset="-120"/>
              </a:rPr>
              <a:t>Final check before the session</a:t>
            </a:r>
            <a:endParaRPr lang="en-US" sz="1200" dirty="0"/>
          </a:p>
        </p:txBody>
      </p:sp>
      <p:pic>
        <p:nvPicPr>
          <p:cNvPr id="49" name="Image 0" descr="preencoded.png">    </p:cNvPr>
          <p:cNvPicPr>
            <a:picLocks noChangeAspect="1"/>
          </p:cNvPicPr>
          <p:nvPr/>
        </p:nvPicPr>
        <p:blipFill>
          <a:blip r:embed="rId1"/>
          <a:stretch>
            <a:fillRect/>
          </a:stretch>
        </p:blipFill>
        <p:spPr>
          <a:xfrm>
            <a:off x="2743200" y="5641848"/>
            <a:ext cx="155448" cy="155448"/>
          </a:xfrm>
          <a:prstGeom prst="rect">
            <a:avLst/>
          </a:prstGeom>
        </p:spPr>
      </p:pic>
      <p:sp>
        <p:nvSpPr>
          <p:cNvPr id="50" name="Text 47"/>
          <p:cNvSpPr/>
          <p:nvPr/>
        </p:nvSpPr>
        <p:spPr>
          <a:xfrm>
            <a:off x="2999232" y="5586984"/>
            <a:ext cx="8259775" cy="237744"/>
          </a:xfrm>
          <a:prstGeom prst="rect">
            <a:avLst/>
          </a:prstGeom>
          <a:noFill/>
          <a:ln/>
        </p:spPr>
        <p:txBody>
          <a:bodyPr wrap="square" rtlCol="0" anchor="ctr"/>
          <a:lstStyle/>
          <a:p>
            <a:pPr indent="0" marL="0">
              <a:buNone/>
            </a:pPr>
            <a:r>
              <a:rPr lang="en-US" sz="1050" dirty="0">
                <a:solidFill>
                  <a:srgbClr val="1E2235"/>
                </a:solidFill>
                <a:latin typeface="Segoe UI" pitchFamily="34" charset="0"/>
                <a:ea typeface="Segoe UI" pitchFamily="34" charset="-122"/>
                <a:cs typeface="Segoe UI" pitchFamily="34" charset="-120"/>
              </a:rPr>
              <a:t>The reference files for the scenario you are about to run are downloaded</a:t>
            </a:r>
            <a:endParaRPr lang="en-US" sz="1050" dirty="0"/>
          </a:p>
        </p:txBody>
      </p:sp>
      <p:pic>
        <p:nvPicPr>
          <p:cNvPr id="51" name="Image 1" descr="preencoded.png">    </p:cNvPr>
          <p:cNvPicPr>
            <a:picLocks noChangeAspect="1"/>
          </p:cNvPicPr>
          <p:nvPr/>
        </p:nvPicPr>
        <p:blipFill>
          <a:blip r:embed="rId2"/>
          <a:stretch>
            <a:fillRect/>
          </a:stretch>
        </p:blipFill>
        <p:spPr>
          <a:xfrm>
            <a:off x="2743200" y="5852160"/>
            <a:ext cx="155448" cy="155448"/>
          </a:xfrm>
          <a:prstGeom prst="rect">
            <a:avLst/>
          </a:prstGeom>
        </p:spPr>
      </p:pic>
      <p:sp>
        <p:nvSpPr>
          <p:cNvPr id="52" name="Text 48"/>
          <p:cNvSpPr/>
          <p:nvPr/>
        </p:nvSpPr>
        <p:spPr>
          <a:xfrm>
            <a:off x="2999232" y="5797296"/>
            <a:ext cx="8259775" cy="237744"/>
          </a:xfrm>
          <a:prstGeom prst="rect">
            <a:avLst/>
          </a:prstGeom>
          <a:noFill/>
          <a:ln/>
        </p:spPr>
        <p:txBody>
          <a:bodyPr wrap="square" rtlCol="0" anchor="ctr"/>
          <a:lstStyle/>
          <a:p>
            <a:pPr indent="0" marL="0">
              <a:buNone/>
            </a:pPr>
            <a:r>
              <a:rPr lang="en-US" sz="1050" dirty="0">
                <a:solidFill>
                  <a:srgbClr val="1E2235"/>
                </a:solidFill>
                <a:latin typeface="Segoe UI" pitchFamily="34" charset="0"/>
                <a:ea typeface="Segoe UI" pitchFamily="34" charset="-122"/>
                <a:cs typeface="Segoe UI" pitchFamily="34" charset="-120"/>
              </a:rPr>
              <a:t>You know to check the recipient on every approval card so no practice email reaches a real person</a:t>
            </a:r>
            <a:endParaRPr lang="en-US" sz="1050" dirty="0"/>
          </a:p>
        </p:txBody>
      </p:sp>
      <p:pic>
        <p:nvPicPr>
          <p:cNvPr id="53" name="Image 2" descr="preencoded.png">    </p:cNvPr>
          <p:cNvPicPr>
            <a:picLocks noChangeAspect="1"/>
          </p:cNvPicPr>
          <p:nvPr/>
        </p:nvPicPr>
        <p:blipFill>
          <a:blip r:embed="rId3"/>
          <a:stretch>
            <a:fillRect/>
          </a:stretch>
        </p:blipFill>
        <p:spPr>
          <a:xfrm>
            <a:off x="2743200" y="6062472"/>
            <a:ext cx="155448" cy="155448"/>
          </a:xfrm>
          <a:prstGeom prst="rect">
            <a:avLst/>
          </a:prstGeom>
        </p:spPr>
      </p:pic>
      <p:sp>
        <p:nvSpPr>
          <p:cNvPr id="54" name="Text 49"/>
          <p:cNvSpPr/>
          <p:nvPr/>
        </p:nvSpPr>
        <p:spPr>
          <a:xfrm>
            <a:off x="2999232" y="6007608"/>
            <a:ext cx="8259775" cy="237744"/>
          </a:xfrm>
          <a:prstGeom prst="rect">
            <a:avLst/>
          </a:prstGeom>
          <a:noFill/>
          <a:ln/>
        </p:spPr>
        <p:txBody>
          <a:bodyPr wrap="square" rtlCol="0" anchor="ctr"/>
          <a:lstStyle/>
          <a:p>
            <a:pPr indent="0" marL="0">
              <a:buNone/>
            </a:pPr>
            <a:r>
              <a:rPr lang="en-US" sz="1050" dirty="0">
                <a:solidFill>
                  <a:srgbClr val="1E2235"/>
                </a:solidFill>
                <a:latin typeface="Segoe UI" pitchFamily="34" charset="0"/>
                <a:ea typeface="Segoe UI" pitchFamily="34" charset="-122"/>
                <a:cs typeface="Segoe UI" pitchFamily="34" charset="-120"/>
              </a:rPr>
              <a:t>Your calendar has room this week for test entries</a:t>
            </a:r>
            <a:endParaRPr lang="en-US" sz="1050" dirty="0"/>
          </a:p>
        </p:txBody>
      </p:sp>
      <p:sp>
        <p:nvSpPr>
          <p:cNvPr id="55" name="Text 50"/>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56" name="Text 51"/>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5 SCENARIOS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Five hands-on scenarios</a:t>
            </a:r>
            <a:endParaRPr lang="en-US" sz="3000" dirty="0"/>
          </a:p>
        </p:txBody>
      </p:sp>
      <p:sp>
        <p:nvSpPr>
          <p:cNvPr id="5" name="Shape 3"/>
          <p:cNvSpPr/>
          <p:nvPr/>
        </p:nvSpPr>
        <p:spPr>
          <a:xfrm>
            <a:off x="640080" y="1828800"/>
            <a:ext cx="1889699" cy="338328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6" name="Shape 4"/>
          <p:cNvSpPr/>
          <p:nvPr/>
        </p:nvSpPr>
        <p:spPr>
          <a:xfrm>
            <a:off x="640080" y="1828800"/>
            <a:ext cx="1889699" cy="109728"/>
          </a:xfrm>
          <a:prstGeom prst="rect">
            <a:avLst/>
          </a:prstGeom>
          <a:solidFill>
            <a:srgbClr val="CA5010"/>
          </a:solidFill>
          <a:ln/>
        </p:spPr>
      </p:sp>
      <p:sp>
        <p:nvSpPr>
          <p:cNvPr id="7" name="Shape 5"/>
          <p:cNvSpPr/>
          <p:nvPr/>
        </p:nvSpPr>
        <p:spPr>
          <a:xfrm>
            <a:off x="1127730" y="2194560"/>
            <a:ext cx="914400" cy="914400"/>
          </a:xfrm>
          <a:prstGeom prst="ellipse">
            <a:avLst/>
          </a:prstGeom>
          <a:solidFill>
            <a:srgbClr val="CA5010"/>
          </a:solidFill>
          <a:ln/>
        </p:spPr>
      </p:sp>
      <p:pic>
        <p:nvPicPr>
          <p:cNvPr id="8" name="Image 0" descr="preencoded.png">    </p:cNvPr>
          <p:cNvPicPr>
            <a:picLocks noChangeAspect="1"/>
          </p:cNvPicPr>
          <p:nvPr/>
        </p:nvPicPr>
        <p:blipFill>
          <a:blip r:embed="rId1"/>
          <a:stretch>
            <a:fillRect/>
          </a:stretch>
        </p:blipFill>
        <p:spPr>
          <a:xfrm>
            <a:off x="1328898" y="2395728"/>
            <a:ext cx="512064" cy="512064"/>
          </a:xfrm>
          <a:prstGeom prst="rect">
            <a:avLst/>
          </a:prstGeom>
        </p:spPr>
      </p:pic>
      <p:sp>
        <p:nvSpPr>
          <p:cNvPr id="9" name="Text 6"/>
          <p:cNvSpPr/>
          <p:nvPr/>
        </p:nvSpPr>
        <p:spPr>
          <a:xfrm>
            <a:off x="731520" y="3163824"/>
            <a:ext cx="1706819" cy="349352"/>
          </a:xfrm>
          <a:prstGeom prst="rect">
            <a:avLst/>
          </a:prstGeom>
          <a:noFill/>
          <a:ln/>
        </p:spPr>
        <p:txBody>
          <a:bodyPr wrap="square" rtlCol="0" anchor="t"/>
          <a:lstStyle/>
          <a:p>
            <a:pPr algn="ctr" indent="0" marL="0">
              <a:buNone/>
            </a:pPr>
            <a:r>
              <a:rPr lang="en-US" sz="1058" b="1" dirty="0">
                <a:solidFill>
                  <a:srgbClr val="CA5010"/>
                </a:solidFill>
                <a:latin typeface="Segoe UI" pitchFamily="34" charset="0"/>
                <a:ea typeface="Segoe UI" pitchFamily="34" charset="-122"/>
                <a:cs typeface="Segoe UI" pitchFamily="34" charset="-120"/>
              </a:rPr>
              <a:t>Productivity / Personal</a:t>
            </a:r>
            <a:endParaRPr lang="en-US" sz="1058" dirty="0"/>
          </a:p>
        </p:txBody>
      </p:sp>
      <p:sp>
        <p:nvSpPr>
          <p:cNvPr id="10" name="Text 7"/>
          <p:cNvSpPr/>
          <p:nvPr/>
        </p:nvSpPr>
        <p:spPr>
          <a:xfrm>
            <a:off x="731520" y="3568040"/>
            <a:ext cx="1706819" cy="455676"/>
          </a:xfrm>
          <a:prstGeom prst="rect">
            <a:avLst/>
          </a:prstGeom>
          <a:noFill/>
          <a:ln/>
        </p:spPr>
        <p:txBody>
          <a:bodyPr wrap="square" rtlCol="0" anchor="t"/>
          <a:lstStyle/>
          <a:p>
            <a:pPr algn="ctr" indent="0" marL="0">
              <a:buNone/>
            </a:pPr>
            <a:r>
              <a:rPr lang="en-US" sz="1380" b="1" dirty="0">
                <a:solidFill>
                  <a:srgbClr val="1E2235"/>
                </a:solidFill>
                <a:latin typeface="Segoe UI" pitchFamily="34" charset="0"/>
                <a:ea typeface="Segoe UI" pitchFamily="34" charset="-122"/>
                <a:cs typeface="Segoe UI" pitchFamily="34" charset="-120"/>
              </a:rPr>
              <a:t>Inbox Triage on Schedule</a:t>
            </a:r>
            <a:endParaRPr lang="en-US" sz="1380" dirty="0"/>
          </a:p>
        </p:txBody>
      </p:sp>
      <p:sp>
        <p:nvSpPr>
          <p:cNvPr id="11" name="Text 8"/>
          <p:cNvSpPr/>
          <p:nvPr/>
        </p:nvSpPr>
        <p:spPr>
          <a:xfrm>
            <a:off x="731520" y="4106012"/>
            <a:ext cx="1706819" cy="546811"/>
          </a:xfrm>
          <a:prstGeom prst="rect">
            <a:avLst/>
          </a:prstGeom>
          <a:noFill/>
          <a:ln/>
        </p:spPr>
        <p:txBody>
          <a:bodyPr wrap="square" rtlCol="0" anchor="t"/>
          <a:lstStyle/>
          <a:p>
            <a:pPr algn="ctr" indent="0" marL="0">
              <a:lnSpc>
                <a:spcPct val="105000"/>
              </a:lnSpc>
              <a:buNone/>
            </a:pPr>
            <a:r>
              <a:rPr lang="en-US" sz="1104" dirty="0">
                <a:solidFill>
                  <a:srgbClr val="5B6079"/>
                </a:solidFill>
                <a:latin typeface="Segoe UI" pitchFamily="34" charset="0"/>
                <a:ea typeface="Segoe UI" pitchFamily="34" charset="-122"/>
                <a:cs typeface="Segoe UI" pitchFamily="34" charset="-120"/>
              </a:rPr>
              <a:t>Email · Daily Briefing · Scheduled prompt</a:t>
            </a:r>
            <a:endParaRPr lang="en-US" sz="1104" dirty="0"/>
          </a:p>
        </p:txBody>
      </p:sp>
      <p:sp>
        <p:nvSpPr>
          <p:cNvPr id="12" name="Text 9"/>
          <p:cNvSpPr/>
          <p:nvPr/>
        </p:nvSpPr>
        <p:spPr>
          <a:xfrm>
            <a:off x="731520" y="4735119"/>
            <a:ext cx="1706819" cy="334162"/>
          </a:xfrm>
          <a:prstGeom prst="rect">
            <a:avLst/>
          </a:prstGeom>
          <a:noFill/>
          <a:ln/>
        </p:spPr>
        <p:txBody>
          <a:bodyPr wrap="square" rtlCol="0" anchor="t"/>
          <a:lstStyle/>
          <a:p>
            <a:pPr algn="ctr" indent="0" marL="0">
              <a:buNone/>
            </a:pPr>
            <a:r>
              <a:rPr lang="en-US" sz="1012" dirty="0">
                <a:solidFill>
                  <a:srgbClr val="9AA0C0"/>
                </a:solidFill>
                <a:latin typeface="Segoe UI" pitchFamily="34" charset="0"/>
                <a:ea typeface="Segoe UI" pitchFamily="34" charset="-122"/>
                <a:cs typeface="Segoe UI" pitchFamily="34" charset="-120"/>
              </a:rPr>
              <a:t>~10 min</a:t>
            </a:r>
            <a:endParaRPr lang="en-US" sz="1012" dirty="0"/>
          </a:p>
          <a:p>
            <a:pPr algn="ctr" indent="0" marL="0">
              <a:buNone/>
            </a:pPr>
            <a:r>
              <a:rPr lang="en-US" sz="1012" dirty="0">
                <a:solidFill>
                  <a:srgbClr val="9AA0C0"/>
                </a:solidFill>
                <a:latin typeface="Segoe UI" pitchFamily="34" charset="0"/>
                <a:ea typeface="Segoe UI" pitchFamily="34" charset="-122"/>
                <a:cs typeface="Segoe UI" pitchFamily="34" charset="-120"/>
              </a:rPr>
              <a:t> ★☆☆</a:t>
            </a:r>
            <a:endParaRPr lang="en-US" sz="1012" dirty="0"/>
          </a:p>
        </p:txBody>
      </p:sp>
      <p:sp>
        <p:nvSpPr>
          <p:cNvPr id="13" name="Shape 10"/>
          <p:cNvSpPr/>
          <p:nvPr/>
        </p:nvSpPr>
        <p:spPr>
          <a:xfrm>
            <a:off x="2895539" y="1828800"/>
            <a:ext cx="1889699" cy="338328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14" name="Shape 11"/>
          <p:cNvSpPr/>
          <p:nvPr/>
        </p:nvSpPr>
        <p:spPr>
          <a:xfrm>
            <a:off x="2895539" y="1828800"/>
            <a:ext cx="1889699" cy="109728"/>
          </a:xfrm>
          <a:prstGeom prst="rect">
            <a:avLst/>
          </a:prstGeom>
          <a:solidFill>
            <a:srgbClr val="0067B8"/>
          </a:solidFill>
          <a:ln/>
        </p:spPr>
      </p:sp>
      <p:sp>
        <p:nvSpPr>
          <p:cNvPr id="15" name="Shape 12"/>
          <p:cNvSpPr/>
          <p:nvPr/>
        </p:nvSpPr>
        <p:spPr>
          <a:xfrm>
            <a:off x="3383189" y="2194560"/>
            <a:ext cx="914400" cy="914400"/>
          </a:xfrm>
          <a:prstGeom prst="ellipse">
            <a:avLst/>
          </a:prstGeom>
          <a:solidFill>
            <a:srgbClr val="0067B8"/>
          </a:solidFill>
          <a:ln/>
        </p:spPr>
      </p:sp>
      <p:pic>
        <p:nvPicPr>
          <p:cNvPr id="16" name="Image 1" descr="preencoded.png">    </p:cNvPr>
          <p:cNvPicPr>
            <a:picLocks noChangeAspect="1"/>
          </p:cNvPicPr>
          <p:nvPr/>
        </p:nvPicPr>
        <p:blipFill>
          <a:blip r:embed="rId2"/>
          <a:stretch>
            <a:fillRect/>
          </a:stretch>
        </p:blipFill>
        <p:spPr>
          <a:xfrm>
            <a:off x="3584357" y="2395728"/>
            <a:ext cx="512064" cy="512064"/>
          </a:xfrm>
          <a:prstGeom prst="rect">
            <a:avLst/>
          </a:prstGeom>
        </p:spPr>
      </p:pic>
      <p:sp>
        <p:nvSpPr>
          <p:cNvPr id="17" name="Text 13"/>
          <p:cNvSpPr/>
          <p:nvPr/>
        </p:nvSpPr>
        <p:spPr>
          <a:xfrm>
            <a:off x="2986979" y="3163824"/>
            <a:ext cx="1706819" cy="174676"/>
          </a:xfrm>
          <a:prstGeom prst="rect">
            <a:avLst/>
          </a:prstGeom>
          <a:noFill/>
          <a:ln/>
        </p:spPr>
        <p:txBody>
          <a:bodyPr wrap="square" rtlCol="0" anchor="t"/>
          <a:lstStyle/>
          <a:p>
            <a:pPr algn="ctr" indent="0" marL="0">
              <a:buNone/>
            </a:pPr>
            <a:r>
              <a:rPr lang="en-US" sz="1058" b="1" dirty="0">
                <a:solidFill>
                  <a:srgbClr val="0067B8"/>
                </a:solidFill>
                <a:latin typeface="Segoe UI" pitchFamily="34" charset="0"/>
                <a:ea typeface="Segoe UI" pitchFamily="34" charset="-122"/>
                <a:cs typeface="Segoe UI" pitchFamily="34" charset="-120"/>
              </a:rPr>
              <a:t>Sales / Pre-sales</a:t>
            </a:r>
            <a:endParaRPr lang="en-US" sz="1058" dirty="0"/>
          </a:p>
        </p:txBody>
      </p:sp>
      <p:sp>
        <p:nvSpPr>
          <p:cNvPr id="18" name="Text 14"/>
          <p:cNvSpPr/>
          <p:nvPr/>
        </p:nvSpPr>
        <p:spPr>
          <a:xfrm>
            <a:off x="2986979" y="3393364"/>
            <a:ext cx="1706819" cy="455676"/>
          </a:xfrm>
          <a:prstGeom prst="rect">
            <a:avLst/>
          </a:prstGeom>
          <a:noFill/>
          <a:ln/>
        </p:spPr>
        <p:txBody>
          <a:bodyPr wrap="square" rtlCol="0" anchor="t"/>
          <a:lstStyle/>
          <a:p>
            <a:pPr algn="ctr" indent="0" marL="0">
              <a:buNone/>
            </a:pPr>
            <a:r>
              <a:rPr lang="en-US" sz="1380" b="1" dirty="0">
                <a:solidFill>
                  <a:srgbClr val="1E2235"/>
                </a:solidFill>
                <a:latin typeface="Segoe UI" pitchFamily="34" charset="0"/>
                <a:ea typeface="Segoe UI" pitchFamily="34" charset="-122"/>
                <a:cs typeface="Segoe UI" pitchFamily="34" charset="-120"/>
              </a:rPr>
              <a:t>Client Visit End-to-End</a:t>
            </a:r>
            <a:endParaRPr lang="en-US" sz="1380" dirty="0"/>
          </a:p>
        </p:txBody>
      </p:sp>
      <p:sp>
        <p:nvSpPr>
          <p:cNvPr id="19" name="Text 15"/>
          <p:cNvSpPr/>
          <p:nvPr/>
        </p:nvSpPr>
        <p:spPr>
          <a:xfrm>
            <a:off x="2986979" y="3931336"/>
            <a:ext cx="1706819" cy="546811"/>
          </a:xfrm>
          <a:prstGeom prst="rect">
            <a:avLst/>
          </a:prstGeom>
          <a:noFill/>
          <a:ln/>
        </p:spPr>
        <p:txBody>
          <a:bodyPr wrap="square" rtlCol="0" anchor="t"/>
          <a:lstStyle/>
          <a:p>
            <a:pPr algn="ctr" indent="0" marL="0">
              <a:lnSpc>
                <a:spcPct val="105000"/>
              </a:lnSpc>
              <a:buNone/>
            </a:pPr>
            <a:r>
              <a:rPr lang="en-US" sz="1104" dirty="0">
                <a:solidFill>
                  <a:srgbClr val="5B6079"/>
                </a:solidFill>
                <a:latin typeface="Segoe UI" pitchFamily="34" charset="0"/>
                <a:ea typeface="Segoe UI" pitchFamily="34" charset="-122"/>
                <a:cs typeface="Segoe UI" pitchFamily="34" charset="-120"/>
              </a:rPr>
              <a:t>Word · Email · Scheduling · Calendar Management</a:t>
            </a:r>
            <a:endParaRPr lang="en-US" sz="1104" dirty="0"/>
          </a:p>
        </p:txBody>
      </p:sp>
      <p:sp>
        <p:nvSpPr>
          <p:cNvPr id="20" name="Text 16"/>
          <p:cNvSpPr/>
          <p:nvPr/>
        </p:nvSpPr>
        <p:spPr>
          <a:xfrm>
            <a:off x="2986979" y="4560443"/>
            <a:ext cx="1706819" cy="334162"/>
          </a:xfrm>
          <a:prstGeom prst="rect">
            <a:avLst/>
          </a:prstGeom>
          <a:noFill/>
          <a:ln/>
        </p:spPr>
        <p:txBody>
          <a:bodyPr wrap="square" rtlCol="0" anchor="t"/>
          <a:lstStyle/>
          <a:p>
            <a:pPr algn="ctr" indent="0" marL="0">
              <a:buNone/>
            </a:pPr>
            <a:r>
              <a:rPr lang="en-US" sz="1012" dirty="0">
                <a:solidFill>
                  <a:srgbClr val="9AA0C0"/>
                </a:solidFill>
                <a:latin typeface="Segoe UI" pitchFamily="34" charset="0"/>
                <a:ea typeface="Segoe UI" pitchFamily="34" charset="-122"/>
                <a:cs typeface="Segoe UI" pitchFamily="34" charset="-120"/>
              </a:rPr>
              <a:t>~12 min</a:t>
            </a:r>
            <a:endParaRPr lang="en-US" sz="1012" dirty="0"/>
          </a:p>
          <a:p>
            <a:pPr algn="ctr" indent="0" marL="0">
              <a:buNone/>
            </a:pPr>
            <a:r>
              <a:rPr lang="en-US" sz="1012" dirty="0">
                <a:solidFill>
                  <a:srgbClr val="9AA0C0"/>
                </a:solidFill>
                <a:latin typeface="Segoe UI" pitchFamily="34" charset="0"/>
                <a:ea typeface="Segoe UI" pitchFamily="34" charset="-122"/>
                <a:cs typeface="Segoe UI" pitchFamily="34" charset="-120"/>
              </a:rPr>
              <a:t> ★☆☆</a:t>
            </a:r>
            <a:endParaRPr lang="en-US" sz="1012" dirty="0"/>
          </a:p>
        </p:txBody>
      </p:sp>
      <p:sp>
        <p:nvSpPr>
          <p:cNvPr id="21" name="Shape 17"/>
          <p:cNvSpPr/>
          <p:nvPr/>
        </p:nvSpPr>
        <p:spPr>
          <a:xfrm>
            <a:off x="5150998" y="1828800"/>
            <a:ext cx="1889699" cy="338328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22" name="Shape 18"/>
          <p:cNvSpPr/>
          <p:nvPr/>
        </p:nvSpPr>
        <p:spPr>
          <a:xfrm>
            <a:off x="5150998" y="1828800"/>
            <a:ext cx="1889699" cy="109728"/>
          </a:xfrm>
          <a:prstGeom prst="rect">
            <a:avLst/>
          </a:prstGeom>
          <a:solidFill>
            <a:srgbClr val="0A8F5B"/>
          </a:solidFill>
          <a:ln/>
        </p:spPr>
      </p:sp>
      <p:sp>
        <p:nvSpPr>
          <p:cNvPr id="23" name="Shape 19"/>
          <p:cNvSpPr/>
          <p:nvPr/>
        </p:nvSpPr>
        <p:spPr>
          <a:xfrm>
            <a:off x="5638648" y="2194560"/>
            <a:ext cx="914400" cy="914400"/>
          </a:xfrm>
          <a:prstGeom prst="ellipse">
            <a:avLst/>
          </a:prstGeom>
          <a:solidFill>
            <a:srgbClr val="0A8F5B"/>
          </a:solidFill>
          <a:ln/>
        </p:spPr>
      </p:sp>
      <p:pic>
        <p:nvPicPr>
          <p:cNvPr id="24" name="Image 2" descr="preencoded.png">    </p:cNvPr>
          <p:cNvPicPr>
            <a:picLocks noChangeAspect="1"/>
          </p:cNvPicPr>
          <p:nvPr/>
        </p:nvPicPr>
        <p:blipFill>
          <a:blip r:embed="rId3"/>
          <a:stretch>
            <a:fillRect/>
          </a:stretch>
        </p:blipFill>
        <p:spPr>
          <a:xfrm>
            <a:off x="5839816" y="2395728"/>
            <a:ext cx="512064" cy="512064"/>
          </a:xfrm>
          <a:prstGeom prst="rect">
            <a:avLst/>
          </a:prstGeom>
        </p:spPr>
      </p:pic>
      <p:sp>
        <p:nvSpPr>
          <p:cNvPr id="25" name="Text 20"/>
          <p:cNvSpPr/>
          <p:nvPr/>
        </p:nvSpPr>
        <p:spPr>
          <a:xfrm>
            <a:off x="5242438" y="3163824"/>
            <a:ext cx="1706819" cy="189865"/>
          </a:xfrm>
          <a:prstGeom prst="rect">
            <a:avLst/>
          </a:prstGeom>
          <a:noFill/>
          <a:ln/>
        </p:spPr>
        <p:txBody>
          <a:bodyPr wrap="square" rtlCol="0" anchor="t"/>
          <a:lstStyle/>
          <a:p>
            <a:pPr algn="ctr" indent="0" marL="0">
              <a:buNone/>
            </a:pPr>
            <a:r>
              <a:rPr lang="en-US" sz="1150" b="1" dirty="0">
                <a:solidFill>
                  <a:srgbClr val="0A8F5B"/>
                </a:solidFill>
                <a:latin typeface="Segoe UI" pitchFamily="34" charset="0"/>
                <a:ea typeface="Segoe UI" pitchFamily="34" charset="-122"/>
                <a:cs typeface="Segoe UI" pitchFamily="34" charset="-120"/>
              </a:rPr>
              <a:t>Data / Operations</a:t>
            </a:r>
            <a:endParaRPr lang="en-US" sz="1150" dirty="0"/>
          </a:p>
        </p:txBody>
      </p:sp>
      <p:sp>
        <p:nvSpPr>
          <p:cNvPr id="26" name="Text 21"/>
          <p:cNvSpPr/>
          <p:nvPr/>
        </p:nvSpPr>
        <p:spPr>
          <a:xfrm>
            <a:off x="5242438" y="3408553"/>
            <a:ext cx="1706819" cy="495300"/>
          </a:xfrm>
          <a:prstGeom prst="rect">
            <a:avLst/>
          </a:prstGeom>
          <a:noFill/>
          <a:ln/>
        </p:spPr>
        <p:txBody>
          <a:bodyPr wrap="square" rtlCol="0" anchor="t"/>
          <a:lstStyle/>
          <a:p>
            <a:pPr algn="ctr" indent="0" marL="0">
              <a:buNone/>
            </a:pPr>
            <a:r>
              <a:rPr lang="en-US" sz="1500" b="1" dirty="0">
                <a:solidFill>
                  <a:srgbClr val="1E2235"/>
                </a:solidFill>
                <a:latin typeface="Segoe UI" pitchFamily="34" charset="0"/>
                <a:ea typeface="Segoe UI" pitchFamily="34" charset="-122"/>
                <a:cs typeface="Segoe UI" pitchFamily="34" charset="-120"/>
              </a:rPr>
              <a:t>Multi-Format Sales Analysis</a:t>
            </a:r>
            <a:endParaRPr lang="en-US" sz="1500" dirty="0"/>
          </a:p>
        </p:txBody>
      </p:sp>
      <p:sp>
        <p:nvSpPr>
          <p:cNvPr id="27" name="Text 22"/>
          <p:cNvSpPr/>
          <p:nvPr/>
        </p:nvSpPr>
        <p:spPr>
          <a:xfrm>
            <a:off x="5242438" y="3986149"/>
            <a:ext cx="1706819" cy="396240"/>
          </a:xfrm>
          <a:prstGeom prst="rect">
            <a:avLst/>
          </a:prstGeom>
          <a:noFill/>
          <a:ln/>
        </p:spPr>
        <p:txBody>
          <a:bodyPr wrap="square" rtlCol="0" anchor="t"/>
          <a:lstStyle/>
          <a:p>
            <a:pPr algn="ctr" indent="0" marL="0">
              <a:lnSpc>
                <a:spcPct val="105000"/>
              </a:lnSpc>
              <a:buNone/>
            </a:pPr>
            <a:r>
              <a:rPr lang="en-US" sz="1200" dirty="0">
                <a:solidFill>
                  <a:srgbClr val="5B6079"/>
                </a:solidFill>
                <a:latin typeface="Segoe UI" pitchFamily="34" charset="0"/>
                <a:ea typeface="Segoe UI" pitchFamily="34" charset="-122"/>
                <a:cs typeface="Segoe UI" pitchFamily="34" charset="-120"/>
              </a:rPr>
              <a:t>Excel · Adaptive Cards · PDF</a:t>
            </a:r>
            <a:endParaRPr lang="en-US" sz="1200" dirty="0"/>
          </a:p>
        </p:txBody>
      </p:sp>
      <p:sp>
        <p:nvSpPr>
          <p:cNvPr id="28" name="Text 23"/>
          <p:cNvSpPr/>
          <p:nvPr/>
        </p:nvSpPr>
        <p:spPr>
          <a:xfrm>
            <a:off x="5242438" y="4464685"/>
            <a:ext cx="1706819" cy="363220"/>
          </a:xfrm>
          <a:prstGeom prst="rect">
            <a:avLst/>
          </a:prstGeom>
          <a:noFill/>
          <a:ln/>
        </p:spPr>
        <p:txBody>
          <a:bodyPr wrap="square" rtlCol="0" anchor="t"/>
          <a:lstStyle/>
          <a:p>
            <a:pPr algn="ctr" indent="0" marL="0">
              <a:buNone/>
            </a:pPr>
            <a:r>
              <a:rPr lang="en-US" sz="1100" dirty="0">
                <a:solidFill>
                  <a:srgbClr val="9AA0C0"/>
                </a:solidFill>
                <a:latin typeface="Segoe UI" pitchFamily="34" charset="0"/>
                <a:ea typeface="Segoe UI" pitchFamily="34" charset="-122"/>
                <a:cs typeface="Segoe UI" pitchFamily="34" charset="-120"/>
              </a:rPr>
              <a:t>~10 min</a:t>
            </a:r>
            <a:endParaRPr lang="en-US" sz="1100" dirty="0"/>
          </a:p>
          <a:p>
            <a:pPr algn="ctr" indent="0" marL="0">
              <a:buNone/>
            </a:pPr>
            <a:r>
              <a:rPr lang="en-US" sz="1100" dirty="0">
                <a:solidFill>
                  <a:srgbClr val="9AA0C0"/>
                </a:solidFill>
                <a:latin typeface="Segoe UI" pitchFamily="34" charset="0"/>
                <a:ea typeface="Segoe UI" pitchFamily="34" charset="-122"/>
                <a:cs typeface="Segoe UI" pitchFamily="34" charset="-120"/>
              </a:rPr>
              <a:t> ★☆☆</a:t>
            </a:r>
            <a:endParaRPr lang="en-US" sz="1100" dirty="0"/>
          </a:p>
        </p:txBody>
      </p:sp>
      <p:sp>
        <p:nvSpPr>
          <p:cNvPr id="29" name="Shape 24"/>
          <p:cNvSpPr/>
          <p:nvPr/>
        </p:nvSpPr>
        <p:spPr>
          <a:xfrm>
            <a:off x="7406457" y="1828800"/>
            <a:ext cx="1889699" cy="338328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30" name="Shape 25"/>
          <p:cNvSpPr/>
          <p:nvPr/>
        </p:nvSpPr>
        <p:spPr>
          <a:xfrm>
            <a:off x="7406457" y="1828800"/>
            <a:ext cx="1889699" cy="109728"/>
          </a:xfrm>
          <a:prstGeom prst="rect">
            <a:avLst/>
          </a:prstGeom>
          <a:solidFill>
            <a:srgbClr val="8764B8"/>
          </a:solidFill>
          <a:ln/>
        </p:spPr>
      </p:sp>
      <p:sp>
        <p:nvSpPr>
          <p:cNvPr id="31" name="Shape 26"/>
          <p:cNvSpPr/>
          <p:nvPr/>
        </p:nvSpPr>
        <p:spPr>
          <a:xfrm>
            <a:off x="7894107" y="2194560"/>
            <a:ext cx="914400" cy="914400"/>
          </a:xfrm>
          <a:prstGeom prst="ellipse">
            <a:avLst/>
          </a:prstGeom>
          <a:solidFill>
            <a:srgbClr val="8764B8"/>
          </a:solidFill>
          <a:ln/>
        </p:spPr>
      </p:sp>
      <p:pic>
        <p:nvPicPr>
          <p:cNvPr id="32" name="Image 3" descr="preencoded.png">    </p:cNvPr>
          <p:cNvPicPr>
            <a:picLocks noChangeAspect="1"/>
          </p:cNvPicPr>
          <p:nvPr/>
        </p:nvPicPr>
        <p:blipFill>
          <a:blip r:embed="rId4"/>
          <a:stretch>
            <a:fillRect/>
          </a:stretch>
        </p:blipFill>
        <p:spPr>
          <a:xfrm>
            <a:off x="8095275" y="2395728"/>
            <a:ext cx="512064" cy="512064"/>
          </a:xfrm>
          <a:prstGeom prst="rect">
            <a:avLst/>
          </a:prstGeom>
        </p:spPr>
      </p:pic>
      <p:sp>
        <p:nvSpPr>
          <p:cNvPr id="33" name="Text 27"/>
          <p:cNvSpPr/>
          <p:nvPr/>
        </p:nvSpPr>
        <p:spPr>
          <a:xfrm>
            <a:off x="7497897" y="3163824"/>
            <a:ext cx="1706819" cy="161385"/>
          </a:xfrm>
          <a:prstGeom prst="rect">
            <a:avLst/>
          </a:prstGeom>
          <a:noFill/>
          <a:ln/>
        </p:spPr>
        <p:txBody>
          <a:bodyPr wrap="square" rtlCol="0" anchor="t"/>
          <a:lstStyle/>
          <a:p>
            <a:pPr algn="ctr" indent="0" marL="0">
              <a:buNone/>
            </a:pPr>
            <a:r>
              <a:rPr lang="en-US" sz="978" b="1" dirty="0">
                <a:solidFill>
                  <a:srgbClr val="8764B8"/>
                </a:solidFill>
                <a:latin typeface="Segoe UI" pitchFamily="34" charset="0"/>
                <a:ea typeface="Segoe UI" pitchFamily="34" charset="-122"/>
                <a:cs typeface="Segoe UI" pitchFamily="34" charset="-120"/>
              </a:rPr>
              <a:t>Strategy / Account</a:t>
            </a:r>
            <a:endParaRPr lang="en-US" sz="978" dirty="0"/>
          </a:p>
        </p:txBody>
      </p:sp>
      <p:sp>
        <p:nvSpPr>
          <p:cNvPr id="34" name="Text 28"/>
          <p:cNvSpPr/>
          <p:nvPr/>
        </p:nvSpPr>
        <p:spPr>
          <a:xfrm>
            <a:off x="7497897" y="3380073"/>
            <a:ext cx="1706819" cy="631508"/>
          </a:xfrm>
          <a:prstGeom prst="rect">
            <a:avLst/>
          </a:prstGeom>
          <a:noFill/>
          <a:ln/>
        </p:spPr>
        <p:txBody>
          <a:bodyPr wrap="square" rtlCol="0" anchor="t"/>
          <a:lstStyle/>
          <a:p>
            <a:pPr algn="ctr" indent="0" marL="0">
              <a:buNone/>
            </a:pPr>
            <a:r>
              <a:rPr lang="en-US" sz="1275" b="1" dirty="0">
                <a:solidFill>
                  <a:srgbClr val="1E2235"/>
                </a:solidFill>
                <a:latin typeface="Segoe UI" pitchFamily="34" charset="0"/>
                <a:ea typeface="Segoe UI" pitchFamily="34" charset="-122"/>
                <a:cs typeface="Segoe UI" pitchFamily="34" charset="-120"/>
              </a:rPr>
              <a:t>Internal &amp; External Intelligence</a:t>
            </a:r>
            <a:endParaRPr lang="en-US" sz="1275" dirty="0"/>
          </a:p>
        </p:txBody>
      </p:sp>
      <p:sp>
        <p:nvSpPr>
          <p:cNvPr id="35" name="Text 29"/>
          <p:cNvSpPr/>
          <p:nvPr/>
        </p:nvSpPr>
        <p:spPr>
          <a:xfrm>
            <a:off x="7497897" y="4093877"/>
            <a:ext cx="1706819" cy="505206"/>
          </a:xfrm>
          <a:prstGeom prst="rect">
            <a:avLst/>
          </a:prstGeom>
          <a:noFill/>
          <a:ln/>
        </p:spPr>
        <p:txBody>
          <a:bodyPr wrap="square" rtlCol="0" anchor="t"/>
          <a:lstStyle/>
          <a:p>
            <a:pPr algn="ctr" indent="0" marL="0">
              <a:lnSpc>
                <a:spcPct val="105000"/>
              </a:lnSpc>
              <a:buNone/>
            </a:pPr>
            <a:r>
              <a:rPr lang="en-US" sz="1020" dirty="0">
                <a:solidFill>
                  <a:srgbClr val="5B6079"/>
                </a:solidFill>
                <a:latin typeface="Segoe UI" pitchFamily="34" charset="0"/>
                <a:ea typeface="Segoe UI" pitchFamily="34" charset="-122"/>
                <a:cs typeface="Segoe UI" pitchFamily="34" charset="-120"/>
              </a:rPr>
              <a:t>Enterprise Search · Deep Research · PowerPoint</a:t>
            </a:r>
            <a:endParaRPr lang="en-US" sz="1020" dirty="0"/>
          </a:p>
        </p:txBody>
      </p:sp>
      <p:sp>
        <p:nvSpPr>
          <p:cNvPr id="36" name="Text 30"/>
          <p:cNvSpPr/>
          <p:nvPr/>
        </p:nvSpPr>
        <p:spPr>
          <a:xfrm>
            <a:off x="7497897" y="4681379"/>
            <a:ext cx="1706819" cy="308737"/>
          </a:xfrm>
          <a:prstGeom prst="rect">
            <a:avLst/>
          </a:prstGeom>
          <a:noFill/>
          <a:ln/>
        </p:spPr>
        <p:txBody>
          <a:bodyPr wrap="square" rtlCol="0" anchor="t"/>
          <a:lstStyle/>
          <a:p>
            <a:pPr algn="ctr" indent="0" marL="0">
              <a:buNone/>
            </a:pPr>
            <a:r>
              <a:rPr lang="en-US" sz="935" dirty="0">
                <a:solidFill>
                  <a:srgbClr val="9AA0C0"/>
                </a:solidFill>
                <a:latin typeface="Segoe UI" pitchFamily="34" charset="0"/>
                <a:ea typeface="Segoe UI" pitchFamily="34" charset="-122"/>
                <a:cs typeface="Segoe UI" pitchFamily="34" charset="-120"/>
              </a:rPr>
              <a:t>~15 min</a:t>
            </a:r>
            <a:endParaRPr lang="en-US" sz="935" dirty="0"/>
          </a:p>
          <a:p>
            <a:pPr algn="ctr" indent="0" marL="0">
              <a:buNone/>
            </a:pPr>
            <a:r>
              <a:rPr lang="en-US" sz="935" dirty="0">
                <a:solidFill>
                  <a:srgbClr val="9AA0C0"/>
                </a:solidFill>
                <a:latin typeface="Segoe UI" pitchFamily="34" charset="0"/>
                <a:ea typeface="Segoe UI" pitchFamily="34" charset="-122"/>
                <a:cs typeface="Segoe UI" pitchFamily="34" charset="-120"/>
              </a:rPr>
              <a:t> ★★☆</a:t>
            </a:r>
            <a:endParaRPr lang="en-US" sz="935" dirty="0"/>
          </a:p>
        </p:txBody>
      </p:sp>
      <p:sp>
        <p:nvSpPr>
          <p:cNvPr id="37" name="Shape 31"/>
          <p:cNvSpPr/>
          <p:nvPr/>
        </p:nvSpPr>
        <p:spPr>
          <a:xfrm>
            <a:off x="9661916" y="1828800"/>
            <a:ext cx="1889699" cy="338328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38" name="Shape 32"/>
          <p:cNvSpPr/>
          <p:nvPr/>
        </p:nvSpPr>
        <p:spPr>
          <a:xfrm>
            <a:off x="9661916" y="1828800"/>
            <a:ext cx="1889699" cy="109728"/>
          </a:xfrm>
          <a:prstGeom prst="rect">
            <a:avLst/>
          </a:prstGeom>
          <a:solidFill>
            <a:srgbClr val="7A4DDB"/>
          </a:solidFill>
          <a:ln/>
        </p:spPr>
      </p:sp>
      <p:sp>
        <p:nvSpPr>
          <p:cNvPr id="39" name="Shape 33"/>
          <p:cNvSpPr/>
          <p:nvPr/>
        </p:nvSpPr>
        <p:spPr>
          <a:xfrm>
            <a:off x="10149566" y="2194560"/>
            <a:ext cx="914400" cy="914400"/>
          </a:xfrm>
          <a:prstGeom prst="ellipse">
            <a:avLst/>
          </a:prstGeom>
          <a:solidFill>
            <a:srgbClr val="7A4DDB"/>
          </a:solidFill>
          <a:ln/>
        </p:spPr>
      </p:sp>
      <p:pic>
        <p:nvPicPr>
          <p:cNvPr id="40" name="Image 4" descr="preencoded.png">    </p:cNvPr>
          <p:cNvPicPr>
            <a:picLocks noChangeAspect="1"/>
          </p:cNvPicPr>
          <p:nvPr/>
        </p:nvPicPr>
        <p:blipFill>
          <a:blip r:embed="rId5"/>
          <a:stretch>
            <a:fillRect/>
          </a:stretch>
        </p:blipFill>
        <p:spPr>
          <a:xfrm>
            <a:off x="10350734" y="2395728"/>
            <a:ext cx="512064" cy="512064"/>
          </a:xfrm>
          <a:prstGeom prst="rect">
            <a:avLst/>
          </a:prstGeom>
        </p:spPr>
      </p:pic>
      <p:sp>
        <p:nvSpPr>
          <p:cNvPr id="41" name="Text 34"/>
          <p:cNvSpPr/>
          <p:nvPr/>
        </p:nvSpPr>
        <p:spPr>
          <a:xfrm>
            <a:off x="9753356" y="3163824"/>
            <a:ext cx="1706819" cy="349352"/>
          </a:xfrm>
          <a:prstGeom prst="rect">
            <a:avLst/>
          </a:prstGeom>
          <a:noFill/>
          <a:ln/>
        </p:spPr>
        <p:txBody>
          <a:bodyPr wrap="square" rtlCol="0" anchor="t"/>
          <a:lstStyle/>
          <a:p>
            <a:pPr algn="ctr" indent="0" marL="0">
              <a:buNone/>
            </a:pPr>
            <a:r>
              <a:rPr lang="en-US" sz="1058" b="1" dirty="0">
                <a:solidFill>
                  <a:srgbClr val="7A4DDB"/>
                </a:solidFill>
                <a:latin typeface="Segoe UI" pitchFamily="34" charset="0"/>
                <a:ea typeface="Segoe UI" pitchFamily="34" charset="-122"/>
                <a:cs typeface="Segoe UI" pitchFamily="34" charset="-120"/>
              </a:rPr>
              <a:t>Knowledge work / Automation</a:t>
            </a:r>
            <a:endParaRPr lang="en-US" sz="1058" dirty="0"/>
          </a:p>
        </p:txBody>
      </p:sp>
      <p:sp>
        <p:nvSpPr>
          <p:cNvPr id="42" name="Text 35"/>
          <p:cNvSpPr/>
          <p:nvPr/>
        </p:nvSpPr>
        <p:spPr>
          <a:xfrm>
            <a:off x="9753356" y="3568040"/>
            <a:ext cx="1706819" cy="455676"/>
          </a:xfrm>
          <a:prstGeom prst="rect">
            <a:avLst/>
          </a:prstGeom>
          <a:noFill/>
          <a:ln/>
        </p:spPr>
        <p:txBody>
          <a:bodyPr wrap="square" rtlCol="0" anchor="t"/>
          <a:lstStyle/>
          <a:p>
            <a:pPr algn="ctr" indent="0" marL="0">
              <a:buNone/>
            </a:pPr>
            <a:r>
              <a:rPr lang="en-US" sz="1380" b="1" dirty="0">
                <a:solidFill>
                  <a:srgbClr val="1E2235"/>
                </a:solidFill>
                <a:latin typeface="Segoe UI" pitchFamily="34" charset="0"/>
                <a:ea typeface="Segoe UI" pitchFamily="34" charset="-122"/>
                <a:cs typeface="Segoe UI" pitchFamily="34" charset="-120"/>
              </a:rPr>
              <a:t>Custom Skills &amp; Event Triggers</a:t>
            </a:r>
            <a:endParaRPr lang="en-US" sz="1380" dirty="0"/>
          </a:p>
        </p:txBody>
      </p:sp>
      <p:sp>
        <p:nvSpPr>
          <p:cNvPr id="43" name="Text 36"/>
          <p:cNvSpPr/>
          <p:nvPr/>
        </p:nvSpPr>
        <p:spPr>
          <a:xfrm>
            <a:off x="9753356" y="4106012"/>
            <a:ext cx="1706819" cy="546811"/>
          </a:xfrm>
          <a:prstGeom prst="rect">
            <a:avLst/>
          </a:prstGeom>
          <a:noFill/>
          <a:ln/>
        </p:spPr>
        <p:txBody>
          <a:bodyPr wrap="square" rtlCol="0" anchor="t"/>
          <a:lstStyle/>
          <a:p>
            <a:pPr algn="ctr" indent="0" marL="0">
              <a:lnSpc>
                <a:spcPct val="105000"/>
              </a:lnSpc>
              <a:buNone/>
            </a:pPr>
            <a:r>
              <a:rPr lang="en-US" sz="1104" dirty="0">
                <a:solidFill>
                  <a:srgbClr val="5B6079"/>
                </a:solidFill>
                <a:latin typeface="Segoe UI" pitchFamily="34" charset="0"/>
                <a:ea typeface="Segoe UI" pitchFamily="34" charset="-122"/>
                <a:cs typeface="Segoe UI" pitchFamily="34" charset="-120"/>
              </a:rPr>
              <a:t>Custom skill · Skill Report · Event-driven task</a:t>
            </a:r>
            <a:endParaRPr lang="en-US" sz="1104" dirty="0"/>
          </a:p>
        </p:txBody>
      </p:sp>
      <p:sp>
        <p:nvSpPr>
          <p:cNvPr id="44" name="Text 37"/>
          <p:cNvSpPr/>
          <p:nvPr/>
        </p:nvSpPr>
        <p:spPr>
          <a:xfrm>
            <a:off x="9753356" y="4735119"/>
            <a:ext cx="1706819" cy="334162"/>
          </a:xfrm>
          <a:prstGeom prst="rect">
            <a:avLst/>
          </a:prstGeom>
          <a:noFill/>
          <a:ln/>
        </p:spPr>
        <p:txBody>
          <a:bodyPr wrap="square" rtlCol="0" anchor="t"/>
          <a:lstStyle/>
          <a:p>
            <a:pPr algn="ctr" indent="0" marL="0">
              <a:buNone/>
            </a:pPr>
            <a:r>
              <a:rPr lang="en-US" sz="1012" dirty="0">
                <a:solidFill>
                  <a:srgbClr val="9AA0C0"/>
                </a:solidFill>
                <a:latin typeface="Segoe UI" pitchFamily="34" charset="0"/>
                <a:ea typeface="Segoe UI" pitchFamily="34" charset="-122"/>
                <a:cs typeface="Segoe UI" pitchFamily="34" charset="-120"/>
              </a:rPr>
              <a:t>~18 min</a:t>
            </a:r>
            <a:endParaRPr lang="en-US" sz="1012" dirty="0"/>
          </a:p>
          <a:p>
            <a:pPr algn="ctr" indent="0" marL="0">
              <a:buNone/>
            </a:pPr>
            <a:r>
              <a:rPr lang="en-US" sz="1012" dirty="0">
                <a:solidFill>
                  <a:srgbClr val="9AA0C0"/>
                </a:solidFill>
                <a:latin typeface="Segoe UI" pitchFamily="34" charset="0"/>
                <a:ea typeface="Segoe UI" pitchFamily="34" charset="-122"/>
                <a:cs typeface="Segoe UI" pitchFamily="34" charset="-120"/>
              </a:rPr>
              <a:t> ★★☆</a:t>
            </a:r>
            <a:endParaRPr lang="en-US" sz="1012" dirty="0"/>
          </a:p>
        </p:txBody>
      </p:sp>
      <p:sp>
        <p:nvSpPr>
          <p:cNvPr id="45" name="Text 38"/>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46" name="Text 39"/>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CA5010"/>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CA5010"/>
                </a:solidFill>
                <a:latin typeface="Segoe UI" pitchFamily="34" charset="0"/>
                <a:ea typeface="Segoe UI" pitchFamily="34" charset="-122"/>
                <a:cs typeface="Segoe UI" pitchFamily="34" charset="-120"/>
              </a:rPr>
              <a:t>Scenario 01</a:t>
            </a:r>
            <a:endParaRPr lang="en-US" sz="1400" dirty="0"/>
          </a:p>
        </p:txBody>
      </p:sp>
      <p:sp>
        <p:nvSpPr>
          <p:cNvPr id="5" name="Shape 3"/>
          <p:cNvSpPr/>
          <p:nvPr/>
        </p:nvSpPr>
        <p:spPr>
          <a:xfrm>
            <a:off x="502920" y="1143000"/>
            <a:ext cx="1097280" cy="1097280"/>
          </a:xfrm>
          <a:prstGeom prst="ellipse">
            <a:avLst/>
          </a:prstGeom>
          <a:solidFill>
            <a:srgbClr val="CA5010"/>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Productivity / Personal</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Inbox Triage on Schedule</a:t>
            </a:r>
            <a:endParaRPr lang="en-US" sz="30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~10 min · Level ★☆☆</a:t>
            </a:r>
            <a:endParaRPr lang="en-US" sz="1300" dirty="0"/>
          </a:p>
        </p:txBody>
      </p:sp>
      <p:sp>
        <p:nvSpPr>
          <p:cNvPr id="10" name="Shape 7"/>
          <p:cNvSpPr/>
          <p:nvPr/>
        </p:nvSpPr>
        <p:spPr>
          <a:xfrm>
            <a:off x="502920" y="4572000"/>
            <a:ext cx="813816" cy="402336"/>
          </a:xfrm>
          <a:prstGeom prst="roundRect">
            <a:avLst>
              <a:gd name="adj" fmla="val 50000"/>
            </a:avLst>
          </a:prstGeom>
          <a:solidFill>
            <a:srgbClr val="6366F1"/>
          </a:solidFill>
          <a:ln/>
        </p:spPr>
      </p:sp>
      <p:sp>
        <p:nvSpPr>
          <p:cNvPr id="11" name="Text 8"/>
          <p:cNvSpPr/>
          <p:nvPr/>
        </p:nvSpPr>
        <p:spPr>
          <a:xfrm>
            <a:off x="502920"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Email</a:t>
            </a:r>
            <a:endParaRPr lang="en-US" sz="1200" dirty="0"/>
          </a:p>
        </p:txBody>
      </p:sp>
      <p:sp>
        <p:nvSpPr>
          <p:cNvPr id="12" name="Shape 9"/>
          <p:cNvSpPr/>
          <p:nvPr/>
        </p:nvSpPr>
        <p:spPr>
          <a:xfrm>
            <a:off x="1499616" y="4572000"/>
            <a:ext cx="1719072" cy="402336"/>
          </a:xfrm>
          <a:prstGeom prst="roundRect">
            <a:avLst>
              <a:gd name="adj" fmla="val 50000"/>
            </a:avLst>
          </a:prstGeom>
          <a:solidFill>
            <a:srgbClr val="6366F1"/>
          </a:solidFill>
          <a:ln/>
        </p:spPr>
      </p:sp>
      <p:sp>
        <p:nvSpPr>
          <p:cNvPr id="13" name="Text 10"/>
          <p:cNvSpPr/>
          <p:nvPr/>
        </p:nvSpPr>
        <p:spPr>
          <a:xfrm>
            <a:off x="1499616" y="4572000"/>
            <a:ext cx="1719072"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Daily Briefing</a:t>
            </a:r>
            <a:endParaRPr lang="en-US" sz="1200" dirty="0"/>
          </a:p>
        </p:txBody>
      </p:sp>
      <p:sp>
        <p:nvSpPr>
          <p:cNvPr id="14" name="Shape 11"/>
          <p:cNvSpPr/>
          <p:nvPr/>
        </p:nvSpPr>
        <p:spPr>
          <a:xfrm>
            <a:off x="502920" y="5074920"/>
            <a:ext cx="1920240" cy="402336"/>
          </a:xfrm>
          <a:prstGeom prst="roundRect">
            <a:avLst>
              <a:gd name="adj" fmla="val 50000"/>
            </a:avLst>
          </a:prstGeom>
          <a:solidFill>
            <a:srgbClr val="6366F1"/>
          </a:solidFill>
          <a:ln/>
        </p:spPr>
      </p:sp>
      <p:sp>
        <p:nvSpPr>
          <p:cNvPr id="15" name="Text 12"/>
          <p:cNvSpPr/>
          <p:nvPr/>
        </p:nvSpPr>
        <p:spPr>
          <a:xfrm>
            <a:off x="502920" y="5074920"/>
            <a:ext cx="1920240"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Scheduled prompt</a:t>
            </a:r>
            <a:endParaRPr lang="en-US" sz="1200" dirty="0"/>
          </a:p>
        </p:txBody>
      </p:sp>
      <p:sp>
        <p:nvSpPr>
          <p:cNvPr id="16" name="Text 13"/>
          <p:cNvSpPr/>
          <p:nvPr/>
        </p:nvSpPr>
        <p:spPr>
          <a:xfrm>
            <a:off x="4526280" y="566928"/>
            <a:ext cx="7132320" cy="1371600"/>
          </a:xfrm>
          <a:prstGeom prst="rect">
            <a:avLst/>
          </a:prstGeom>
          <a:noFill/>
          <a:ln/>
        </p:spPr>
        <p:txBody>
          <a:bodyPr wrap="square" rtlCol="0" anchor="t"/>
          <a:lstStyle/>
          <a:p>
            <a:pPr indent="0" marL="0">
              <a:lnSpc>
                <a:spcPct val="130000"/>
              </a:lnSpc>
              <a:buNone/>
            </a:pPr>
            <a:r>
              <a:rPr lang="en-US" sz="1500" dirty="0">
                <a:solidFill>
                  <a:srgbClr val="D7D9F0"/>
                </a:solidFill>
                <a:latin typeface="Segoe UI" pitchFamily="34" charset="0"/>
                <a:ea typeface="Segoe UI" pitchFamily="34" charset="-122"/>
                <a:cs typeface="Segoe UI" pitchFamily="34" charset="-120"/>
              </a:rPr>
              <a:t>Hand Cowork a single triage ruleset and let it sweep your inbox by the same standard, sort mail into four quadrants, surface the must-reply emails, and produce a 5-minute morning brief — then put the whole flow on a schedule at 08:30 every day, so from tomorrow it is already done before you sit down.</a:t>
            </a:r>
            <a:endParaRPr lang="en-US" sz="1500" dirty="0"/>
          </a:p>
        </p:txBody>
      </p:sp>
      <p:sp>
        <p:nvSpPr>
          <p:cNvPr id="17" name="Text 14"/>
          <p:cNvSpPr/>
          <p:nvPr/>
        </p:nvSpPr>
        <p:spPr>
          <a:xfrm>
            <a:off x="4526280" y="2066544"/>
            <a:ext cx="7132320" cy="365760"/>
          </a:xfrm>
          <a:prstGeom prst="rect">
            <a:avLst/>
          </a:prstGeom>
          <a:noFill/>
          <a:ln/>
        </p:spPr>
        <p:txBody>
          <a:bodyPr wrap="square" rtlCol="0" anchor="ctr"/>
          <a:lstStyle/>
          <a:p>
            <a:pPr indent="0" marL="0">
              <a:buNone/>
            </a:pPr>
            <a:r>
              <a:rPr lang="en-US" sz="1500" b="1" dirty="0">
                <a:solidFill>
                  <a:srgbClr val="CA5010"/>
                </a:solidFill>
                <a:latin typeface="Segoe UI" pitchFamily="34" charset="0"/>
                <a:ea typeface="Segoe UI" pitchFamily="34" charset="-122"/>
                <a:cs typeface="Segoe UI" pitchFamily="34" charset="-120"/>
              </a:rPr>
              <a:t>Agentic workflow</a:t>
            </a:r>
            <a:endParaRPr lang="en-US" sz="1500" dirty="0"/>
          </a:p>
        </p:txBody>
      </p:sp>
      <p:sp>
        <p:nvSpPr>
          <p:cNvPr id="18" name="Shape 15"/>
          <p:cNvSpPr/>
          <p:nvPr/>
        </p:nvSpPr>
        <p:spPr>
          <a:xfrm>
            <a:off x="4526280" y="2523744"/>
            <a:ext cx="457200" cy="457200"/>
          </a:xfrm>
          <a:prstGeom prst="ellipse">
            <a:avLst/>
          </a:prstGeom>
          <a:solidFill>
            <a:srgbClr val="FFFFFF">
              <a:alpha val="12000"/>
            </a:srgbClr>
          </a:solidFill>
          <a:ln w="19050">
            <a:solidFill>
              <a:srgbClr val="CA5010"/>
            </a:solidFill>
            <a:prstDash val="solid"/>
          </a:ln>
        </p:spPr>
      </p:sp>
      <p:sp>
        <p:nvSpPr>
          <p:cNvPr id="19" name="Text 16"/>
          <p:cNvSpPr/>
          <p:nvPr/>
        </p:nvSpPr>
        <p:spPr>
          <a:xfrm>
            <a:off x="4526280" y="2523744"/>
            <a:ext cx="457200" cy="457200"/>
          </a:xfrm>
          <a:prstGeom prst="rect">
            <a:avLst/>
          </a:prstGeom>
          <a:noFill/>
          <a:ln/>
        </p:spPr>
        <p:txBody>
          <a:bodyPr wrap="square" rtlCol="0" anchor="ctr"/>
          <a:lstStyle/>
          <a:p>
            <a:pPr algn="ctr" indent="0" marL="0">
              <a:buNone/>
            </a:pPr>
            <a:r>
              <a:rPr lang="en-US" sz="1600" b="1" dirty="0">
                <a:solidFill>
                  <a:srgbClr val="CA5010"/>
                </a:solidFill>
                <a:latin typeface="Segoe UI" pitchFamily="34" charset="0"/>
                <a:ea typeface="Segoe UI" pitchFamily="34" charset="-122"/>
                <a:cs typeface="Segoe UI" pitchFamily="34" charset="-120"/>
              </a:rPr>
              <a:t>1</a:t>
            </a:r>
            <a:endParaRPr lang="en-US" sz="1600" dirty="0"/>
          </a:p>
        </p:txBody>
      </p:sp>
      <p:sp>
        <p:nvSpPr>
          <p:cNvPr id="20" name="Text 17"/>
          <p:cNvSpPr/>
          <p:nvPr/>
        </p:nvSpPr>
        <p:spPr>
          <a:xfrm>
            <a:off x="5166360" y="250545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Upload the rules &amp; ask it to triage today's inbox</a:t>
            </a:r>
            <a:endParaRPr lang="en-US" sz="1600" dirty="0"/>
          </a:p>
        </p:txBody>
      </p:sp>
      <p:sp>
        <p:nvSpPr>
          <p:cNvPr id="21" name="Text 18"/>
          <p:cNvSpPr/>
          <p:nvPr/>
        </p:nvSpPr>
        <p:spPr>
          <a:xfrm>
            <a:off x="5166360" y="287121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Upload the triage rules md from the reference files and …</a:t>
            </a:r>
            <a:endParaRPr lang="en-US" sz="1300" dirty="0"/>
          </a:p>
        </p:txBody>
      </p:sp>
      <p:sp>
        <p:nvSpPr>
          <p:cNvPr id="22" name="Shape 19"/>
          <p:cNvSpPr/>
          <p:nvPr/>
        </p:nvSpPr>
        <p:spPr>
          <a:xfrm>
            <a:off x="4526280" y="3493008"/>
            <a:ext cx="457200" cy="457200"/>
          </a:xfrm>
          <a:prstGeom prst="ellipse">
            <a:avLst/>
          </a:prstGeom>
          <a:solidFill>
            <a:srgbClr val="FFFFFF">
              <a:alpha val="12000"/>
            </a:srgbClr>
          </a:solidFill>
          <a:ln w="19050">
            <a:solidFill>
              <a:srgbClr val="CA5010"/>
            </a:solidFill>
            <a:prstDash val="solid"/>
          </a:ln>
        </p:spPr>
      </p:sp>
      <p:sp>
        <p:nvSpPr>
          <p:cNvPr id="23" name="Text 20"/>
          <p:cNvSpPr/>
          <p:nvPr/>
        </p:nvSpPr>
        <p:spPr>
          <a:xfrm>
            <a:off x="4526280" y="3493008"/>
            <a:ext cx="457200" cy="457200"/>
          </a:xfrm>
          <a:prstGeom prst="rect">
            <a:avLst/>
          </a:prstGeom>
          <a:noFill/>
          <a:ln/>
        </p:spPr>
        <p:txBody>
          <a:bodyPr wrap="square" rtlCol="0" anchor="ctr"/>
          <a:lstStyle/>
          <a:p>
            <a:pPr algn="ctr" indent="0" marL="0">
              <a:buNone/>
            </a:pPr>
            <a:r>
              <a:rPr lang="en-US" sz="1600" b="1" dirty="0">
                <a:solidFill>
                  <a:srgbClr val="CA5010"/>
                </a:solidFill>
                <a:latin typeface="Segoe UI" pitchFamily="34" charset="0"/>
                <a:ea typeface="Segoe UI" pitchFamily="34" charset="-122"/>
                <a:cs typeface="Segoe UI" pitchFamily="34" charset="-120"/>
              </a:rPr>
              <a:t>2</a:t>
            </a:r>
            <a:endParaRPr lang="en-US" sz="1600" dirty="0"/>
          </a:p>
        </p:txBody>
      </p:sp>
      <p:sp>
        <p:nvSpPr>
          <p:cNvPr id="24" name="Text 21"/>
          <p:cNvSpPr/>
          <p:nvPr/>
        </p:nvSpPr>
        <p:spPr>
          <a:xfrm>
            <a:off x="5166360" y="34747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Watch it read mail &amp; apply rules per message</a:t>
            </a:r>
            <a:endParaRPr lang="en-US" sz="1600" dirty="0"/>
          </a:p>
        </p:txBody>
      </p:sp>
      <p:sp>
        <p:nvSpPr>
          <p:cNvPr id="25" name="Text 22"/>
          <p:cNvSpPr/>
          <p:nvPr/>
        </p:nvSpPr>
        <p:spPr>
          <a:xfrm>
            <a:off x="5166360" y="38404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Expand the thinking trace and watch how it maps each mes…</a:t>
            </a:r>
            <a:endParaRPr lang="en-US" sz="1300" dirty="0"/>
          </a:p>
        </p:txBody>
      </p:sp>
      <p:sp>
        <p:nvSpPr>
          <p:cNvPr id="26" name="Shape 23"/>
          <p:cNvSpPr/>
          <p:nvPr/>
        </p:nvSpPr>
        <p:spPr>
          <a:xfrm>
            <a:off x="4526280" y="4462272"/>
            <a:ext cx="457200" cy="457200"/>
          </a:xfrm>
          <a:prstGeom prst="ellipse">
            <a:avLst/>
          </a:prstGeom>
          <a:solidFill>
            <a:srgbClr val="FFFFFF">
              <a:alpha val="12000"/>
            </a:srgbClr>
          </a:solidFill>
          <a:ln w="19050">
            <a:solidFill>
              <a:srgbClr val="CA5010"/>
            </a:solidFill>
            <a:prstDash val="solid"/>
          </a:ln>
        </p:spPr>
      </p:sp>
      <p:sp>
        <p:nvSpPr>
          <p:cNvPr id="27" name="Text 24"/>
          <p:cNvSpPr/>
          <p:nvPr/>
        </p:nvSpPr>
        <p:spPr>
          <a:xfrm>
            <a:off x="4526280" y="4462272"/>
            <a:ext cx="457200" cy="457200"/>
          </a:xfrm>
          <a:prstGeom prst="rect">
            <a:avLst/>
          </a:prstGeom>
          <a:noFill/>
          <a:ln/>
        </p:spPr>
        <p:txBody>
          <a:bodyPr wrap="square" rtlCol="0" anchor="ctr"/>
          <a:lstStyle/>
          <a:p>
            <a:pPr algn="ctr" indent="0" marL="0">
              <a:buNone/>
            </a:pPr>
            <a:r>
              <a:rPr lang="en-US" sz="1600" b="1" dirty="0">
                <a:solidFill>
                  <a:srgbClr val="CA5010"/>
                </a:solidFill>
                <a:latin typeface="Segoe UI" pitchFamily="34" charset="0"/>
                <a:ea typeface="Segoe UI" pitchFamily="34" charset="-122"/>
                <a:cs typeface="Segoe UI" pitchFamily="34" charset="-120"/>
              </a:rPr>
              <a:t>3</a:t>
            </a:r>
            <a:endParaRPr lang="en-US" sz="1600" dirty="0"/>
          </a:p>
        </p:txBody>
      </p:sp>
      <p:sp>
        <p:nvSpPr>
          <p:cNvPr id="28" name="Text 25"/>
          <p:cNvSpPr/>
          <p:nvPr/>
        </p:nvSpPr>
        <p:spPr>
          <a:xfrm>
            <a:off x="5166360" y="44439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Receive your daily morning brief</a:t>
            </a:r>
            <a:endParaRPr lang="en-US" sz="1600" dirty="0"/>
          </a:p>
        </p:txBody>
      </p:sp>
      <p:sp>
        <p:nvSpPr>
          <p:cNvPr id="29" name="Text 26"/>
          <p:cNvSpPr/>
          <p:nvPr/>
        </p:nvSpPr>
        <p:spPr>
          <a:xfrm>
            <a:off x="5166360" y="48097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Read through your morning brief and check it against the…</a:t>
            </a:r>
            <a:endParaRPr lang="en-US" sz="1300" dirty="0"/>
          </a:p>
        </p:txBody>
      </p:sp>
      <p:sp>
        <p:nvSpPr>
          <p:cNvPr id="30" name="Shape 27"/>
          <p:cNvSpPr/>
          <p:nvPr/>
        </p:nvSpPr>
        <p:spPr>
          <a:xfrm>
            <a:off x="4526280" y="5431536"/>
            <a:ext cx="457200" cy="457200"/>
          </a:xfrm>
          <a:prstGeom prst="ellipse">
            <a:avLst/>
          </a:prstGeom>
          <a:solidFill>
            <a:srgbClr val="FFFFFF">
              <a:alpha val="12000"/>
            </a:srgbClr>
          </a:solidFill>
          <a:ln w="19050">
            <a:solidFill>
              <a:srgbClr val="CA5010"/>
            </a:solidFill>
            <a:prstDash val="solid"/>
          </a:ln>
        </p:spPr>
      </p:sp>
      <p:sp>
        <p:nvSpPr>
          <p:cNvPr id="31" name="Text 28"/>
          <p:cNvSpPr/>
          <p:nvPr/>
        </p:nvSpPr>
        <p:spPr>
          <a:xfrm>
            <a:off x="4526280" y="5431536"/>
            <a:ext cx="457200" cy="457200"/>
          </a:xfrm>
          <a:prstGeom prst="rect">
            <a:avLst/>
          </a:prstGeom>
          <a:noFill/>
          <a:ln/>
        </p:spPr>
        <p:txBody>
          <a:bodyPr wrap="square" rtlCol="0" anchor="ctr"/>
          <a:lstStyle/>
          <a:p>
            <a:pPr algn="ctr" indent="0" marL="0">
              <a:buNone/>
            </a:pPr>
            <a:r>
              <a:rPr lang="en-US" sz="1600" b="1" dirty="0">
                <a:solidFill>
                  <a:srgbClr val="CA5010"/>
                </a:solidFill>
                <a:latin typeface="Segoe UI" pitchFamily="34" charset="0"/>
                <a:ea typeface="Segoe UI" pitchFamily="34" charset="-122"/>
                <a:cs typeface="Segoe UI" pitchFamily="34" charset="-120"/>
              </a:rPr>
              <a:t>4</a:t>
            </a:r>
            <a:endParaRPr lang="en-US" sz="1600" dirty="0"/>
          </a:p>
        </p:txBody>
      </p:sp>
      <p:sp>
        <p:nvSpPr>
          <p:cNvPr id="32" name="Text 29"/>
          <p:cNvSpPr/>
          <p:nvPr/>
        </p:nvSpPr>
        <p:spPr>
          <a:xfrm>
            <a:off x="5166360" y="54132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Put it on a schedule at 08:30 daily</a:t>
            </a:r>
            <a:endParaRPr lang="en-US" sz="1600" dirty="0"/>
          </a:p>
        </p:txBody>
      </p:sp>
      <p:sp>
        <p:nvSpPr>
          <p:cNvPr id="33" name="Text 30"/>
          <p:cNvSpPr/>
          <p:nvPr/>
        </p:nvSpPr>
        <p:spPr>
          <a:xfrm>
            <a:off x="5166360" y="57790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Send the prompt below to hand the whole flow over to a s…</a:t>
            </a:r>
            <a:endParaRPr lang="en-US" sz="1300" dirty="0"/>
          </a:p>
        </p:txBody>
      </p:sp>
      <p:sp>
        <p:nvSpPr>
          <p:cNvPr id="34" name="Text 31"/>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5" name="Text 32"/>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CA5010"/>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CA5010"/>
                </a:solidFill>
                <a:latin typeface="Segoe UI" pitchFamily="34" charset="0"/>
                <a:ea typeface="Segoe UI" pitchFamily="34" charset="-122"/>
                <a:cs typeface="Segoe UI" pitchFamily="34" charset="-120"/>
              </a:rPr>
              <a:t>Scenario 01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s1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CA5010"/>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s1_04_schedule_done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CA5010"/>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CA5010"/>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[Operation] Triage-rules md was uploaded and Cowork read your actual inbox</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[Judgment] At most 3 emails are flagged ⭐ and it can name the rule it applied to each</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[Output] The morning brief has all five sections from part 4 of your rules (focus / meetings / must-reply / waiting on / reminders)</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0067B8"/>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0067B8"/>
                </a:solidFill>
                <a:latin typeface="Segoe UI" pitchFamily="34" charset="0"/>
                <a:ea typeface="Segoe UI" pitchFamily="34" charset="-122"/>
                <a:cs typeface="Segoe UI" pitchFamily="34" charset="-120"/>
              </a:rPr>
              <a:t>Scenario 02</a:t>
            </a:r>
            <a:endParaRPr lang="en-US" sz="1400" dirty="0"/>
          </a:p>
        </p:txBody>
      </p:sp>
      <p:sp>
        <p:nvSpPr>
          <p:cNvPr id="5" name="Shape 3"/>
          <p:cNvSpPr/>
          <p:nvPr/>
        </p:nvSpPr>
        <p:spPr>
          <a:xfrm>
            <a:off x="502920" y="1143000"/>
            <a:ext cx="1097280" cy="1097280"/>
          </a:xfrm>
          <a:prstGeom prst="ellipse">
            <a:avLst/>
          </a:prstGeom>
          <a:solidFill>
            <a:srgbClr val="0067B8"/>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Sales / Pre-sales</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Client Visit End-to-End</a:t>
            </a:r>
            <a:endParaRPr lang="en-US" sz="30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~12 min · Level ★☆☆</a:t>
            </a:r>
            <a:endParaRPr lang="en-US" sz="1300" dirty="0"/>
          </a:p>
        </p:txBody>
      </p:sp>
      <p:sp>
        <p:nvSpPr>
          <p:cNvPr id="10" name="Shape 7"/>
          <p:cNvSpPr/>
          <p:nvPr/>
        </p:nvSpPr>
        <p:spPr>
          <a:xfrm>
            <a:off x="502920" y="4572000"/>
            <a:ext cx="713232" cy="402336"/>
          </a:xfrm>
          <a:prstGeom prst="roundRect">
            <a:avLst>
              <a:gd name="adj" fmla="val 50000"/>
            </a:avLst>
          </a:prstGeom>
          <a:solidFill>
            <a:srgbClr val="2B579A"/>
          </a:solidFill>
          <a:ln/>
        </p:spPr>
      </p:sp>
      <p:sp>
        <p:nvSpPr>
          <p:cNvPr id="11" name="Text 8"/>
          <p:cNvSpPr/>
          <p:nvPr/>
        </p:nvSpPr>
        <p:spPr>
          <a:xfrm>
            <a:off x="502920" y="4572000"/>
            <a:ext cx="713232"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Word</a:t>
            </a:r>
            <a:endParaRPr lang="en-US" sz="1200" dirty="0"/>
          </a:p>
        </p:txBody>
      </p:sp>
      <p:sp>
        <p:nvSpPr>
          <p:cNvPr id="12" name="Shape 9"/>
          <p:cNvSpPr/>
          <p:nvPr/>
        </p:nvSpPr>
        <p:spPr>
          <a:xfrm>
            <a:off x="1399032" y="4572000"/>
            <a:ext cx="813816" cy="402336"/>
          </a:xfrm>
          <a:prstGeom prst="roundRect">
            <a:avLst>
              <a:gd name="adj" fmla="val 50000"/>
            </a:avLst>
          </a:prstGeom>
          <a:solidFill>
            <a:srgbClr val="6366F1"/>
          </a:solidFill>
          <a:ln/>
        </p:spPr>
      </p:sp>
      <p:sp>
        <p:nvSpPr>
          <p:cNvPr id="13" name="Text 10"/>
          <p:cNvSpPr/>
          <p:nvPr/>
        </p:nvSpPr>
        <p:spPr>
          <a:xfrm>
            <a:off x="1399032"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Email</a:t>
            </a:r>
            <a:endParaRPr lang="en-US" sz="1200" dirty="0"/>
          </a:p>
        </p:txBody>
      </p:sp>
      <p:sp>
        <p:nvSpPr>
          <p:cNvPr id="14" name="Shape 11"/>
          <p:cNvSpPr/>
          <p:nvPr/>
        </p:nvSpPr>
        <p:spPr>
          <a:xfrm>
            <a:off x="2395728" y="4572000"/>
            <a:ext cx="1316736" cy="402336"/>
          </a:xfrm>
          <a:prstGeom prst="roundRect">
            <a:avLst>
              <a:gd name="adj" fmla="val 50000"/>
            </a:avLst>
          </a:prstGeom>
          <a:solidFill>
            <a:srgbClr val="6366F1"/>
          </a:solidFill>
          <a:ln/>
        </p:spPr>
      </p:sp>
      <p:sp>
        <p:nvSpPr>
          <p:cNvPr id="15" name="Text 12"/>
          <p:cNvSpPr/>
          <p:nvPr/>
        </p:nvSpPr>
        <p:spPr>
          <a:xfrm>
            <a:off x="2395728" y="4572000"/>
            <a:ext cx="131673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Scheduling</a:t>
            </a:r>
            <a:endParaRPr lang="en-US" sz="1200" dirty="0"/>
          </a:p>
        </p:txBody>
      </p:sp>
      <p:sp>
        <p:nvSpPr>
          <p:cNvPr id="16" name="Shape 13"/>
          <p:cNvSpPr/>
          <p:nvPr/>
        </p:nvSpPr>
        <p:spPr>
          <a:xfrm>
            <a:off x="502920" y="5074920"/>
            <a:ext cx="2221992" cy="402336"/>
          </a:xfrm>
          <a:prstGeom prst="roundRect">
            <a:avLst>
              <a:gd name="adj" fmla="val 50000"/>
            </a:avLst>
          </a:prstGeom>
          <a:solidFill>
            <a:srgbClr val="6366F1"/>
          </a:solidFill>
          <a:ln/>
        </p:spPr>
      </p:sp>
      <p:sp>
        <p:nvSpPr>
          <p:cNvPr id="17" name="Text 14"/>
          <p:cNvSpPr/>
          <p:nvPr/>
        </p:nvSpPr>
        <p:spPr>
          <a:xfrm>
            <a:off x="502920" y="5074920"/>
            <a:ext cx="2221992"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Calendar Management</a:t>
            </a:r>
            <a:endParaRPr lang="en-US" sz="1200" dirty="0"/>
          </a:p>
        </p:txBody>
      </p:sp>
      <p:sp>
        <p:nvSpPr>
          <p:cNvPr id="18" name="Text 15"/>
          <p:cNvSpPr/>
          <p:nvPr/>
        </p:nvSpPr>
        <p:spPr>
          <a:xfrm>
            <a:off x="4526280" y="566928"/>
            <a:ext cx="7132320" cy="1371600"/>
          </a:xfrm>
          <a:prstGeom prst="rect">
            <a:avLst/>
          </a:prstGeom>
          <a:noFill/>
          <a:ln/>
        </p:spPr>
        <p:txBody>
          <a:bodyPr wrap="square" rtlCol="0" anchor="t"/>
          <a:lstStyle/>
          <a:p>
            <a:pPr indent="0" marL="0">
              <a:lnSpc>
                <a:spcPct val="130000"/>
              </a:lnSpc>
              <a:buNone/>
            </a:pPr>
            <a:r>
              <a:rPr lang="en-US" sz="1500" dirty="0">
                <a:solidFill>
                  <a:srgbClr val="D7D9F0"/>
                </a:solidFill>
                <a:latin typeface="Segoe UI" pitchFamily="34" charset="0"/>
                <a:ea typeface="Segoe UI" pitchFamily="34" charset="-122"/>
                <a:cs typeface="Segoe UI" pitchFamily="34" charset="-120"/>
              </a:rPr>
              <a:t>Start from a single client background file: let Cowork auto-generate a pre-meeting brief, draft the follow-up email after the meeting and send it once you approve, then put the next meeting straight into the calendar — prep, wrap-up and next step in one run.</a:t>
            </a:r>
            <a:endParaRPr lang="en-US" sz="1500" dirty="0"/>
          </a:p>
        </p:txBody>
      </p:sp>
      <p:sp>
        <p:nvSpPr>
          <p:cNvPr id="19" name="Text 16"/>
          <p:cNvSpPr/>
          <p:nvPr/>
        </p:nvSpPr>
        <p:spPr>
          <a:xfrm>
            <a:off x="4526280" y="2066544"/>
            <a:ext cx="7132320" cy="365760"/>
          </a:xfrm>
          <a:prstGeom prst="rect">
            <a:avLst/>
          </a:prstGeom>
          <a:noFill/>
          <a:ln/>
        </p:spPr>
        <p:txBody>
          <a:bodyPr wrap="square" rtlCol="0" anchor="ctr"/>
          <a:lstStyle/>
          <a:p>
            <a:pPr indent="0" marL="0">
              <a:buNone/>
            </a:pPr>
            <a:r>
              <a:rPr lang="en-US" sz="1500" b="1" dirty="0">
                <a:solidFill>
                  <a:srgbClr val="0067B8"/>
                </a:solidFill>
                <a:latin typeface="Segoe UI" pitchFamily="34" charset="0"/>
                <a:ea typeface="Segoe UI" pitchFamily="34" charset="-122"/>
                <a:cs typeface="Segoe UI" pitchFamily="34" charset="-120"/>
              </a:rPr>
              <a:t>Agentic workflow</a:t>
            </a:r>
            <a:endParaRPr lang="en-US" sz="1500" dirty="0"/>
          </a:p>
        </p:txBody>
      </p:sp>
      <p:sp>
        <p:nvSpPr>
          <p:cNvPr id="20" name="Shape 17"/>
          <p:cNvSpPr/>
          <p:nvPr/>
        </p:nvSpPr>
        <p:spPr>
          <a:xfrm>
            <a:off x="4526280" y="2523744"/>
            <a:ext cx="457200" cy="457200"/>
          </a:xfrm>
          <a:prstGeom prst="ellipse">
            <a:avLst/>
          </a:prstGeom>
          <a:solidFill>
            <a:srgbClr val="FFFFFF">
              <a:alpha val="12000"/>
            </a:srgbClr>
          </a:solidFill>
          <a:ln w="19050">
            <a:solidFill>
              <a:srgbClr val="0067B8"/>
            </a:solidFill>
            <a:prstDash val="solid"/>
          </a:ln>
        </p:spPr>
      </p:sp>
      <p:sp>
        <p:nvSpPr>
          <p:cNvPr id="21" name="Text 18"/>
          <p:cNvSpPr/>
          <p:nvPr/>
        </p:nvSpPr>
        <p:spPr>
          <a:xfrm>
            <a:off x="4526280" y="2523744"/>
            <a:ext cx="457200" cy="457200"/>
          </a:xfrm>
          <a:prstGeom prst="rect">
            <a:avLst/>
          </a:prstGeom>
          <a:noFill/>
          <a:ln/>
        </p:spPr>
        <p:txBody>
          <a:bodyPr wrap="square" rtlCol="0" anchor="ctr"/>
          <a:lstStyle/>
          <a:p>
            <a:pPr algn="ctr" indent="0" marL="0">
              <a:buNone/>
            </a:pPr>
            <a:r>
              <a:rPr lang="en-US" sz="1600" b="1" dirty="0">
                <a:solidFill>
                  <a:srgbClr val="0067B8"/>
                </a:solidFill>
                <a:latin typeface="Segoe UI" pitchFamily="34" charset="0"/>
                <a:ea typeface="Segoe UI" pitchFamily="34" charset="-122"/>
                <a:cs typeface="Segoe UI" pitchFamily="34" charset="-120"/>
              </a:rPr>
              <a:t>1</a:t>
            </a:r>
            <a:endParaRPr lang="en-US" sz="1600" dirty="0"/>
          </a:p>
        </p:txBody>
      </p:sp>
      <p:sp>
        <p:nvSpPr>
          <p:cNvPr id="22" name="Text 19"/>
          <p:cNvSpPr/>
          <p:nvPr/>
        </p:nvSpPr>
        <p:spPr>
          <a:xfrm>
            <a:off x="5166360" y="250545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Upload the background file &amp; give the instruction</a:t>
            </a:r>
            <a:endParaRPr lang="en-US" sz="1600" dirty="0"/>
          </a:p>
        </p:txBody>
      </p:sp>
      <p:sp>
        <p:nvSpPr>
          <p:cNvPr id="23" name="Text 20"/>
          <p:cNvSpPr/>
          <p:nvPr/>
        </p:nvSpPr>
        <p:spPr>
          <a:xfrm>
            <a:off x="5166360" y="287121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Click the attachment button and upload the client backgr…</a:t>
            </a:r>
            <a:endParaRPr lang="en-US" sz="1300" dirty="0"/>
          </a:p>
        </p:txBody>
      </p:sp>
      <p:sp>
        <p:nvSpPr>
          <p:cNvPr id="24" name="Shape 21"/>
          <p:cNvSpPr/>
          <p:nvPr/>
        </p:nvSpPr>
        <p:spPr>
          <a:xfrm>
            <a:off x="4526280" y="3493008"/>
            <a:ext cx="457200" cy="457200"/>
          </a:xfrm>
          <a:prstGeom prst="ellipse">
            <a:avLst/>
          </a:prstGeom>
          <a:solidFill>
            <a:srgbClr val="FFFFFF">
              <a:alpha val="12000"/>
            </a:srgbClr>
          </a:solidFill>
          <a:ln w="19050">
            <a:solidFill>
              <a:srgbClr val="0067B8"/>
            </a:solidFill>
            <a:prstDash val="solid"/>
          </a:ln>
        </p:spPr>
      </p:sp>
      <p:sp>
        <p:nvSpPr>
          <p:cNvPr id="25" name="Text 22"/>
          <p:cNvSpPr/>
          <p:nvPr/>
        </p:nvSpPr>
        <p:spPr>
          <a:xfrm>
            <a:off x="4526280" y="3493008"/>
            <a:ext cx="457200" cy="457200"/>
          </a:xfrm>
          <a:prstGeom prst="rect">
            <a:avLst/>
          </a:prstGeom>
          <a:noFill/>
          <a:ln/>
        </p:spPr>
        <p:txBody>
          <a:bodyPr wrap="square" rtlCol="0" anchor="ctr"/>
          <a:lstStyle/>
          <a:p>
            <a:pPr algn="ctr" indent="0" marL="0">
              <a:buNone/>
            </a:pPr>
            <a:r>
              <a:rPr lang="en-US" sz="1600" b="1" dirty="0">
                <a:solidFill>
                  <a:srgbClr val="0067B8"/>
                </a:solidFill>
                <a:latin typeface="Segoe UI" pitchFamily="34" charset="0"/>
                <a:ea typeface="Segoe UI" pitchFamily="34" charset="-122"/>
                <a:cs typeface="Segoe UI" pitchFamily="34" charset="-120"/>
              </a:rPr>
              <a:t>2</a:t>
            </a:r>
            <a:endParaRPr lang="en-US" sz="1600" dirty="0"/>
          </a:p>
        </p:txBody>
      </p:sp>
      <p:sp>
        <p:nvSpPr>
          <p:cNvPr id="26" name="Text 23"/>
          <p:cNvSpPr/>
          <p:nvPr/>
        </p:nvSpPr>
        <p:spPr>
          <a:xfrm>
            <a:off x="5166360" y="34747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Watch the agentic workflow &amp; output</a:t>
            </a:r>
            <a:endParaRPr lang="en-US" sz="1600" dirty="0"/>
          </a:p>
        </p:txBody>
      </p:sp>
      <p:sp>
        <p:nvSpPr>
          <p:cNvPr id="27" name="Text 24"/>
          <p:cNvSpPr/>
          <p:nvPr/>
        </p:nvSpPr>
        <p:spPr>
          <a:xfrm>
            <a:off x="5166360" y="38404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Expand the Workspace panel and watch the self-validation…</a:t>
            </a:r>
            <a:endParaRPr lang="en-US" sz="1300" dirty="0"/>
          </a:p>
        </p:txBody>
      </p:sp>
      <p:sp>
        <p:nvSpPr>
          <p:cNvPr id="28" name="Shape 25"/>
          <p:cNvSpPr/>
          <p:nvPr/>
        </p:nvSpPr>
        <p:spPr>
          <a:xfrm>
            <a:off x="4526280" y="4462272"/>
            <a:ext cx="457200" cy="457200"/>
          </a:xfrm>
          <a:prstGeom prst="ellipse">
            <a:avLst/>
          </a:prstGeom>
          <a:solidFill>
            <a:srgbClr val="FFFFFF">
              <a:alpha val="12000"/>
            </a:srgbClr>
          </a:solidFill>
          <a:ln w="19050">
            <a:solidFill>
              <a:srgbClr val="0067B8"/>
            </a:solidFill>
            <a:prstDash val="solid"/>
          </a:ln>
        </p:spPr>
      </p:sp>
      <p:sp>
        <p:nvSpPr>
          <p:cNvPr id="29" name="Text 26"/>
          <p:cNvSpPr/>
          <p:nvPr/>
        </p:nvSpPr>
        <p:spPr>
          <a:xfrm>
            <a:off x="4526280" y="4462272"/>
            <a:ext cx="457200" cy="457200"/>
          </a:xfrm>
          <a:prstGeom prst="rect">
            <a:avLst/>
          </a:prstGeom>
          <a:noFill/>
          <a:ln/>
        </p:spPr>
        <p:txBody>
          <a:bodyPr wrap="square" rtlCol="0" anchor="ctr"/>
          <a:lstStyle/>
          <a:p>
            <a:pPr algn="ctr" indent="0" marL="0">
              <a:buNone/>
            </a:pPr>
            <a:r>
              <a:rPr lang="en-US" sz="1600" b="1" dirty="0">
                <a:solidFill>
                  <a:srgbClr val="0067B8"/>
                </a:solidFill>
                <a:latin typeface="Segoe UI" pitchFamily="34" charset="0"/>
                <a:ea typeface="Segoe UI" pitchFamily="34" charset="-122"/>
                <a:cs typeface="Segoe UI" pitchFamily="34" charset="-120"/>
              </a:rPr>
              <a:t>3</a:t>
            </a:r>
            <a:endParaRPr lang="en-US" sz="1600" dirty="0"/>
          </a:p>
        </p:txBody>
      </p:sp>
      <p:sp>
        <p:nvSpPr>
          <p:cNvPr id="30" name="Text 27"/>
          <p:cNvSpPr/>
          <p:nvPr/>
        </p:nvSpPr>
        <p:spPr>
          <a:xfrm>
            <a:off x="5166360" y="44439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After: draft the follow-up &amp; approve to send</a:t>
            </a:r>
            <a:endParaRPr lang="en-US" sz="1600" dirty="0"/>
          </a:p>
        </p:txBody>
      </p:sp>
      <p:sp>
        <p:nvSpPr>
          <p:cNvPr id="31" name="Text 28"/>
          <p:cNvSpPr/>
          <p:nvPr/>
        </p:nvSpPr>
        <p:spPr>
          <a:xfrm>
            <a:off x="5166360" y="48097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Confirm the Word brief draft looks right, then send the …</a:t>
            </a:r>
            <a:endParaRPr lang="en-US" sz="1300" dirty="0"/>
          </a:p>
        </p:txBody>
      </p:sp>
      <p:sp>
        <p:nvSpPr>
          <p:cNvPr id="32" name="Shape 29"/>
          <p:cNvSpPr/>
          <p:nvPr/>
        </p:nvSpPr>
        <p:spPr>
          <a:xfrm>
            <a:off x="4526280" y="5431536"/>
            <a:ext cx="457200" cy="457200"/>
          </a:xfrm>
          <a:prstGeom prst="ellipse">
            <a:avLst/>
          </a:prstGeom>
          <a:solidFill>
            <a:srgbClr val="FFFFFF">
              <a:alpha val="12000"/>
            </a:srgbClr>
          </a:solidFill>
          <a:ln w="19050">
            <a:solidFill>
              <a:srgbClr val="0067B8"/>
            </a:solidFill>
            <a:prstDash val="solid"/>
          </a:ln>
        </p:spPr>
      </p:sp>
      <p:sp>
        <p:nvSpPr>
          <p:cNvPr id="33" name="Text 30"/>
          <p:cNvSpPr/>
          <p:nvPr/>
        </p:nvSpPr>
        <p:spPr>
          <a:xfrm>
            <a:off x="4526280" y="5431536"/>
            <a:ext cx="457200" cy="457200"/>
          </a:xfrm>
          <a:prstGeom prst="rect">
            <a:avLst/>
          </a:prstGeom>
          <a:noFill/>
          <a:ln/>
        </p:spPr>
        <p:txBody>
          <a:bodyPr wrap="square" rtlCol="0" anchor="ctr"/>
          <a:lstStyle/>
          <a:p>
            <a:pPr algn="ctr" indent="0" marL="0">
              <a:buNone/>
            </a:pPr>
            <a:r>
              <a:rPr lang="en-US" sz="1600" b="1" dirty="0">
                <a:solidFill>
                  <a:srgbClr val="0067B8"/>
                </a:solidFill>
                <a:latin typeface="Segoe UI" pitchFamily="34" charset="0"/>
                <a:ea typeface="Segoe UI" pitchFamily="34" charset="-122"/>
                <a:cs typeface="Segoe UI" pitchFamily="34" charset="-120"/>
              </a:rPr>
              <a:t>4</a:t>
            </a:r>
            <a:endParaRPr lang="en-US" sz="1600" dirty="0"/>
          </a:p>
        </p:txBody>
      </p:sp>
      <p:sp>
        <p:nvSpPr>
          <p:cNvPr id="34" name="Text 31"/>
          <p:cNvSpPr/>
          <p:nvPr/>
        </p:nvSpPr>
        <p:spPr>
          <a:xfrm>
            <a:off x="5166360" y="54132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Put the next meeting on the calendar</a:t>
            </a:r>
            <a:endParaRPr lang="en-US" sz="1600" dirty="0"/>
          </a:p>
        </p:txBody>
      </p:sp>
      <p:sp>
        <p:nvSpPr>
          <p:cNvPr id="35" name="Text 32"/>
          <p:cNvSpPr/>
          <p:nvPr/>
        </p:nvSpPr>
        <p:spPr>
          <a:xfrm>
            <a:off x="5166360" y="57790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With the follow-up sent, send the prompt below so the ne…</a:t>
            </a:r>
            <a:endParaRPr lang="en-US" sz="1300" dirty="0"/>
          </a:p>
        </p:txBody>
      </p:sp>
      <p:sp>
        <p:nvSpPr>
          <p:cNvPr id="36" name="Text 3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7" name="Text 3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0067B8"/>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0067B8"/>
                </a:solidFill>
                <a:latin typeface="Segoe UI" pitchFamily="34" charset="0"/>
                <a:ea typeface="Segoe UI" pitchFamily="34" charset="-122"/>
                <a:cs typeface="Segoe UI" pitchFamily="34" charset="-120"/>
              </a:rPr>
              <a:t>Scenario 02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s2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0067B8"/>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s2_07_meeting_done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0067B8"/>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0067B8"/>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[Operation] Client background docx was uploaded</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[Output] Word pre-meeting brief has four sections matching the background</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[Judgment] You asked whether it found contradictions or gaps, and confirmed the final version is correct</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0A8F5B"/>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0A8F5B"/>
                </a:solidFill>
                <a:latin typeface="Segoe UI" pitchFamily="34" charset="0"/>
                <a:ea typeface="Segoe UI" pitchFamily="34" charset="-122"/>
                <a:cs typeface="Segoe UI" pitchFamily="34" charset="-120"/>
              </a:rPr>
              <a:t>Scenario 03</a:t>
            </a:r>
            <a:endParaRPr lang="en-US" sz="1400" dirty="0"/>
          </a:p>
        </p:txBody>
      </p:sp>
      <p:sp>
        <p:nvSpPr>
          <p:cNvPr id="5" name="Shape 3"/>
          <p:cNvSpPr/>
          <p:nvPr/>
        </p:nvSpPr>
        <p:spPr>
          <a:xfrm>
            <a:off x="502920" y="1143000"/>
            <a:ext cx="1097280" cy="1097280"/>
          </a:xfrm>
          <a:prstGeom prst="ellipse">
            <a:avLst/>
          </a:prstGeom>
          <a:solidFill>
            <a:srgbClr val="0A8F5B"/>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Data / Operations</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700" b="1" dirty="0">
                <a:solidFill>
                  <a:srgbClr val="FFFFFF"/>
                </a:solidFill>
                <a:latin typeface="Segoe UI" pitchFamily="34" charset="0"/>
                <a:ea typeface="Segoe UI" pitchFamily="34" charset="-122"/>
                <a:cs typeface="Segoe UI" pitchFamily="34" charset="-120"/>
              </a:rPr>
              <a:t>Multi-Format Sales Analysis</a:t>
            </a:r>
            <a:endParaRPr lang="en-US" sz="27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~10 min · Level ★☆☆</a:t>
            </a:r>
            <a:endParaRPr lang="en-US" sz="1300" dirty="0"/>
          </a:p>
        </p:txBody>
      </p:sp>
      <p:sp>
        <p:nvSpPr>
          <p:cNvPr id="10" name="Shape 7"/>
          <p:cNvSpPr/>
          <p:nvPr/>
        </p:nvSpPr>
        <p:spPr>
          <a:xfrm>
            <a:off x="502920" y="4572000"/>
            <a:ext cx="813816" cy="402336"/>
          </a:xfrm>
          <a:prstGeom prst="roundRect">
            <a:avLst>
              <a:gd name="adj" fmla="val 50000"/>
            </a:avLst>
          </a:prstGeom>
          <a:solidFill>
            <a:srgbClr val="217346"/>
          </a:solidFill>
          <a:ln/>
        </p:spPr>
      </p:sp>
      <p:sp>
        <p:nvSpPr>
          <p:cNvPr id="11" name="Text 8"/>
          <p:cNvSpPr/>
          <p:nvPr/>
        </p:nvSpPr>
        <p:spPr>
          <a:xfrm>
            <a:off x="502920"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Excel</a:t>
            </a:r>
            <a:endParaRPr lang="en-US" sz="1200" dirty="0"/>
          </a:p>
        </p:txBody>
      </p:sp>
      <p:sp>
        <p:nvSpPr>
          <p:cNvPr id="12" name="Shape 9"/>
          <p:cNvSpPr/>
          <p:nvPr/>
        </p:nvSpPr>
        <p:spPr>
          <a:xfrm>
            <a:off x="1499616" y="4572000"/>
            <a:ext cx="1719072" cy="402336"/>
          </a:xfrm>
          <a:prstGeom prst="roundRect">
            <a:avLst>
              <a:gd name="adj" fmla="val 50000"/>
            </a:avLst>
          </a:prstGeom>
          <a:solidFill>
            <a:srgbClr val="6366F1"/>
          </a:solidFill>
          <a:ln/>
        </p:spPr>
      </p:sp>
      <p:sp>
        <p:nvSpPr>
          <p:cNvPr id="13" name="Text 10"/>
          <p:cNvSpPr/>
          <p:nvPr/>
        </p:nvSpPr>
        <p:spPr>
          <a:xfrm>
            <a:off x="1499616" y="4572000"/>
            <a:ext cx="1719072"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Adaptive Cards</a:t>
            </a:r>
            <a:endParaRPr lang="en-US" sz="1200" dirty="0"/>
          </a:p>
        </p:txBody>
      </p:sp>
      <p:sp>
        <p:nvSpPr>
          <p:cNvPr id="14" name="Shape 11"/>
          <p:cNvSpPr/>
          <p:nvPr/>
        </p:nvSpPr>
        <p:spPr>
          <a:xfrm>
            <a:off x="502920" y="5074920"/>
            <a:ext cx="612648" cy="402336"/>
          </a:xfrm>
          <a:prstGeom prst="roundRect">
            <a:avLst>
              <a:gd name="adj" fmla="val 50000"/>
            </a:avLst>
          </a:prstGeom>
          <a:solidFill>
            <a:srgbClr val="6366F1"/>
          </a:solidFill>
          <a:ln/>
        </p:spPr>
      </p:sp>
      <p:sp>
        <p:nvSpPr>
          <p:cNvPr id="15" name="Text 12"/>
          <p:cNvSpPr/>
          <p:nvPr/>
        </p:nvSpPr>
        <p:spPr>
          <a:xfrm>
            <a:off x="502920" y="5074920"/>
            <a:ext cx="612648"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PDF</a:t>
            </a:r>
            <a:endParaRPr lang="en-US" sz="1200" dirty="0"/>
          </a:p>
        </p:txBody>
      </p:sp>
      <p:sp>
        <p:nvSpPr>
          <p:cNvPr id="16" name="Text 13"/>
          <p:cNvSpPr/>
          <p:nvPr/>
        </p:nvSpPr>
        <p:spPr>
          <a:xfrm>
            <a:off x="4526280" y="566928"/>
            <a:ext cx="7132320" cy="1645920"/>
          </a:xfrm>
          <a:prstGeom prst="rect">
            <a:avLst/>
          </a:prstGeom>
          <a:noFill/>
          <a:ln/>
        </p:spPr>
        <p:txBody>
          <a:bodyPr wrap="square" rtlCol="0" anchor="t"/>
          <a:lstStyle/>
          <a:p>
            <a:pPr indent="0" marL="0">
              <a:lnSpc>
                <a:spcPct val="130000"/>
              </a:lnSpc>
              <a:buNone/>
            </a:pPr>
            <a:r>
              <a:rPr lang="en-US" sz="1500" dirty="0">
                <a:solidFill>
                  <a:srgbClr val="D7D9F0"/>
                </a:solidFill>
                <a:latin typeface="Segoe UI" pitchFamily="34" charset="0"/>
                <a:ea typeface="Segoe UI" pitchFamily="34" charset="-122"/>
                <a:cs typeface="Segoe UI" pitchFamily="34" charset="-120"/>
              </a:rPr>
              <a:t>Hand Cowork a raw sales ledger and let it auto-compute pivot summaries, wire up live formulas, flag best and worst performers, and write the key findings — then turn the top three into an interactive card you can read right in the conversation and a PDF you can forward as-is. One analysis, three ways to share it.</a:t>
            </a:r>
            <a:endParaRPr lang="en-US" sz="1500" dirty="0"/>
          </a:p>
        </p:txBody>
      </p:sp>
      <p:sp>
        <p:nvSpPr>
          <p:cNvPr id="17" name="Text 14"/>
          <p:cNvSpPr/>
          <p:nvPr/>
        </p:nvSpPr>
        <p:spPr>
          <a:xfrm>
            <a:off x="4526280" y="2340864"/>
            <a:ext cx="7132320" cy="365760"/>
          </a:xfrm>
          <a:prstGeom prst="rect">
            <a:avLst/>
          </a:prstGeom>
          <a:noFill/>
          <a:ln/>
        </p:spPr>
        <p:txBody>
          <a:bodyPr wrap="square" rtlCol="0" anchor="ctr"/>
          <a:lstStyle/>
          <a:p>
            <a:pPr indent="0" marL="0">
              <a:buNone/>
            </a:pPr>
            <a:r>
              <a:rPr lang="en-US" sz="1500" b="1" dirty="0">
                <a:solidFill>
                  <a:srgbClr val="0A8F5B"/>
                </a:solidFill>
                <a:latin typeface="Segoe UI" pitchFamily="34" charset="0"/>
                <a:ea typeface="Segoe UI" pitchFamily="34" charset="-122"/>
                <a:cs typeface="Segoe UI" pitchFamily="34" charset="-120"/>
              </a:rPr>
              <a:t>Agentic workflow</a:t>
            </a:r>
            <a:endParaRPr lang="en-US" sz="1500" dirty="0"/>
          </a:p>
        </p:txBody>
      </p:sp>
      <p:sp>
        <p:nvSpPr>
          <p:cNvPr id="18" name="Shape 15"/>
          <p:cNvSpPr/>
          <p:nvPr/>
        </p:nvSpPr>
        <p:spPr>
          <a:xfrm>
            <a:off x="4526280" y="2798064"/>
            <a:ext cx="457200" cy="457200"/>
          </a:xfrm>
          <a:prstGeom prst="ellipse">
            <a:avLst/>
          </a:prstGeom>
          <a:solidFill>
            <a:srgbClr val="FFFFFF">
              <a:alpha val="12000"/>
            </a:srgbClr>
          </a:solidFill>
          <a:ln w="19050">
            <a:solidFill>
              <a:srgbClr val="0A8F5B"/>
            </a:solidFill>
            <a:prstDash val="solid"/>
          </a:ln>
        </p:spPr>
      </p:sp>
      <p:sp>
        <p:nvSpPr>
          <p:cNvPr id="19" name="Text 16"/>
          <p:cNvSpPr/>
          <p:nvPr/>
        </p:nvSpPr>
        <p:spPr>
          <a:xfrm>
            <a:off x="4526280" y="2798064"/>
            <a:ext cx="457200" cy="457200"/>
          </a:xfrm>
          <a:prstGeom prst="rect">
            <a:avLst/>
          </a:prstGeom>
          <a:noFill/>
          <a:ln/>
        </p:spPr>
        <p:txBody>
          <a:bodyPr wrap="square" rtlCol="0" anchor="ctr"/>
          <a:lstStyle/>
          <a:p>
            <a:pPr algn="ctr" indent="0" marL="0">
              <a:buNone/>
            </a:pPr>
            <a:r>
              <a:rPr lang="en-US" sz="1600" b="1" dirty="0">
                <a:solidFill>
                  <a:srgbClr val="0A8F5B"/>
                </a:solidFill>
                <a:latin typeface="Segoe UI" pitchFamily="34" charset="0"/>
                <a:ea typeface="Segoe UI" pitchFamily="34" charset="-122"/>
                <a:cs typeface="Segoe UI" pitchFamily="34" charset="-120"/>
              </a:rPr>
              <a:t>1</a:t>
            </a:r>
            <a:endParaRPr lang="en-US" sz="1600" dirty="0"/>
          </a:p>
        </p:txBody>
      </p:sp>
      <p:sp>
        <p:nvSpPr>
          <p:cNvPr id="20" name="Text 17"/>
          <p:cNvSpPr/>
          <p:nvPr/>
        </p:nvSpPr>
        <p:spPr>
          <a:xfrm>
            <a:off x="5166360" y="277977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Upload the data &amp; spell out the analysis</a:t>
            </a:r>
            <a:endParaRPr lang="en-US" sz="1600" dirty="0"/>
          </a:p>
        </p:txBody>
      </p:sp>
      <p:sp>
        <p:nvSpPr>
          <p:cNvPr id="21" name="Text 18"/>
          <p:cNvSpPr/>
          <p:nvPr/>
        </p:nvSpPr>
        <p:spPr>
          <a:xfrm>
            <a:off x="5166360" y="314553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Upload the raw sales xlsx from the reference files and s…</a:t>
            </a:r>
            <a:endParaRPr lang="en-US" sz="1300" dirty="0"/>
          </a:p>
        </p:txBody>
      </p:sp>
      <p:sp>
        <p:nvSpPr>
          <p:cNvPr id="22" name="Shape 19"/>
          <p:cNvSpPr/>
          <p:nvPr/>
        </p:nvSpPr>
        <p:spPr>
          <a:xfrm>
            <a:off x="4526280" y="3715512"/>
            <a:ext cx="457200" cy="457200"/>
          </a:xfrm>
          <a:prstGeom prst="ellipse">
            <a:avLst/>
          </a:prstGeom>
          <a:solidFill>
            <a:srgbClr val="FFFFFF">
              <a:alpha val="12000"/>
            </a:srgbClr>
          </a:solidFill>
          <a:ln w="19050">
            <a:solidFill>
              <a:srgbClr val="0A8F5B"/>
            </a:solidFill>
            <a:prstDash val="solid"/>
          </a:ln>
        </p:spPr>
      </p:sp>
      <p:sp>
        <p:nvSpPr>
          <p:cNvPr id="23" name="Text 20"/>
          <p:cNvSpPr/>
          <p:nvPr/>
        </p:nvSpPr>
        <p:spPr>
          <a:xfrm>
            <a:off x="4526280" y="3715512"/>
            <a:ext cx="457200" cy="457200"/>
          </a:xfrm>
          <a:prstGeom prst="rect">
            <a:avLst/>
          </a:prstGeom>
          <a:noFill/>
          <a:ln/>
        </p:spPr>
        <p:txBody>
          <a:bodyPr wrap="square" rtlCol="0" anchor="ctr"/>
          <a:lstStyle/>
          <a:p>
            <a:pPr algn="ctr" indent="0" marL="0">
              <a:buNone/>
            </a:pPr>
            <a:r>
              <a:rPr lang="en-US" sz="1600" b="1" dirty="0">
                <a:solidFill>
                  <a:srgbClr val="0A8F5B"/>
                </a:solidFill>
                <a:latin typeface="Segoe UI" pitchFamily="34" charset="0"/>
                <a:ea typeface="Segoe UI" pitchFamily="34" charset="-122"/>
                <a:cs typeface="Segoe UI" pitchFamily="34" charset="-120"/>
              </a:rPr>
              <a:t>2</a:t>
            </a:r>
            <a:endParaRPr lang="en-US" sz="1600" dirty="0"/>
          </a:p>
        </p:txBody>
      </p:sp>
      <p:sp>
        <p:nvSpPr>
          <p:cNvPr id="24" name="Text 21"/>
          <p:cNvSpPr/>
          <p:nvPr/>
        </p:nvSpPr>
        <p:spPr>
          <a:xfrm>
            <a:off x="5166360" y="369722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Watch it self-verify the numbers</a:t>
            </a:r>
            <a:endParaRPr lang="en-US" sz="1600" dirty="0"/>
          </a:p>
        </p:txBody>
      </p:sp>
      <p:sp>
        <p:nvSpPr>
          <p:cNvPr id="25" name="Text 22"/>
          <p:cNvSpPr/>
          <p:nvPr/>
        </p:nvSpPr>
        <p:spPr>
          <a:xfrm>
            <a:off x="5166360" y="406298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Expand the thinking trace and watch the alternating Pyth…</a:t>
            </a:r>
            <a:endParaRPr lang="en-US" sz="1300" dirty="0"/>
          </a:p>
        </p:txBody>
      </p:sp>
      <p:sp>
        <p:nvSpPr>
          <p:cNvPr id="26" name="Shape 23"/>
          <p:cNvSpPr/>
          <p:nvPr/>
        </p:nvSpPr>
        <p:spPr>
          <a:xfrm>
            <a:off x="4526280" y="4632960"/>
            <a:ext cx="457200" cy="457200"/>
          </a:xfrm>
          <a:prstGeom prst="ellipse">
            <a:avLst/>
          </a:prstGeom>
          <a:solidFill>
            <a:srgbClr val="FFFFFF">
              <a:alpha val="12000"/>
            </a:srgbClr>
          </a:solidFill>
          <a:ln w="19050">
            <a:solidFill>
              <a:srgbClr val="0A8F5B"/>
            </a:solidFill>
            <a:prstDash val="solid"/>
          </a:ln>
        </p:spPr>
      </p:sp>
      <p:sp>
        <p:nvSpPr>
          <p:cNvPr id="27" name="Text 24"/>
          <p:cNvSpPr/>
          <p:nvPr/>
        </p:nvSpPr>
        <p:spPr>
          <a:xfrm>
            <a:off x="4526280" y="4632960"/>
            <a:ext cx="457200" cy="457200"/>
          </a:xfrm>
          <a:prstGeom prst="rect">
            <a:avLst/>
          </a:prstGeom>
          <a:noFill/>
          <a:ln/>
        </p:spPr>
        <p:txBody>
          <a:bodyPr wrap="square" rtlCol="0" anchor="ctr"/>
          <a:lstStyle/>
          <a:p>
            <a:pPr algn="ctr" indent="0" marL="0">
              <a:buNone/>
            </a:pPr>
            <a:r>
              <a:rPr lang="en-US" sz="1600" b="1" dirty="0">
                <a:solidFill>
                  <a:srgbClr val="0A8F5B"/>
                </a:solidFill>
                <a:latin typeface="Segoe UI" pitchFamily="34" charset="0"/>
                <a:ea typeface="Segoe UI" pitchFamily="34" charset="-122"/>
                <a:cs typeface="Segoe UI" pitchFamily="34" charset="-120"/>
              </a:rPr>
              <a:t>3</a:t>
            </a:r>
            <a:endParaRPr lang="en-US" sz="1600" dirty="0"/>
          </a:p>
        </p:txBody>
      </p:sp>
      <p:sp>
        <p:nvSpPr>
          <p:cNvPr id="28" name="Text 25"/>
          <p:cNvSpPr/>
          <p:nvPr/>
        </p:nvSpPr>
        <p:spPr>
          <a:xfrm>
            <a:off x="5166360" y="461467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Open the dashboard to verify</a:t>
            </a:r>
            <a:endParaRPr lang="en-US" sz="1600" dirty="0"/>
          </a:p>
        </p:txBody>
      </p:sp>
      <p:sp>
        <p:nvSpPr>
          <p:cNvPr id="29" name="Text 26"/>
          <p:cNvSpPr/>
          <p:nvPr/>
        </p:nvSpPr>
        <p:spPr>
          <a:xfrm>
            <a:off x="5166360" y="498043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Open the generated xlsx preview and check the sheet stru…</a:t>
            </a:r>
            <a:endParaRPr lang="en-US" sz="1300" dirty="0"/>
          </a:p>
        </p:txBody>
      </p:sp>
      <p:sp>
        <p:nvSpPr>
          <p:cNvPr id="30" name="Shape 27"/>
          <p:cNvSpPr/>
          <p:nvPr/>
        </p:nvSpPr>
        <p:spPr>
          <a:xfrm>
            <a:off x="4526280" y="5550408"/>
            <a:ext cx="457200" cy="457200"/>
          </a:xfrm>
          <a:prstGeom prst="ellipse">
            <a:avLst/>
          </a:prstGeom>
          <a:solidFill>
            <a:srgbClr val="FFFFFF">
              <a:alpha val="12000"/>
            </a:srgbClr>
          </a:solidFill>
          <a:ln w="19050">
            <a:solidFill>
              <a:srgbClr val="0A8F5B"/>
            </a:solidFill>
            <a:prstDash val="solid"/>
          </a:ln>
        </p:spPr>
      </p:sp>
      <p:sp>
        <p:nvSpPr>
          <p:cNvPr id="31" name="Text 28"/>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0A8F5B"/>
                </a:solidFill>
                <a:latin typeface="Segoe UI" pitchFamily="34" charset="0"/>
                <a:ea typeface="Segoe UI" pitchFamily="34" charset="-122"/>
                <a:cs typeface="Segoe UI" pitchFamily="34" charset="-120"/>
              </a:rPr>
              <a:t>4</a:t>
            </a:r>
            <a:endParaRPr lang="en-US" sz="1600" dirty="0"/>
          </a:p>
        </p:txBody>
      </p:sp>
      <p:sp>
        <p:nvSpPr>
          <p:cNvPr id="32" name="Text 29"/>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Same analysis, two more ways to share it</a:t>
            </a:r>
            <a:endParaRPr lang="en-US" sz="1600" dirty="0"/>
          </a:p>
        </p:txBody>
      </p:sp>
      <p:sp>
        <p:nvSpPr>
          <p:cNvPr id="33" name="Text 30"/>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With the dashboard verified, send the prompt below to tu…</a:t>
            </a:r>
            <a:endParaRPr lang="en-US" sz="1300" dirty="0"/>
          </a:p>
        </p:txBody>
      </p:sp>
      <p:sp>
        <p:nvSpPr>
          <p:cNvPr id="34" name="Text 31"/>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5" name="Text 32"/>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0A8F5B"/>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0A8F5B"/>
                </a:solidFill>
                <a:latin typeface="Segoe UI" pitchFamily="34" charset="0"/>
                <a:ea typeface="Segoe UI" pitchFamily="34" charset="-122"/>
                <a:cs typeface="Segoe UI" pitchFamily="34" charset="-120"/>
              </a:rPr>
              <a:t>Scenario 03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s3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0A8F5B"/>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s3_05_cards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0A8F5B"/>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0A8F5B"/>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[Operation] Raw sales xlsx was uploaded</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[Output] Output file has a "Sales Dashboard" and "Raw Data" sheet, with three pivot tables each showing subtotals, share and return rate, wired by SUMIF formulas</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[Output] Three key findings and recommendations are included</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8764B8"/>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8764B8"/>
                </a:solidFill>
                <a:latin typeface="Segoe UI" pitchFamily="34" charset="0"/>
                <a:ea typeface="Segoe UI" pitchFamily="34" charset="-122"/>
                <a:cs typeface="Segoe UI" pitchFamily="34" charset="-120"/>
              </a:rPr>
              <a:t>Scenario 04</a:t>
            </a:r>
            <a:endParaRPr lang="en-US" sz="1400" dirty="0"/>
          </a:p>
        </p:txBody>
      </p:sp>
      <p:sp>
        <p:nvSpPr>
          <p:cNvPr id="5" name="Shape 3"/>
          <p:cNvSpPr/>
          <p:nvPr/>
        </p:nvSpPr>
        <p:spPr>
          <a:xfrm>
            <a:off x="502920" y="1143000"/>
            <a:ext cx="1097280" cy="1097280"/>
          </a:xfrm>
          <a:prstGeom prst="ellipse">
            <a:avLst/>
          </a:prstGeom>
          <a:solidFill>
            <a:srgbClr val="8764B8"/>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Strategy / Account</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700" b="1" dirty="0">
                <a:solidFill>
                  <a:srgbClr val="FFFFFF"/>
                </a:solidFill>
                <a:latin typeface="Segoe UI" pitchFamily="34" charset="0"/>
                <a:ea typeface="Segoe UI" pitchFamily="34" charset="-122"/>
                <a:cs typeface="Segoe UI" pitchFamily="34" charset="-120"/>
              </a:rPr>
              <a:t>Internal &amp; External Intelligence</a:t>
            </a:r>
            <a:endParaRPr lang="en-US" sz="27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~15 min · Level ★★☆</a:t>
            </a:r>
            <a:endParaRPr lang="en-US" sz="1300" dirty="0"/>
          </a:p>
        </p:txBody>
      </p:sp>
      <p:sp>
        <p:nvSpPr>
          <p:cNvPr id="10" name="Shape 7"/>
          <p:cNvSpPr/>
          <p:nvPr/>
        </p:nvSpPr>
        <p:spPr>
          <a:xfrm>
            <a:off x="502920" y="4572000"/>
            <a:ext cx="2020824" cy="402336"/>
          </a:xfrm>
          <a:prstGeom prst="roundRect">
            <a:avLst>
              <a:gd name="adj" fmla="val 50000"/>
            </a:avLst>
          </a:prstGeom>
          <a:solidFill>
            <a:srgbClr val="6366F1"/>
          </a:solidFill>
          <a:ln/>
        </p:spPr>
      </p:sp>
      <p:sp>
        <p:nvSpPr>
          <p:cNvPr id="11" name="Text 8"/>
          <p:cNvSpPr/>
          <p:nvPr/>
        </p:nvSpPr>
        <p:spPr>
          <a:xfrm>
            <a:off x="502920" y="4572000"/>
            <a:ext cx="202082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Enterprise Search</a:t>
            </a:r>
            <a:endParaRPr lang="en-US" sz="1200" dirty="0"/>
          </a:p>
        </p:txBody>
      </p:sp>
      <p:sp>
        <p:nvSpPr>
          <p:cNvPr id="12" name="Shape 9"/>
          <p:cNvSpPr/>
          <p:nvPr/>
        </p:nvSpPr>
        <p:spPr>
          <a:xfrm>
            <a:off x="502920" y="5074920"/>
            <a:ext cx="1618488" cy="402336"/>
          </a:xfrm>
          <a:prstGeom prst="roundRect">
            <a:avLst>
              <a:gd name="adj" fmla="val 50000"/>
            </a:avLst>
          </a:prstGeom>
          <a:solidFill>
            <a:srgbClr val="8764B8"/>
          </a:solidFill>
          <a:ln/>
        </p:spPr>
      </p:sp>
      <p:sp>
        <p:nvSpPr>
          <p:cNvPr id="13" name="Text 10"/>
          <p:cNvSpPr/>
          <p:nvPr/>
        </p:nvSpPr>
        <p:spPr>
          <a:xfrm>
            <a:off x="502920" y="5074920"/>
            <a:ext cx="1618488"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Deep Research</a:t>
            </a:r>
            <a:endParaRPr lang="en-US" sz="1200" dirty="0"/>
          </a:p>
        </p:txBody>
      </p:sp>
      <p:sp>
        <p:nvSpPr>
          <p:cNvPr id="14" name="Shape 11"/>
          <p:cNvSpPr/>
          <p:nvPr/>
        </p:nvSpPr>
        <p:spPr>
          <a:xfrm>
            <a:off x="2304288" y="5074920"/>
            <a:ext cx="1316736" cy="402336"/>
          </a:xfrm>
          <a:prstGeom prst="roundRect">
            <a:avLst>
              <a:gd name="adj" fmla="val 50000"/>
            </a:avLst>
          </a:prstGeom>
          <a:solidFill>
            <a:srgbClr val="C43E1C"/>
          </a:solidFill>
          <a:ln/>
        </p:spPr>
      </p:sp>
      <p:sp>
        <p:nvSpPr>
          <p:cNvPr id="15" name="Text 12"/>
          <p:cNvSpPr/>
          <p:nvPr/>
        </p:nvSpPr>
        <p:spPr>
          <a:xfrm>
            <a:off x="2304288" y="5074920"/>
            <a:ext cx="131673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PowerPoint</a:t>
            </a:r>
            <a:endParaRPr lang="en-US" sz="1200" dirty="0"/>
          </a:p>
        </p:txBody>
      </p:sp>
      <p:sp>
        <p:nvSpPr>
          <p:cNvPr id="16" name="Text 13"/>
          <p:cNvSpPr/>
          <p:nvPr/>
        </p:nvSpPr>
        <p:spPr>
          <a:xfrm>
            <a:off x="4526280" y="566928"/>
            <a:ext cx="7132320" cy="1645920"/>
          </a:xfrm>
          <a:prstGeom prst="rect">
            <a:avLst/>
          </a:prstGeom>
          <a:noFill/>
          <a:ln/>
        </p:spPr>
        <p:txBody>
          <a:bodyPr wrap="square" rtlCol="0" anchor="t"/>
          <a:lstStyle/>
          <a:p>
            <a:pPr indent="0" marL="0">
              <a:lnSpc>
                <a:spcPct val="130000"/>
              </a:lnSpc>
              <a:buNone/>
            </a:pPr>
            <a:r>
              <a:rPr lang="en-US" sz="1500" dirty="0">
                <a:solidFill>
                  <a:srgbClr val="D7D9F0"/>
                </a:solidFill>
                <a:latin typeface="Segoe UI" pitchFamily="34" charset="0"/>
                <a:ea typeface="Segoe UI" pitchFamily="34" charset="-122"/>
                <a:cs typeface="Segoe UI" pitchFamily="34" charset="-120"/>
              </a:rPr>
              <a:t>Before building a client deck, ask the question people skip: what does my own company already know? Let Cowork first run Enterprise Search across your organization for existing meeting notes and correspondence, then go online with Deep Research to fill the external gaps, and finally relay both into a properly-sourced PowerPoint.</a:t>
            </a:r>
            <a:endParaRPr lang="en-US" sz="1500" dirty="0"/>
          </a:p>
        </p:txBody>
      </p:sp>
      <p:sp>
        <p:nvSpPr>
          <p:cNvPr id="17" name="Text 14"/>
          <p:cNvSpPr/>
          <p:nvPr/>
        </p:nvSpPr>
        <p:spPr>
          <a:xfrm>
            <a:off x="4526280" y="2340864"/>
            <a:ext cx="7132320" cy="365760"/>
          </a:xfrm>
          <a:prstGeom prst="rect">
            <a:avLst/>
          </a:prstGeom>
          <a:noFill/>
          <a:ln/>
        </p:spPr>
        <p:txBody>
          <a:bodyPr wrap="square" rtlCol="0" anchor="ctr"/>
          <a:lstStyle/>
          <a:p>
            <a:pPr indent="0" marL="0">
              <a:buNone/>
            </a:pPr>
            <a:r>
              <a:rPr lang="en-US" sz="1500" b="1" dirty="0">
                <a:solidFill>
                  <a:srgbClr val="8764B8"/>
                </a:solidFill>
                <a:latin typeface="Segoe UI" pitchFamily="34" charset="0"/>
                <a:ea typeface="Segoe UI" pitchFamily="34" charset="-122"/>
                <a:cs typeface="Segoe UI" pitchFamily="34" charset="-120"/>
              </a:rPr>
              <a:t>Agentic workflow</a:t>
            </a:r>
            <a:endParaRPr lang="en-US" sz="1500" dirty="0"/>
          </a:p>
        </p:txBody>
      </p:sp>
      <p:sp>
        <p:nvSpPr>
          <p:cNvPr id="18" name="Shape 15"/>
          <p:cNvSpPr/>
          <p:nvPr/>
        </p:nvSpPr>
        <p:spPr>
          <a:xfrm>
            <a:off x="4526280" y="2798064"/>
            <a:ext cx="457200" cy="457200"/>
          </a:xfrm>
          <a:prstGeom prst="ellipse">
            <a:avLst/>
          </a:prstGeom>
          <a:solidFill>
            <a:srgbClr val="FFFFFF">
              <a:alpha val="12000"/>
            </a:srgbClr>
          </a:solidFill>
          <a:ln w="19050">
            <a:solidFill>
              <a:srgbClr val="8764B8"/>
            </a:solidFill>
            <a:prstDash val="solid"/>
          </a:ln>
        </p:spPr>
      </p:sp>
      <p:sp>
        <p:nvSpPr>
          <p:cNvPr id="19" name="Text 16"/>
          <p:cNvSpPr/>
          <p:nvPr/>
        </p:nvSpPr>
        <p:spPr>
          <a:xfrm>
            <a:off x="4526280" y="2798064"/>
            <a:ext cx="457200" cy="457200"/>
          </a:xfrm>
          <a:prstGeom prst="rect">
            <a:avLst/>
          </a:prstGeom>
          <a:noFill/>
          <a:ln/>
        </p:spPr>
        <p:txBody>
          <a:bodyPr wrap="square" rtlCol="0" anchor="ctr"/>
          <a:lstStyle/>
          <a:p>
            <a:pPr algn="ctr" indent="0" marL="0">
              <a:buNone/>
            </a:pPr>
            <a:r>
              <a:rPr lang="en-US" sz="1600" b="1" dirty="0">
                <a:solidFill>
                  <a:srgbClr val="8764B8"/>
                </a:solidFill>
                <a:latin typeface="Segoe UI" pitchFamily="34" charset="0"/>
                <a:ea typeface="Segoe UI" pitchFamily="34" charset="-122"/>
                <a:cs typeface="Segoe UI" pitchFamily="34" charset="-120"/>
              </a:rPr>
              <a:t>1</a:t>
            </a:r>
            <a:endParaRPr lang="en-US" sz="1600" dirty="0"/>
          </a:p>
        </p:txBody>
      </p:sp>
      <p:sp>
        <p:nvSpPr>
          <p:cNvPr id="20" name="Text 17"/>
          <p:cNvSpPr/>
          <p:nvPr/>
        </p:nvSpPr>
        <p:spPr>
          <a:xfrm>
            <a:off x="5166360" y="277977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Ask inside first: what do we already know?</a:t>
            </a:r>
            <a:endParaRPr lang="en-US" sz="1600" dirty="0"/>
          </a:p>
        </p:txBody>
      </p:sp>
      <p:sp>
        <p:nvSpPr>
          <p:cNvPr id="21" name="Text 18"/>
          <p:cNvSpPr/>
          <p:nvPr/>
        </p:nvSpPr>
        <p:spPr>
          <a:xfrm>
            <a:off x="5166360" y="314553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Don't upload anything yet, and don't go to the web yet. …</a:t>
            </a:r>
            <a:endParaRPr lang="en-US" sz="1300" dirty="0"/>
          </a:p>
        </p:txBody>
      </p:sp>
      <p:sp>
        <p:nvSpPr>
          <p:cNvPr id="22" name="Shape 19"/>
          <p:cNvSpPr/>
          <p:nvPr/>
        </p:nvSpPr>
        <p:spPr>
          <a:xfrm>
            <a:off x="4526280" y="3715512"/>
            <a:ext cx="457200" cy="457200"/>
          </a:xfrm>
          <a:prstGeom prst="ellipse">
            <a:avLst/>
          </a:prstGeom>
          <a:solidFill>
            <a:srgbClr val="FFFFFF">
              <a:alpha val="12000"/>
            </a:srgbClr>
          </a:solidFill>
          <a:ln w="19050">
            <a:solidFill>
              <a:srgbClr val="8764B8"/>
            </a:solidFill>
            <a:prstDash val="solid"/>
          </a:ln>
        </p:spPr>
      </p:sp>
      <p:sp>
        <p:nvSpPr>
          <p:cNvPr id="23" name="Text 20"/>
          <p:cNvSpPr/>
          <p:nvPr/>
        </p:nvSpPr>
        <p:spPr>
          <a:xfrm>
            <a:off x="4526280" y="3715512"/>
            <a:ext cx="457200" cy="457200"/>
          </a:xfrm>
          <a:prstGeom prst="rect">
            <a:avLst/>
          </a:prstGeom>
          <a:noFill/>
          <a:ln/>
        </p:spPr>
        <p:txBody>
          <a:bodyPr wrap="square" rtlCol="0" anchor="ctr"/>
          <a:lstStyle/>
          <a:p>
            <a:pPr algn="ctr" indent="0" marL="0">
              <a:buNone/>
            </a:pPr>
            <a:r>
              <a:rPr lang="en-US" sz="1600" b="1" dirty="0">
                <a:solidFill>
                  <a:srgbClr val="8764B8"/>
                </a:solidFill>
                <a:latin typeface="Segoe UI" pitchFamily="34" charset="0"/>
                <a:ea typeface="Segoe UI" pitchFamily="34" charset="-122"/>
                <a:cs typeface="Segoe UI" pitchFamily="34" charset="-120"/>
              </a:rPr>
              <a:t>2</a:t>
            </a:r>
            <a:endParaRPr lang="en-US" sz="1600" dirty="0"/>
          </a:p>
        </p:txBody>
      </p:sp>
      <p:sp>
        <p:nvSpPr>
          <p:cNvPr id="24" name="Text 21"/>
          <p:cNvSpPr/>
          <p:nvPr/>
        </p:nvSpPr>
        <p:spPr>
          <a:xfrm>
            <a:off x="5166360" y="369722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Then ask outside: fill the gaps</a:t>
            </a:r>
            <a:endParaRPr lang="en-US" sz="1600" dirty="0"/>
          </a:p>
        </p:txBody>
      </p:sp>
      <p:sp>
        <p:nvSpPr>
          <p:cNvPr id="25" name="Text 22"/>
          <p:cNvSpPr/>
          <p:nvPr/>
        </p:nvSpPr>
        <p:spPr>
          <a:xfrm>
            <a:off x="5166360" y="406298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Upload the research deck outline md from the reference f…</a:t>
            </a:r>
            <a:endParaRPr lang="en-US" sz="1300" dirty="0"/>
          </a:p>
        </p:txBody>
      </p:sp>
      <p:sp>
        <p:nvSpPr>
          <p:cNvPr id="26" name="Shape 23"/>
          <p:cNvSpPr/>
          <p:nvPr/>
        </p:nvSpPr>
        <p:spPr>
          <a:xfrm>
            <a:off x="4526280" y="4632960"/>
            <a:ext cx="457200" cy="457200"/>
          </a:xfrm>
          <a:prstGeom prst="ellipse">
            <a:avLst/>
          </a:prstGeom>
          <a:solidFill>
            <a:srgbClr val="FFFFFF">
              <a:alpha val="12000"/>
            </a:srgbClr>
          </a:solidFill>
          <a:ln w="19050">
            <a:solidFill>
              <a:srgbClr val="8764B8"/>
            </a:solidFill>
            <a:prstDash val="solid"/>
          </a:ln>
        </p:spPr>
      </p:sp>
      <p:sp>
        <p:nvSpPr>
          <p:cNvPr id="27" name="Text 24"/>
          <p:cNvSpPr/>
          <p:nvPr/>
        </p:nvSpPr>
        <p:spPr>
          <a:xfrm>
            <a:off x="4526280" y="4632960"/>
            <a:ext cx="457200" cy="457200"/>
          </a:xfrm>
          <a:prstGeom prst="rect">
            <a:avLst/>
          </a:prstGeom>
          <a:noFill/>
          <a:ln/>
        </p:spPr>
        <p:txBody>
          <a:bodyPr wrap="square" rtlCol="0" anchor="ctr"/>
          <a:lstStyle/>
          <a:p>
            <a:pPr algn="ctr" indent="0" marL="0">
              <a:buNone/>
            </a:pPr>
            <a:r>
              <a:rPr lang="en-US" sz="1600" b="1" dirty="0">
                <a:solidFill>
                  <a:srgbClr val="8764B8"/>
                </a:solidFill>
                <a:latin typeface="Segoe UI" pitchFamily="34" charset="0"/>
                <a:ea typeface="Segoe UI" pitchFamily="34" charset="-122"/>
                <a:cs typeface="Segoe UI" pitchFamily="34" charset="-120"/>
              </a:rPr>
              <a:t>3</a:t>
            </a:r>
            <a:endParaRPr lang="en-US" sz="1600" dirty="0"/>
          </a:p>
        </p:txBody>
      </p:sp>
      <p:sp>
        <p:nvSpPr>
          <p:cNvPr id="28" name="Text 25"/>
          <p:cNvSpPr/>
          <p:nvPr/>
        </p:nvSpPr>
        <p:spPr>
          <a:xfrm>
            <a:off x="5166360" y="461467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Multi-skill relay: internal + external → slides</a:t>
            </a:r>
            <a:endParaRPr lang="en-US" sz="1600" dirty="0"/>
          </a:p>
        </p:txBody>
      </p:sp>
      <p:sp>
        <p:nvSpPr>
          <p:cNvPr id="29" name="Text 26"/>
          <p:cNvSpPr/>
          <p:nvPr/>
        </p:nvSpPr>
        <p:spPr>
          <a:xfrm>
            <a:off x="5166360" y="498043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Confirm the research summary research-report.md has been…</a:t>
            </a:r>
            <a:endParaRPr lang="en-US" sz="1300" dirty="0"/>
          </a:p>
        </p:txBody>
      </p:sp>
      <p:sp>
        <p:nvSpPr>
          <p:cNvPr id="30" name="Shape 27"/>
          <p:cNvSpPr/>
          <p:nvPr/>
        </p:nvSpPr>
        <p:spPr>
          <a:xfrm>
            <a:off x="4526280" y="5550408"/>
            <a:ext cx="457200" cy="457200"/>
          </a:xfrm>
          <a:prstGeom prst="ellipse">
            <a:avLst/>
          </a:prstGeom>
          <a:solidFill>
            <a:srgbClr val="FFFFFF">
              <a:alpha val="12000"/>
            </a:srgbClr>
          </a:solidFill>
          <a:ln w="19050">
            <a:solidFill>
              <a:srgbClr val="8764B8"/>
            </a:solidFill>
            <a:prstDash val="solid"/>
          </a:ln>
        </p:spPr>
      </p:sp>
      <p:sp>
        <p:nvSpPr>
          <p:cNvPr id="31" name="Text 28"/>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8764B8"/>
                </a:solidFill>
                <a:latin typeface="Segoe UI" pitchFamily="34" charset="0"/>
                <a:ea typeface="Segoe UI" pitchFamily="34" charset="-122"/>
                <a:cs typeface="Segoe UI" pitchFamily="34" charset="-120"/>
              </a:rPr>
              <a:t>4</a:t>
            </a:r>
            <a:endParaRPr lang="en-US" sz="1600" dirty="0"/>
          </a:p>
        </p:txBody>
      </p:sp>
      <p:sp>
        <p:nvSpPr>
          <p:cNvPr id="32" name="Text 29"/>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Verify: what you can say, what to check first</a:t>
            </a:r>
            <a:endParaRPr lang="en-US" sz="1600" dirty="0"/>
          </a:p>
        </p:txBody>
      </p:sp>
      <p:sp>
        <p:nvSpPr>
          <p:cNvPr id="33" name="Text 30"/>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Open the PowerPoint preview, confirm the 8-slide structu…</a:t>
            </a:r>
            <a:endParaRPr lang="en-US" sz="1300" dirty="0"/>
          </a:p>
        </p:txBody>
      </p:sp>
      <p:sp>
        <p:nvSpPr>
          <p:cNvPr id="34" name="Text 31"/>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5" name="Text 32"/>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8764B8"/>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8764B8"/>
                </a:solidFill>
                <a:latin typeface="Segoe UI" pitchFamily="34" charset="0"/>
                <a:ea typeface="Segoe UI" pitchFamily="34" charset="-122"/>
                <a:cs typeface="Segoe UI" pitchFamily="34" charset="-120"/>
              </a:rPr>
              <a:t>Scenario 04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s4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8764B8"/>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s4_05_deck_done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8764B8"/>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8764B8"/>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[Operation] Without uploading anything, Cowork used Enterprise Search to surface what your organization already holds on the client</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[Judgment] You can see what was already known internally and what was missing, and that shaped what you researched externally</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[Output] Deep Research produced a summary (.md) with real, verifiable source links</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7A4DDB"/>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7A4DDB"/>
                </a:solidFill>
                <a:latin typeface="Segoe UI" pitchFamily="34" charset="0"/>
                <a:ea typeface="Segoe UI" pitchFamily="34" charset="-122"/>
                <a:cs typeface="Segoe UI" pitchFamily="34" charset="-120"/>
              </a:rPr>
              <a:t>Scenario 05</a:t>
            </a:r>
            <a:endParaRPr lang="en-US" sz="1400" dirty="0"/>
          </a:p>
        </p:txBody>
      </p:sp>
      <p:sp>
        <p:nvSpPr>
          <p:cNvPr id="5" name="Shape 3"/>
          <p:cNvSpPr/>
          <p:nvPr/>
        </p:nvSpPr>
        <p:spPr>
          <a:xfrm>
            <a:off x="502920" y="1143000"/>
            <a:ext cx="1097280" cy="1097280"/>
          </a:xfrm>
          <a:prstGeom prst="ellipse">
            <a:avLst/>
          </a:prstGeom>
          <a:solidFill>
            <a:srgbClr val="7A4DDB"/>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Knowledge work / Automation</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700" b="1" dirty="0">
                <a:solidFill>
                  <a:srgbClr val="FFFFFF"/>
                </a:solidFill>
                <a:latin typeface="Segoe UI" pitchFamily="34" charset="0"/>
                <a:ea typeface="Segoe UI" pitchFamily="34" charset="-122"/>
                <a:cs typeface="Segoe UI" pitchFamily="34" charset="-120"/>
              </a:rPr>
              <a:t>Custom Skills &amp; Event Triggers</a:t>
            </a:r>
            <a:endParaRPr lang="en-US" sz="27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~18 min · Level ★★☆</a:t>
            </a:r>
            <a:endParaRPr lang="en-US" sz="1300" dirty="0"/>
          </a:p>
        </p:txBody>
      </p:sp>
      <p:sp>
        <p:nvSpPr>
          <p:cNvPr id="10" name="Shape 7"/>
          <p:cNvSpPr/>
          <p:nvPr/>
        </p:nvSpPr>
        <p:spPr>
          <a:xfrm>
            <a:off x="502920" y="4572000"/>
            <a:ext cx="1517904" cy="402336"/>
          </a:xfrm>
          <a:prstGeom prst="roundRect">
            <a:avLst>
              <a:gd name="adj" fmla="val 50000"/>
            </a:avLst>
          </a:prstGeom>
          <a:solidFill>
            <a:srgbClr val="7A4DDB"/>
          </a:solidFill>
          <a:ln/>
        </p:spPr>
      </p:sp>
      <p:sp>
        <p:nvSpPr>
          <p:cNvPr id="11" name="Text 8"/>
          <p:cNvSpPr/>
          <p:nvPr/>
        </p:nvSpPr>
        <p:spPr>
          <a:xfrm>
            <a:off x="502920" y="4572000"/>
            <a:ext cx="151790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Custom skill</a:t>
            </a:r>
            <a:endParaRPr lang="en-US" sz="1200" dirty="0"/>
          </a:p>
        </p:txBody>
      </p:sp>
      <p:sp>
        <p:nvSpPr>
          <p:cNvPr id="12" name="Shape 9"/>
          <p:cNvSpPr/>
          <p:nvPr/>
        </p:nvSpPr>
        <p:spPr>
          <a:xfrm>
            <a:off x="2203704" y="4572000"/>
            <a:ext cx="1517904" cy="402336"/>
          </a:xfrm>
          <a:prstGeom prst="roundRect">
            <a:avLst>
              <a:gd name="adj" fmla="val 50000"/>
            </a:avLst>
          </a:prstGeom>
          <a:solidFill>
            <a:srgbClr val="6366F1"/>
          </a:solidFill>
          <a:ln/>
        </p:spPr>
      </p:sp>
      <p:sp>
        <p:nvSpPr>
          <p:cNvPr id="13" name="Text 10"/>
          <p:cNvSpPr/>
          <p:nvPr/>
        </p:nvSpPr>
        <p:spPr>
          <a:xfrm>
            <a:off x="2203704" y="4572000"/>
            <a:ext cx="151790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Skill Report</a:t>
            </a:r>
            <a:endParaRPr lang="en-US" sz="1200" dirty="0"/>
          </a:p>
        </p:txBody>
      </p:sp>
      <p:sp>
        <p:nvSpPr>
          <p:cNvPr id="14" name="Shape 11"/>
          <p:cNvSpPr/>
          <p:nvPr/>
        </p:nvSpPr>
        <p:spPr>
          <a:xfrm>
            <a:off x="502920" y="5074920"/>
            <a:ext cx="2020824" cy="402336"/>
          </a:xfrm>
          <a:prstGeom prst="roundRect">
            <a:avLst>
              <a:gd name="adj" fmla="val 50000"/>
            </a:avLst>
          </a:prstGeom>
          <a:solidFill>
            <a:srgbClr val="6366F1"/>
          </a:solidFill>
          <a:ln/>
        </p:spPr>
      </p:sp>
      <p:sp>
        <p:nvSpPr>
          <p:cNvPr id="15" name="Text 12"/>
          <p:cNvSpPr/>
          <p:nvPr/>
        </p:nvSpPr>
        <p:spPr>
          <a:xfrm>
            <a:off x="502920" y="5074920"/>
            <a:ext cx="202082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Event-driven task</a:t>
            </a:r>
            <a:endParaRPr lang="en-US" sz="1200" dirty="0"/>
          </a:p>
        </p:txBody>
      </p:sp>
      <p:sp>
        <p:nvSpPr>
          <p:cNvPr id="16" name="Text 13"/>
          <p:cNvSpPr/>
          <p:nvPr/>
        </p:nvSpPr>
        <p:spPr>
          <a:xfrm>
            <a:off x="4526280" y="566928"/>
            <a:ext cx="7132320" cy="1097280"/>
          </a:xfrm>
          <a:prstGeom prst="rect">
            <a:avLst/>
          </a:prstGeom>
          <a:noFill/>
          <a:ln/>
        </p:spPr>
        <p:txBody>
          <a:bodyPr wrap="square" rtlCol="0" anchor="t"/>
          <a:lstStyle/>
          <a:p>
            <a:pPr indent="0" marL="0">
              <a:lnSpc>
                <a:spcPct val="130000"/>
              </a:lnSpc>
              <a:buNone/>
            </a:pPr>
            <a:r>
              <a:rPr lang="en-US" sz="1500" dirty="0">
                <a:solidFill>
                  <a:srgbClr val="D7D9F0"/>
                </a:solidFill>
                <a:latin typeface="Segoe UI" pitchFamily="34" charset="0"/>
                <a:ea typeface="Segoe UI" pitchFamily="34" charset="-122"/>
                <a:cs typeface="Segoe UI" pitchFamily="34" charset="-120"/>
              </a:rPr>
              <a:t>Teach Cowork a recurring weekly task once, watch it score your skill automatically, then let that skill start itself — triggered by an incoming email, so you never even type the trigger phrase.</a:t>
            </a:r>
            <a:endParaRPr lang="en-US" sz="1500" dirty="0"/>
          </a:p>
        </p:txBody>
      </p:sp>
      <p:sp>
        <p:nvSpPr>
          <p:cNvPr id="17" name="Text 14"/>
          <p:cNvSpPr/>
          <p:nvPr/>
        </p:nvSpPr>
        <p:spPr>
          <a:xfrm>
            <a:off x="4526280" y="1792224"/>
            <a:ext cx="7132320" cy="365760"/>
          </a:xfrm>
          <a:prstGeom prst="rect">
            <a:avLst/>
          </a:prstGeom>
          <a:noFill/>
          <a:ln/>
        </p:spPr>
        <p:txBody>
          <a:bodyPr wrap="square" rtlCol="0" anchor="ctr"/>
          <a:lstStyle/>
          <a:p>
            <a:pPr indent="0" marL="0">
              <a:buNone/>
            </a:pPr>
            <a:r>
              <a:rPr lang="en-US" sz="1500" b="1" dirty="0">
                <a:solidFill>
                  <a:srgbClr val="7A4DDB"/>
                </a:solidFill>
                <a:latin typeface="Segoe UI" pitchFamily="34" charset="0"/>
                <a:ea typeface="Segoe UI" pitchFamily="34" charset="-122"/>
                <a:cs typeface="Segoe UI" pitchFamily="34" charset="-120"/>
              </a:rPr>
              <a:t>Agentic workflow</a:t>
            </a:r>
            <a:endParaRPr lang="en-US" sz="1500" dirty="0"/>
          </a:p>
        </p:txBody>
      </p:sp>
      <p:sp>
        <p:nvSpPr>
          <p:cNvPr id="18" name="Shape 15"/>
          <p:cNvSpPr/>
          <p:nvPr/>
        </p:nvSpPr>
        <p:spPr>
          <a:xfrm>
            <a:off x="4526280" y="2249424"/>
            <a:ext cx="457200" cy="457200"/>
          </a:xfrm>
          <a:prstGeom prst="ellipse">
            <a:avLst/>
          </a:prstGeom>
          <a:solidFill>
            <a:srgbClr val="FFFFFF">
              <a:alpha val="12000"/>
            </a:srgbClr>
          </a:solidFill>
          <a:ln w="19050">
            <a:solidFill>
              <a:srgbClr val="7A4DDB"/>
            </a:solidFill>
            <a:prstDash val="solid"/>
          </a:ln>
        </p:spPr>
      </p:sp>
      <p:sp>
        <p:nvSpPr>
          <p:cNvPr id="19" name="Text 16"/>
          <p:cNvSpPr/>
          <p:nvPr/>
        </p:nvSpPr>
        <p:spPr>
          <a:xfrm>
            <a:off x="4526280" y="2249424"/>
            <a:ext cx="457200" cy="457200"/>
          </a:xfrm>
          <a:prstGeom prst="rect">
            <a:avLst/>
          </a:prstGeom>
          <a:noFill/>
          <a:ln/>
        </p:spPr>
        <p:txBody>
          <a:bodyPr wrap="square" rtlCol="0" anchor="ctr"/>
          <a:lstStyle/>
          <a:p>
            <a:pPr algn="ctr" indent="0" marL="0">
              <a:buNone/>
            </a:pPr>
            <a:r>
              <a:rPr lang="en-US" sz="1600" b="1" dirty="0">
                <a:solidFill>
                  <a:srgbClr val="7A4DDB"/>
                </a:solidFill>
                <a:latin typeface="Segoe UI" pitchFamily="34" charset="0"/>
                <a:ea typeface="Segoe UI" pitchFamily="34" charset="-122"/>
                <a:cs typeface="Segoe UI" pitchFamily="34" charset="-120"/>
              </a:rPr>
              <a:t>1</a:t>
            </a:r>
            <a:endParaRPr lang="en-US" sz="1600" dirty="0"/>
          </a:p>
        </p:txBody>
      </p:sp>
      <p:sp>
        <p:nvSpPr>
          <p:cNvPr id="20" name="Text 17"/>
          <p:cNvSpPr/>
          <p:nvPr/>
        </p:nvSpPr>
        <p:spPr>
          <a:xfrm>
            <a:off x="5166360" y="223113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Ask Cowork: how do skills work?</a:t>
            </a:r>
            <a:endParaRPr lang="en-US" sz="1600" dirty="0"/>
          </a:p>
        </p:txBody>
      </p:sp>
      <p:sp>
        <p:nvSpPr>
          <p:cNvPr id="21" name="Text 18"/>
          <p:cNvSpPr/>
          <p:nvPr/>
        </p:nvSpPr>
        <p:spPr>
          <a:xfrm>
            <a:off x="5166360" y="259689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Send the prompt below and let Cowork explain its own ski…</a:t>
            </a:r>
            <a:endParaRPr lang="en-US" sz="1300" dirty="0"/>
          </a:p>
        </p:txBody>
      </p:sp>
      <p:sp>
        <p:nvSpPr>
          <p:cNvPr id="22" name="Shape 19"/>
          <p:cNvSpPr/>
          <p:nvPr/>
        </p:nvSpPr>
        <p:spPr>
          <a:xfrm>
            <a:off x="4526280" y="3218688"/>
            <a:ext cx="457200" cy="457200"/>
          </a:xfrm>
          <a:prstGeom prst="ellipse">
            <a:avLst/>
          </a:prstGeom>
          <a:solidFill>
            <a:srgbClr val="FFFFFF">
              <a:alpha val="12000"/>
            </a:srgbClr>
          </a:solidFill>
          <a:ln w="19050">
            <a:solidFill>
              <a:srgbClr val="7A4DDB"/>
            </a:solidFill>
            <a:prstDash val="solid"/>
          </a:ln>
        </p:spPr>
      </p:sp>
      <p:sp>
        <p:nvSpPr>
          <p:cNvPr id="23" name="Text 20"/>
          <p:cNvSpPr/>
          <p:nvPr/>
        </p:nvSpPr>
        <p:spPr>
          <a:xfrm>
            <a:off x="4526280" y="3218688"/>
            <a:ext cx="457200" cy="457200"/>
          </a:xfrm>
          <a:prstGeom prst="rect">
            <a:avLst/>
          </a:prstGeom>
          <a:noFill/>
          <a:ln/>
        </p:spPr>
        <p:txBody>
          <a:bodyPr wrap="square" rtlCol="0" anchor="ctr"/>
          <a:lstStyle/>
          <a:p>
            <a:pPr algn="ctr" indent="0" marL="0">
              <a:buNone/>
            </a:pPr>
            <a:r>
              <a:rPr lang="en-US" sz="1600" b="1" dirty="0">
                <a:solidFill>
                  <a:srgbClr val="7A4DDB"/>
                </a:solidFill>
                <a:latin typeface="Segoe UI" pitchFamily="34" charset="0"/>
                <a:ea typeface="Segoe UI" pitchFamily="34" charset="-122"/>
                <a:cs typeface="Segoe UI" pitchFamily="34" charset="-120"/>
              </a:rPr>
              <a:t>2</a:t>
            </a:r>
            <a:endParaRPr lang="en-US" sz="1600" dirty="0"/>
          </a:p>
        </p:txBody>
      </p:sp>
      <p:sp>
        <p:nvSpPr>
          <p:cNvPr id="24" name="Text 21"/>
          <p:cNvSpPr/>
          <p:nvPr/>
        </p:nvSpPr>
        <p:spPr>
          <a:xfrm>
            <a:off x="5166360" y="320040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Let Cowork build the skill conversationally</a:t>
            </a:r>
            <a:endParaRPr lang="en-US" sz="1600" dirty="0"/>
          </a:p>
        </p:txBody>
      </p:sp>
      <p:sp>
        <p:nvSpPr>
          <p:cNvPr id="25" name="Text 22"/>
          <p:cNvSpPr/>
          <p:nvPr/>
        </p:nvSpPr>
        <p:spPr>
          <a:xfrm>
            <a:off x="5166360" y="356616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Upload S5_SKILL.md from the reference files for referenc…</a:t>
            </a:r>
            <a:endParaRPr lang="en-US" sz="1300" dirty="0"/>
          </a:p>
        </p:txBody>
      </p:sp>
      <p:sp>
        <p:nvSpPr>
          <p:cNvPr id="26" name="Shape 23"/>
          <p:cNvSpPr/>
          <p:nvPr/>
        </p:nvSpPr>
        <p:spPr>
          <a:xfrm>
            <a:off x="4526280" y="4187952"/>
            <a:ext cx="457200" cy="457200"/>
          </a:xfrm>
          <a:prstGeom prst="ellipse">
            <a:avLst/>
          </a:prstGeom>
          <a:solidFill>
            <a:srgbClr val="FFFFFF">
              <a:alpha val="12000"/>
            </a:srgbClr>
          </a:solidFill>
          <a:ln w="19050">
            <a:solidFill>
              <a:srgbClr val="7A4DDB"/>
            </a:solidFill>
            <a:prstDash val="solid"/>
          </a:ln>
        </p:spPr>
      </p:sp>
      <p:sp>
        <p:nvSpPr>
          <p:cNvPr id="27" name="Text 24"/>
          <p:cNvSpPr/>
          <p:nvPr/>
        </p:nvSpPr>
        <p:spPr>
          <a:xfrm>
            <a:off x="4526280" y="4187952"/>
            <a:ext cx="457200" cy="457200"/>
          </a:xfrm>
          <a:prstGeom prst="rect">
            <a:avLst/>
          </a:prstGeom>
          <a:noFill/>
          <a:ln/>
        </p:spPr>
        <p:txBody>
          <a:bodyPr wrap="square" rtlCol="0" anchor="ctr"/>
          <a:lstStyle/>
          <a:p>
            <a:pPr algn="ctr" indent="0" marL="0">
              <a:buNone/>
            </a:pPr>
            <a:r>
              <a:rPr lang="en-US" sz="1600" b="1" dirty="0">
                <a:solidFill>
                  <a:srgbClr val="7A4DDB"/>
                </a:solidFill>
                <a:latin typeface="Segoe UI" pitchFamily="34" charset="0"/>
                <a:ea typeface="Segoe UI" pitchFamily="34" charset="-122"/>
                <a:cs typeface="Segoe UI" pitchFamily="34" charset="-120"/>
              </a:rPr>
              <a:t>3</a:t>
            </a:r>
            <a:endParaRPr lang="en-US" sz="1600" dirty="0"/>
          </a:p>
        </p:txBody>
      </p:sp>
      <p:sp>
        <p:nvSpPr>
          <p:cNvPr id="28" name="Text 25"/>
          <p:cNvSpPr/>
          <p:nvPr/>
        </p:nvSpPr>
        <p:spPr>
          <a:xfrm>
            <a:off x="5166360" y="416966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Open a new session &amp; trigger with one phrase</a:t>
            </a:r>
            <a:endParaRPr lang="en-US" sz="1600" dirty="0"/>
          </a:p>
        </p:txBody>
      </p:sp>
      <p:sp>
        <p:nvSpPr>
          <p:cNvPr id="29" name="Text 26"/>
          <p:cNvSpPr/>
          <p:nvPr/>
        </p:nvSpPr>
        <p:spPr>
          <a:xfrm>
            <a:off x="5166360" y="453542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Close the current Cowork chat and open a brand-new one, …</a:t>
            </a:r>
            <a:endParaRPr lang="en-US" sz="1300" dirty="0"/>
          </a:p>
        </p:txBody>
      </p:sp>
      <p:sp>
        <p:nvSpPr>
          <p:cNvPr id="30" name="Shape 27"/>
          <p:cNvSpPr/>
          <p:nvPr/>
        </p:nvSpPr>
        <p:spPr>
          <a:xfrm>
            <a:off x="4526280" y="5157216"/>
            <a:ext cx="457200" cy="457200"/>
          </a:xfrm>
          <a:prstGeom prst="ellipse">
            <a:avLst/>
          </a:prstGeom>
          <a:solidFill>
            <a:srgbClr val="FFFFFF">
              <a:alpha val="12000"/>
            </a:srgbClr>
          </a:solidFill>
          <a:ln w="19050">
            <a:solidFill>
              <a:srgbClr val="7A4DDB"/>
            </a:solidFill>
            <a:prstDash val="solid"/>
          </a:ln>
        </p:spPr>
      </p:sp>
      <p:sp>
        <p:nvSpPr>
          <p:cNvPr id="31" name="Text 28"/>
          <p:cNvSpPr/>
          <p:nvPr/>
        </p:nvSpPr>
        <p:spPr>
          <a:xfrm>
            <a:off x="4526280" y="5157216"/>
            <a:ext cx="457200" cy="457200"/>
          </a:xfrm>
          <a:prstGeom prst="rect">
            <a:avLst/>
          </a:prstGeom>
          <a:noFill/>
          <a:ln/>
        </p:spPr>
        <p:txBody>
          <a:bodyPr wrap="square" rtlCol="0" anchor="ctr"/>
          <a:lstStyle/>
          <a:p>
            <a:pPr algn="ctr" indent="0" marL="0">
              <a:buNone/>
            </a:pPr>
            <a:r>
              <a:rPr lang="en-US" sz="1600" b="1" dirty="0">
                <a:solidFill>
                  <a:srgbClr val="7A4DDB"/>
                </a:solidFill>
                <a:latin typeface="Segoe UI" pitchFamily="34" charset="0"/>
                <a:ea typeface="Segoe UI" pitchFamily="34" charset="-122"/>
                <a:cs typeface="Segoe UI" pitchFamily="34" charset="-120"/>
              </a:rPr>
              <a:t>4</a:t>
            </a:r>
            <a:endParaRPr lang="en-US" sz="1600" dirty="0"/>
          </a:p>
        </p:txBody>
      </p:sp>
      <p:sp>
        <p:nvSpPr>
          <p:cNvPr id="32" name="Text 29"/>
          <p:cNvSpPr/>
          <p:nvPr/>
        </p:nvSpPr>
        <p:spPr>
          <a:xfrm>
            <a:off x="5166360" y="513892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Make the skill start itself: set an event-driven task</a:t>
            </a:r>
            <a:endParaRPr lang="en-US" sz="1600" dirty="0"/>
          </a:p>
        </p:txBody>
      </p:sp>
      <p:sp>
        <p:nvSpPr>
          <p:cNvPr id="33" name="Text 30"/>
          <p:cNvSpPr/>
          <p:nvPr/>
        </p:nvSpPr>
        <p:spPr>
          <a:xfrm>
            <a:off x="5166360" y="550468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Send the prompt below to attach the skill you just built…</a:t>
            </a:r>
            <a:endParaRPr lang="en-US" sz="1300" dirty="0"/>
          </a:p>
        </p:txBody>
      </p:sp>
      <p:sp>
        <p:nvSpPr>
          <p:cNvPr id="34" name="Text 31"/>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5" name="Text 32"/>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7A4DDB"/>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7A4DDB"/>
                </a:solidFill>
                <a:latin typeface="Segoe UI" pitchFamily="34" charset="0"/>
                <a:ea typeface="Segoe UI" pitchFamily="34" charset="-122"/>
                <a:cs typeface="Segoe UI" pitchFamily="34" charset="-120"/>
              </a:rPr>
              <a:t>Scenario 05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s5_01_howto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7A4DDB"/>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s5_10_trigger_done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7A4DDB"/>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7A4DDB"/>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[Operation] The customer-weekly-report skill is created and synced to Documents/Cowork/skills in OneDrive</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[Evaluation] You have seen the Skill Report score and can say what each of the four dimensions measures</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[Judgment] You understand a high score is not a pass, because the Safety and RAI scan is a separate gate</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MAKE IT YOURS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Extend it to your own work</a:t>
            </a:r>
            <a:endParaRPr lang="en-US" sz="3000" dirty="0"/>
          </a:p>
        </p:txBody>
      </p:sp>
      <p:sp>
        <p:nvSpPr>
          <p:cNvPr id="5" name="Shape 3"/>
          <p:cNvSpPr/>
          <p:nvPr/>
        </p:nvSpPr>
        <p:spPr>
          <a:xfrm>
            <a:off x="640080" y="1783080"/>
            <a:ext cx="10911535" cy="731520"/>
          </a:xfrm>
          <a:prstGeom prst="rect">
            <a:avLst/>
          </a:prstGeom>
          <a:solidFill>
            <a:srgbClr val="FFFFFF"/>
          </a:solidFill>
          <a:ln w="12700">
            <a:solidFill>
              <a:srgbClr val="E4E7F2"/>
            </a:solidFill>
            <a:prstDash val="solid"/>
          </a:ln>
        </p:spPr>
      </p:sp>
      <p:sp>
        <p:nvSpPr>
          <p:cNvPr id="6" name="Shape 4"/>
          <p:cNvSpPr/>
          <p:nvPr/>
        </p:nvSpPr>
        <p:spPr>
          <a:xfrm>
            <a:off x="868680" y="1901952"/>
            <a:ext cx="493776" cy="493776"/>
          </a:xfrm>
          <a:prstGeom prst="ellipse">
            <a:avLst/>
          </a:prstGeom>
          <a:solidFill>
            <a:srgbClr val="CA5010"/>
          </a:solidFill>
          <a:ln/>
        </p:spPr>
      </p:sp>
      <p:pic>
        <p:nvPicPr>
          <p:cNvPr id="7" name="Image 0" descr="preencoded.png">    </p:cNvPr>
          <p:cNvPicPr>
            <a:picLocks noChangeAspect="1"/>
          </p:cNvPicPr>
          <p:nvPr/>
        </p:nvPicPr>
        <p:blipFill>
          <a:blip r:embed="rId1"/>
          <a:stretch>
            <a:fillRect/>
          </a:stretch>
        </p:blipFill>
        <p:spPr>
          <a:xfrm>
            <a:off x="996696" y="2029968"/>
            <a:ext cx="237744" cy="237744"/>
          </a:xfrm>
          <a:prstGeom prst="rect">
            <a:avLst/>
          </a:prstGeom>
        </p:spPr>
      </p:pic>
      <p:sp>
        <p:nvSpPr>
          <p:cNvPr id="8" name="Text 5"/>
          <p:cNvSpPr/>
          <p:nvPr/>
        </p:nvSpPr>
        <p:spPr>
          <a:xfrm>
            <a:off x="1554480" y="1819656"/>
            <a:ext cx="2286000" cy="658368"/>
          </a:xfrm>
          <a:prstGeom prst="rect">
            <a:avLst/>
          </a:prstGeom>
          <a:noFill/>
          <a:ln/>
        </p:spPr>
        <p:txBody>
          <a:bodyPr wrap="square" rtlCol="0" anchor="ctr"/>
          <a:lstStyle/>
          <a:p>
            <a:pPr indent="0" marL="0">
              <a:buNone/>
            </a:pPr>
            <a:r>
              <a:rPr lang="en-US" sz="1400" b="1" dirty="0">
                <a:solidFill>
                  <a:srgbClr val="CA5010"/>
                </a:solidFill>
                <a:latin typeface="Segoe UI" pitchFamily="34" charset="0"/>
                <a:ea typeface="Segoe UI" pitchFamily="34" charset="-122"/>
                <a:cs typeface="Segoe UI" pitchFamily="34" charset="-120"/>
              </a:rPr>
              <a:t>Productivity / Personal</a:t>
            </a:r>
            <a:endParaRPr lang="en-US" sz="1400" dirty="0"/>
          </a:p>
        </p:txBody>
      </p:sp>
      <p:sp>
        <p:nvSpPr>
          <p:cNvPr id="9" name="Text 6"/>
          <p:cNvSpPr/>
          <p:nvPr/>
        </p:nvSpPr>
        <p:spPr>
          <a:xfrm>
            <a:off x="3749040" y="1819656"/>
            <a:ext cx="7619695" cy="658368"/>
          </a:xfrm>
          <a:prstGeom prst="rect">
            <a:avLst/>
          </a:prstGeom>
          <a:noFill/>
          <a:ln/>
        </p:spPr>
        <p:txBody>
          <a:bodyPr wrap="square" rtlCol="0" anchor="ctr"/>
          <a:lstStyle/>
          <a:p>
            <a:pPr indent="0" marL="0">
              <a:lnSpc>
                <a:spcPct val="110000"/>
              </a:lnSpc>
              <a:buNone/>
            </a:pPr>
            <a:r>
              <a:rPr lang="en-US" sz="1350" dirty="0">
                <a:solidFill>
                  <a:srgbClr val="1E2235"/>
                </a:solidFill>
                <a:latin typeface="Segoe UI" pitchFamily="34" charset="0"/>
                <a:ea typeface="Segoe UI" pitchFamily="34" charset="-122"/>
                <a:cs typeface="Segoe UI" pitchFamily="34" charset="-120"/>
              </a:rPr>
              <a:t>💡 Adapt the rules to your own criteria (your VIP list, your quadrant definitions) for a personal triage logic.</a:t>
            </a:r>
            <a:endParaRPr lang="en-US" sz="1350" dirty="0"/>
          </a:p>
        </p:txBody>
      </p:sp>
      <p:sp>
        <p:nvSpPr>
          <p:cNvPr id="10" name="Shape 7"/>
          <p:cNvSpPr/>
          <p:nvPr/>
        </p:nvSpPr>
        <p:spPr>
          <a:xfrm>
            <a:off x="640080" y="2624328"/>
            <a:ext cx="10911535" cy="731520"/>
          </a:xfrm>
          <a:prstGeom prst="rect">
            <a:avLst/>
          </a:prstGeom>
          <a:solidFill>
            <a:srgbClr val="FFFFFF"/>
          </a:solidFill>
          <a:ln w="12700">
            <a:solidFill>
              <a:srgbClr val="E4E7F2"/>
            </a:solidFill>
            <a:prstDash val="solid"/>
          </a:ln>
        </p:spPr>
      </p:sp>
      <p:sp>
        <p:nvSpPr>
          <p:cNvPr id="11" name="Shape 8"/>
          <p:cNvSpPr/>
          <p:nvPr/>
        </p:nvSpPr>
        <p:spPr>
          <a:xfrm>
            <a:off x="868680" y="2743200"/>
            <a:ext cx="493776" cy="493776"/>
          </a:xfrm>
          <a:prstGeom prst="ellipse">
            <a:avLst/>
          </a:prstGeom>
          <a:solidFill>
            <a:srgbClr val="0067B8"/>
          </a:solidFill>
          <a:ln/>
        </p:spPr>
      </p:sp>
      <p:pic>
        <p:nvPicPr>
          <p:cNvPr id="12" name="Image 1" descr="preencoded.png">    </p:cNvPr>
          <p:cNvPicPr>
            <a:picLocks noChangeAspect="1"/>
          </p:cNvPicPr>
          <p:nvPr/>
        </p:nvPicPr>
        <p:blipFill>
          <a:blip r:embed="rId2"/>
          <a:stretch>
            <a:fillRect/>
          </a:stretch>
        </p:blipFill>
        <p:spPr>
          <a:xfrm>
            <a:off x="996696" y="2871216"/>
            <a:ext cx="237744" cy="237744"/>
          </a:xfrm>
          <a:prstGeom prst="rect">
            <a:avLst/>
          </a:prstGeom>
        </p:spPr>
      </p:pic>
      <p:sp>
        <p:nvSpPr>
          <p:cNvPr id="13" name="Text 9"/>
          <p:cNvSpPr/>
          <p:nvPr/>
        </p:nvSpPr>
        <p:spPr>
          <a:xfrm>
            <a:off x="1554480" y="2660904"/>
            <a:ext cx="2286000" cy="658368"/>
          </a:xfrm>
          <a:prstGeom prst="rect">
            <a:avLst/>
          </a:prstGeom>
          <a:noFill/>
          <a:ln/>
        </p:spPr>
        <p:txBody>
          <a:bodyPr wrap="square" rtlCol="0" anchor="ctr"/>
          <a:lstStyle/>
          <a:p>
            <a:pPr indent="0" marL="0">
              <a:buNone/>
            </a:pPr>
            <a:r>
              <a:rPr lang="en-US" sz="1400" b="1" dirty="0">
                <a:solidFill>
                  <a:srgbClr val="0067B8"/>
                </a:solidFill>
                <a:latin typeface="Segoe UI" pitchFamily="34" charset="0"/>
                <a:ea typeface="Segoe UI" pitchFamily="34" charset="-122"/>
                <a:cs typeface="Segoe UI" pitchFamily="34" charset="-120"/>
              </a:rPr>
              <a:t>Sales / Pre-sales</a:t>
            </a:r>
            <a:endParaRPr lang="en-US" sz="1400" dirty="0"/>
          </a:p>
        </p:txBody>
      </p:sp>
      <p:sp>
        <p:nvSpPr>
          <p:cNvPr id="14" name="Text 10"/>
          <p:cNvSpPr/>
          <p:nvPr/>
        </p:nvSpPr>
        <p:spPr>
          <a:xfrm>
            <a:off x="3749040" y="2660904"/>
            <a:ext cx="7619695" cy="658368"/>
          </a:xfrm>
          <a:prstGeom prst="rect">
            <a:avLst/>
          </a:prstGeom>
          <a:noFill/>
          <a:ln/>
        </p:spPr>
        <p:txBody>
          <a:bodyPr wrap="square" rtlCol="0" anchor="ctr"/>
          <a:lstStyle/>
          <a:p>
            <a:pPr indent="0" marL="0">
              <a:lnSpc>
                <a:spcPct val="110000"/>
              </a:lnSpc>
              <a:buNone/>
            </a:pPr>
            <a:r>
              <a:rPr lang="en-US" sz="1350" dirty="0">
                <a:solidFill>
                  <a:srgbClr val="1E2235"/>
                </a:solidFill>
                <a:latin typeface="Segoe UI" pitchFamily="34" charset="0"/>
                <a:ea typeface="Segoe UI" pitchFamily="34" charset="-122"/>
                <a:cs typeface="Segoe UI" pitchFamily="34" charset="-120"/>
              </a:rPr>
              <a:t>💡 Swap in your real (de-identified) client data and let Cowork build the brief for your next visit.</a:t>
            </a:r>
            <a:endParaRPr lang="en-US" sz="1350" dirty="0"/>
          </a:p>
        </p:txBody>
      </p:sp>
      <p:sp>
        <p:nvSpPr>
          <p:cNvPr id="15" name="Shape 11"/>
          <p:cNvSpPr/>
          <p:nvPr/>
        </p:nvSpPr>
        <p:spPr>
          <a:xfrm>
            <a:off x="640080" y="3465576"/>
            <a:ext cx="10911535" cy="731520"/>
          </a:xfrm>
          <a:prstGeom prst="rect">
            <a:avLst/>
          </a:prstGeom>
          <a:solidFill>
            <a:srgbClr val="FFFFFF"/>
          </a:solidFill>
          <a:ln w="12700">
            <a:solidFill>
              <a:srgbClr val="E4E7F2"/>
            </a:solidFill>
            <a:prstDash val="solid"/>
          </a:ln>
        </p:spPr>
      </p:sp>
      <p:sp>
        <p:nvSpPr>
          <p:cNvPr id="16" name="Shape 12"/>
          <p:cNvSpPr/>
          <p:nvPr/>
        </p:nvSpPr>
        <p:spPr>
          <a:xfrm>
            <a:off x="868680" y="3584448"/>
            <a:ext cx="493776" cy="493776"/>
          </a:xfrm>
          <a:prstGeom prst="ellipse">
            <a:avLst/>
          </a:prstGeom>
          <a:solidFill>
            <a:srgbClr val="0A8F5B"/>
          </a:solidFill>
          <a:ln/>
        </p:spPr>
      </p:sp>
      <p:pic>
        <p:nvPicPr>
          <p:cNvPr id="17" name="Image 2" descr="preencoded.png">    </p:cNvPr>
          <p:cNvPicPr>
            <a:picLocks noChangeAspect="1"/>
          </p:cNvPicPr>
          <p:nvPr/>
        </p:nvPicPr>
        <p:blipFill>
          <a:blip r:embed="rId3"/>
          <a:stretch>
            <a:fillRect/>
          </a:stretch>
        </p:blipFill>
        <p:spPr>
          <a:xfrm>
            <a:off x="996696" y="3712464"/>
            <a:ext cx="237744" cy="237744"/>
          </a:xfrm>
          <a:prstGeom prst="rect">
            <a:avLst/>
          </a:prstGeom>
        </p:spPr>
      </p:pic>
      <p:sp>
        <p:nvSpPr>
          <p:cNvPr id="18" name="Text 13"/>
          <p:cNvSpPr/>
          <p:nvPr/>
        </p:nvSpPr>
        <p:spPr>
          <a:xfrm>
            <a:off x="1554480" y="3502152"/>
            <a:ext cx="2286000" cy="658368"/>
          </a:xfrm>
          <a:prstGeom prst="rect">
            <a:avLst/>
          </a:prstGeom>
          <a:noFill/>
          <a:ln/>
        </p:spPr>
        <p:txBody>
          <a:bodyPr wrap="square" rtlCol="0" anchor="ctr"/>
          <a:lstStyle/>
          <a:p>
            <a:pPr indent="0" marL="0">
              <a:buNone/>
            </a:pPr>
            <a:r>
              <a:rPr lang="en-US" sz="1400" b="1" dirty="0">
                <a:solidFill>
                  <a:srgbClr val="0A8F5B"/>
                </a:solidFill>
                <a:latin typeface="Segoe UI" pitchFamily="34" charset="0"/>
                <a:ea typeface="Segoe UI" pitchFamily="34" charset="-122"/>
                <a:cs typeface="Segoe UI" pitchFamily="34" charset="-120"/>
              </a:rPr>
              <a:t>Data / Operations</a:t>
            </a:r>
            <a:endParaRPr lang="en-US" sz="1400" dirty="0"/>
          </a:p>
        </p:txBody>
      </p:sp>
      <p:sp>
        <p:nvSpPr>
          <p:cNvPr id="19" name="Text 14"/>
          <p:cNvSpPr/>
          <p:nvPr/>
        </p:nvSpPr>
        <p:spPr>
          <a:xfrm>
            <a:off x="3749040" y="3502152"/>
            <a:ext cx="7619695" cy="658368"/>
          </a:xfrm>
          <a:prstGeom prst="rect">
            <a:avLst/>
          </a:prstGeom>
          <a:noFill/>
          <a:ln/>
        </p:spPr>
        <p:txBody>
          <a:bodyPr wrap="square" rtlCol="0" anchor="ctr"/>
          <a:lstStyle/>
          <a:p>
            <a:pPr indent="0" marL="0">
              <a:lnSpc>
                <a:spcPct val="110000"/>
              </a:lnSpc>
              <a:buNone/>
            </a:pPr>
            <a:r>
              <a:rPr lang="en-US" sz="1350" dirty="0">
                <a:solidFill>
                  <a:srgbClr val="1E2235"/>
                </a:solidFill>
                <a:latin typeface="Segoe UI" pitchFamily="34" charset="0"/>
                <a:ea typeface="Segoe UI" pitchFamily="34" charset="-122"/>
                <a:cs typeface="Segoe UI" pitchFamily="34" charset="-120"/>
              </a:rPr>
              <a:t>💡 Swap in your own sales or operations data to generate your team's dashboard.</a:t>
            </a:r>
            <a:endParaRPr lang="en-US" sz="1350" dirty="0"/>
          </a:p>
        </p:txBody>
      </p:sp>
      <p:sp>
        <p:nvSpPr>
          <p:cNvPr id="20" name="Shape 15"/>
          <p:cNvSpPr/>
          <p:nvPr/>
        </p:nvSpPr>
        <p:spPr>
          <a:xfrm>
            <a:off x="640080" y="4306824"/>
            <a:ext cx="10911535" cy="731520"/>
          </a:xfrm>
          <a:prstGeom prst="rect">
            <a:avLst/>
          </a:prstGeom>
          <a:solidFill>
            <a:srgbClr val="FFFFFF"/>
          </a:solidFill>
          <a:ln w="12700">
            <a:solidFill>
              <a:srgbClr val="E4E7F2"/>
            </a:solidFill>
            <a:prstDash val="solid"/>
          </a:ln>
        </p:spPr>
      </p:sp>
      <p:sp>
        <p:nvSpPr>
          <p:cNvPr id="21" name="Shape 16"/>
          <p:cNvSpPr/>
          <p:nvPr/>
        </p:nvSpPr>
        <p:spPr>
          <a:xfrm>
            <a:off x="868680" y="4425696"/>
            <a:ext cx="493776" cy="493776"/>
          </a:xfrm>
          <a:prstGeom prst="ellipse">
            <a:avLst/>
          </a:prstGeom>
          <a:solidFill>
            <a:srgbClr val="8764B8"/>
          </a:solidFill>
          <a:ln/>
        </p:spPr>
      </p:sp>
      <p:pic>
        <p:nvPicPr>
          <p:cNvPr id="22" name="Image 3" descr="preencoded.png">    </p:cNvPr>
          <p:cNvPicPr>
            <a:picLocks noChangeAspect="1"/>
          </p:cNvPicPr>
          <p:nvPr/>
        </p:nvPicPr>
        <p:blipFill>
          <a:blip r:embed="rId4"/>
          <a:stretch>
            <a:fillRect/>
          </a:stretch>
        </p:blipFill>
        <p:spPr>
          <a:xfrm>
            <a:off x="996696" y="4553712"/>
            <a:ext cx="237744" cy="237744"/>
          </a:xfrm>
          <a:prstGeom prst="rect">
            <a:avLst/>
          </a:prstGeom>
        </p:spPr>
      </p:pic>
      <p:sp>
        <p:nvSpPr>
          <p:cNvPr id="23" name="Text 17"/>
          <p:cNvSpPr/>
          <p:nvPr/>
        </p:nvSpPr>
        <p:spPr>
          <a:xfrm>
            <a:off x="1554480" y="4343400"/>
            <a:ext cx="2286000" cy="658368"/>
          </a:xfrm>
          <a:prstGeom prst="rect">
            <a:avLst/>
          </a:prstGeom>
          <a:noFill/>
          <a:ln/>
        </p:spPr>
        <p:txBody>
          <a:bodyPr wrap="square" rtlCol="0" anchor="ctr"/>
          <a:lstStyle/>
          <a:p>
            <a:pPr indent="0" marL="0">
              <a:buNone/>
            </a:pPr>
            <a:r>
              <a:rPr lang="en-US" sz="1400" b="1" dirty="0">
                <a:solidFill>
                  <a:srgbClr val="8764B8"/>
                </a:solidFill>
                <a:latin typeface="Segoe UI" pitchFamily="34" charset="0"/>
                <a:ea typeface="Segoe UI" pitchFamily="34" charset="-122"/>
                <a:cs typeface="Segoe UI" pitchFamily="34" charset="-120"/>
              </a:rPr>
              <a:t>Strategy / Account</a:t>
            </a:r>
            <a:endParaRPr lang="en-US" sz="1400" dirty="0"/>
          </a:p>
        </p:txBody>
      </p:sp>
      <p:sp>
        <p:nvSpPr>
          <p:cNvPr id="24" name="Text 18"/>
          <p:cNvSpPr/>
          <p:nvPr/>
        </p:nvSpPr>
        <p:spPr>
          <a:xfrm>
            <a:off x="3749040" y="4343400"/>
            <a:ext cx="7619695" cy="658368"/>
          </a:xfrm>
          <a:prstGeom prst="rect">
            <a:avLst/>
          </a:prstGeom>
          <a:noFill/>
          <a:ln/>
        </p:spPr>
        <p:txBody>
          <a:bodyPr wrap="square" rtlCol="0" anchor="ctr"/>
          <a:lstStyle/>
          <a:p>
            <a:pPr indent="0" marL="0">
              <a:lnSpc>
                <a:spcPct val="110000"/>
              </a:lnSpc>
              <a:buNone/>
            </a:pPr>
            <a:r>
              <a:rPr lang="en-US" sz="1350" dirty="0">
                <a:solidFill>
                  <a:srgbClr val="1E2235"/>
                </a:solidFill>
                <a:latin typeface="Segoe UI" pitchFamily="34" charset="0"/>
                <a:ea typeface="Segoe UI" pitchFamily="34" charset="-122"/>
                <a:cs typeface="Segoe UI" pitchFamily="34" charset="-120"/>
              </a:rPr>
              <a:t>💡 Swap in an account you actually own and run Enterprise Search first — you may be surprised how much your company already holds that you did not know about.</a:t>
            </a:r>
            <a:endParaRPr lang="en-US" sz="1350" dirty="0"/>
          </a:p>
        </p:txBody>
      </p:sp>
      <p:sp>
        <p:nvSpPr>
          <p:cNvPr id="25" name="Shape 19"/>
          <p:cNvSpPr/>
          <p:nvPr/>
        </p:nvSpPr>
        <p:spPr>
          <a:xfrm>
            <a:off x="640080" y="5148072"/>
            <a:ext cx="10911535" cy="731520"/>
          </a:xfrm>
          <a:prstGeom prst="rect">
            <a:avLst/>
          </a:prstGeom>
          <a:solidFill>
            <a:srgbClr val="FFFFFF"/>
          </a:solidFill>
          <a:ln w="12700">
            <a:solidFill>
              <a:srgbClr val="E4E7F2"/>
            </a:solidFill>
            <a:prstDash val="solid"/>
          </a:ln>
        </p:spPr>
      </p:sp>
      <p:sp>
        <p:nvSpPr>
          <p:cNvPr id="26" name="Shape 20"/>
          <p:cNvSpPr/>
          <p:nvPr/>
        </p:nvSpPr>
        <p:spPr>
          <a:xfrm>
            <a:off x="868680" y="5266944"/>
            <a:ext cx="493776" cy="493776"/>
          </a:xfrm>
          <a:prstGeom prst="ellipse">
            <a:avLst/>
          </a:prstGeom>
          <a:solidFill>
            <a:srgbClr val="7A4DDB"/>
          </a:solidFill>
          <a:ln/>
        </p:spPr>
      </p:sp>
      <p:pic>
        <p:nvPicPr>
          <p:cNvPr id="27" name="Image 4" descr="preencoded.png">    </p:cNvPr>
          <p:cNvPicPr>
            <a:picLocks noChangeAspect="1"/>
          </p:cNvPicPr>
          <p:nvPr/>
        </p:nvPicPr>
        <p:blipFill>
          <a:blip r:embed="rId5"/>
          <a:stretch>
            <a:fillRect/>
          </a:stretch>
        </p:blipFill>
        <p:spPr>
          <a:xfrm>
            <a:off x="996696" y="5394960"/>
            <a:ext cx="237744" cy="237744"/>
          </a:xfrm>
          <a:prstGeom prst="rect">
            <a:avLst/>
          </a:prstGeom>
        </p:spPr>
      </p:pic>
      <p:sp>
        <p:nvSpPr>
          <p:cNvPr id="28" name="Text 21"/>
          <p:cNvSpPr/>
          <p:nvPr/>
        </p:nvSpPr>
        <p:spPr>
          <a:xfrm>
            <a:off x="1554480" y="5184648"/>
            <a:ext cx="2286000" cy="658368"/>
          </a:xfrm>
          <a:prstGeom prst="rect">
            <a:avLst/>
          </a:prstGeom>
          <a:noFill/>
          <a:ln/>
        </p:spPr>
        <p:txBody>
          <a:bodyPr wrap="square" rtlCol="0" anchor="ctr"/>
          <a:lstStyle/>
          <a:p>
            <a:pPr indent="0" marL="0">
              <a:buNone/>
            </a:pPr>
            <a:r>
              <a:rPr lang="en-US" sz="1400" b="1" dirty="0">
                <a:solidFill>
                  <a:srgbClr val="7A4DDB"/>
                </a:solidFill>
                <a:latin typeface="Segoe UI" pitchFamily="34" charset="0"/>
                <a:ea typeface="Segoe UI" pitchFamily="34" charset="-122"/>
                <a:cs typeface="Segoe UI" pitchFamily="34" charset="-120"/>
              </a:rPr>
              <a:t>Knowledge work / Automation</a:t>
            </a:r>
            <a:endParaRPr lang="en-US" sz="1400" dirty="0"/>
          </a:p>
        </p:txBody>
      </p:sp>
      <p:sp>
        <p:nvSpPr>
          <p:cNvPr id="29" name="Text 22"/>
          <p:cNvSpPr/>
          <p:nvPr/>
        </p:nvSpPr>
        <p:spPr>
          <a:xfrm>
            <a:off x="3749040" y="5184648"/>
            <a:ext cx="7619695" cy="658368"/>
          </a:xfrm>
          <a:prstGeom prst="rect">
            <a:avLst/>
          </a:prstGeom>
          <a:noFill/>
          <a:ln/>
        </p:spPr>
        <p:txBody>
          <a:bodyPr wrap="square" rtlCol="0" anchor="ctr"/>
          <a:lstStyle/>
          <a:p>
            <a:pPr indent="0" marL="0">
              <a:lnSpc>
                <a:spcPct val="110000"/>
              </a:lnSpc>
              <a:buNone/>
            </a:pPr>
            <a:r>
              <a:rPr lang="en-US" sz="1350" dirty="0">
                <a:solidFill>
                  <a:srgbClr val="1E2235"/>
                </a:solidFill>
                <a:latin typeface="Segoe UI" pitchFamily="34" charset="0"/>
                <a:ea typeface="Segoe UI" pitchFamily="34" charset="-122"/>
                <a:cs typeface="Segoe UI" pitchFamily="34" charset="-120"/>
              </a:rPr>
              <a:t>💡 Swap the sections and wording for your company's real report format to make your own version.</a:t>
            </a:r>
            <a:endParaRPr lang="en-US" sz="1350" dirty="0"/>
          </a:p>
        </p:txBody>
      </p:sp>
      <p:sp>
        <p:nvSpPr>
          <p:cNvPr id="30" name="Text 2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31" name="Text 2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22D3EE"/>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22D3EE"/>
                </a:solidFill>
                <a:latin typeface="Segoe UI" pitchFamily="34" charset="0"/>
                <a:ea typeface="Segoe UI" pitchFamily="34" charset="-122"/>
                <a:cs typeface="Segoe UI" pitchFamily="34" charset="-120"/>
              </a:rPr>
              <a:t>TRUST &amp; CONTROL</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Automated — but you're still the decision maker</a:t>
            </a:r>
            <a:endParaRPr lang="en-US" sz="3000" dirty="0"/>
          </a:p>
        </p:txBody>
      </p:sp>
      <p:sp>
        <p:nvSpPr>
          <p:cNvPr id="5" name="Shape 3"/>
          <p:cNvSpPr/>
          <p:nvPr/>
        </p:nvSpPr>
        <p:spPr>
          <a:xfrm>
            <a:off x="640080" y="1874520"/>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6" name="Image 0" descr="preencoded.png">    </p:cNvPr>
          <p:cNvPicPr>
            <a:picLocks noChangeAspect="1"/>
          </p:cNvPicPr>
          <p:nvPr/>
        </p:nvPicPr>
        <p:blipFill>
          <a:blip r:embed="rId2"/>
          <a:stretch>
            <a:fillRect/>
          </a:stretch>
        </p:blipFill>
        <p:spPr>
          <a:xfrm>
            <a:off x="804672" y="2039112"/>
            <a:ext cx="448056" cy="448056"/>
          </a:xfrm>
          <a:prstGeom prst="rect">
            <a:avLst/>
          </a:prstGeom>
        </p:spPr>
      </p:pic>
      <p:sp>
        <p:nvSpPr>
          <p:cNvPr id="7" name="Text 4"/>
          <p:cNvSpPr/>
          <p:nvPr/>
        </p:nvSpPr>
        <p:spPr>
          <a:xfrm>
            <a:off x="1691640" y="1856232"/>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Approval before action</a:t>
            </a:r>
            <a:endParaRPr lang="en-US" sz="1700" dirty="0"/>
          </a:p>
        </p:txBody>
      </p:sp>
      <p:sp>
        <p:nvSpPr>
          <p:cNvPr id="8" name="Text 5"/>
          <p:cNvSpPr/>
          <p:nvPr/>
        </p:nvSpPr>
        <p:spPr>
          <a:xfrm>
            <a:off x="1691640" y="2203704"/>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Medium/high-risk actions show a RISK-LEVEL; sending mail, posting to Teams or creating meetings all open as an editable preview and go out only after approval.</a:t>
            </a:r>
            <a:endParaRPr lang="en-US" sz="1300" dirty="0"/>
          </a:p>
        </p:txBody>
      </p:sp>
      <p:sp>
        <p:nvSpPr>
          <p:cNvPr id="9" name="Shape 6"/>
          <p:cNvSpPr/>
          <p:nvPr/>
        </p:nvSpPr>
        <p:spPr>
          <a:xfrm>
            <a:off x="640080" y="3044952"/>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0" name="Image 1" descr="preencoded.png">    </p:cNvPr>
          <p:cNvPicPr>
            <a:picLocks noChangeAspect="1"/>
          </p:cNvPicPr>
          <p:nvPr/>
        </p:nvPicPr>
        <p:blipFill>
          <a:blip r:embed="rId3"/>
          <a:stretch>
            <a:fillRect/>
          </a:stretch>
        </p:blipFill>
        <p:spPr>
          <a:xfrm>
            <a:off x="804672" y="3209544"/>
            <a:ext cx="448056" cy="448056"/>
          </a:xfrm>
          <a:prstGeom prst="rect">
            <a:avLst/>
          </a:prstGeom>
        </p:spPr>
      </p:pic>
      <p:sp>
        <p:nvSpPr>
          <p:cNvPr id="11" name="Text 7"/>
          <p:cNvSpPr/>
          <p:nvPr/>
        </p:nvSpPr>
        <p:spPr>
          <a:xfrm>
            <a:off x="1691640" y="3026664"/>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Scope you control</a:t>
            </a:r>
            <a:endParaRPr lang="en-US" sz="1700" dirty="0"/>
          </a:p>
        </p:txBody>
      </p:sp>
      <p:sp>
        <p:nvSpPr>
          <p:cNvPr id="12" name="Text 8"/>
          <p:cNvSpPr/>
          <p:nvPr/>
        </p:nvSpPr>
        <p:spPr>
          <a:xfrm>
            <a:off x="1691640" y="3374136"/>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Don't-ask-again can be limited to a recipient, a domain, or always; tasks can be soft/hard paused, resumed or cancelled.</a:t>
            </a:r>
            <a:endParaRPr lang="en-US" sz="1300" dirty="0"/>
          </a:p>
        </p:txBody>
      </p:sp>
      <p:sp>
        <p:nvSpPr>
          <p:cNvPr id="13" name="Shape 9"/>
          <p:cNvSpPr/>
          <p:nvPr/>
        </p:nvSpPr>
        <p:spPr>
          <a:xfrm>
            <a:off x="640080" y="4215384"/>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4" name="Image 2" descr="preencoded.png">    </p:cNvPr>
          <p:cNvPicPr>
            <a:picLocks noChangeAspect="1"/>
          </p:cNvPicPr>
          <p:nvPr/>
        </p:nvPicPr>
        <p:blipFill>
          <a:blip r:embed="rId4"/>
          <a:stretch>
            <a:fillRect/>
          </a:stretch>
        </p:blipFill>
        <p:spPr>
          <a:xfrm>
            <a:off x="804672" y="4379976"/>
            <a:ext cx="448056" cy="448056"/>
          </a:xfrm>
          <a:prstGeom prst="rect">
            <a:avLst/>
          </a:prstGeom>
        </p:spPr>
      </p:pic>
      <p:sp>
        <p:nvSpPr>
          <p:cNvPr id="15" name="Text 10"/>
          <p:cNvSpPr/>
          <p:nvPr/>
        </p:nvSpPr>
        <p:spPr>
          <a:xfrm>
            <a:off x="1691640" y="4197096"/>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Automated tasks have guardrails too</a:t>
            </a:r>
            <a:endParaRPr lang="en-US" sz="1700" dirty="0"/>
          </a:p>
        </p:txBody>
      </p:sp>
      <p:sp>
        <p:nvSpPr>
          <p:cNvPr id="16" name="Text 11"/>
          <p:cNvSpPr/>
          <p:nvPr/>
        </p:nvSpPr>
        <p:spPr>
          <a:xfrm>
            <a:off x="1691640" y="4544568"/>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Scheduled prompts and event-driven tasks have run-frequency limits and loop protection; they always run with the creator's permissions, and are recorded in the unified audit log alongside all other Cowork activity, under Microsoft Purview policy.</a:t>
            </a:r>
            <a:endParaRPr lang="en-US" sz="1300" dirty="0"/>
          </a:p>
        </p:txBody>
      </p:sp>
      <p:sp>
        <p:nvSpPr>
          <p:cNvPr id="17" name="Shape 12"/>
          <p:cNvSpPr/>
          <p:nvPr/>
        </p:nvSpPr>
        <p:spPr>
          <a:xfrm>
            <a:off x="640080" y="5385816"/>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8" name="Image 3" descr="preencoded.png">    </p:cNvPr>
          <p:cNvPicPr>
            <a:picLocks noChangeAspect="1"/>
          </p:cNvPicPr>
          <p:nvPr/>
        </p:nvPicPr>
        <p:blipFill>
          <a:blip r:embed="rId5"/>
          <a:stretch>
            <a:fillRect/>
          </a:stretch>
        </p:blipFill>
        <p:spPr>
          <a:xfrm>
            <a:off x="804672" y="5550408"/>
            <a:ext cx="448056" cy="448056"/>
          </a:xfrm>
          <a:prstGeom prst="rect">
            <a:avLst/>
          </a:prstGeom>
        </p:spPr>
      </p:pic>
      <p:sp>
        <p:nvSpPr>
          <p:cNvPr id="19" name="Text 13"/>
          <p:cNvSpPr/>
          <p:nvPr/>
        </p:nvSpPr>
        <p:spPr>
          <a:xfrm>
            <a:off x="1691640" y="5367528"/>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Know the limits</a:t>
            </a:r>
            <a:endParaRPr lang="en-US" sz="1700" dirty="0"/>
          </a:p>
        </p:txBody>
      </p:sp>
      <p:sp>
        <p:nvSpPr>
          <p:cNvPr id="20" name="Text 14"/>
          <p:cNvSpPr/>
          <p:nvPr/>
        </p:nvSpPr>
        <p:spPr>
          <a:xfrm>
            <a:off x="1691640" y="5715000"/>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No access to local files, no deleting OneDrive/SharePoint files, no reading encrypted files; attachments under 200MB; custom skills and third-party plugins aren't validated by Microsoft, so review the output yourself. Microsoft explicitly lists it as unsuitable where accuracy must be guaranteed without human review.</a:t>
            </a:r>
            <a:endParaRPr lang="en-US" sz="1300" dirty="0"/>
          </a:p>
        </p:txBody>
      </p:sp>
      <p:sp>
        <p:nvSpPr>
          <p:cNvPr id="21" name="Text 1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22" name="Text 1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1554480"/>
            <a:ext cx="10058400" cy="822960"/>
          </a:xfrm>
          <a:prstGeom prst="rect">
            <a:avLst/>
          </a:prstGeom>
          <a:noFill/>
          <a:ln/>
        </p:spPr>
        <p:txBody>
          <a:bodyPr wrap="square" rtlCol="0" anchor="ctr"/>
          <a:lstStyle/>
          <a:p>
            <a:pPr indent="0" marL="0">
              <a:buNone/>
            </a:pPr>
            <a:r>
              <a:rPr lang="en-US" sz="4000" b="1" dirty="0">
                <a:solidFill>
                  <a:srgbClr val="FFFFFF"/>
                </a:solidFill>
                <a:latin typeface="Segoe UI" pitchFamily="34" charset="0"/>
                <a:ea typeface="Segoe UI" pitchFamily="34" charset="-122"/>
                <a:cs typeface="Segoe UI" pitchFamily="34" charset="-120"/>
              </a:rPr>
              <a:t>Start practising now</a:t>
            </a:r>
            <a:endParaRPr lang="en-US" sz="4000" dirty="0"/>
          </a:p>
        </p:txBody>
      </p:sp>
      <p:sp>
        <p:nvSpPr>
          <p:cNvPr id="3" name="Shape 1"/>
          <p:cNvSpPr/>
          <p:nvPr/>
        </p:nvSpPr>
        <p:spPr>
          <a:xfrm>
            <a:off x="640080" y="2606040"/>
            <a:ext cx="8686800" cy="868680"/>
          </a:xfrm>
          <a:prstGeom prst="roundRect">
            <a:avLst>
              <a:gd name="adj" fmla="val 12632"/>
            </a:avLst>
          </a:prstGeom>
          <a:solidFill>
            <a:srgbClr val="FFFFFF">
              <a:alpha val="10000"/>
            </a:srgbClr>
          </a:solidFill>
          <a:ln w="12700">
            <a:solidFill>
              <a:srgbClr val="FFFFFF">
                <a:alpha val="35000"/>
              </a:srgbClr>
            </a:solidFill>
            <a:prstDash val="solid"/>
          </a:ln>
        </p:spPr>
      </p:sp>
      <p:pic>
        <p:nvPicPr>
          <p:cNvPr id="4" name="Image 0" descr="preencoded.png">    </p:cNvPr>
          <p:cNvPicPr>
            <a:picLocks noChangeAspect="1"/>
          </p:cNvPicPr>
          <p:nvPr/>
        </p:nvPicPr>
        <p:blipFill>
          <a:blip r:embed="rId2"/>
          <a:stretch>
            <a:fillRect/>
          </a:stretch>
        </p:blipFill>
        <p:spPr>
          <a:xfrm>
            <a:off x="914400" y="2880360"/>
            <a:ext cx="329184" cy="329184"/>
          </a:xfrm>
          <a:prstGeom prst="rect">
            <a:avLst/>
          </a:prstGeom>
        </p:spPr>
      </p:pic>
      <p:sp>
        <p:nvSpPr>
          <p:cNvPr id="5" name="Text 2"/>
          <p:cNvSpPr/>
          <p:nvPr/>
        </p:nvSpPr>
        <p:spPr>
          <a:xfrm>
            <a:off x="1417320" y="2715768"/>
            <a:ext cx="7315200" cy="32004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Cowork Playbook</a:t>
            </a:r>
            <a:endParaRPr lang="en-US" sz="1400" dirty="0"/>
          </a:p>
        </p:txBody>
      </p:sp>
      <p:sp>
        <p:nvSpPr>
          <p:cNvPr id="6" name="Text 3">
            <a:hlinkClick r:id="rId3" tooltip=""/>
          </p:cNvPr>
          <p:cNvSpPr/>
          <p:nvPr/>
        </p:nvSpPr>
        <p:spPr>
          <a:xfrm>
            <a:off x="1417320" y="3008376"/>
            <a:ext cx="7772400" cy="320040"/>
          </a:xfrm>
          <a:prstGeom prst="rect">
            <a:avLst/>
          </a:prstGeom>
          <a:noFill/>
          <a:ln/>
        </p:spPr>
        <p:txBody>
          <a:bodyPr wrap="square" rtlCol="0" anchor="ctr"/>
          <a:lstStyle/>
          <a:p>
            <a:pPr indent="0" marL="0">
              <a:buNone/>
            </a:pPr>
            <a:r>
              <a:rPr lang="en-US" sz="1300" u="sng" dirty="0">
                <a:solidFill>
                  <a:srgbClr val="9FE9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aka.ms/CoworkPlaybook</a:t>
            </a:r>
            <a:endParaRPr lang="en-US" sz="1300" dirty="0"/>
          </a:p>
        </p:txBody>
      </p:sp>
      <p:pic>
        <p:nvPicPr>
          <p:cNvPr id="7" name="Image 1" descr="preencoded.png">    </p:cNvPr>
          <p:cNvPicPr>
            <a:picLocks noChangeAspect="1"/>
          </p:cNvPicPr>
          <p:nvPr/>
        </p:nvPicPr>
        <p:blipFill>
          <a:blip r:embed="rId4"/>
          <a:stretch>
            <a:fillRect/>
          </a:stretch>
        </p:blipFill>
        <p:spPr>
          <a:xfrm>
            <a:off x="640080" y="3950208"/>
            <a:ext cx="237744" cy="237744"/>
          </a:xfrm>
          <a:prstGeom prst="rect">
            <a:avLst/>
          </a:prstGeom>
        </p:spPr>
      </p:pic>
      <p:sp>
        <p:nvSpPr>
          <p:cNvPr id="8" name="Text 4"/>
          <p:cNvSpPr/>
          <p:nvPr/>
        </p:nvSpPr>
        <p:spPr>
          <a:xfrm>
            <a:off x="1005840" y="3895344"/>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Start with the scenario closest to your own work</a:t>
            </a:r>
            <a:endParaRPr lang="en-US" sz="1400" dirty="0"/>
          </a:p>
        </p:txBody>
      </p:sp>
      <p:pic>
        <p:nvPicPr>
          <p:cNvPr id="9" name="Image 2" descr="preencoded.png">    </p:cNvPr>
          <p:cNvPicPr>
            <a:picLocks noChangeAspect="1"/>
          </p:cNvPicPr>
          <p:nvPr/>
        </p:nvPicPr>
        <p:blipFill>
          <a:blip r:embed="rId5"/>
          <a:stretch>
            <a:fillRect/>
          </a:stretch>
        </p:blipFill>
        <p:spPr>
          <a:xfrm>
            <a:off x="640080" y="4425696"/>
            <a:ext cx="237744" cy="237744"/>
          </a:xfrm>
          <a:prstGeom prst="rect">
            <a:avLst/>
          </a:prstGeom>
        </p:spPr>
      </p:pic>
      <p:sp>
        <p:nvSpPr>
          <p:cNvPr id="10" name="Text 5"/>
          <p:cNvSpPr/>
          <p:nvPr/>
        </p:nvSpPr>
        <p:spPr>
          <a:xfrm>
            <a:off x="1005840" y="4370832"/>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Custom skills live in OneDrive at /Documents/Cowork/skills/ as SKILL.md (up to 50, 1MB each)</a:t>
            </a:r>
            <a:endParaRPr lang="en-US" sz="1400" dirty="0"/>
          </a:p>
        </p:txBody>
      </p:sp>
      <p:pic>
        <p:nvPicPr>
          <p:cNvPr id="11" name="Image 3" descr="preencoded.png">    </p:cNvPr>
          <p:cNvPicPr>
            <a:picLocks noChangeAspect="1"/>
          </p:cNvPicPr>
          <p:nvPr/>
        </p:nvPicPr>
        <p:blipFill>
          <a:blip r:embed="rId6"/>
          <a:stretch>
            <a:fillRect/>
          </a:stretch>
        </p:blipFill>
        <p:spPr>
          <a:xfrm>
            <a:off x="640080" y="4901184"/>
            <a:ext cx="237744" cy="237744"/>
          </a:xfrm>
          <a:prstGeom prst="rect">
            <a:avLst/>
          </a:prstGeom>
        </p:spPr>
      </p:pic>
      <p:sp>
        <p:nvSpPr>
          <p:cNvPr id="12" name="Text 6"/>
          <p:cNvSpPr/>
          <p:nvPr/>
        </p:nvSpPr>
        <p:spPr>
          <a:xfrm>
            <a:off x="1005840" y="4846320"/>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Model picker: Auto (default), GPT 5.5 Frontier, GPT 5.6 Sol/Terra, GPT 6 Astra, Opus 5, Claude Sonnet 5, Claude Fable 5.1</a:t>
            </a:r>
            <a:endParaRPr lang="en-US" sz="1400" dirty="0"/>
          </a:p>
        </p:txBody>
      </p:sp>
      <p:pic>
        <p:nvPicPr>
          <p:cNvPr id="13" name="Image 4" descr="preencoded.png">    </p:cNvPr>
          <p:cNvPicPr>
            <a:picLocks noChangeAspect="1"/>
          </p:cNvPicPr>
          <p:nvPr/>
        </p:nvPicPr>
        <p:blipFill>
          <a:blip r:embed="rId7"/>
          <a:stretch>
            <a:fillRect/>
          </a:stretch>
        </p:blipFill>
        <p:spPr>
          <a:xfrm>
            <a:off x="640080" y="5376672"/>
            <a:ext cx="237744" cy="237744"/>
          </a:xfrm>
          <a:prstGeom prst="rect">
            <a:avLst/>
          </a:prstGeom>
        </p:spPr>
      </p:pic>
      <p:sp>
        <p:nvSpPr>
          <p:cNvPr id="14" name="Text 7"/>
          <p:cNvSpPr/>
          <p:nvPr/>
        </p:nvSpPr>
        <p:spPr>
          <a:xfrm>
            <a:off x="1005840" y="5321808"/>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Effort: Light / Medium (default) / High / Extra High / Max — higher is more thorough, but slower and uses more credits</a:t>
            </a:r>
            <a:endParaRPr lang="en-US" sz="1400" dirty="0"/>
          </a:p>
        </p:txBody>
      </p:sp>
      <p:pic>
        <p:nvPicPr>
          <p:cNvPr id="15" name="Image 5" descr="preencoded.png">    </p:cNvPr>
          <p:cNvPicPr>
            <a:picLocks noChangeAspect="1"/>
          </p:cNvPicPr>
          <p:nvPr/>
        </p:nvPicPr>
        <p:blipFill>
          <a:blip r:embed="rId8"/>
          <a:stretch>
            <a:fillRect/>
          </a:stretch>
        </p:blipFill>
        <p:spPr>
          <a:xfrm>
            <a:off x="640080" y="5852160"/>
            <a:ext cx="237744" cy="237744"/>
          </a:xfrm>
          <a:prstGeom prst="rect">
            <a:avLst/>
          </a:prstGeom>
        </p:spPr>
      </p:pic>
      <p:sp>
        <p:nvSpPr>
          <p:cNvPr id="16" name="Text 8"/>
          <p:cNvSpPr/>
          <p:nvPr/>
        </p:nvSpPr>
        <p:spPr>
          <a:xfrm>
            <a:off x="1005840" y="5797296"/>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Want it to fire by itself? Set a scheduled prompt (up to 25) or an event-driven task (incoming mail / @mention) on the "Automations" page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2377440"/>
            <a:ext cx="10058400" cy="1097280"/>
          </a:xfrm>
          <a:prstGeom prst="rect">
            <a:avLst/>
          </a:prstGeom>
          <a:noFill/>
          <a:ln/>
        </p:spPr>
        <p:txBody>
          <a:bodyPr wrap="square" rtlCol="0" anchor="ctr"/>
          <a:lstStyle/>
          <a:p>
            <a:pPr indent="0" marL="0">
              <a:buNone/>
            </a:pPr>
            <a:r>
              <a:rPr lang="en-US" sz="6000" b="1" dirty="0">
                <a:solidFill>
                  <a:srgbClr val="FFFFFF"/>
                </a:solidFill>
                <a:latin typeface="Segoe UI" pitchFamily="34" charset="0"/>
                <a:ea typeface="Segoe UI" pitchFamily="34" charset="-122"/>
                <a:cs typeface="Segoe UI" pitchFamily="34" charset="-120"/>
              </a:rPr>
              <a:t>Thank you</a:t>
            </a:r>
            <a:endParaRPr lang="en-US" sz="6000" dirty="0"/>
          </a:p>
        </p:txBody>
      </p:sp>
      <p:sp>
        <p:nvSpPr>
          <p:cNvPr id="3" name="Text 1"/>
          <p:cNvSpPr/>
          <p:nvPr/>
        </p:nvSpPr>
        <p:spPr>
          <a:xfrm>
            <a:off x="640080" y="3611880"/>
            <a:ext cx="10058400" cy="548640"/>
          </a:xfrm>
          <a:prstGeom prst="rect">
            <a:avLst/>
          </a:prstGeom>
          <a:noFill/>
          <a:ln/>
        </p:spPr>
        <p:txBody>
          <a:bodyPr wrap="square" rtlCol="0" anchor="ctr"/>
          <a:lstStyle/>
          <a:p>
            <a:pPr indent="0" marL="0">
              <a:buNone/>
            </a:pPr>
            <a:r>
              <a:rPr lang="en-US" sz="1800" dirty="0">
                <a:solidFill>
                  <a:srgbClr val="C7CAEC"/>
                </a:solidFill>
                <a:latin typeface="Segoe UI" pitchFamily="34" charset="0"/>
                <a:ea typeface="Segoe UI" pitchFamily="34" charset="-122"/>
                <a:cs typeface="Segoe UI" pitchFamily="34" charset="-120"/>
              </a:rPr>
              <a:t>From asking to delegating — you set the standard, Cowork does the work.</a:t>
            </a:r>
            <a:endParaRPr lang="en-US" sz="1800" dirty="0"/>
          </a:p>
        </p:txBody>
      </p:sp>
      <p:sp>
        <p:nvSpPr>
          <p:cNvPr id="4" name="Shape 2"/>
          <p:cNvSpPr/>
          <p:nvPr/>
        </p:nvSpPr>
        <p:spPr>
          <a:xfrm>
            <a:off x="640080" y="4389120"/>
            <a:ext cx="3200400" cy="0"/>
          </a:xfrm>
          <a:prstGeom prst="line">
            <a:avLst/>
          </a:prstGeom>
          <a:noFill/>
          <a:ln w="12700">
            <a:solidFill>
              <a:srgbClr val="FFFFFF">
                <a:alpha val="30000"/>
              </a:srgbClr>
            </a:solidFill>
            <a:prstDash val="solid"/>
          </a:ln>
        </p:spPr>
      </p:sp>
      <p:sp>
        <p:nvSpPr>
          <p:cNvPr id="5" name="Text 3"/>
          <p:cNvSpPr/>
          <p:nvPr/>
        </p:nvSpPr>
        <p:spPr>
          <a:xfrm>
            <a:off x="640080" y="4526280"/>
            <a:ext cx="10058400" cy="365760"/>
          </a:xfrm>
          <a:prstGeom prst="rect">
            <a:avLst/>
          </a:prstGeom>
          <a:noFill/>
          <a:ln/>
        </p:spPr>
        <p:txBody>
          <a:bodyPr wrap="square" rtlCol="0" anchor="ctr"/>
          <a:lstStyle/>
          <a:p>
            <a:pPr indent="0" marL="0">
              <a:buNone/>
            </a:pPr>
            <a:r>
              <a:rPr lang="en-US" sz="1200" dirty="0">
                <a:solidFill>
                  <a:srgbClr val="9FA3CC"/>
                </a:solidFill>
                <a:latin typeface="Segoe UI" pitchFamily="34" charset="0"/>
                <a:ea typeface="Segoe UI" pitchFamily="34" charset="-122"/>
                <a:cs typeface="Segoe UI" pitchFamily="34" charset="-120"/>
              </a:rPr>
              <a:t>Microsoft 365 Copilot Cowork · Training deck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365 Copilot Cowork Training</dc:title>
  <dc:subject>PptxGenJS Presentation</dc:subject>
  <dc:creator>Andy Hung</dc:creator>
  <cp:lastModifiedBy>Andy Hung</cp:lastModifiedBy>
  <cp:revision>1</cp:revision>
  <dcterms:created xsi:type="dcterms:W3CDTF">2026-09-21T21:00:45Z</dcterms:created>
  <dcterms:modified xsi:type="dcterms:W3CDTF">2026-09-21T21:00:45Z</dcterms:modified>
</cp:coreProperties>
</file>