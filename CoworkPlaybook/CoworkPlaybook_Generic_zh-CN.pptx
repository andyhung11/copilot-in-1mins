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image" Target="../media/image-2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aka.ms/CoworkPlaybook" TargetMode="External"/><Relationship Id="rId1" Type="http://schemas.openxmlformats.org/officeDocument/2006/relationships/image" Target="../media/Slide-21-image-1.png"/><Relationship Id="rId2" Type="http://schemas.openxmlformats.org/officeDocument/2006/relationships/image" Target="../media/image-21-2.png"/><Relationship Id="rId4" Type="http://schemas.openxmlformats.org/officeDocument/2006/relationships/image" Target="../media/image-21-3.png"/><Relationship Id="rId5" Type="http://schemas.openxmlformats.org/officeDocument/2006/relationships/image" Target="../media/image-21-4.png"/><Relationship Id="rId6" Type="http://schemas.openxmlformats.org/officeDocument/2006/relationships/image" Target="../media/image-21-5.png"/><Relationship Id="rId7" Type="http://schemas.openxmlformats.org/officeDocument/2006/relationships/image" Target="../media/image-21-6.png"/><Relationship Id="rId8" Type="http://schemas.openxmlformats.org/officeDocument/2006/relationships/image" Target="../media/image-21-7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481328"/>
            <a:ext cx="237744" cy="23774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43000" y="13716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603504" y="1874520"/>
            <a:ext cx="10058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</a:t>
            </a:r>
            <a:endParaRPr lang="en-US" sz="8400" dirty="0"/>
          </a:p>
        </p:txBody>
      </p:sp>
      <p:sp>
        <p:nvSpPr>
          <p:cNvPr id="6" name="Text 3"/>
          <p:cNvSpPr/>
          <p:nvPr/>
        </p:nvSpPr>
        <p:spPr>
          <a:xfrm>
            <a:off x="640080" y="31546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FC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 AI 的实战工作流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39776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 5 个通用工作场景，看 Copilot 如何跨应用多步执行，并在中高风险操作前显示风险等级、等你批准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5074920"/>
            <a:ext cx="3840480" cy="0"/>
          </a:xfrm>
          <a:prstGeom prst="line">
            <a:avLst/>
          </a:prstGeom>
          <a:noFill/>
          <a:ln w="12700">
            <a:solidFill>
              <a:srgbClr val="FFFFFF">
                <a:alpha val="25000"/>
              </a:srgbClr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52120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培训演示文稿 · 客户分享版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AGENDA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今天的内容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6642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1737360" y="17007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认识 Cowork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737360" y="21214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什么是代理式 AI，和一般 Copilot Chat 有什么不同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25786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737360" y="26151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核心能力与运作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1737360" y="30358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技能、工作区、操作前审批、自检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34930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1737360" y="35295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练习环境准备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1737360" y="39502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示例文件下载后拖进对话，以及哪些场景会动到邮箱和日历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0080" y="44074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1737360" y="44439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五大实战场景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1737360" y="48646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收件箱、客户拜访、数据、研究演示、自定义技能，逐一拆解工作流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40080" y="5321808"/>
            <a:ext cx="1005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1737360" y="5358384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用到你的日常工作里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1737360" y="5779008"/>
            <a:ext cx="9601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如何把这些场景延伸到自己的工作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WHAT IS COWORK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从「对话」到「代理执行」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73736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是 Copilot 的</a:t>
            </a:r>
            <a:pPr indent="0" marL="0">
              <a:buNone/>
            </a:pPr>
            <a:r>
              <a:rPr lang="en-US" sz="2200" b="1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代理式（agentic）</a:t>
            </a:r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工作模式。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228600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你交付一个目标，它会自己拆解步骤、读取云端文件、加载需要的技能，跨应用产出成果并自检——中高风险操作会显示风险等级并停下来请你批准。你从「快速单轮问答」升级为「交付一个可执行的任务」。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40080" y="3611880"/>
            <a:ext cx="3454298" cy="82296"/>
          </a:xfrm>
          <a:prstGeom prst="rect">
            <a:avLst/>
          </a:prstGeom>
          <a:solidFill>
            <a:srgbClr val="94A3B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393192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60120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 Chat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960120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快速单轮问答；适合即时回答和头脑风暴。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68698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8698" y="3611880"/>
            <a:ext cx="3454298" cy="82296"/>
          </a:xfrm>
          <a:prstGeom prst="rect">
            <a:avLst/>
          </a:prstGeom>
          <a:solidFill>
            <a:srgbClr val="6366F1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8738" y="3931920"/>
            <a:ext cx="457200" cy="4572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688738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代理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88738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你给目标，它跨应用多步骤自主执行，可以运行几分钟到几小时。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8097317" y="3611880"/>
            <a:ext cx="3454298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097317" y="3611880"/>
            <a:ext cx="3454298" cy="82296"/>
          </a:xfrm>
          <a:prstGeom prst="rect">
            <a:avLst/>
          </a:prstGeom>
          <a:solidFill>
            <a:srgbClr val="8B5CF6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7357" y="393192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417357" y="4526280"/>
            <a:ext cx="281421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你仍然主导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417357" y="4937760"/>
            <a:ext cx="281421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对外或影响别人的操作，一律先暂停等你批准。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COMPARISON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与一般 Copilot Chat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solidFill>
            <a:srgbClr val="EEF0F8"/>
          </a:solidFill>
          <a:ln/>
        </p:spPr>
      </p:sp>
      <p:sp>
        <p:nvSpPr>
          <p:cNvPr id="6" name="Shape 4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solidFill>
            <a:srgbClr val="0F1031"/>
          </a:solidFill>
          <a:ln/>
        </p:spPr>
      </p:sp>
      <p:sp>
        <p:nvSpPr>
          <p:cNvPr id="7" name="Shape 5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73736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3383280" y="1737360"/>
            <a:ext cx="4023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一般 Copilot Chat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406640" y="1737360"/>
            <a:ext cx="4142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Copilot Cowork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40080" y="21945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194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交付目标，跨应用自主多步执行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566160" y="2194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快速单轮问答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589520" y="2194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交付目标，跨应用自主多步执行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26517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2651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分钟～数小时（自主执行）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566160" y="2651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秒～分钟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589520" y="2651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分钟～数小时（自主执行）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1089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3108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跨任务与来源的多步骤工作流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566160" y="3108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单步骤、单个会话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589520" y="3108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跨任务与来源的多步骤工作流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35661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3566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读取云端附件、产出新文件；不访问本地文件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566160" y="3566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粘贴片段内容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7589520" y="3566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读取云端附件、产出新文件；不访问本地文件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40080" y="40233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" y="40233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自动加载 14 个内置技能和自定义技能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3566160" y="4023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单一对话能力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7589520" y="40233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自动加载 14 个内置技能和自定义技能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40080" y="44805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822960" y="4480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里真实的文档、电子表格、演示文稿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3566160" y="44805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聊天窗口里的文字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7589520" y="44805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OneDrive 里真实的文档、电子表格、演示文稿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36" name="Text 34"/>
          <p:cNvSpPr/>
          <p:nvPr/>
        </p:nvSpPr>
        <p:spPr>
          <a:xfrm>
            <a:off x="822960" y="49377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计划提示／事件触发：收到邮件或被 @提及时自动执行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3566160" y="49377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每次都要你打开并下指令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7589520" y="49377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计划提示／事件触发：收到邮件或被 @提及时自动执行</a:t>
            </a:r>
            <a:endParaRPr lang="en-US" sz="1250" dirty="0"/>
          </a:p>
        </p:txBody>
      </p:sp>
      <p:sp>
        <p:nvSpPr>
          <p:cNvPr id="39" name="Shape 37"/>
          <p:cNvSpPr/>
          <p:nvPr/>
        </p:nvSpPr>
        <p:spPr>
          <a:xfrm>
            <a:off x="640080" y="5394960"/>
            <a:ext cx="1090879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3949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可以通过 Plugins／MCP 连外部系统，官方目录已有 92 个合作伙伴 plugin（D365、SAP、Fabric 等）</a:t>
            </a:r>
            <a:endParaRPr lang="en-US" sz="1250" dirty="0"/>
          </a:p>
        </p:txBody>
      </p:sp>
      <p:sp>
        <p:nvSpPr>
          <p:cNvPr id="41" name="Text 39"/>
          <p:cNvSpPr/>
          <p:nvPr/>
        </p:nvSpPr>
        <p:spPr>
          <a:xfrm>
            <a:off x="3566160" y="53949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接地于 M365 数据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7589520" y="53949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可以通过 Plugins／MCP 连外部系统，官方目录已有 92 个合作伙伴 plugin（D365、SAP、Fabric 等）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solidFill>
            <a:srgbClr val="F2F4FB"/>
          </a:solidFill>
          <a:ln/>
        </p:spPr>
      </p:sp>
      <p:sp>
        <p:nvSpPr>
          <p:cNvPr id="44" name="Text 42"/>
          <p:cNvSpPr/>
          <p:nvPr/>
        </p:nvSpPr>
        <p:spPr>
          <a:xfrm>
            <a:off x="822960" y="58521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中高风险操作显示风险等级，批准后才执行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3566160" y="58521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你自己判断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7589520" y="5852160"/>
            <a:ext cx="37764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中高风险操作显示风险等级，批准后才执行</a:t>
            </a:r>
            <a:endParaRPr lang="en-US" sz="1250" dirty="0"/>
          </a:p>
        </p:txBody>
      </p:sp>
      <p:sp>
        <p:nvSpPr>
          <p:cNvPr id="47" name="Text 4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CORE CAPABILITIES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四个让 Cowork 不一样的能力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60120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7A4DDB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0432" y="2295144"/>
            <a:ext cx="448056" cy="44805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011680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个内置技能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2011680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Word、Excel、PowerPoint、PDF、Email、Scheduling、Calendar Management、Meetings、Daily Briefing、Enterprise Search、Deep Research、Communications、Adaptive Cards、App（Frontier）。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324448" y="17373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644488" y="20848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F6CBD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4800" y="2295144"/>
            <a:ext cx="448056" cy="44805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696048" y="21214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工作区 Workspace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7696048" y="26060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右侧面板同时显示进度、输入文件、输出文件、已加载技能、计划任务和已批准的权限，过程透明可追溯。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640080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960120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0432" y="4809744"/>
            <a:ext cx="448056" cy="44805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2011680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2011680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中高风险操作显示 RISK-LEVEL；可以批准、取消，或者设置仅限此收件人／仅限此域名／始终允许；多条待审可以一起批准。</a:t>
            </a:r>
            <a:endParaRPr lang="en-US" sz="1300" dirty="0"/>
          </a:p>
        </p:txBody>
      </p:sp>
      <p:sp>
        <p:nvSpPr>
          <p:cNvPr id="20" name="Shape 15"/>
          <p:cNvSpPr/>
          <p:nvPr/>
        </p:nvSpPr>
        <p:spPr>
          <a:xfrm>
            <a:off x="6324448" y="4251960"/>
            <a:ext cx="5227168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01600" dist="25400" dir="5400000">
              <a:srgbClr val="9AA0C0">
                <a:alpha val="16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644488" y="4599432"/>
            <a:ext cx="868680" cy="868680"/>
          </a:xfrm>
          <a:prstGeom prst="roundRect">
            <a:avLst>
              <a:gd name="adj" fmla="val 16842"/>
            </a:avLst>
          </a:prstGeom>
          <a:solidFill>
            <a:srgbClr val="CA501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4800" y="4809744"/>
            <a:ext cx="448056" cy="44805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696048" y="4636008"/>
            <a:ext cx="3672688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新能力</a:t>
            </a:r>
            <a:endParaRPr lang="en-US" sz="1800" dirty="0"/>
          </a:p>
        </p:txBody>
      </p:sp>
      <p:sp>
        <p:nvSpPr>
          <p:cNvPr id="24" name="Text 18"/>
          <p:cNvSpPr/>
          <p:nvPr/>
        </p:nvSpPr>
        <p:spPr>
          <a:xfrm>
            <a:off x="7696048" y="5120640"/>
            <a:ext cx="3626968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计划提示（上限 25 个）和事件触发任务、工作量级别五档调节质量与成本、自定义技能创建后自动生成技能报告（0–100 分四个维度，另有含安全与 RAI 扫描的 5 道独立关卡）、本机 Edge 浏览器（2026/8 GA）、图像生成、Plugins／MCP 连外部系统。</a:t>
            </a:r>
            <a:endParaRPr lang="en-US" sz="1300" dirty="0"/>
          </a:p>
        </p:txBody>
      </p:sp>
      <p:sp>
        <p:nvSpPr>
          <p:cNvPr id="25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一次代理式工作流，背后发生什么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4241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7008" y="2862072"/>
            <a:ext cx="438912" cy="4389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接收目标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上传文件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下达指令</a:t>
            </a:r>
            <a:endParaRPr lang="en-US" sz="12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9757" y="2971800"/>
            <a:ext cx="201168" cy="20116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507833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2910169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74761" y="2862072"/>
            <a:ext cx="438912" cy="43891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2507833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规划拆解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2507833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理解任务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拆成步骤</a:t>
            </a:r>
            <a:endParaRPr lang="en-US" sz="12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7510" y="297180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437558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4777923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42515" y="2862072"/>
            <a:ext cx="438912" cy="43891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437558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加载技能</a:t>
            </a:r>
            <a:endParaRPr lang="en-US" sz="1400" dirty="0"/>
          </a:p>
        </p:txBody>
      </p:sp>
      <p:sp>
        <p:nvSpPr>
          <p:cNvPr id="21" name="Text 14"/>
          <p:cNvSpPr/>
          <p:nvPr/>
        </p:nvSpPr>
        <p:spPr>
          <a:xfrm>
            <a:off x="437558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内置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+ 自定义技能</a:t>
            </a:r>
            <a:endParaRPr lang="en-US" sz="1200" dirty="0"/>
          </a:p>
        </p:txBody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2971800"/>
            <a:ext cx="201168" cy="201168"/>
          </a:xfrm>
          <a:prstGeom prst="rect">
            <a:avLst/>
          </a:prstGeom>
        </p:spPr>
      </p:pic>
      <p:sp>
        <p:nvSpPr>
          <p:cNvPr id="23" name="Shape 15"/>
          <p:cNvSpPr/>
          <p:nvPr/>
        </p:nvSpPr>
        <p:spPr>
          <a:xfrm>
            <a:off x="6243340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24" name="Shape 16"/>
          <p:cNvSpPr/>
          <p:nvPr/>
        </p:nvSpPr>
        <p:spPr>
          <a:xfrm>
            <a:off x="6645676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0268" y="2862072"/>
            <a:ext cx="438912" cy="438912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6243340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执行产出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6243340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创建文档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电子表格／邮件</a:t>
            </a:r>
            <a:endParaRPr lang="en-US" sz="1200" dirty="0"/>
          </a:p>
        </p:txBody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63017" y="2971800"/>
            <a:ext cx="201168" cy="201168"/>
          </a:xfrm>
          <a:prstGeom prst="rect">
            <a:avLst/>
          </a:prstGeom>
        </p:spPr>
      </p:pic>
      <p:sp>
        <p:nvSpPr>
          <p:cNvPr id="29" name="Shape 19"/>
          <p:cNvSpPr/>
          <p:nvPr/>
        </p:nvSpPr>
        <p:spPr>
          <a:xfrm>
            <a:off x="8111094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8513430" y="2697480"/>
            <a:ext cx="768096" cy="768096"/>
          </a:xfrm>
          <a:prstGeom prst="ellipse">
            <a:avLst/>
          </a:prstGeom>
          <a:solidFill>
            <a:srgbClr val="6366F1"/>
          </a:solidFill>
          <a:ln/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8022" y="2862072"/>
            <a:ext cx="438912" cy="438912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8111094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自检</a:t>
            </a:r>
            <a:endParaRPr lang="en-US" sz="1400" dirty="0"/>
          </a:p>
        </p:txBody>
      </p:sp>
      <p:sp>
        <p:nvSpPr>
          <p:cNvPr id="33" name="Text 22"/>
          <p:cNvSpPr/>
          <p:nvPr/>
        </p:nvSpPr>
        <p:spPr>
          <a:xfrm>
            <a:off x="8111094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核对数字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与一致性</a:t>
            </a:r>
            <a:endParaRPr lang="en-US" sz="1200" dirty="0"/>
          </a:p>
        </p:txBody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30770" y="2971800"/>
            <a:ext cx="201168" cy="201168"/>
          </a:xfrm>
          <a:prstGeom prst="rect">
            <a:avLst/>
          </a:prstGeom>
        </p:spPr>
      </p:pic>
      <p:sp>
        <p:nvSpPr>
          <p:cNvPr id="35" name="Shape 23"/>
          <p:cNvSpPr/>
          <p:nvPr/>
        </p:nvSpPr>
        <p:spPr>
          <a:xfrm>
            <a:off x="9978847" y="2468880"/>
            <a:ext cx="1572768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76200" dist="25400" dir="5400000">
              <a:srgbClr val="9AA0C0">
                <a:alpha val="15000"/>
              </a:srgbClr>
            </a:outerShdw>
          </a:effectLst>
        </p:spPr>
      </p:sp>
      <p:sp>
        <p:nvSpPr>
          <p:cNvPr id="36" name="Shape 24"/>
          <p:cNvSpPr/>
          <p:nvPr/>
        </p:nvSpPr>
        <p:spPr>
          <a:xfrm>
            <a:off x="10381183" y="2697480"/>
            <a:ext cx="768096" cy="768096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3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45775" y="2862072"/>
            <a:ext cx="438912" cy="438912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9978847" y="3547872"/>
            <a:ext cx="157276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400" dirty="0"/>
          </a:p>
        </p:txBody>
      </p:sp>
      <p:sp>
        <p:nvSpPr>
          <p:cNvPr id="39" name="Text 26"/>
          <p:cNvSpPr/>
          <p:nvPr/>
        </p:nvSpPr>
        <p:spPr>
          <a:xfrm>
            <a:off x="9978847" y="3840480"/>
            <a:ext cx="1572768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对外操作</a:t>
            </a:r>
            <a:endParaRPr lang="en-US" sz="12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等你批准</a:t>
            </a:r>
            <a:endParaRPr lang="en-US" sz="1200" dirty="0"/>
          </a:p>
        </p:txBody>
      </p:sp>
      <p:sp>
        <p:nvSpPr>
          <p:cNvPr id="40" name="Text 27"/>
          <p:cNvSpPr/>
          <p:nvPr/>
        </p:nvSpPr>
        <p:spPr>
          <a:xfrm>
            <a:off x="640080" y="49377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整个过程在「工作区」面板里透明呈现；可以软／硬暂停、恢复或取消任务。</a:t>
            </a:r>
            <a:endParaRPr lang="en-US" sz="1400" dirty="0"/>
          </a:p>
        </p:txBody>
      </p:sp>
      <p:sp>
        <p:nvSpPr>
          <p:cNvPr id="41" name="Text 28"/>
          <p:cNvSpPr/>
          <p:nvPr/>
        </p:nvSpPr>
        <p:spPr>
          <a:xfrm>
            <a:off x="640080" y="5285232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启动方式不只是聊天下指令：也能设置「收到指定邮件／被 @提及时」自动触发（事件驱动任务），一样走相同的自检和审批流程。</a:t>
            </a:r>
            <a:endParaRPr lang="en-US" sz="1300" dirty="0"/>
          </a:p>
        </p:txBody>
      </p:sp>
      <p:sp>
        <p:nvSpPr>
          <p:cNvPr id="42" name="Text 2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3" name="Text 3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BEFORE YOU START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练习环境准备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972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素材下载后拖进对话即可，不需要事先放进 OneDrive · 准备时间 约 8 分钟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📥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43584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下载示例文件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243584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每个场景的〈参考文件〉区都有下载链接，点了就存到你的电脑。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78728" y="1874520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78728" y="1874520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3" name="Text 11"/>
          <p:cNvSpPr/>
          <p:nvPr/>
        </p:nvSpPr>
        <p:spPr>
          <a:xfrm>
            <a:off x="6443320" y="1929384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📧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82232" y="1920240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邮箱：它会建草稿，不会擅自发出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882232" y="2194560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有几个场景会让 Cowork 起草邮件。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18" name="Text 16"/>
          <p:cNvSpPr/>
          <p:nvPr/>
        </p:nvSpPr>
        <p:spPr>
          <a:xfrm>
            <a:off x="804672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📅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43584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日历：本周留一些空档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243584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有几个场景会让 Cowork 安排会议或建提醒，写进的是你自己的日历。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278728" y="2779776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278728" y="2779776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3" name="Text 21"/>
          <p:cNvSpPr/>
          <p:nvPr/>
        </p:nvSpPr>
        <p:spPr>
          <a:xfrm>
            <a:off x="6443320" y="2834640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📁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882232" y="2825496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产出会存到你的 OneDrive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82232" y="3099816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生成的文件会存进你自己的 OneDrive，也可以在对话右侧的工作区面板直接预览或下载。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40080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28" name="Text 26"/>
          <p:cNvSpPr/>
          <p:nvPr/>
        </p:nvSpPr>
        <p:spPr>
          <a:xfrm>
            <a:off x="804672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🧩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243584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技能文件夹：现场创建，不要先放进去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1243584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有场景会演示现场创建自定义技能。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278728" y="3685032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78728" y="3685032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3" name="Text 31"/>
          <p:cNvSpPr/>
          <p:nvPr/>
        </p:nvSpPr>
        <p:spPr>
          <a:xfrm>
            <a:off x="6443320" y="3739896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⏰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82232" y="3730752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自动化页面：先清掉残留的任务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6882232" y="4005072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有场景会创建计划提示（Scheduled prompt）或事件触发任务。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8" name="Text 36"/>
          <p:cNvSpPr/>
          <p:nvPr/>
        </p:nvSpPr>
        <p:spPr>
          <a:xfrm>
            <a:off x="804672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🔎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243584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Search：组织里要真的有东西可搜</a:t>
            </a:r>
            <a:endParaRPr lang="en-US" sz="1250" dirty="0"/>
          </a:p>
        </p:txBody>
      </p:sp>
      <p:sp>
        <p:nvSpPr>
          <p:cNvPr id="40" name="Text 38"/>
          <p:cNvSpPr/>
          <p:nvPr/>
        </p:nvSpPr>
        <p:spPr>
          <a:xfrm>
            <a:off x="1243584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有场景会让 Cowork 先用 Enterprise Search 盘点组织内部…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278728" y="4590288"/>
            <a:ext cx="5272888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78728" y="4590288"/>
            <a:ext cx="68580" cy="777240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3" name="Text 41"/>
          <p:cNvSpPr/>
          <p:nvPr/>
        </p:nvSpPr>
        <p:spPr>
          <a:xfrm>
            <a:off x="6443320" y="4645152"/>
            <a:ext cx="41148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🔬</a:t>
            </a:r>
            <a:endParaRPr lang="en-US" sz="1500" dirty="0"/>
          </a:p>
        </p:txBody>
      </p:sp>
      <p:sp>
        <p:nvSpPr>
          <p:cNvPr id="44" name="Text 42"/>
          <p:cNvSpPr/>
          <p:nvPr/>
        </p:nvSpPr>
        <p:spPr>
          <a:xfrm>
            <a:off x="6882232" y="4636008"/>
            <a:ext cx="4495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Deep Research 很慢也很贵，演示前先试跑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6882232" y="4910328"/>
            <a:ext cx="4495648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有场景会用到 Deep Research。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640080" y="5532120"/>
            <a:ext cx="10911535" cy="74980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0080" y="5532120"/>
            <a:ext cx="91440" cy="749808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48" name="Text 46"/>
          <p:cNvSpPr/>
          <p:nvPr/>
        </p:nvSpPr>
        <p:spPr>
          <a:xfrm>
            <a:off x="914400" y="5614416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开课前最后检查</a:t>
            </a:r>
            <a:endParaRPr lang="en-US" sz="1200" dirty="0"/>
          </a:p>
        </p:txBody>
      </p:sp>
      <p:pic>
        <p:nvPicPr>
          <p:cNvPr id="4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0" y="5641848"/>
            <a:ext cx="155448" cy="155448"/>
          </a:xfrm>
          <a:prstGeom prst="rect">
            <a:avLst/>
          </a:prstGeom>
        </p:spPr>
      </p:pic>
      <p:sp>
        <p:nvSpPr>
          <p:cNvPr id="50" name="Text 47"/>
          <p:cNvSpPr/>
          <p:nvPr/>
        </p:nvSpPr>
        <p:spPr>
          <a:xfrm>
            <a:off x="2999232" y="5586984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要练的场景，它的参考文件都已下载到你的电脑</a:t>
            </a:r>
            <a:endParaRPr lang="en-US" sz="1050" dirty="0"/>
          </a:p>
        </p:txBody>
      </p:sp>
      <p:pic>
        <p:nvPicPr>
          <p:cNvPr id="5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5852160"/>
            <a:ext cx="155448" cy="155448"/>
          </a:xfrm>
          <a:prstGeom prst="rect">
            <a:avLst/>
          </a:prstGeom>
        </p:spPr>
      </p:pic>
      <p:sp>
        <p:nvSpPr>
          <p:cNvPr id="52" name="Text 48"/>
          <p:cNvSpPr/>
          <p:nvPr/>
        </p:nvSpPr>
        <p:spPr>
          <a:xfrm>
            <a:off x="2999232" y="5797296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清楚审批卡出现时要逐个检查收件人，练习邮件不会发给真实对象</a:t>
            </a:r>
            <a:endParaRPr lang="en-US" sz="1050" dirty="0"/>
          </a:p>
        </p:txBody>
      </p:sp>
      <p:pic>
        <p:nvPicPr>
          <p:cNvPr id="5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6062472"/>
            <a:ext cx="155448" cy="155448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2999232" y="6007608"/>
            <a:ext cx="825977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日历本周有空档，可以让它排入测试会议</a:t>
            </a:r>
            <a:endParaRPr lang="en-US" sz="1050" dirty="0"/>
          </a:p>
        </p:txBody>
      </p:sp>
      <p:sp>
        <p:nvSpPr>
          <p:cNvPr id="55" name="Text 5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56" name="Text 5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 SCENARIOS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五大实战场景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828800"/>
            <a:ext cx="1889699" cy="109728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7" name="Shape 5"/>
          <p:cNvSpPr/>
          <p:nvPr/>
        </p:nvSpPr>
        <p:spPr>
          <a:xfrm>
            <a:off x="1127730" y="2194560"/>
            <a:ext cx="914400" cy="91440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8898" y="2395728"/>
            <a:ext cx="512064" cy="512064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31520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生产力 / 个人效率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731520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收件箱分类与定时执行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31520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Email · Daily Briefing · 计划提示 Scheduled prompt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31520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10 分钟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2895539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895539" y="1828800"/>
            <a:ext cx="1889699" cy="109728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5" name="Shape 12"/>
          <p:cNvSpPr/>
          <p:nvPr/>
        </p:nvSpPr>
        <p:spPr>
          <a:xfrm>
            <a:off x="3383189" y="2194560"/>
            <a:ext cx="914400" cy="91440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4357" y="2395728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6979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 / 售前</a:t>
            </a:r>
            <a:endParaRPr lang="en-US" sz="1150" dirty="0"/>
          </a:p>
        </p:txBody>
      </p:sp>
      <p:sp>
        <p:nvSpPr>
          <p:cNvPr id="18" name="Text 14"/>
          <p:cNvSpPr/>
          <p:nvPr/>
        </p:nvSpPr>
        <p:spPr>
          <a:xfrm>
            <a:off x="2986979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客户拜访全流程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2986979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 · Email · Scheduling · Calendar Management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2986979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12 分钟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5150998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5150998" y="1828800"/>
            <a:ext cx="1889699" cy="109728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23" name="Shape 19"/>
          <p:cNvSpPr/>
          <p:nvPr/>
        </p:nvSpPr>
        <p:spPr>
          <a:xfrm>
            <a:off x="5638648" y="2194560"/>
            <a:ext cx="914400" cy="91440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39816" y="2395728"/>
            <a:ext cx="512064" cy="512064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5242438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运营</a:t>
            </a:r>
            <a:endParaRPr lang="en-US" sz="1150" dirty="0"/>
          </a:p>
        </p:txBody>
      </p:sp>
      <p:sp>
        <p:nvSpPr>
          <p:cNvPr id="26" name="Text 21"/>
          <p:cNvSpPr/>
          <p:nvPr/>
        </p:nvSpPr>
        <p:spPr>
          <a:xfrm>
            <a:off x="5242438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销售数据多维呈现</a:t>
            </a:r>
            <a:endParaRPr lang="en-US" sz="1500" dirty="0"/>
          </a:p>
        </p:txBody>
      </p:sp>
      <p:sp>
        <p:nvSpPr>
          <p:cNvPr id="27" name="Text 22"/>
          <p:cNvSpPr/>
          <p:nvPr/>
        </p:nvSpPr>
        <p:spPr>
          <a:xfrm>
            <a:off x="5242438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 · Adaptive Cards · PDF</a:t>
            </a:r>
            <a:endParaRPr lang="en-US" sz="1200" dirty="0"/>
          </a:p>
        </p:txBody>
      </p:sp>
      <p:sp>
        <p:nvSpPr>
          <p:cNvPr id="28" name="Text 23"/>
          <p:cNvSpPr/>
          <p:nvPr/>
        </p:nvSpPr>
        <p:spPr>
          <a:xfrm>
            <a:off x="5242438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10 分钟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★☆☆</a:t>
            </a:r>
            <a:endParaRPr lang="en-US" sz="1100" dirty="0"/>
          </a:p>
        </p:txBody>
      </p:sp>
      <p:sp>
        <p:nvSpPr>
          <p:cNvPr id="29" name="Shape 24"/>
          <p:cNvSpPr/>
          <p:nvPr/>
        </p:nvSpPr>
        <p:spPr>
          <a:xfrm>
            <a:off x="7406457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406457" y="1828800"/>
            <a:ext cx="1889699" cy="109728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1" name="Shape 26"/>
          <p:cNvSpPr/>
          <p:nvPr/>
        </p:nvSpPr>
        <p:spPr>
          <a:xfrm>
            <a:off x="7894107" y="2194560"/>
            <a:ext cx="914400" cy="91440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5275" y="2395728"/>
            <a:ext cx="512064" cy="512064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7497897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 / 客户经营</a:t>
            </a:r>
            <a:endParaRPr lang="en-US" sz="1150" dirty="0"/>
          </a:p>
        </p:txBody>
      </p:sp>
      <p:sp>
        <p:nvSpPr>
          <p:cNvPr id="34" name="Text 28"/>
          <p:cNvSpPr/>
          <p:nvPr/>
        </p:nvSpPr>
        <p:spPr>
          <a:xfrm>
            <a:off x="7497897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内外部情报整合</a:t>
            </a:r>
            <a:endParaRPr lang="en-US" sz="1500" dirty="0"/>
          </a:p>
        </p:txBody>
      </p:sp>
      <p:sp>
        <p:nvSpPr>
          <p:cNvPr id="35" name="Text 29"/>
          <p:cNvSpPr/>
          <p:nvPr/>
        </p:nvSpPr>
        <p:spPr>
          <a:xfrm>
            <a:off x="7497897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Search · Deep Research · PowerPoint</a:t>
            </a:r>
            <a:endParaRPr lang="en-US" sz="1200" dirty="0"/>
          </a:p>
        </p:txBody>
      </p:sp>
      <p:sp>
        <p:nvSpPr>
          <p:cNvPr id="36" name="Text 30"/>
          <p:cNvSpPr/>
          <p:nvPr/>
        </p:nvSpPr>
        <p:spPr>
          <a:xfrm>
            <a:off x="7497897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15 分钟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37" name="Shape 31"/>
          <p:cNvSpPr/>
          <p:nvPr/>
        </p:nvSpPr>
        <p:spPr>
          <a:xfrm>
            <a:off x="9661916" y="1828800"/>
            <a:ext cx="1889699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88900" dist="25400" dir="5400000">
              <a:srgbClr val="9AA0C0">
                <a:alpha val="16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661916" y="1828800"/>
            <a:ext cx="1889699" cy="109728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9" name="Shape 33"/>
          <p:cNvSpPr/>
          <p:nvPr/>
        </p:nvSpPr>
        <p:spPr>
          <a:xfrm>
            <a:off x="10149566" y="2194560"/>
            <a:ext cx="914400" cy="91440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4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50734" y="2395728"/>
            <a:ext cx="512064" cy="512064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9753356" y="3218688"/>
            <a:ext cx="170681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知识工作 / 自动化</a:t>
            </a:r>
            <a:endParaRPr lang="en-US" sz="1150" dirty="0"/>
          </a:p>
        </p:txBody>
      </p:sp>
      <p:sp>
        <p:nvSpPr>
          <p:cNvPr id="42" name="Text 35"/>
          <p:cNvSpPr/>
          <p:nvPr/>
        </p:nvSpPr>
        <p:spPr>
          <a:xfrm>
            <a:off x="9753356" y="3493008"/>
            <a:ext cx="170681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自定义技能与事件触发</a:t>
            </a:r>
            <a:endParaRPr lang="en-US" sz="1500" dirty="0"/>
          </a:p>
        </p:txBody>
      </p:sp>
      <p:sp>
        <p:nvSpPr>
          <p:cNvPr id="43" name="Text 36"/>
          <p:cNvSpPr/>
          <p:nvPr/>
        </p:nvSpPr>
        <p:spPr>
          <a:xfrm>
            <a:off x="9753356" y="4114800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 Skill · 技能评测 Skill Report · 事件触发任务 Event-driven task</a:t>
            </a:r>
            <a:endParaRPr lang="en-US" sz="1200" dirty="0"/>
          </a:p>
        </p:txBody>
      </p:sp>
      <p:sp>
        <p:nvSpPr>
          <p:cNvPr id="44" name="Text 37"/>
          <p:cNvSpPr/>
          <p:nvPr/>
        </p:nvSpPr>
        <p:spPr>
          <a:xfrm>
            <a:off x="9753356" y="4645152"/>
            <a:ext cx="170681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18 分钟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9AA0C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★★☆</a:t>
            </a:r>
            <a:endParaRPr lang="en-US" sz="1100" dirty="0"/>
          </a:p>
        </p:txBody>
      </p:sp>
      <p:sp>
        <p:nvSpPr>
          <p:cNvPr id="45" name="Text 3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01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生产力 / 个人效率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收件箱分类与定时执行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10 分钟 · 难度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499616" y="457200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499616" y="45720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Daily Briefing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275234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275234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 Scheduled prompt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把一份“分类规则”交给 Cowork，让它每天早上用同一套标准帮你扫一遍收件箱、分四象限、挑出今天非回不可的邮件，再生成一份 5 分钟读完的晨报；最后把整套流程设成每天 08:30 自动执行 —— 从今天起，你开机时它已经做完了。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5179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0208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025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上传规则并让它分类今天的收件箱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3682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把参考文件里的分类规则 md 上传到聊天框，发送下面的提示词。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900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718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观察它怎么读邮件、逐封套规则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37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展开“思考过程”，看它怎么把每封邮件对应到你的规则；确认收件箱和规则都被读取后，发送下面的提示词。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9593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941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收到你的每日晨报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3068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读一下你的晨报，对照规则第四节的五个板块，确认它按你的格式排版。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9286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CA5010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910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设成每天 08:30 自动执行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2760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发送下面的提示词，把整套流程交给计划任务。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01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1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1_02_brief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CA5010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〔操作〕分类规则 md 已上传，Cowork 读取了你的真实收件箱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〔判断〕最多 3 封最优先邮件被标成 ⭐，而且它说得出每一封是套用哪一条规则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〔产出〕晨报含规则第四节的五个板块（今日焦点／今日会议／必须回复／等待中／提醒）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02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 / 售前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客户拜访全流程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12 分钟 · 难度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713232" cy="402336"/>
          </a:xfrm>
          <a:prstGeom prst="roundRect">
            <a:avLst>
              <a:gd name="adj" fmla="val 50000"/>
            </a:avLst>
          </a:prstGeom>
          <a:solidFill>
            <a:srgbClr val="2B579A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71323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Word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399032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399032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Email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95728" y="457200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2395728" y="457200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Scheduling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02920" y="5074920"/>
            <a:ext cx="222199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7" name="Text 14"/>
          <p:cNvSpPr/>
          <p:nvPr/>
        </p:nvSpPr>
        <p:spPr>
          <a:xfrm>
            <a:off x="502920" y="5074920"/>
            <a:ext cx="22219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Calendar Management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从一份客户背景资料出发，让 Cowork 自动生成“会前 brief”，会后起草跟进邮件并在你批准后发出，最后直接把下次会议排进日历 —— 从准备、收尾到约下一步，一条龙走完。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4526280" y="174650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2628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5166360" y="172821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上传背景文件并下指令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166360" y="209397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在聊天框点上传附件，把参考文件里的客户背景 docx 上传，发送下面的提示词。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526280" y="271576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526280" y="2715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5166360" y="269748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观察代理式工作流和产出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166360" y="306324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展开工作区面板，看它自检的过程；读完 Word 初稿后，发送下面的提示词。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4526280" y="368503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526280" y="3685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30" name="Text 27"/>
          <p:cNvSpPr/>
          <p:nvPr/>
        </p:nvSpPr>
        <p:spPr>
          <a:xfrm>
            <a:off x="5166360" y="366674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会后：起草跟进邮件并批准发出</a:t>
            </a:r>
            <a:endParaRPr lang="en-US" sz="1600" dirty="0"/>
          </a:p>
        </p:txBody>
      </p:sp>
      <p:sp>
        <p:nvSpPr>
          <p:cNvPr id="31" name="Text 28"/>
          <p:cNvSpPr/>
          <p:nvPr/>
        </p:nvSpPr>
        <p:spPr>
          <a:xfrm>
            <a:off x="5166360" y="403250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 Word brief 初稿的内容符合预期后，发送下面的提示词，并在审批卡出现时确认三件事。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4526280" y="465429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067B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26280" y="4654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166360" y="463600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把下次会议直接排进日历</a:t>
            </a:r>
            <a:endParaRPr lang="en-US" sz="1600" dirty="0"/>
          </a:p>
        </p:txBody>
      </p:sp>
      <p:sp>
        <p:nvSpPr>
          <p:cNvPr id="35" name="Text 32"/>
          <p:cNvSpPr/>
          <p:nvPr/>
        </p:nvSpPr>
        <p:spPr>
          <a:xfrm>
            <a:off x="5166360" y="500176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跟进邮件发出后，发送下面的提示词，让它把邮件里承诺的下一步真的变成一场会议。</a:t>
            </a:r>
            <a:endParaRPr lang="en-US" sz="1300" dirty="0"/>
          </a:p>
        </p:txBody>
      </p:sp>
      <p:sp>
        <p:nvSpPr>
          <p:cNvPr id="36" name="Text 3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02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2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2_02_brief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067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〔操作〕客户背景 docx 已上传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〔产出〕Word brief 含四个段落且内容对应背景资料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〔判断〕你问过它“有没有发现矛盾或信息不足”，并确认最终版本正确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运营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销售数据多维呈现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10 分钟 · 难度 ★☆☆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813816" cy="402336"/>
          </a:xfrm>
          <a:prstGeom prst="roundRect">
            <a:avLst>
              <a:gd name="adj" fmla="val 50000"/>
            </a:avLst>
          </a:prstGeom>
          <a:solidFill>
            <a:srgbClr val="217346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81381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Excel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1499616" y="4572000"/>
            <a:ext cx="1719072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1499616" y="4572000"/>
            <a:ext cx="171907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Adaptive Cards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074920"/>
            <a:ext cx="61264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074920"/>
            <a:ext cx="6126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丢一份原始销售明细给 Cowork，让它自动算出数据透视汇总、用公式联动、标出最好和最差，并写出关键发现；再把三个重点做成对话里就能看的交互卡片，以及一份可以直接转发的 PDF —— 同一份分析，三种给人看的方式。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5179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0208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025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上传数据并说清楚你要的分析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3682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把参考文件里的销售原始 xlsx 上传到聊天框，发送下面的提示词。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900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718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观察它怎么自己校验数字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37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展开“思考过程”，看 Python 计算和 Excel 建表交替进行的步骤；确认数字做过交叉校验后…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9593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941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打开仪表板验收成果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3068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点开生成的 xlsx 预览，确认工作表结构；如果你想知道哪些数字是动态公式、哪些是写死的，发送下面的提示词。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9286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0A8F5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910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同一份分析，换两种给人看的方式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2760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仪表板验收无误后，发送下面的提示词，让它把三个关键发现做成交互卡片，另存一份 PDF 摘要。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03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3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3_02_dashboard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0A8F5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〔操作〕销售原始 xlsx 已上传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〔产出〕生成的文件含“销售分析仪表板”和“原始数据”两个工作表，三张数据透视汇总表各含小计、占比与退货率，以 SUMIF 公式联动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〔产出〕附有三点关键发现与建议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04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 / 客户经营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内外部情报整合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15 分钟 · 难度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2020824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2020824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Enterprise Search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1618488" cy="402336"/>
          </a:xfrm>
          <a:prstGeom prst="roundRect">
            <a:avLst>
              <a:gd name="adj" fmla="val 50000"/>
            </a:avLst>
          </a:prstGeom>
          <a:solidFill>
            <a:srgbClr val="8764B8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16184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Deep Research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2304288" y="5074920"/>
            <a:ext cx="1316736" cy="402336"/>
          </a:xfrm>
          <a:prstGeom prst="roundRect">
            <a:avLst>
              <a:gd name="adj" fmla="val 50000"/>
            </a:avLst>
          </a:prstGeom>
          <a:solidFill>
            <a:srgbClr val="C43E1C"/>
          </a:solidFill>
          <a:ln/>
        </p:spPr>
      </p:sp>
      <p:sp>
        <p:nvSpPr>
          <p:cNvPr id="15" name="Text 12"/>
          <p:cNvSpPr/>
          <p:nvPr/>
        </p:nvSpPr>
        <p:spPr>
          <a:xfrm>
            <a:off x="2304288" y="5074920"/>
            <a:ext cx="13167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PowerPoint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做客户汇报前，先问一个常被跳过的问题：我们公司内部已经知道什么？让 Cowork 先用企业搜索捞出组织内已有的会议纪要和往来资料，再联网做深度研究补外部信息，最后接力做成一份有凭有据的 PowerPoint。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51790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202082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20208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200253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先问内部：我们已经知道什么？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36829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先不要上传任何文件，也先不要联网查。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99008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99008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97180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再问外部：把缺的补起来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33756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把参考文件里的研究演示大纲 md 上传到聊天框，发送下面的提示词。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95935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95935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94106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多技能接力：内部＋外部 → 幻灯片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30682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确认研究摘要 research-report.md 已经写出来，并看到 PowerPoint 技能被加载后…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92861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8764B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92861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91032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验收：哪些能讲、哪些要先核实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27608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点开 PowerPoint 预览，确认 8 页结构完整，找出黄色占位符字段和来源标注；发送下面的提示词。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04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4_01_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4_03_deck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8764B8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〔操作〕你一个文件都没上传，Cowork 就用企业搜索捞出了组织内已有的客户资料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〔判断〕你看得出内部已知什么、缺什么，才决定外部要查哪些方面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〔产出〕深度研究生成一份附有真实来源链接的研究摘要（.md）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E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64008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05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143000"/>
            <a:ext cx="1097280" cy="1097280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444752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3774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BCE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知识工作 / 自动化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2697480"/>
            <a:ext cx="329184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自定义技能与事件触发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502920" y="4114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⏱ 约 18 分钟 · 难度 ★★☆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02920" y="4572000"/>
            <a:ext cx="1828800" cy="402336"/>
          </a:xfrm>
          <a:prstGeom prst="roundRect">
            <a:avLst>
              <a:gd name="adj" fmla="val 50000"/>
            </a:avLst>
          </a:prstGeom>
          <a:solidFill>
            <a:srgbClr val="7A4DDB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" y="457200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 Skill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502920" y="5074920"/>
            <a:ext cx="235000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3" name="Text 10"/>
          <p:cNvSpPr/>
          <p:nvPr/>
        </p:nvSpPr>
        <p:spPr>
          <a:xfrm>
            <a:off x="502920" y="5074920"/>
            <a:ext cx="2350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技能评测 Skill Report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02920" y="5577840"/>
            <a:ext cx="3218688" cy="402336"/>
          </a:xfrm>
          <a:prstGeom prst="roundRect">
            <a:avLst>
              <a:gd name="adj" fmla="val 50000"/>
            </a:avLst>
          </a:prstGeom>
          <a:solidFill>
            <a:srgbClr val="6366F1"/>
          </a:solidFill>
          <a:ln/>
        </p:spPr>
      </p:sp>
      <p:sp>
        <p:nvSpPr>
          <p:cNvPr id="15" name="Text 12"/>
          <p:cNvSpPr/>
          <p:nvPr/>
        </p:nvSpPr>
        <p:spPr>
          <a:xfrm>
            <a:off x="502920" y="5577840"/>
            <a:ext cx="321868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事件触发任务 Event-driven task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526280" y="566928"/>
            <a:ext cx="71323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7D9F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把你每周都要做的固定工作教给 Cowork 一次，看它自动给你的技能打分，最后再让这个技能自己启动 —— 收到特定的邮件就自动跑，连那句触发语都不用说。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526280" y="1243584"/>
            <a:ext cx="7132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代理式工作流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1746504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526280" y="1746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5166360" y="1728216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先问 Cowork：技能怎么建？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166360" y="2093976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发送下面的提示词，让 Cowork 讲讲它自己的技能机制。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4526280" y="2715768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526280" y="27157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166360" y="2697480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 Cowork 用对话的方式帮你建技能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5166360" y="3063240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把参考文件里的 S5_SKILL.md 上传，对照技能定义，再发送下面的提示词让 Cowork 直接建技能。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4526280" y="3685032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26280" y="368503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5166360" y="3666744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开新会话，用一句话触发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166360" y="4032504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关掉当前的 Cowork 对话，开一个全新的 Cowork 聊天…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4526280" y="4654296"/>
            <a:ext cx="457200" cy="457200"/>
          </a:xfrm>
          <a:prstGeom prst="ellipse">
            <a:avLst/>
          </a:prstGeom>
          <a:solidFill>
            <a:srgbClr val="FFFFFF">
              <a:alpha val="12000"/>
            </a:srgbClr>
          </a:solidFill>
          <a:ln w="19050">
            <a:solidFill>
              <a:srgbClr val="7A4DDB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526280" y="46542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5166360" y="4636008"/>
            <a:ext cx="6492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⭐ 让技能自己启动：设一个事件触发任务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5166360" y="5001768"/>
            <a:ext cx="6492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2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发送下面的提示词，把刚才那个技能挂到“收到特定邮件”这个事件上。</a:t>
            </a:r>
            <a:endParaRPr lang="en-US" sz="1300" dirty="0"/>
          </a:p>
        </p:txBody>
      </p:sp>
      <p:sp>
        <p:nvSpPr>
          <p:cNvPr id="34" name="Text 31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 05 · 实机演示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看 Cowork 怎么做、产出什么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37754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6" name="Image 0" descr="C:\temp\CoworkLab\v2\_working\screenshots\s5_01_how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2408" y="1828800"/>
            <a:ext cx="4434840" cy="2904283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240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你的输入与指令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9584" y="1773936"/>
            <a:ext cx="4544568" cy="3014011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  <a:effectLst>
            <a:outerShdw sx="100000" sy="100000" kx="0" ky="0" algn="bl" rotWithShape="0" blurRad="114300" dist="38100" dir="5400000">
              <a:srgbClr val="8A90B5">
                <a:alpha val="22000"/>
              </a:srgbClr>
            </a:outerShdw>
          </a:effectLst>
        </p:spPr>
      </p:sp>
      <p:pic>
        <p:nvPicPr>
          <p:cNvPr id="9" name="Image 1" descr="C:\temp\CoworkLab\v2\_working\screenshots\s5_03_report_don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4448" y="1828800"/>
            <a:ext cx="4434840" cy="2904283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6324448" y="4824523"/>
            <a:ext cx="44348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产出成果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640080" y="5226859"/>
            <a:ext cx="10911535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0080" y="5226859"/>
            <a:ext cx="91440" cy="1143000"/>
          </a:xfrm>
          <a:prstGeom prst="rect">
            <a:avLst/>
          </a:prstGeom>
          <a:solidFill>
            <a:srgbClr val="7A4DDB"/>
          </a:solidFill>
          <a:ln/>
        </p:spPr>
      </p:sp>
      <p:sp>
        <p:nvSpPr>
          <p:cNvPr id="13" name="Text 9"/>
          <p:cNvSpPr/>
          <p:nvPr/>
        </p:nvSpPr>
        <p:spPr>
          <a:xfrm>
            <a:off x="914400" y="5336587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产出验收</a:t>
            </a:r>
            <a:endParaRPr lang="en-US" sz="1400" dirty="0"/>
          </a:p>
        </p:txBody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5373163"/>
            <a:ext cx="182880" cy="1828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154680" y="5318299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〔操作〕customer-weekly-report 技能已创建并同步到 OneDrive 的 Documents/Cowork/skills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0360" y="5711491"/>
            <a:ext cx="182880" cy="18288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154680" y="5656627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〔评测〕你看到了技能报告的分数，并说得出四个维度分别在评什么</a:t>
            </a:r>
            <a:endParaRPr lang="en-US" sz="1300" dirty="0"/>
          </a:p>
        </p:txBody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0360" y="6049819"/>
            <a:ext cx="182880" cy="182880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154680" y="5994955"/>
            <a:ext cx="8122615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〔判断〕你知道“高分”不等于“通过”，因为安全与 RAI 扫描是独立的关卡</a:t>
            </a:r>
            <a:endParaRPr lang="en-US" sz="1300" dirty="0"/>
          </a:p>
        </p:txBody>
      </p:sp>
      <p:sp>
        <p:nvSpPr>
          <p:cNvPr id="20" name="Text 1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6366F1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6366F1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MAKE IT YOURS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把场景延伸到你的日常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783080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68680" y="1901952"/>
            <a:ext cx="493776" cy="493776"/>
          </a:xfrm>
          <a:prstGeom prst="ellipse">
            <a:avLst/>
          </a:prstGeom>
          <a:solidFill>
            <a:srgbClr val="CA5010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6" y="2029968"/>
            <a:ext cx="237744" cy="23774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554480" y="1819656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A501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生产力 / 个人效率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3749040" y="1819656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把规则改成你自己的判断标准（你的 VIP 名单、你的象限定义），做出专属的分类逻辑。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640080" y="2624328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8680" y="2743200"/>
            <a:ext cx="493776" cy="493776"/>
          </a:xfrm>
          <a:prstGeom prst="ellipse">
            <a:avLst/>
          </a:prstGeom>
          <a:solidFill>
            <a:srgbClr val="0067B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6696" y="287121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554480" y="2660904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67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销售 / 售前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3749040" y="2660904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把背景文件换成你真实的客户资料（脱敏后），让 Cowork 生成你下一场拜访的 brief。</a:t>
            </a:r>
            <a:endParaRPr lang="en-US" sz="1350" dirty="0"/>
          </a:p>
        </p:txBody>
      </p:sp>
      <p:sp>
        <p:nvSpPr>
          <p:cNvPr id="15" name="Shape 11"/>
          <p:cNvSpPr/>
          <p:nvPr/>
        </p:nvSpPr>
        <p:spPr>
          <a:xfrm>
            <a:off x="640080" y="3465576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868680" y="3584448"/>
            <a:ext cx="493776" cy="493776"/>
          </a:xfrm>
          <a:prstGeom prst="ellipse">
            <a:avLst/>
          </a:prstGeom>
          <a:solidFill>
            <a:srgbClr val="0A8F5B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696" y="3712464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554480" y="350215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8F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 / 运营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3749040" y="3502152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换成你自己的销售或运营数据，生成属于你部门的仪表板。</a:t>
            </a:r>
            <a:endParaRPr lang="en-US" sz="1350" dirty="0"/>
          </a:p>
        </p:txBody>
      </p:sp>
      <p:sp>
        <p:nvSpPr>
          <p:cNvPr id="20" name="Shape 15"/>
          <p:cNvSpPr/>
          <p:nvPr/>
        </p:nvSpPr>
        <p:spPr>
          <a:xfrm>
            <a:off x="640080" y="4306824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868680" y="4425696"/>
            <a:ext cx="493776" cy="493776"/>
          </a:xfrm>
          <a:prstGeom prst="ellipse">
            <a:avLst/>
          </a:prstGeom>
          <a:solidFill>
            <a:srgbClr val="8764B8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6696" y="4553712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554480" y="4343400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764B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战略 / 客户经营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3749040" y="4343400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换成你自己负责的客户，先跑一遍企业搜索，看看公司内部到底积累了多少你不知道的资料。</a:t>
            </a:r>
            <a:endParaRPr lang="en-US" sz="1350" dirty="0"/>
          </a:p>
        </p:txBody>
      </p:sp>
      <p:sp>
        <p:nvSpPr>
          <p:cNvPr id="25" name="Shape 19"/>
          <p:cNvSpPr/>
          <p:nvPr/>
        </p:nvSpPr>
        <p:spPr>
          <a:xfrm>
            <a:off x="640080" y="5148072"/>
            <a:ext cx="10911535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7F2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868680" y="5266944"/>
            <a:ext cx="493776" cy="493776"/>
          </a:xfrm>
          <a:prstGeom prst="ellipse">
            <a:avLst/>
          </a:prstGeom>
          <a:solidFill>
            <a:srgbClr val="7A4DDB"/>
          </a:solidFill>
          <a:ln/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696" y="5394960"/>
            <a:ext cx="237744" cy="23774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554480" y="5184648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A4DD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知识工作 / 自动化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3749040" y="5184648"/>
            <a:ext cx="7619695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1E223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💡 把段落和用语改成你公司真正的周报格式，建立属于你自己的版本。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31" name="Text 2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079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66928"/>
            <a:ext cx="384048" cy="128016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Text 1"/>
          <p:cNvSpPr/>
          <p:nvPr/>
        </p:nvSpPr>
        <p:spPr>
          <a:xfrm>
            <a:off x="1143000" y="457200"/>
            <a:ext cx="8229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2D3E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TRUST &amp; CONTROL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86384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自动化，但你始终是决策者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2039112"/>
            <a:ext cx="448056" cy="4480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691640" y="1856232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操作前审批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691640" y="2203704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中高风险操作会显示 RISK-LEVEL；发邮件、发 Teams、创建会议等操作会先摊开成可编辑的预览，批准后才发出。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044952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3209544"/>
            <a:ext cx="448056" cy="448056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691640" y="3026664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控制范围清楚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691640" y="3374136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「不再询问」可以限定此收件人、此域名，或者始终允许；任务可以软／硬暂停、恢复或取消。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40080" y="4215384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4379976"/>
            <a:ext cx="448056" cy="448056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691640" y="4197096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自动化任务也有把关</a:t>
            </a:r>
            <a:endParaRPr lang="en-US" sz="1700" dirty="0"/>
          </a:p>
        </p:txBody>
      </p:sp>
      <p:sp>
        <p:nvSpPr>
          <p:cNvPr id="16" name="Text 11"/>
          <p:cNvSpPr/>
          <p:nvPr/>
        </p:nvSpPr>
        <p:spPr>
          <a:xfrm>
            <a:off x="1691640" y="4544568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计划提示和事件驱动任务有执行频率限制和防循环保护；一律以创建者的权限执行，而且与其他 Cowork 活动一起记录在统一审核日志里，适用 Microsoft Purview 策略。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40080" y="5385816"/>
            <a:ext cx="777240" cy="777240"/>
          </a:xfrm>
          <a:prstGeom prst="roundRect">
            <a:avLst>
              <a:gd name="adj" fmla="val 18824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22D3EE">
                <a:alpha val="60000"/>
              </a:srgbClr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5550408"/>
            <a:ext cx="448056" cy="44805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691640" y="5367528"/>
            <a:ext cx="6858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限制也要知道</a:t>
            </a:r>
            <a:endParaRPr lang="en-US" sz="1700" dirty="0"/>
          </a:p>
        </p:txBody>
      </p:sp>
      <p:sp>
        <p:nvSpPr>
          <p:cNvPr id="20" name="Text 14"/>
          <p:cNvSpPr/>
          <p:nvPr/>
        </p:nvSpPr>
        <p:spPr>
          <a:xfrm>
            <a:off x="1691640" y="5715000"/>
            <a:ext cx="99669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不能访问本地文件、删除 OneDrive/SharePoint 文件或读取加密文件；附件 &lt;200MB；自定义技能和第三方 plugin 未经 Microsoft 验证，需要自行审阅。官方明确列出不适用于「免人工审查即需保证正确」的用途。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</a:t>
            </a:r>
            <a:endParaRPr lang="en-US" sz="900" dirty="0"/>
          </a:p>
        </p:txBody>
      </p:sp>
      <p:sp>
        <p:nvSpPr>
          <p:cNvPr id="22" name="Text 16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B5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55448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现在就开始练习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640080" y="2606040"/>
            <a:ext cx="8686800" cy="868680"/>
          </a:xfrm>
          <a:prstGeom prst="roundRect">
            <a:avLst>
              <a:gd name="adj" fmla="val 1263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35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80360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2715768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Cowork 练习手册</a:t>
            </a:r>
            <a:endParaRPr lang="en-US" sz="1400" dirty="0"/>
          </a:p>
        </p:txBody>
      </p:sp>
      <p:sp>
        <p:nvSpPr>
          <p:cNvPr id="6" name="Text 3">
            <a:hlinkClick r:id="rId3" tooltip=""/>
          </p:cNvPr>
          <p:cNvSpPr/>
          <p:nvPr/>
        </p:nvSpPr>
        <p:spPr>
          <a:xfrm>
            <a:off x="1417320" y="3008376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9FE9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aka.ms/CoworkPlaybook</a:t>
            </a:r>
            <a:endParaRPr lang="en-US" sz="13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950208"/>
            <a:ext cx="237744" cy="23774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005840" y="3895344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挑一个最贴近你工作的场景开始</a:t>
            </a:r>
            <a:endParaRPr lang="en-US" sz="14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425696"/>
            <a:ext cx="237744" cy="237744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005840" y="4370832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自定义技能放 OneDrive /Documents/Cowork/skills/ 下的 SKILL.md（最多 50 个、每个 1MB）</a:t>
            </a:r>
            <a:endParaRPr lang="en-US" sz="1400" dirty="0"/>
          </a:p>
        </p:txBody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4901184"/>
            <a:ext cx="237744" cy="23774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1005840" y="484632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模型选择器：Auto（默认）、GPT 5.5 Frontier、GPT 5.6 Sol／Terra、GPT 6 Astra、Opus 5、Claude Sonnet 5、Claude Fable 5.1</a:t>
            </a:r>
            <a:endParaRPr lang="en-US" sz="1400" dirty="0"/>
          </a:p>
        </p:txBody>
      </p:sp>
      <p:pic>
        <p:nvPicPr>
          <p:cNvPr id="13" name="Image 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0080" y="5376672"/>
            <a:ext cx="237744" cy="237744"/>
          </a:xfrm>
          <a:prstGeom prst="rect">
            <a:avLst/>
          </a:prstGeom>
        </p:spPr>
      </p:pic>
      <p:sp>
        <p:nvSpPr>
          <p:cNvPr id="14" name="Text 7"/>
          <p:cNvSpPr/>
          <p:nvPr/>
        </p:nvSpPr>
        <p:spPr>
          <a:xfrm>
            <a:off x="1005840" y="5321808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工作量级别：Light／Medium（默认）／High／Extra High／Max —— 越高越彻底，但更慢且消耗更多点数</a:t>
            </a:r>
            <a:endParaRPr lang="en-US" sz="1400" dirty="0"/>
          </a:p>
        </p:txBody>
      </p:sp>
      <p:pic>
        <p:nvPicPr>
          <p:cNvPr id="15" name="Image 5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5852160"/>
            <a:ext cx="237744" cy="23774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005840" y="5797296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3E5F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想要自动触发？到「自动化」页设置计划提示（上限 25 个）或事件触发任务（收到邮件／被 @提及）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3774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谢谢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64008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CA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从提问到交办，标准你决定，执行交给 Cowork。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4389120"/>
            <a:ext cx="3200400" cy="0"/>
          </a:xfrm>
          <a:prstGeom prst="line">
            <a:avLst/>
          </a:prstGeom>
          <a:noFill/>
          <a:ln w="12700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262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A3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Microsoft 365 Copilot Cowork · 培训演示文稿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365 Copilot Cowork 培训</dc:title>
  <dc:subject>PptxGenJS Presentation</dc:subject>
  <dc:creator>Andy Hung</dc:creator>
  <cp:lastModifiedBy>Andy Hung</cp:lastModifiedBy>
  <cp:revision>1</cp:revision>
  <dcterms:created xsi:type="dcterms:W3CDTF">2026-09-10T21:35:34Z</dcterms:created>
  <dcterms:modified xsi:type="dcterms:W3CDTF">2026-09-10T21:35:34Z</dcterms:modified>
</cp:coreProperties>
</file>