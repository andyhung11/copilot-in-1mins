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CoworkPlaybook" TargetMode="External"/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5" Type="http://schemas.openxmlformats.org/officeDocument/2006/relationships/image" Target="../media/image-25-4.png"/><Relationship Id="rId6" Type="http://schemas.openxmlformats.org/officeDocument/2006/relationships/image" Target="../media/image-25-5.png"/><Relationship Id="rId7" Type="http://schemas.openxmlformats.org/officeDocument/2006/relationships/image" Target="../media/image-25-6.png"/><Relationship Id="rId8" Type="http://schemas.openxmlformats.org/officeDocument/2006/relationships/image" Target="../media/image-25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7 個零售通路營運的實戰情境，看 Copilot 如何把通路承諾拆回門市、批次、成本與資料邊界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客戶分享版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範例檔下載後拖進對話，以及哪些情境會動到信箱與行事曆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七大零售通路實戰情境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冷鏈隔離、促銷配貨、新品毛利、退貨政策、開幕日期、供應商淨成本與 KPI 觀察，逐一拆解工作流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14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連外部系統，官方目錄已有 92 個合作夥伴 plugin（D365、SAP、Fabric 等）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848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29514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214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060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Cards、App（Frontier）。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0848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29514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214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060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2519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5994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80974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6360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51206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2519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5994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80974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6360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51206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排程提示（上限 25 個）與事件觸發任務、投入 Effort 五級調節品質與成本、自訂技能建立後自動產生技能報告（0–100 分四維度，另有含 Safety and RAI 掃描的 5 道獨立關卡）、本機 Edge 瀏覽器（2026/8 GA）、影像生成、Plugins／MCP 連外部系統。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素材下載後拖進對話即可，不需事先放進 OneDrive · 準備時間 約 10 分鐘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建立零售通路資料夾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OneDrive 建立 文件/Cowork_Lab/零售通路，並把七個 RET 子資料夾的素材放入。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👤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只用 CIO 自己驗證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本版不建立第二帳號流程；所有練習先在 CIO 自己的權限範圍內完成。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開課前最後檢查</a:t>
            </a:r>
            <a:endParaRPr lang="en-US" sz="12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七個 RET 資料夾都能被 Cowork 搜尋到</a:t>
            </a:r>
            <a:endParaRPr lang="en-US" sz="10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事件觸發或排程驗證後已停用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七個零售通路實戰情境總覽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355010" cy="109728"/>
          </a:xfrm>
          <a:prstGeom prst="rect">
            <a:avLst/>
          </a:prstGeom>
          <a:solidFill>
            <a:srgbClr val="0B5A5E"/>
          </a:solidFill>
          <a:ln/>
        </p:spPr>
      </p:sp>
      <p:sp>
        <p:nvSpPr>
          <p:cNvPr id="7" name="Shape 5"/>
          <p:cNvSpPr/>
          <p:nvPr/>
        </p:nvSpPr>
        <p:spPr>
          <a:xfrm>
            <a:off x="860385" y="2194560"/>
            <a:ext cx="914400" cy="914400"/>
          </a:xfrm>
          <a:prstGeom prst="ellipse">
            <a:avLst/>
          </a:prstGeom>
          <a:solidFill>
            <a:srgbClr val="0B5A5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553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0B5A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978" dirty="0"/>
          </a:p>
        </p:txBody>
      </p:sp>
      <p:sp>
        <p:nvSpPr>
          <p:cNvPr id="10" name="Text 7"/>
          <p:cNvSpPr/>
          <p:nvPr/>
        </p:nvSpPr>
        <p:spPr>
          <a:xfrm>
            <a:off x="731520" y="3541459"/>
            <a:ext cx="1172130" cy="631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冷鏈異常：不是每一筆超溫都要報廢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731520" y="4255262"/>
            <a:ext cx="117213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 · Excel · 核准與治理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731520" y="4842764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 分鐘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13" name="Shape 10"/>
          <p:cNvSpPr/>
          <p:nvPr/>
        </p:nvSpPr>
        <p:spPr>
          <a:xfrm>
            <a:off x="2232834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232834" y="1828800"/>
            <a:ext cx="1355010" cy="109728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15" name="Shape 12"/>
          <p:cNvSpPr/>
          <p:nvPr/>
        </p:nvSpPr>
        <p:spPr>
          <a:xfrm>
            <a:off x="2453139" y="2194560"/>
            <a:ext cx="914400" cy="914400"/>
          </a:xfrm>
          <a:prstGeom prst="ellipse">
            <a:avLst/>
          </a:prstGeom>
          <a:solidFill>
            <a:srgbClr val="8A4B0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307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324274" y="3163824"/>
            <a:ext cx="1172130" cy="34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8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058" dirty="0"/>
          </a:p>
        </p:txBody>
      </p:sp>
      <p:sp>
        <p:nvSpPr>
          <p:cNvPr id="18" name="Text 14"/>
          <p:cNvSpPr/>
          <p:nvPr/>
        </p:nvSpPr>
        <p:spPr>
          <a:xfrm>
            <a:off x="2324274" y="3568040"/>
            <a:ext cx="1172130" cy="911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促銷配貨：總量夠不代表門市放得下</a:t>
            </a:r>
            <a:endParaRPr lang="en-US" sz="1380" dirty="0"/>
          </a:p>
        </p:txBody>
      </p:sp>
      <p:sp>
        <p:nvSpPr>
          <p:cNvPr id="19" name="Text 15"/>
          <p:cNvSpPr/>
          <p:nvPr/>
        </p:nvSpPr>
        <p:spPr>
          <a:xfrm>
            <a:off x="2324274" y="4561688"/>
            <a:ext cx="1172130" cy="3645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4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 · Excel</a:t>
            </a:r>
            <a:endParaRPr lang="en-US" sz="1104" dirty="0"/>
          </a:p>
        </p:txBody>
      </p:sp>
      <p:sp>
        <p:nvSpPr>
          <p:cNvPr id="20" name="Text 16"/>
          <p:cNvSpPr/>
          <p:nvPr/>
        </p:nvSpPr>
        <p:spPr>
          <a:xfrm>
            <a:off x="2324274" y="5008524"/>
            <a:ext cx="1172130" cy="3341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12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 分鐘</a:t>
            </a:r>
            <a:endParaRPr lang="en-US" sz="1012" dirty="0"/>
          </a:p>
          <a:p>
            <a:pPr algn="ctr" indent="0" marL="0">
              <a:buNone/>
            </a:pPr>
            <a:r>
              <a:rPr lang="en-US" sz="1012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012" dirty="0"/>
          </a:p>
        </p:txBody>
      </p:sp>
      <p:sp>
        <p:nvSpPr>
          <p:cNvPr id="21" name="Shape 17"/>
          <p:cNvSpPr/>
          <p:nvPr/>
        </p:nvSpPr>
        <p:spPr>
          <a:xfrm>
            <a:off x="3825588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825588" y="1828800"/>
            <a:ext cx="1355010" cy="109728"/>
          </a:xfrm>
          <a:prstGeom prst="rect">
            <a:avLst/>
          </a:prstGeom>
          <a:solidFill>
            <a:srgbClr val="5B3A8A"/>
          </a:solidFill>
          <a:ln/>
        </p:spPr>
      </p:sp>
      <p:sp>
        <p:nvSpPr>
          <p:cNvPr id="23" name="Shape 19"/>
          <p:cNvSpPr/>
          <p:nvPr/>
        </p:nvSpPr>
        <p:spPr>
          <a:xfrm>
            <a:off x="4045893" y="2194560"/>
            <a:ext cx="914400" cy="914400"/>
          </a:xfrm>
          <a:prstGeom prst="ellipse">
            <a:avLst/>
          </a:prstGeom>
          <a:solidFill>
            <a:srgbClr val="5B3A8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061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3917028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5B3A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978" dirty="0"/>
          </a:p>
        </p:txBody>
      </p:sp>
      <p:sp>
        <p:nvSpPr>
          <p:cNvPr id="26" name="Text 21"/>
          <p:cNvSpPr/>
          <p:nvPr/>
        </p:nvSpPr>
        <p:spPr>
          <a:xfrm>
            <a:off x="3917028" y="3541459"/>
            <a:ext cx="1172130" cy="631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新品上市：營收達標仍可能不過毛利底線</a:t>
            </a:r>
            <a:endParaRPr lang="en-US" sz="1275" dirty="0"/>
          </a:p>
        </p:txBody>
      </p:sp>
      <p:sp>
        <p:nvSpPr>
          <p:cNvPr id="27" name="Text 22"/>
          <p:cNvSpPr/>
          <p:nvPr/>
        </p:nvSpPr>
        <p:spPr>
          <a:xfrm>
            <a:off x="3917028" y="4255262"/>
            <a:ext cx="117213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 · Excel · PowerPoint</a:t>
            </a:r>
            <a:endParaRPr lang="en-US" sz="1020" dirty="0"/>
          </a:p>
        </p:txBody>
      </p:sp>
      <p:sp>
        <p:nvSpPr>
          <p:cNvPr id="28" name="Text 23"/>
          <p:cNvSpPr/>
          <p:nvPr/>
        </p:nvSpPr>
        <p:spPr>
          <a:xfrm>
            <a:off x="3917028" y="4842764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 分鐘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29" name="Shape 24"/>
          <p:cNvSpPr/>
          <p:nvPr/>
        </p:nvSpPr>
        <p:spPr>
          <a:xfrm>
            <a:off x="5418343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5418343" y="1828800"/>
            <a:ext cx="1355010" cy="109728"/>
          </a:xfrm>
          <a:prstGeom prst="rect">
            <a:avLst/>
          </a:prstGeom>
          <a:solidFill>
            <a:srgbClr val="7B2838"/>
          </a:solidFill>
          <a:ln/>
        </p:spPr>
      </p:sp>
      <p:sp>
        <p:nvSpPr>
          <p:cNvPr id="31" name="Shape 26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7B2838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5509783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7B28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978" dirty="0"/>
          </a:p>
        </p:txBody>
      </p:sp>
      <p:sp>
        <p:nvSpPr>
          <p:cNvPr id="34" name="Text 28"/>
          <p:cNvSpPr/>
          <p:nvPr/>
        </p:nvSpPr>
        <p:spPr>
          <a:xfrm>
            <a:off x="5509783" y="3541459"/>
            <a:ext cx="1172130" cy="842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退貨政策：開封個人護理品不等於無條件退款</a:t>
            </a:r>
            <a:endParaRPr lang="en-US" sz="1275" dirty="0"/>
          </a:p>
        </p:txBody>
      </p:sp>
      <p:sp>
        <p:nvSpPr>
          <p:cNvPr id="35" name="Text 29"/>
          <p:cNvSpPr/>
          <p:nvPr/>
        </p:nvSpPr>
        <p:spPr>
          <a:xfrm>
            <a:off x="5509783" y="4465765"/>
            <a:ext cx="117213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 · Word · 核准與治理</a:t>
            </a:r>
            <a:endParaRPr lang="en-US" sz="1020" dirty="0"/>
          </a:p>
        </p:txBody>
      </p:sp>
      <p:sp>
        <p:nvSpPr>
          <p:cNvPr id="36" name="Text 30"/>
          <p:cNvSpPr/>
          <p:nvPr/>
        </p:nvSpPr>
        <p:spPr>
          <a:xfrm>
            <a:off x="5509783" y="5053267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 分鐘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37" name="Shape 31"/>
          <p:cNvSpPr/>
          <p:nvPr/>
        </p:nvSpPr>
        <p:spPr>
          <a:xfrm>
            <a:off x="7011097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7011097" y="1828800"/>
            <a:ext cx="1355010" cy="109728"/>
          </a:xfrm>
          <a:prstGeom prst="rect">
            <a:avLst/>
          </a:prstGeom>
          <a:solidFill>
            <a:srgbClr val="1D5B8F"/>
          </a:solidFill>
          <a:ln/>
        </p:spPr>
      </p:sp>
      <p:sp>
        <p:nvSpPr>
          <p:cNvPr id="39" name="Shape 33"/>
          <p:cNvSpPr/>
          <p:nvPr/>
        </p:nvSpPr>
        <p:spPr>
          <a:xfrm>
            <a:off x="7231402" y="2194560"/>
            <a:ext cx="914400" cy="914400"/>
          </a:xfrm>
          <a:prstGeom prst="ellipse">
            <a:avLst/>
          </a:prstGeom>
          <a:solidFill>
            <a:srgbClr val="1D5B8F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2570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7102537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1D5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978" dirty="0"/>
          </a:p>
        </p:txBody>
      </p:sp>
      <p:sp>
        <p:nvSpPr>
          <p:cNvPr id="42" name="Text 35"/>
          <p:cNvSpPr/>
          <p:nvPr/>
        </p:nvSpPr>
        <p:spPr>
          <a:xfrm>
            <a:off x="7102537" y="3541459"/>
            <a:ext cx="1172130" cy="631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門市開幕：只有一個日期通過所有黑名單</a:t>
            </a:r>
            <a:endParaRPr lang="en-US" sz="1275" dirty="0"/>
          </a:p>
        </p:txBody>
      </p:sp>
      <p:sp>
        <p:nvSpPr>
          <p:cNvPr id="43" name="Text 36"/>
          <p:cNvSpPr/>
          <p:nvPr/>
        </p:nvSpPr>
        <p:spPr>
          <a:xfrm>
            <a:off x="7102537" y="4255262"/>
            <a:ext cx="1172130" cy="842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 · Excel · 排程提示 Scheduled prompt</a:t>
            </a:r>
            <a:endParaRPr lang="en-US" sz="1020" dirty="0"/>
          </a:p>
        </p:txBody>
      </p:sp>
      <p:sp>
        <p:nvSpPr>
          <p:cNvPr id="44" name="Text 37"/>
          <p:cNvSpPr/>
          <p:nvPr/>
        </p:nvSpPr>
        <p:spPr>
          <a:xfrm>
            <a:off x="7102537" y="5179568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 分鐘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45" name="Shape 38"/>
          <p:cNvSpPr/>
          <p:nvPr/>
        </p:nvSpPr>
        <p:spPr>
          <a:xfrm>
            <a:off x="8603851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8603851" y="1828800"/>
            <a:ext cx="1355010" cy="109728"/>
          </a:xfrm>
          <a:prstGeom prst="rect">
            <a:avLst/>
          </a:prstGeom>
          <a:solidFill>
            <a:srgbClr val="375A3D"/>
          </a:solidFill>
          <a:ln/>
        </p:spPr>
      </p:sp>
      <p:sp>
        <p:nvSpPr>
          <p:cNvPr id="47" name="Shape 40"/>
          <p:cNvSpPr/>
          <p:nvPr/>
        </p:nvSpPr>
        <p:spPr>
          <a:xfrm>
            <a:off x="8824156" y="2194560"/>
            <a:ext cx="914400" cy="914400"/>
          </a:xfrm>
          <a:prstGeom prst="ellipse">
            <a:avLst/>
          </a:prstGeom>
          <a:solidFill>
            <a:srgbClr val="375A3D"/>
          </a:solidFill>
          <a:ln/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5324" y="2395728"/>
            <a:ext cx="512064" cy="512064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8695291" y="3163824"/>
            <a:ext cx="1172130" cy="2961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97" b="1" dirty="0">
                <a:solidFill>
                  <a:srgbClr val="375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897" dirty="0"/>
          </a:p>
        </p:txBody>
      </p:sp>
      <p:sp>
        <p:nvSpPr>
          <p:cNvPr id="50" name="Text 42"/>
          <p:cNvSpPr/>
          <p:nvPr/>
        </p:nvSpPr>
        <p:spPr>
          <a:xfrm>
            <a:off x="8695291" y="3514877"/>
            <a:ext cx="1172130" cy="7726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供應商續約：最低牌價不一定是最低淨成本</a:t>
            </a:r>
            <a:endParaRPr lang="en-US" sz="1170" dirty="0"/>
          </a:p>
        </p:txBody>
      </p:sp>
      <p:sp>
        <p:nvSpPr>
          <p:cNvPr id="51" name="Text 43"/>
          <p:cNvSpPr/>
          <p:nvPr/>
        </p:nvSpPr>
        <p:spPr>
          <a:xfrm>
            <a:off x="8695291" y="4369841"/>
            <a:ext cx="1172130" cy="4636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6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 · Excel · Word · 核准與治理</a:t>
            </a:r>
            <a:endParaRPr lang="en-US" sz="936" dirty="0"/>
          </a:p>
        </p:txBody>
      </p:sp>
      <p:sp>
        <p:nvSpPr>
          <p:cNvPr id="52" name="Text 44"/>
          <p:cNvSpPr/>
          <p:nvPr/>
        </p:nvSpPr>
        <p:spPr>
          <a:xfrm>
            <a:off x="8695291" y="4915738"/>
            <a:ext cx="1172130" cy="28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 分鐘</a:t>
            </a:r>
            <a:endParaRPr lang="en-US" sz="858" dirty="0"/>
          </a:p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858" dirty="0"/>
          </a:p>
        </p:txBody>
      </p:sp>
      <p:sp>
        <p:nvSpPr>
          <p:cNvPr id="53" name="Shape 45"/>
          <p:cNvSpPr/>
          <p:nvPr/>
        </p:nvSpPr>
        <p:spPr>
          <a:xfrm>
            <a:off x="10196605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54" name="Shape 46"/>
          <p:cNvSpPr/>
          <p:nvPr/>
        </p:nvSpPr>
        <p:spPr>
          <a:xfrm>
            <a:off x="10196605" y="1828800"/>
            <a:ext cx="1355010" cy="109728"/>
          </a:xfrm>
          <a:prstGeom prst="rect">
            <a:avLst/>
          </a:prstGeom>
          <a:solidFill>
            <a:srgbClr val="6B4B2A"/>
          </a:solidFill>
          <a:ln/>
        </p:spPr>
      </p:sp>
      <p:sp>
        <p:nvSpPr>
          <p:cNvPr id="55" name="Shape 47"/>
          <p:cNvSpPr/>
          <p:nvPr/>
        </p:nvSpPr>
        <p:spPr>
          <a:xfrm>
            <a:off x="10416910" y="2194560"/>
            <a:ext cx="914400" cy="914400"/>
          </a:xfrm>
          <a:prstGeom prst="ellipse">
            <a:avLst/>
          </a:prstGeom>
          <a:solidFill>
            <a:srgbClr val="6B4B2A"/>
          </a:solidFill>
          <a:ln/>
        </p:spPr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8078" y="2395728"/>
            <a:ext cx="512064" cy="512064"/>
          </a:xfrm>
          <a:prstGeom prst="rect">
            <a:avLst/>
          </a:prstGeom>
        </p:spPr>
      </p:pic>
      <p:sp>
        <p:nvSpPr>
          <p:cNvPr id="57" name="Text 48"/>
          <p:cNvSpPr/>
          <p:nvPr/>
        </p:nvSpPr>
        <p:spPr>
          <a:xfrm>
            <a:off x="10288045" y="3163824"/>
            <a:ext cx="1172130" cy="2961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97" b="1" dirty="0">
                <a:solidFill>
                  <a:srgbClr val="6B4B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897" dirty="0"/>
          </a:p>
        </p:txBody>
      </p:sp>
      <p:sp>
        <p:nvSpPr>
          <p:cNvPr id="58" name="Text 49"/>
          <p:cNvSpPr/>
          <p:nvPr/>
        </p:nvSpPr>
        <p:spPr>
          <a:xfrm>
            <a:off x="10288045" y="3514877"/>
            <a:ext cx="1172130" cy="579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營運週報：同店銷售上升不代表毛利健康</a:t>
            </a:r>
            <a:endParaRPr lang="en-US" sz="1170" dirty="0"/>
          </a:p>
        </p:txBody>
      </p:sp>
      <p:sp>
        <p:nvSpPr>
          <p:cNvPr id="59" name="Text 50"/>
          <p:cNvSpPr/>
          <p:nvPr/>
        </p:nvSpPr>
        <p:spPr>
          <a:xfrm>
            <a:off x="10288045" y="4176674"/>
            <a:ext cx="1172130" cy="7726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6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 · Excel · PowerPoint · 排程提示 Scheduled prompt</a:t>
            </a:r>
            <a:endParaRPr lang="en-US" sz="936" dirty="0"/>
          </a:p>
        </p:txBody>
      </p:sp>
      <p:sp>
        <p:nvSpPr>
          <p:cNvPr id="60" name="Text 51"/>
          <p:cNvSpPr/>
          <p:nvPr/>
        </p:nvSpPr>
        <p:spPr>
          <a:xfrm>
            <a:off x="10288045" y="5031638"/>
            <a:ext cx="1172130" cy="28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 分鐘</a:t>
            </a:r>
            <a:endParaRPr lang="en-US" sz="858" dirty="0"/>
          </a:p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858" dirty="0"/>
          </a:p>
        </p:txBody>
      </p:sp>
      <p:sp>
        <p:nvSpPr>
          <p:cNvPr id="61" name="Text 5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62" name="Text 5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5A5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5A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B5A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冷鏈異常：不是每一筆超溫都要報廢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核准與治理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Zava 的冷藏展示櫃出現一筆超溫讀值。要把門市、批次與配送中心的資料放在一起，分清楚隔離範圍與可放行庫存。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A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5A5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A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先按門市與批次整理讀值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請讀 OneDrive 的 RET1 資料。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5A5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A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產出隔離與放行建議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不要把整批直接報廢。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5A5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A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確認決策邊界與下一步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把需要人工確認的事項、責任人與後續動作列成清單。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B5A5E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B5A5E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涉及對外傳送、退款、排程或觸發器時，先檢查收件者、內容與執行範圍；本練習只在 CIO 自己的帳號內驗證。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B5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A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1_01_read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5A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1_02_recommen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5A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0B5A5E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只隔離有超溫證據的節點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保留人工核准邊界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清楚標示資料限制與假設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4B0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促銷配貨：總量夠不代表門市放得下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促銷需求有 1,920 件，但總庫存與電商履約量看似足夠；真正瓶頸在門市容量、箱規與最後一哩配置。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找出不可行的配置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 RET2 資料，先不要平均分配。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提出可執行配貨方案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請給一個整箱、不可超過容量、保留電商履約量的配貨方案，並清楚列出缺口。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確認決策邊界與下一步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把需要人工確認的事項、責任人與後續動作列成清單。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8A4B08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8A4B08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涉及對外傳送、退款、排程或觸發器時，先檢查收件者、內容與執行範圍；本練習只在 CIO 自己的帳號內驗證。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2_01_constra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2_02_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容量與箱規都不可違反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缺口要透明呈現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清楚標示資料限制與假設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B3A8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B3A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B3A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新品上市：營收達標仍可能不過毛利底線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316736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3167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新品直接營收高於目標，但扣除蠶食與促銷成本後，決策重點是第二階段是否仍守住毛利底線。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3A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3A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重算淨銷售與毛利判斷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請讀 RET3，將直接營收扣除蠶食與促銷成本，對照目標與毛利底線。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3A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3A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寫成主管決策摘要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請用三段摘要：已達成什麼、仍有什麼風險、第二階段應採取什麼條件。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3A8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3A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確認決策邊界與下一步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把需要人工確認的事項、責任人與後續動作列成清單。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5B3A8A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5B3A8A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涉及對外傳送、退款、排程或觸發器時，先檢查收件者、內容與執行範圍；本練習只在 CIO 自己的帳號內驗證。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B3A8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3A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3_01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B3A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3_02_brie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B3A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5B3A8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不要把營收達標當成毛利達標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清楚標示資料限制與假設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未把高風險動作自動化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B283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B28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7B283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退貨政策：開封個人護理品不等於無條件退款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713232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713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核准與治理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Marketplace 訂單已開封但有收據。要從通路政策與商品類別判斷交換、退款或人工審查，而不是只看顧客訴求。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B28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B28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8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抽出適用條款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 RET4，列出通路、品類、開封狀態與收據對結果的影響。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B28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8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產出客服回覆草稿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請給交換、退款與人工審查的判斷，並寫一段不過度承諾的客服回覆。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B28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8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確認決策邊界與下一步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把需要人工確認的事項、責任人與後續動作列成清單。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7B2838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7B2838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涉及對外傳送、退款、排程或觸發器時，先檢查收件者、內容與執行範圍；本練習只在 CIO 自己的帳號內驗證。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7B283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B28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4_01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B28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4_02_rep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B28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7B283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政策條件要逐項對應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清楚標示資料限制與假設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未把高風險動作自動化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D5B8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D5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1D5B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門市開幕：只有一個日期通過所有黑名單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7523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752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 Scheduled prompt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三個開幕候選日分別撞上盤點封鎖與商場消防演練。要把事件限制與營運準備期放在同一張表判斷。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D5B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5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建立日期可行性矩陣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請讀 RET5，逐一檢查候選日是否碰到黑名單事件。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D5B8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5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寫出決策與依據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只選通過全部限制的日期，並說明其他日期為何不可用。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D5B8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5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確認決策邊界與下一步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把需要人工確認的事項、責任人與後續動作列成清單。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1D5B8F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1D5B8F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涉及對外傳送、退款、排程或觸發器時，先檢查收件者、內容與執行範圍；本練習只在 CIO 自己的帳號內驗證。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1D5B8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5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5_01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D5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5_02_dec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D5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1D5B8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不可用日期不能靠平均分數洗白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清楚標示資料限制與假設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未把高風險動作自動化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5A3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375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375A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供應商續約：最低牌價不一定是最低淨成本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713232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713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399032" y="507492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1399032" y="507492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核准與治理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兩家供應商的牌價、返利門檻、運費與預估量不同。要算淨成本，再把合約條件寫進續約摘要。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5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375A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5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算出兩家的可比淨成本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請讀 RET6，依實際數量判斷返利是否生效，再計算含運費的淨成本。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375A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5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寫成續約建議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請用表格列出計算式、敏感條件與建議的談判條款。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375A3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5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確認決策邊界與下一步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把需要人工確認的事項、責任人與後續動作列成清單。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375A3D">
                <a:alpha val="6500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375A3D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涉及對外傳送、退款、排程或觸發器時，先檢查收件者、內容與執行範圍；本練習只在 CIO 自己的帳號內驗證。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375A3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5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6_01_c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75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6_02_renew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75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375A3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返利只有達到門檻才可計入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清楚標示資料限制與假設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未把高風險動作自動化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B4B2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B4B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6B4B2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營運週報：同店銷售上升不代表毛利健康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/ 企業搜尋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316736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3167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577840"/>
            <a:ext cx="27523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577840"/>
            <a:ext cx="2752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 Scheduled prompt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同店銷售上升，但毛利率下降、折扣品占比上升。週報不能只報喜，必須把營收與毛利訊號放在一起。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4B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4B2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B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找出互相矛盾的訊號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請讀 RET7，將三個 KPI 放在同一張表，標出上升與下降方向。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4B2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B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寫成每週營運摘要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請先說明表面上的好消息，再指出毛利風險與下週要追的指標。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4B2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B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確認決策邊界與下一步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把需要人工確認的事項、責任人與後續動作列成清單。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6B4B2A">
                <a:alpha val="6500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6B4B2A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涉及對外傳送、退款、排程或觸發器時，先檢查收件者、內容與執行範圍；本練習只在 CIO 自己的帳號內驗證。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B4B2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4B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07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7_01_kp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B4B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7_02_brie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B4B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6B4B2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營收與毛利不可只看單一指標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清楚標示資料限制與假設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未把高風險動作自動化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811165"/>
            <a:ext cx="493776" cy="493776"/>
          </a:xfrm>
          <a:prstGeom prst="ellipse">
            <a:avLst/>
          </a:prstGeom>
          <a:solidFill>
            <a:srgbClr val="0B5A5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1939181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819656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A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749040" y="1819656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若要延伸，可做成收到冷鏈異常信就自動整理的事件觸發。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40080" y="2442754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2470839"/>
            <a:ext cx="493776" cy="493776"/>
          </a:xfrm>
          <a:prstGeom prst="ellipse">
            <a:avLst/>
          </a:prstGeom>
          <a:solidFill>
            <a:srgbClr val="8A4B0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2598855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479330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4B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749040" y="2479330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延伸成每週促銷配貨的排程提示。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40080" y="3102429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8680" y="3130514"/>
            <a:ext cx="493776" cy="493776"/>
          </a:xfrm>
          <a:prstGeom prst="ellipse">
            <a:avLst/>
          </a:prstGeom>
          <a:solidFill>
            <a:srgbClr val="5B3A8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258530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3139005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3A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3749040" y="3139005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可把摘要改成 PowerPoint 一頁決策卡。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3762103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68680" y="3790188"/>
            <a:ext cx="493776" cy="493776"/>
          </a:xfrm>
          <a:prstGeom prst="ellipse">
            <a:avLst/>
          </a:prstGeom>
          <a:solidFill>
            <a:srgbClr val="7B283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3918204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3798679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8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3749040" y="3798679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可延伸成客服自訂技能，但仍保留人工核准退款。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640080" y="4421777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68680" y="4449862"/>
            <a:ext cx="493776" cy="493776"/>
          </a:xfrm>
          <a:prstGeom prst="ellipse">
            <a:avLst/>
          </a:prstGeom>
          <a:solidFill>
            <a:srgbClr val="1D5B8F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4577878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54480" y="4458353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3749040" y="4458353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延伸成會議排程或提醒任務。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640080" y="5081451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68680" y="5109537"/>
            <a:ext cx="493776" cy="493776"/>
          </a:xfrm>
          <a:prstGeom prst="ellipse">
            <a:avLst/>
          </a:prstGeom>
          <a:solidFill>
            <a:srgbClr val="375A3D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" y="5237553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554480" y="5118027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5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3749040" y="5118027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可把條款摘要做成既有 Word 合約附件草稿。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640080" y="5741126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868680" y="5769211"/>
            <a:ext cx="493776" cy="493776"/>
          </a:xfrm>
          <a:prstGeom prst="ellipse">
            <a:avLst/>
          </a:prstGeom>
          <a:solidFill>
            <a:srgbClr val="6B4B2A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696" y="5897227"/>
            <a:ext cx="237744" cy="237744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554480" y="5777702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B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營運決策</a:t>
            </a:r>
            <a:endParaRPr lang="en-US" sz="1300" dirty="0"/>
          </a:p>
        </p:txBody>
      </p:sp>
      <p:sp>
        <p:nvSpPr>
          <p:cNvPr id="39" name="Text 30"/>
          <p:cNvSpPr/>
          <p:nvPr/>
        </p:nvSpPr>
        <p:spPr>
          <a:xfrm>
            <a:off x="3749040" y="5777702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可設定每週一早上的排程提示自動產出初稿。</a:t>
            </a:r>
            <a:endParaRPr lang="en-US" sz="1250" dirty="0"/>
          </a:p>
        </p:txBody>
      </p:sp>
      <p:sp>
        <p:nvSpPr>
          <p:cNvPr id="40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1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60604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8036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271576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6" name="Text 3">
            <a:hlinkClick r:id="rId3" tooltip=""/>
          </p:cNvPr>
          <p:cNvSpPr/>
          <p:nvPr/>
        </p:nvSpPr>
        <p:spPr>
          <a:xfrm>
            <a:off x="1417320" y="300837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aka.ms/CoworkPlaybook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502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389534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425696"/>
            <a:ext cx="237744" cy="2377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437083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01184"/>
            <a:ext cx="237744" cy="2377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4846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Sol／Terra、GPT 6 Astra、Opus 5、Claude Sonnet 5、Claude Fable 5.1</a:t>
            </a:r>
            <a:endParaRPr lang="en-US" sz="14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376672"/>
            <a:ext cx="237744" cy="23774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05840" y="532180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 Effort：Light／Medium（預設）／High／Extra High／Max —— 越高越徹底，但較慢且耗用更多點數</a:t>
            </a:r>
            <a:endParaRPr lang="en-US" sz="14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852160"/>
            <a:ext cx="237744" cy="237744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05840" y="5797296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25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從提問到交辦，標準你決定，執行交給 Cowork。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</dc:title>
  <dc:subject>PptxGenJS Presentation</dc:subject>
  <dc:creator>Andy Hung</dc:creator>
  <cp:lastModifiedBy>Andy Hung</cp:lastModifiedBy>
  <cp:revision>1</cp:revision>
  <dcterms:created xsi:type="dcterms:W3CDTF">2026-10-15T04:36:27Z</dcterms:created>
  <dcterms:modified xsi:type="dcterms:W3CDTF">2026-10-15T04:36:27Z</dcterms:modified>
</cp:coreProperties>
</file>