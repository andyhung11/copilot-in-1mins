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Monday Operations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008C95"/>
                </a:solidFill>
                <a:latin typeface="Segoe UI"/>
              </a:rPr>
              <a:t>Zava Mid-Autumn Sale: campaign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Regional Operations  Ya-Ting Lin, Regional Operations Manager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Segoe UI"/>
              </a:rPr>
              <a:t>As of 2026-10-05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Campaign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Segoe U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Segoe UI"/>
              </a:rPr>
              <a:t>Zava Monday Ops Briefing  As of 2026-10-05 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4300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08C95"/>
                </a:solidFill>
                <a:latin typeface="Segoe UI"/>
              </a:rPr>
              <a:t>Conclusion: Zava Mid-Autumn Sale sale week +38%, an excellent 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86000"/>
            <a:ext cx="91440" cy="155448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Segoe UI"/>
              </a:rPr>
              <a:t>Sale-week sales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432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08C95"/>
                </a:solidFill>
                <a:latin typeface="Segoe UI"/>
              </a:rPr>
              <a:t>138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Segoe UI"/>
              </a:rPr>
              <a:t>Baseline = 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28600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286000"/>
            <a:ext cx="91440" cy="15544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23774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Segoe UI"/>
              </a:rPr>
              <a:t>Sale week vs baseline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7432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142B4D"/>
                </a:solidFill>
                <a:latin typeface="Segoe UI"/>
              </a:rPr>
              <a:t>+38%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4290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Segoe UI"/>
              </a:rPr>
              <a:t>Zava Mid-Autumn Sale (9/21-9/27)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2286000"/>
            <a:ext cx="3566160" cy="1554480"/>
          </a:xfrm>
          <a:prstGeom prst="rect">
            <a:avLst/>
          </a:prstGeom>
          <a:solidFill>
            <a:srgbClr val="FFFFFF"/>
          </a:solidFill>
          <a:ln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286000"/>
            <a:ext cx="91440" cy="1554480"/>
          </a:xfrm>
          <a:prstGeom prst="rect">
            <a:avLst/>
          </a:prstGeom>
          <a:solidFill>
            <a:srgbClr val="E89F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23774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F6B7A"/>
                </a:solidFill>
                <a:latin typeface="Segoe UI"/>
              </a:rPr>
              <a:t>Participating stores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74320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E89F1B"/>
                </a:solidFill>
                <a:latin typeface="Segoe UI"/>
              </a:rPr>
              <a:t>120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4290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F6B7A"/>
                </a:solidFill>
                <a:latin typeface="Segoe UI"/>
              </a:rPr>
              <a:t>All stores + online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111556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42B4D"/>
                </a:solidFill>
                <a:latin typeface="Segoe UI"/>
              </a:rPr>
              <a:t>• Sale-week sales index 138, +38% vs baseline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Segoe UI"/>
              </a:rPr>
              <a:t>• All four regions and five categories ran above baseline; Kitchen Storage and Small Appliances led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Segoe UI"/>
              </a:rPr>
              <a:t>• Management feedback: campaign cadence and stocking were largely on track</a:t>
            </a:r>
          </a:p>
          <a:p>
            <a:pPr algn="l"/>
            <a:r>
              <a:rPr sz="1600" b="0">
                <a:solidFill>
                  <a:srgbClr val="142B4D"/>
                </a:solidFill>
                <a:latin typeface="Segoe UI"/>
              </a:rPr>
              <a:t>• Recommendation: reuse the same promotion mechanics next campaign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Sale Week by 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Segoe UI"/>
              </a:rPr>
              <a:t>Zava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Segoe UI"/>
              </a:rPr>
              <a:t>Sales index, baseline =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Segoe UI"/>
              </a:rPr>
              <a:t>Zava Monday Ops Briefing  As of 2026-10-05  Internal use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Segoe UI"/>
              </a:rPr>
              <a:t>3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737360"/>
          <a:ext cx="10698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2743200"/>
                <a:gridCol w="2468880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Sale week W3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vs baseline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North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+46%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Central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134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+34%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South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+38%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East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+30%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All regions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+38%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Sale Week by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Segoe UI"/>
              </a:rPr>
              <a:t>Zava Retail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F6B7A"/>
                </a:solidFill>
                <a:latin typeface="Segoe UI"/>
              </a:rPr>
              <a:t>Sales index, baseline =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Segoe UI"/>
              </a:rPr>
              <a:t>Zava Monday Ops Briefing  As of 2026-10-05  Internal use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Segoe UI"/>
              </a:rPr>
              <a:t>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737360"/>
          <a:ext cx="106984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  <a:gridCol w="2743200"/>
                <a:gridCol w="2468880"/>
              </a:tblGrid>
              <a:tr h="59436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Sale week W3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vs baseline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Kitchen 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+42%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Food Containers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+30%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Bedding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+38%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Small Appliances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142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+42%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Festive Gift Sets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+40%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Conclusion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Segoe U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Segoe UI"/>
              </a:rPr>
              <a:t>Zava Monday Ops Briefing  As of 2026-10-05 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Segoe UI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852160"/>
                <a:gridCol w="2194560"/>
                <a:gridCol w="2011680"/>
              </a:tblGrid>
              <a:tr h="54864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Owner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Due</a:t>
                      </a:r>
                    </a:p>
                  </a:txBody>
                  <a:tcPr anchor="ctr">
                    <a:solidFill>
                      <a:srgbClr val="142B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Plan the Anniversary promotion on the Mid-Autumn mechanics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Ya-Ting Lin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2026-10-19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Anniversary stocking and inbound tracking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Kuan-Yu Chen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2026-10-23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Store staffing check before launch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Yi-Chun Huang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42B4D"/>
                          </a:solidFill>
                          <a:latin typeface="Segoe UI"/>
                        </a:defRPr>
                      </a:pPr>
                      <a:r>
                        <a:t>2026-10-30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20624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42B4D"/>
                </a:solidFill>
                <a:latin typeface="Segoe UI"/>
              </a:rPr>
              <a:t>Summary: Zava Mid-Autumn Sale sale week +38%, an excellent result; replicate what worked.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9601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"/>
              </a:rPr>
              <a:t>Appendix: Sources and 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109728"/>
            <a:ext cx="1920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400" b="1">
                <a:solidFill>
                  <a:srgbClr val="008C95"/>
                </a:solidFill>
                <a:latin typeface="Segoe UI"/>
              </a:rPr>
              <a:t>Zava Retail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8229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Segoe UI"/>
              </a:rPr>
              <a:t>Zava Monday Ops Briefing  As of 2026-10-05  Internal use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10058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Segoe U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6984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42B4D"/>
                </a:solidFill>
                <a:latin typeface="Segoe UI"/>
              </a:rPr>
              <a:t>• Source: RET6_Weekly_Sales (POS / BI weekly rollup)</a:t>
            </a:r>
          </a:p>
          <a:p>
            <a:pPr algn="l"/>
            <a:r>
              <a:rPr sz="1800" b="0">
                <a:solidFill>
                  <a:srgbClr val="142B4D"/>
                </a:solidFill>
                <a:latin typeface="Segoe UI"/>
              </a:rPr>
              <a:t>• Sales index: weekly all-channel sales / baseline weekly average x 100</a:t>
            </a:r>
          </a:p>
          <a:p>
            <a:pPr algn="l"/>
            <a:r>
              <a:rPr sz="1800" b="0">
                <a:solidFill>
                  <a:srgbClr val="142B4D"/>
                </a:solidFill>
                <a:latin typeface="Segoe UI"/>
              </a:rPr>
              <a:t>• Baseline: average of the four weeks before the sale (8/10-9/6)</a:t>
            </a:r>
          </a:p>
          <a:p>
            <a:pPr algn="l"/>
            <a:r>
              <a:rPr sz="1800" b="0">
                <a:solidFill>
                  <a:srgbClr val="142B4D"/>
                </a:solidFill>
                <a:latin typeface="Segoe UI"/>
              </a:rPr>
              <a:t>• Scope: 120 stores + online; franchise stores without a POS link excluded</a:t>
            </a:r>
          </a:p>
          <a:p>
            <a:pPr algn="l"/>
            <a:r>
              <a:rPr sz="1800" b="0">
                <a:solidFill>
                  <a:srgbClr val="142B4D"/>
                </a:solidFill>
                <a:latin typeface="Segoe UI"/>
              </a:rPr>
              <a:t>• Prepared 2026-10-05, before the W4 data back-fill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