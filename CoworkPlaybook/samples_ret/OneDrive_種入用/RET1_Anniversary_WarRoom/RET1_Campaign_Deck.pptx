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Ready</c:v>
                </c:pt>
              </c:strCache>
            </c:strRef>
          </c:tx>
          <c:spPr>
            <a:solidFill>
              <a:srgbClr val="008C95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29</c:v>
                </c:pt>
                <c:pt idx="2">
                  <c:v>25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ready</c:v>
                </c:pt>
              </c:strCache>
            </c:strRef>
          </c:tx>
          <c:spPr>
            <a:solidFill>
              <a:srgbClr val="C83E3E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Zava Anniversary Sale  War Room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08C95"/>
                </a:solidFill>
                <a:latin typeface="Segoe UI"/>
              </a:rPr>
              <a:t>Launch 2026/11/06 (Fri)  120 stores nationwide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Regional Operations  Ya-Ting Lin, Regional Operations Manager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War Room No. 3  Data as of 2026/10/12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Anniversary Sale  Campaign war room deck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3716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Segoe UI"/>
              </a:rPr>
              <a:t>Campaign overview and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3716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Segoe UI"/>
              </a:rPr>
              <a:t>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860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Segoe UI"/>
              </a:rPr>
              <a:t>Store readiness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860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Segoe UI"/>
              </a:rPr>
              <a:t>15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2004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Segoe UI"/>
              </a:rPr>
              <a:t>Risks and action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2004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Segoe UI"/>
              </a:rPr>
              <a:t>15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148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Segoe UI"/>
              </a:rPr>
              <a:t>Confirm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1148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Segoe UI"/>
              </a:rPr>
              <a:t>10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2920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142B4D"/>
                </a:solidFill>
                <a:latin typeface="Segoe UI"/>
              </a:rPr>
              <a:t>Next two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029200"/>
            <a:ext cx="182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0">
                <a:solidFill>
                  <a:srgbClr val="5F6B7A"/>
                </a:solidFill>
                <a:latin typeface="Segoe UI"/>
              </a:rPr>
              <a:t>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Campaign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Launch 11/06; forecast campaign revenue NTD 500 million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Anniversary Sale  Campaign war room deck 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Forecast campaign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Segoe UI"/>
              </a:rPr>
              <a:t>NTD 500M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Segoe UI"/>
              </a:rPr>
              <a:t>Three featured bundles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737360"/>
            <a:ext cx="91440" cy="15544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Top-10 stores by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42B4D"/>
                </a:solidFill>
                <a:latin typeface="Segoe U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Segoe UI"/>
              </a:rPr>
              <a:t>45.6% of forecast (NTD 228M)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73736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737360"/>
            <a:ext cx="91440" cy="1554480"/>
          </a:xfrm>
          <a:prstGeom prst="rect">
            <a:avLst/>
          </a:prstGeom>
          <a:solidFill>
            <a:srgbClr val="E89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828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POS pricing cut-off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19456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9F1B"/>
                </a:solidFill>
                <a:latin typeface="Segoe UI"/>
              </a:rPr>
              <a:t>11/03 18:00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880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Segoe UI"/>
              </a:rPr>
              <a:t>T-3; later changes miss the weekend batch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49039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Featured this campaign: Food Storage Set, Storage Basket, Thermos bundles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Last war room decision: the top-10 stores by revenue must be fully prepared before launch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Definition: a store is 'Ready' when POS pricing, display, staffing and stock are all complete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Decision today: confirm whether to launch on the original date and assign owners for not-ready stores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Store readiness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Data as of 10/12  By store 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Anniversary Sale  Campaign war room deck 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Overall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Segoe UI"/>
              </a:rPr>
              <a:t>91.7%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Segoe UI"/>
              </a:rPr>
              <a:t>Ready 110 / 120  Threshold 90%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389120" y="1554480"/>
          <a:ext cx="7315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34747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B4D"/>
                </a:solidFill>
                <a:latin typeface="Segoe UI"/>
              </a:rPr>
              <a:t>Conclusion: 91.7% by store count;</a:t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Segoe UI"/>
              </a:rPr>
              <a:t>launch can proceed on the original date.</a:t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142B4D"/>
                </a:solidFill>
                <a:latin typeface="Segoe UI"/>
              </a:rPr>
              <a:t>10 stores not ready, each with an owner and target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Not-ready store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10 stores; forecast revenue in NTD million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Anniversary Sale  Campaign war room deck 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55448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463040"/>
                <a:gridCol w="2286000"/>
                <a:gridCol w="2011680"/>
                <a:gridCol w="16459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Store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Forecast revenue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Open item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 date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S014 Taipei Beitou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North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22.0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POS 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Chih-Ming Wang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S008 Zhonghe Jingan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North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POS pricing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Chia-Jung Li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S056 Taichung Fengyuan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Central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POS 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Chien-Hung Chou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S071 Tainan Jiali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South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Display delivery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Yi-Ting Kuo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S078 Kaohsiung Zuoying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South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Staff roster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Wen-Chieh Hsu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S083 Chiayi City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South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Display delivery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Ya-Wen Cheng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S090 Kaohsiung Daliao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South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POS 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Ming-Chieh Hung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S097 Tainan Rende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South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Display delivery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Hui-Ting Hsiao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S104 Keelung Renai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East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Staff roster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Kuan-Ting Lai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S113 Yilan Luodong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East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1.5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Display delivery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Pei-Shan Shih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Risks and action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Anniversary Sale  Campaign war room deck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212080"/>
                <a:gridCol w="2011680"/>
                <a:gridCol w="1828800"/>
                <a:gridCol w="16459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POS pricing report-back from three top-10 stores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Regional 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10/30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Track display delivery in the South (3 stores)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South supervisor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In progress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Staffing support for the East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East supervisor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Final check before pricing cut-off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Pricing Governance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11/03 18:00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Chain-wide shelf check the day before launch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Regional Operations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Not 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Key risks: late pricing means stores sell at old prices; South display delivery depends on the 11/02 delivery batch.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Decisions (previous war room)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Anniversary Sale  Campaign war room deck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42B4D"/>
                </a:solidFill>
                <a:latin typeface="Segoe UI"/>
              </a:rPr>
              <a:t>1. The top-10 stores by revenue must be fully prepared before launch (decided by Ming-Che Tsai, Regional Director)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Segoe UI"/>
              </a:rPr>
              <a:t>2. Readiness is refreshed every Monday and Thursday, consolidated by Regional Operations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Segoe UI"/>
              </a:rPr>
              <a:t>3. No exceptions after the pricing cut-off (2026-11-03 18:00); urgent changes need Director approval</a:t>
            </a:r>
          </a:p>
          <a:p>
            <a:pPr algn="l"/>
            <a:r>
              <a:rPr sz="2000" b="0">
                <a:solidFill>
                  <a:srgbClr val="142B4D"/>
                </a:solidFill>
                <a:latin typeface="Segoe UI"/>
              </a:rPr>
              <a:t>4. Not-ready stores must submit a recovery plan and name an owner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Next two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Anniversary Sale  Campaign war room deck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5544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38328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Event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10/30 (Fri)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Top-10 store pricing report-back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Escalate immediately if 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11/03 (Tue)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POS pricing cut-off 18:00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T-3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11/05 (Thu)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Chain-wide shelf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T-1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11/06 (Fri)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Anniversary Sale launch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