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laybook" TargetMode="External"/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4" Type="http://schemas.openxmlformats.org/officeDocument/2006/relationships/image" Target="../media/image-23-3.png"/><Relationship Id="rId5" Type="http://schemas.openxmlformats.org/officeDocument/2006/relationships/image" Target="../media/image-23-4.png"/><Relationship Id="rId6" Type="http://schemas.openxmlformats.org/officeDocument/2006/relationships/image" Target="../media/image-23-5.png"/><Relationship Id="rId7" Type="http://schemas.openxmlformats.org/officeDocument/2006/relationships/image" Target="../media/image-23-6.png"/><Relationship Id="rId8" Type="http://schemas.openxmlformats.org/officeDocument/2006/relationships/image" Target="../media/image-23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 AI 的實戰工作流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6 個先進封裝的真實情境，看 Copilot 如何跨 App 多步執行，並在中高風險動作前顯示風險等級、等你核准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教育訓練簡報 · 客戶分享版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今天的內容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什麼是代理式 AI，和一般 Copilot Chat 有何不同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核心能力與運作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技能、工作區、行動前審核、自我驗證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素材課前放進 OneDrive 與信箱，讓 Cowork 自己去找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六大實戰情境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早班交接、良率追因、客戶 QBR、停產評估、稽核缺失、樣品放行，逐一拆解工作流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套用到你的日常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如何把這些情境延伸到自己的工作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從「對話」到「代理執行」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你交付一個目標，它會自己拆解步驟、讀取雲端檔案、載入需要的技能，跨 App 產出成果並自我檢查——中高風險動作會顯示風險等級並停下來請你核准。你從「快速單輪問答」升級為「交付一個可執行的任務」。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快速單輪問答；適合立即回答與腦力激盪。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你給目標，它跨 App 多步驟自主執行，可運行數分鐘到數小時。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你仍是主導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對外或影響他人的動作，一律先暫停等你核准。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與一般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互動方式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交付目標，跨 App 自主多步執行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秒～分鐘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分鐘～數小時（自主執行）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任務複雜度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單步驟、單一工作階段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跨任務與來源的多步驟工作流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檔案處理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貼上片段內容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讀取雲端附件、產出新檔案；不存取本機檔案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技能運用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單一對話能力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自動載入 14 個內建技能與自訂技能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聊天視窗的文字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中真實的文件、試算表、簡報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自動啟動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每次都要你開啟並下指令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排程提示／事件觸發：收信或被 @提及時自動執行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外部系統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接地於 M365 資料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可透過 Plugins／MCP 連外部系統，官方目錄已有 92 個合作夥伴 plugin（D365、SAP、Fabric 等）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你自行判斷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中高風險動作顯示風險等級，核准後才執行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四個讓 Cowork 不一樣的能力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29514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個內建技能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Word、Excel、PowerPoint、PDF、Email、Scheduling、Calendar Management、Meetings、Daily Briefing、Enterprise Search、Deep Research、Communications、Adaptive Cards、App（Frontier）。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29514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工作區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右側面板同時呈現進度、輸入檔、輸出檔、已載入技能、排程與已核准權限，過程透明可追。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80974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 RISK-LEVEL；可核准、取消，或設定 per-recipient／per-domain／always 的 don’t ask again；多筆待審可「Approve All」。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80974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排程提示（上限 25 個）與事件觸發任務、投入 Effort 五級調節品質與成本、自訂技能建立後自動產生技能報告（0–100 分四維度，另有含 Safety and RAI 掃描的 5 道獨立關卡）、本機 Edge 瀏覽器（2026/8 GA）、影像生成、Plugins／MCP 連外部系統。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一次代理式工作流，背後發生什麼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接收目標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下達指令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理解任務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拆成步驟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內建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自訂技能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執行產出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試算表／信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自我驗證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檢查數字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對外動作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等你核准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整個過程在「工作區」面板透明呈現；可軟／硬暫停、恢復或取消任務。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啟動方式不只聊天下指令：也能設定「收到指定信件／被 @提及時」自動觸發（事件驅動任務），一樣走相同的自我驗證與核准流程。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素材課前先放進 OneDrive 的 文件/Cowork_Lab/先進封裝/，練習時 Cowork 自己去找 · 準備時間 約 15 分鐘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OneDrive 資料夾，把六個情境的素材放進去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OneDrive 建立 文件/Cowork_Lab/先進封裝/，底下再開六個子資料夾：MFGX1_當班交接…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把聯絡窗口清單放在母層，並填上真的收得到信的帳號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聯絡窗口清單.md 要放在 先進封裝 母資料夾，不要放進任何子資料夾。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916936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916936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97180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96265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寄一封供應商停產通知給自己（情境 4 的起點）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236976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用你自己的帳號寄給自己，主旨請照抄：[PCN-2609-KY07] BW-25AU discontinuatio…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916936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916936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97180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💬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96265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建立「品質戰情」頻道（情境 2 的貼文目的地）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236976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在你有權限的任一團隊底下建立名為 品質戰情 的頻道，並確認自己是成員。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959352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959352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01421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💾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400507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上傳用/ 的三個檔案下載到電腦，不要放進 OneDrive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279392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MFGX2_FB820_批次良率明細.csv（情境 2）、MFGX5_Fabrikam客戶稽核缺失報告.pdf…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959352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959352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3320" y="401421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🧩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2232" y="400507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確認技能路徑可寫入，並用桌機或瀏覽器做情境 6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2232" y="4279392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6 會請 Cowork 建立自訂技能，寫到 OneDrive/文件/Cowork/skills/&lt;技能名稱…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開課前最後檢查</a:t>
            </a:r>
            <a:endParaRPr lang="en-US" sz="12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的 先進封裝 底下有六個子資料夾，檔案都放對位置</a:t>
            </a:r>
            <a:endParaRPr lang="en-US" sz="1050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聯絡窗口清單在母資料夾，Email 欄填的是真的收得到信的帳號</a:t>
            </a:r>
            <a:endParaRPr lang="en-US" sz="105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PCN 通知信在收件匣，主旨與素材完全一致</a:t>
            </a:r>
            <a:endParaRPr lang="en-US" sz="1050" dirty="0"/>
          </a:p>
        </p:txBody>
      </p:sp>
      <p:sp>
        <p:nvSpPr>
          <p:cNvPr id="45" name="Text 4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六個實戰情境總覽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620469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620469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Shape 5"/>
          <p:cNvSpPr/>
          <p:nvPr/>
        </p:nvSpPr>
        <p:spPr>
          <a:xfrm>
            <a:off x="993115" y="2194560"/>
            <a:ext cx="914400" cy="91440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283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163824"/>
            <a:ext cx="1437589" cy="1480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897" dirty="0"/>
          </a:p>
        </p:txBody>
      </p:sp>
      <p:sp>
        <p:nvSpPr>
          <p:cNvPr id="10" name="Text 7"/>
          <p:cNvSpPr/>
          <p:nvPr/>
        </p:nvSpPr>
        <p:spPr>
          <a:xfrm>
            <a:off x="731520" y="3366783"/>
            <a:ext cx="1437589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早班交接：今天哪一批真的能動</a:t>
            </a:r>
            <a:endParaRPr lang="en-US" sz="1170" dirty="0"/>
          </a:p>
        </p:txBody>
      </p:sp>
      <p:sp>
        <p:nvSpPr>
          <p:cNvPr id="11" name="Text 8"/>
          <p:cNvSpPr/>
          <p:nvPr/>
        </p:nvSpPr>
        <p:spPr>
          <a:xfrm>
            <a:off x="731520" y="3835413"/>
            <a:ext cx="1437589" cy="1081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每日簡報 Daily Briefing · 企業搜尋 Enterprise Search · Excel · 行事曆管理 Calendar Management · 排程提示 Scheduled prompt</a:t>
            </a:r>
            <a:endParaRPr lang="en-US" sz="936" dirty="0"/>
          </a:p>
        </p:txBody>
      </p:sp>
      <p:sp>
        <p:nvSpPr>
          <p:cNvPr id="12" name="Text 9"/>
          <p:cNvSpPr/>
          <p:nvPr/>
        </p:nvSpPr>
        <p:spPr>
          <a:xfrm>
            <a:off x="731520" y="4999444"/>
            <a:ext cx="1437589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 分鐘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858" dirty="0"/>
          </a:p>
        </p:txBody>
      </p:sp>
      <p:sp>
        <p:nvSpPr>
          <p:cNvPr id="13" name="Shape 10"/>
          <p:cNvSpPr/>
          <p:nvPr/>
        </p:nvSpPr>
        <p:spPr>
          <a:xfrm>
            <a:off x="2498293" y="1828800"/>
            <a:ext cx="1620469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98293" y="1828800"/>
            <a:ext cx="1620469" cy="109728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5" name="Shape 12"/>
          <p:cNvSpPr/>
          <p:nvPr/>
        </p:nvSpPr>
        <p:spPr>
          <a:xfrm>
            <a:off x="2851328" y="2194560"/>
            <a:ext cx="914400" cy="914400"/>
          </a:xfrm>
          <a:prstGeom prst="ellipse">
            <a:avLst/>
          </a:prstGeom>
          <a:solidFill>
            <a:srgbClr val="0F513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496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89733" y="3163824"/>
            <a:ext cx="1437589" cy="1480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897" dirty="0"/>
          </a:p>
        </p:txBody>
      </p:sp>
      <p:sp>
        <p:nvSpPr>
          <p:cNvPr id="18" name="Text 14"/>
          <p:cNvSpPr/>
          <p:nvPr/>
        </p:nvSpPr>
        <p:spPr>
          <a:xfrm>
            <a:off x="2589733" y="3366783"/>
            <a:ext cx="1437589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良率掉點：共通項不是你以為的那個</a:t>
            </a:r>
            <a:endParaRPr lang="en-US" sz="1170" dirty="0"/>
          </a:p>
        </p:txBody>
      </p:sp>
      <p:sp>
        <p:nvSpPr>
          <p:cNvPr id="19" name="Text 15"/>
          <p:cNvSpPr/>
          <p:nvPr/>
        </p:nvSpPr>
        <p:spPr>
          <a:xfrm>
            <a:off x="2589733" y="3835413"/>
            <a:ext cx="1437589" cy="9272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 File upload · Excel · 企業搜尋 Enterprise Search · Adaptive Cards · 溝通撰寫 Communications</a:t>
            </a:r>
            <a:endParaRPr lang="en-US" sz="936" dirty="0"/>
          </a:p>
        </p:txBody>
      </p:sp>
      <p:sp>
        <p:nvSpPr>
          <p:cNvPr id="20" name="Text 16"/>
          <p:cNvSpPr/>
          <p:nvPr/>
        </p:nvSpPr>
        <p:spPr>
          <a:xfrm>
            <a:off x="2589733" y="4844910"/>
            <a:ext cx="1437589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18 分鐘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858" dirty="0"/>
          </a:p>
        </p:txBody>
      </p:sp>
      <p:sp>
        <p:nvSpPr>
          <p:cNvPr id="21" name="Shape 17"/>
          <p:cNvSpPr/>
          <p:nvPr/>
        </p:nvSpPr>
        <p:spPr>
          <a:xfrm>
            <a:off x="4356506" y="1828800"/>
            <a:ext cx="1620469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356506" y="1828800"/>
            <a:ext cx="1620469" cy="109728"/>
          </a:xfrm>
          <a:prstGeom prst="rect">
            <a:avLst/>
          </a:prstGeom>
          <a:solidFill>
            <a:srgbClr val="6B2D5C"/>
          </a:solidFill>
          <a:ln/>
        </p:spPr>
      </p:sp>
      <p:sp>
        <p:nvSpPr>
          <p:cNvPr id="23" name="Shape 19"/>
          <p:cNvSpPr/>
          <p:nvPr/>
        </p:nvSpPr>
        <p:spPr>
          <a:xfrm>
            <a:off x="4709541" y="2194560"/>
            <a:ext cx="914400" cy="914400"/>
          </a:xfrm>
          <a:prstGeom prst="ellipse">
            <a:avLst/>
          </a:prstGeom>
          <a:solidFill>
            <a:srgbClr val="6B2D5C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709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447946" y="3163824"/>
            <a:ext cx="1437589" cy="1480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6B2D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897" dirty="0"/>
          </a:p>
        </p:txBody>
      </p:sp>
      <p:sp>
        <p:nvSpPr>
          <p:cNvPr id="26" name="Text 21"/>
          <p:cNvSpPr/>
          <p:nvPr/>
        </p:nvSpPr>
        <p:spPr>
          <a:xfrm>
            <a:off x="4447946" y="3366783"/>
            <a:ext cx="1437589" cy="579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客戶季度品質回顧：結案率背後的東西</a:t>
            </a:r>
            <a:endParaRPr lang="en-US" sz="1170" dirty="0"/>
          </a:p>
        </p:txBody>
      </p:sp>
      <p:sp>
        <p:nvSpPr>
          <p:cNvPr id="27" name="Text 22"/>
          <p:cNvSpPr/>
          <p:nvPr/>
        </p:nvSpPr>
        <p:spPr>
          <a:xfrm>
            <a:off x="4447946" y="4028580"/>
            <a:ext cx="1437589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PowerPoint · Excel · 企業搜尋 Enterprise Search · 溝通撰寫 Communications · Email</a:t>
            </a:r>
            <a:endParaRPr lang="en-US" sz="936" dirty="0"/>
          </a:p>
        </p:txBody>
      </p:sp>
      <p:sp>
        <p:nvSpPr>
          <p:cNvPr id="28" name="Text 23"/>
          <p:cNvSpPr/>
          <p:nvPr/>
        </p:nvSpPr>
        <p:spPr>
          <a:xfrm>
            <a:off x="4447946" y="4883544"/>
            <a:ext cx="1437589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 分鐘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858" dirty="0"/>
          </a:p>
        </p:txBody>
      </p:sp>
      <p:sp>
        <p:nvSpPr>
          <p:cNvPr id="29" name="Shape 24"/>
          <p:cNvSpPr/>
          <p:nvPr/>
        </p:nvSpPr>
        <p:spPr>
          <a:xfrm>
            <a:off x="6214720" y="1828800"/>
            <a:ext cx="1620469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214720" y="1828800"/>
            <a:ext cx="1620469" cy="109728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31" name="Shape 26"/>
          <p:cNvSpPr/>
          <p:nvPr/>
        </p:nvSpPr>
        <p:spPr>
          <a:xfrm>
            <a:off x="6567754" y="2194560"/>
            <a:ext cx="914400" cy="914400"/>
          </a:xfrm>
          <a:prstGeom prst="ellipse">
            <a:avLst/>
          </a:prstGeom>
          <a:solidFill>
            <a:srgbClr val="8A4B08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22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306160" y="3163824"/>
            <a:ext cx="1437589" cy="349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8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1058" dirty="0"/>
          </a:p>
        </p:txBody>
      </p:sp>
      <p:sp>
        <p:nvSpPr>
          <p:cNvPr id="34" name="Text 28"/>
          <p:cNvSpPr/>
          <p:nvPr/>
        </p:nvSpPr>
        <p:spPr>
          <a:xfrm>
            <a:off x="6306160" y="3568040"/>
            <a:ext cx="1437589" cy="455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停產通知一進來就自動評估</a:t>
            </a:r>
            <a:endParaRPr lang="en-US" sz="1380" dirty="0"/>
          </a:p>
        </p:txBody>
      </p:sp>
      <p:sp>
        <p:nvSpPr>
          <p:cNvPr id="35" name="Text 29"/>
          <p:cNvSpPr/>
          <p:nvPr/>
        </p:nvSpPr>
        <p:spPr>
          <a:xfrm>
            <a:off x="6306160" y="4106012"/>
            <a:ext cx="1437589" cy="911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4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事件觸發 Event trigger · Email · Excel · 企業搜尋 Enterprise Search</a:t>
            </a:r>
            <a:endParaRPr lang="en-US" sz="1104" dirty="0"/>
          </a:p>
        </p:txBody>
      </p:sp>
      <p:sp>
        <p:nvSpPr>
          <p:cNvPr id="36" name="Text 30"/>
          <p:cNvSpPr/>
          <p:nvPr/>
        </p:nvSpPr>
        <p:spPr>
          <a:xfrm>
            <a:off x="6306160" y="5099660"/>
            <a:ext cx="1437589" cy="3341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1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 分鐘</a:t>
            </a:r>
            <a:endParaRPr lang="en-US" sz="1012" dirty="0"/>
          </a:p>
          <a:p>
            <a:pPr algn="ctr" indent="0" marL="0">
              <a:buNone/>
            </a:pPr>
            <a:r>
              <a:rPr lang="en-US" sz="101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012" dirty="0"/>
          </a:p>
        </p:txBody>
      </p:sp>
      <p:sp>
        <p:nvSpPr>
          <p:cNvPr id="37" name="Shape 31"/>
          <p:cNvSpPr/>
          <p:nvPr/>
        </p:nvSpPr>
        <p:spPr>
          <a:xfrm>
            <a:off x="8072933" y="1828800"/>
            <a:ext cx="1620469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8072933" y="1828800"/>
            <a:ext cx="1620469" cy="109728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9" name="Shape 33"/>
          <p:cNvSpPr/>
          <p:nvPr/>
        </p:nvSpPr>
        <p:spPr>
          <a:xfrm>
            <a:off x="8425967" y="2194560"/>
            <a:ext cx="914400" cy="91440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135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164373" y="3163824"/>
            <a:ext cx="1437589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978" dirty="0"/>
          </a:p>
        </p:txBody>
      </p:sp>
      <p:sp>
        <p:nvSpPr>
          <p:cNvPr id="42" name="Text 35"/>
          <p:cNvSpPr/>
          <p:nvPr/>
        </p:nvSpPr>
        <p:spPr>
          <a:xfrm>
            <a:off x="8164373" y="3541459"/>
            <a:ext cx="1437589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客戶稽核缺失：八條看起來是八件事</a:t>
            </a:r>
            <a:endParaRPr lang="en-US" sz="1275" dirty="0"/>
          </a:p>
        </p:txBody>
      </p:sp>
      <p:sp>
        <p:nvSpPr>
          <p:cNvPr id="43" name="Text 36"/>
          <p:cNvSpPr/>
          <p:nvPr/>
        </p:nvSpPr>
        <p:spPr>
          <a:xfrm>
            <a:off x="8164373" y="4255262"/>
            <a:ext cx="1437589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 File upload · PDF · 企業搜尋 Enterprise Search · Word · 會議排程 Scheduling</a:t>
            </a:r>
            <a:endParaRPr lang="en-US" sz="1020" dirty="0"/>
          </a:p>
        </p:txBody>
      </p:sp>
      <p:sp>
        <p:nvSpPr>
          <p:cNvPr id="44" name="Text 37"/>
          <p:cNvSpPr/>
          <p:nvPr/>
        </p:nvSpPr>
        <p:spPr>
          <a:xfrm>
            <a:off x="8164373" y="5179568"/>
            <a:ext cx="1437589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 分鐘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45" name="Shape 38"/>
          <p:cNvSpPr/>
          <p:nvPr/>
        </p:nvSpPr>
        <p:spPr>
          <a:xfrm>
            <a:off x="9931146" y="1828800"/>
            <a:ext cx="1620469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9931146" y="1828800"/>
            <a:ext cx="1620469" cy="109728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47" name="Shape 40"/>
          <p:cNvSpPr/>
          <p:nvPr/>
        </p:nvSpPr>
        <p:spPr>
          <a:xfrm>
            <a:off x="10284181" y="2194560"/>
            <a:ext cx="914400" cy="914400"/>
          </a:xfrm>
          <a:prstGeom prst="ellipse">
            <a:avLst/>
          </a:prstGeom>
          <a:solidFill>
            <a:srgbClr val="7C2D12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5349" y="2395728"/>
            <a:ext cx="512064" cy="51206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10022586" y="3163824"/>
            <a:ext cx="1437589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978" dirty="0"/>
          </a:p>
        </p:txBody>
      </p:sp>
      <p:sp>
        <p:nvSpPr>
          <p:cNvPr id="50" name="Text 42"/>
          <p:cNvSpPr/>
          <p:nvPr/>
        </p:nvSpPr>
        <p:spPr>
          <a:xfrm>
            <a:off x="10022586" y="3541459"/>
            <a:ext cx="1437589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樣品放行判定：把判準變成長期資產</a:t>
            </a:r>
            <a:endParaRPr lang="en-US" sz="1275" dirty="0"/>
          </a:p>
        </p:txBody>
      </p:sp>
      <p:sp>
        <p:nvSpPr>
          <p:cNvPr id="51" name="Text 43"/>
          <p:cNvSpPr/>
          <p:nvPr/>
        </p:nvSpPr>
        <p:spPr>
          <a:xfrm>
            <a:off x="10022586" y="4255262"/>
            <a:ext cx="1437589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 File upload · Excel · 企業搜尋 Enterprise Search · 自訂技能 Skill</a:t>
            </a:r>
            <a:endParaRPr lang="en-US" sz="1020" dirty="0"/>
          </a:p>
        </p:txBody>
      </p:sp>
      <p:sp>
        <p:nvSpPr>
          <p:cNvPr id="52" name="Text 44"/>
          <p:cNvSpPr/>
          <p:nvPr/>
        </p:nvSpPr>
        <p:spPr>
          <a:xfrm>
            <a:off x="10022586" y="5179568"/>
            <a:ext cx="1437589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22 分鐘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53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早班交接：今天哪一批真的能動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26280"/>
            <a:ext cx="255117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26280"/>
            <a:ext cx="2551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每日簡報 Daily Briefing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10328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10328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企業搜尋 Enterprise Search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294376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294376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678424"/>
            <a:ext cx="323697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678424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行事曆管理 Calendar Management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062472"/>
            <a:ext cx="2752344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6062472"/>
            <a:ext cx="2752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 Scheduled prompt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七點五十進辦公室，夜班留了一頁交接紀錄，Hold 清單上有八筆記錄。交接紀錄寫著「W-2614 已解除 hold，白班可續投」—— 這句話只對了一半，而且那批貨在模封後已經等太久了。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先跑一次早班交接簡報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不用上傳任何檔案。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追問：交接說可以續投的那批，到底能不能動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接著上一題問，不要開新工作階段。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再對一次 Queue Time：就算解開了，還來得及嗎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同一個工作階段繼續問。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把這份簡報設成每天早上自動跑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送出後會跳出排程確認卡，看清楚再按。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mfgx1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mfgx1_04b_sched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Hold 是以批次為單位彙整的，不是把八筆記錄照抄一遍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它發現 W-2614 身上有兩筆 hold，而交接紀錄只講了其中一筆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它明確講出「工程 hold 已解除、品質 hold 仍在」，而不是含糊地說「狀態不一致」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F51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良率掉點：共通項不是你以為的那個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18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26280"/>
            <a:ext cx="2249424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26280"/>
            <a:ext cx="2249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 File upload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10328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10328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294376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294376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企業搜尋 Enterprise Search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678424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678424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Adaptive Cards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062472"/>
            <a:ext cx="255117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6062472"/>
            <a:ext cx="2551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溝通撰寫 Communications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FB-820 近兩週有六批良率掉到 92% 以下，平均比正常批低了五個多百分點。產線第一個反應是「換了基板批號」。把十二批的條件全部攤開比對，指向的其實是另一件事 —— 而且在設備保養履歷裡留有痕跡。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上傳良率明細，讓它自己找共通項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MFGX2_FB820_批次良率明細.csv 拖進對話框再送出。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86893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86893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85064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鎖定因子後，回頭查設備保養履歷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1640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同一個工作階段繼續問。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7627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7627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7444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產出追因分析表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1102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產出的檔案會出現在右側輸出資料夾，可以直接預覽。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65658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65658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63829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做一張三秒看完的摘要卡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00405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摘要卡會直接出現在對話裡，不是另外一個檔案。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貼到品質戰情頻道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送出後會跳出核准卡，上面是完整的貼文內容。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mfgx2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mfgx2_05b_pos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它自己去〈良率異常處理規範〉查出管制下限，而不是拿 92% 這個口語數字當門檻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六批低良率全部抓到，沒有多抓也沒有漏抓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因子比對是雙向的：不只看壞批有什麼，也看好批有沒有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2D5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2D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6B2D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客戶季度品質回顧：結案率背後的東西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316736" cy="329184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316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PowerPoint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002536" y="4572000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2002536" y="4572000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4956048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956048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企業搜尋 Enterprise Search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340096"/>
            <a:ext cx="255117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340096"/>
            <a:ext cx="2551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溝通撰寫 Communications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5724144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5724144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Fabrikam 的季度品質回顧在下週。本季 14 件客訴結了 13 件，結案率 92.9%，這一頁報起來很好看。問題是客戶自己也會算這個數字 —— 他們真正會問的是另一件事，而答案就藏在已結案的那 13 件裡。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2D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2D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D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先把本季客訴統計出來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不用上傳任何檔案，素材都在 OneDrive 的 Cowork_Lab/先進封裝。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86893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2D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86893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D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85064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照規範查「重複發生的失效模式」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1640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同一個工作階段繼續問。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7627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2D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7627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D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7444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推出風險預告：下一件會發生在哪裡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1102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同一個工作階段繼續問。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65658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2D5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65658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D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63829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依規範六章節產出 QBR 簡報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00405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產出的簡報會出現在右側輸出資料夾，可以直接預覽。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2D5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D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寄一封審閱信給品保主管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收件者請填你自己或事先講好的同事。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B2D5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2D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mfgx3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2D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mfgx3_05b_s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2D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6B2D5C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結案率算的是 13/14 = 92.9%，進行中那一件沒有被當成已結案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它自己去〈客戶QBR簡報規範〉查出第三章還要揭露重複發生的失效模式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認出「基板鍍金層剝離」出現三次，而不是被 14 件的分布掩蓋過去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8A4B0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停產通知一進來就自動評估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45059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事件觸發 Event trigger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499616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5" name="Text 12"/>
          <p:cNvSpPr/>
          <p:nvPr/>
        </p:nvSpPr>
        <p:spPr>
          <a:xfrm>
            <a:off x="1499616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285292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企業搜尋 Enterprise Search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金線供應商發來停產通知，最終下單日 2026-11-30。庫存 1,250 卷、月用量 88 卷，看起來還夠十四個月，一點都不急 —— 直到你把 BOM 攤開，看見這條料還掛在一個還沒量產的機種上。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先手動評估一次，看懂這件事要做什麼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不用上傳任何檔案。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86893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86893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85064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照規範重算：未量產的機種也要算進去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21640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同一個工作階段繼續問。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7627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7627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7444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算出最後採購量與時間軸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1102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同一個工作階段繼續問。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65658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65658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63829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設定事件觸發：以後 PCN 一進來就自己做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00405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送出後會跳出「設定觸發？」卡片，上面有三個欄位：何時（什麼事件啟動）、在哪執行（開新對話或接續）、做什麼…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寄第二封信驗證觸發真的會啟動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現在才用 MFGX4_觸發測試信.md 寄給自己，主旨照抄。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mfgx4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mfgx4_05b_mail_appro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第一次評估算出以現行月用量還夠十四個月左右，數字對得上庫存除以月用量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它自己去〈PCN處理規範〉查評估要求，而不是等我告訴它要算什麼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 where-used 有三個機種、但現行月用量只涵蓋兩個，說得出少的是哪一個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客戶稽核缺失：八條看起來是八件事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 File upload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35224" y="4572000"/>
            <a:ext cx="6126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2935224" y="4572000"/>
            <a:ext cx="612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285292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企業搜尋 Enterprise Search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399032" y="5577840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1399032" y="557784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會議排程 Scheduling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Fabrikam 稽核完留下一份 PDF，八項缺失分佈在文管、打線、模封、出貨四個站別，十個工作天內要回覆矯正措施。直覺是一條一條回 —— 但照客戶的回覆規範，這樣回會被整份退件。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53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上傳稽核報告，讀成一張表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MFGX5_Fabrikam客戶稽核缺失報告.pdf 拖進對話框再送出。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86893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532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86893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85064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逐項對照程序：是沒寫，還是有寫沒做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1640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同一個工作階段繼續問。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7627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532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7627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7444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找出共同根因：八條其實是幾件事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1102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同一個工作階段繼續問。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65658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532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65658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63829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依回覆規範產出 CAP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00405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產出的 Word 檔會出現在右側輸出資料夾，可以直接預覽。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532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排一場跨部門 CAP 檢討會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與會者是從〈稽核回覆窗口清單〉查的 —— 課前那份清單的 Email 要填成你自己或同事…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mfgx5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mfgx5_05b_meeting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八項缺失全部讀出來，沒有漏掉夾在段落中間的那幾條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Major 與 Minor 的數量分對，回覆期限與 Major 的暫時對策時限都抓到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分得出「程序有寫沒做」與「程序根本沒寫」，而不是全部歸成一類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7C2D1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樣品放行判定：把判準變成長期資產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22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 File upload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56048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56048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340096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340096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企業搜尋 Enterprise Search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724144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7241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工程樣品出貨前的放行判定，每次都要重讀一遍規範。今天這四筆裡有一筆，申請人寫著「已取得客戶書面同意」—— 同意書確實存在，但它還是不能放行。做完判定，順手把判準變成一個技能。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C2D1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上傳申請單，先逐筆判定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MFGX6_樣品出貨申請單_0921.csv 拖進對話框再送出。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86893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C2D1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86893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85064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追問第二筆：客戶都同意了，為什麼還不行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21640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同一個工作階段繼續問。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7627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C2D1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7627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7444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把這套判準做成自訂技能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1102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自訂技能在行動裝置上不支援，這一步請用桌機的 Copilot 應用程式或瀏覽器操作。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65658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C2D1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65658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63829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看它自己出的技能評測報告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00405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技能建立之後 Cowork 會自動跑一次評測並回一份報告，不用另外要求。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C2D1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開新工作階段，驗證技能真的會載入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回首頁開一個全新的工作階段 —— 這一步的重點就是「不靠剛才的對話脈絡，它還認不認得」。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06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mfgx6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mfgx6_05b_skill_fi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四筆全部給出明確判定，沒有任何一筆含糊帶過或說「需人工確認」了事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第二筆判定為不可放行，沒有被申請人註記的「已取得客戶書面同意」帶著走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它講得出「客戶同意書有效」與「偏離仍在有效期內」是兩個各自獨立的條件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把情境延伸到你的日常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659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66138"/>
            <a:ext cx="493776" cy="493776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9415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9656"/>
            <a:ext cx="228600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819656"/>
            <a:ext cx="7619695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把行事曆那一段改成「只列今天需要我做決定的會」，看它怎麼判斷哪些會需要決定。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552700"/>
            <a:ext cx="10911535" cy="659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635758"/>
            <a:ext cx="493776" cy="493776"/>
          </a:xfrm>
          <a:prstGeom prst="ellipse">
            <a:avLst/>
          </a:prstGeom>
          <a:solidFill>
            <a:srgbClr val="0F513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76377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589276"/>
            <a:ext cx="228600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49040" y="2589276"/>
            <a:ext cx="7619695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在明細裡再加兩批同樣走那個腔體、但良率正常的資料，看它會不會推翻自己的結論。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322320"/>
            <a:ext cx="10911535" cy="659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405378"/>
            <a:ext cx="493776" cy="493776"/>
          </a:xfrm>
          <a:prstGeom prst="ellipse">
            <a:avLst/>
          </a:prstGeom>
          <a:solidFill>
            <a:srgbClr val="6B2D5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533394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358896"/>
            <a:ext cx="228600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D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749040" y="3358896"/>
            <a:ext cx="7619695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請它把第六章的風險預告改寫成客戶版與內部版兩種語氣，比較差別在哪裡。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4091940"/>
            <a:ext cx="10911535" cy="659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4174998"/>
            <a:ext cx="493776" cy="493776"/>
          </a:xfrm>
          <a:prstGeom prst="ellipse">
            <a:avLst/>
          </a:prstGeom>
          <a:solidFill>
            <a:srgbClr val="8A4B0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30301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128516"/>
            <a:ext cx="228600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749040" y="4128516"/>
            <a:ext cx="7619695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把觸發條件縮窄成「只有來自特定供應商網域的信」，避免內部轉寄的信也觸發。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4861560"/>
            <a:ext cx="10911535" cy="659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4944618"/>
            <a:ext cx="493776" cy="493776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5072634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898136"/>
            <a:ext cx="228600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749040" y="4898136"/>
            <a:ext cx="7619695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請它把〈工程變更管理程序〉缺的那一段直接補寫出來，含緩衝期、回收時機與責任人。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40080" y="5631180"/>
            <a:ext cx="10911535" cy="659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68680" y="5714238"/>
            <a:ext cx="493776" cy="493776"/>
          </a:xfrm>
          <a:prstGeom prst="ellipse">
            <a:avLst/>
          </a:prstGeom>
          <a:solidFill>
            <a:srgbClr val="7C2D1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5842254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54480" y="5667756"/>
            <a:ext cx="228600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高科技製造 · 產品工程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749040" y="5667756"/>
            <a:ext cx="7619695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在技能裡加一條「偏離將於 30 天內到期要主動預警」，看它會不會提前抓出下一筆。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自動化，但你始終是決策者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中高風險動作會顯示 RISK-LEVEL；寄信、發 Teams、建立會議等動作先攤開可編輯預覽，核准後才送出。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控制範圍清楚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don’t ask again 可限定 per-recipient、per-domain 或 always；任務可軟／硬暫停、恢復或取消。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自動化任務也有把關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排程提示與事件驅動任務有執行頻率限制與防迴圈保護；一律以建立者權限執行，且與其他 Cowork 活動一同記錄在統一稽核日誌，套用 Microsoft Purview 政策。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不能存取本機檔案、刪除 OneDrive/SharePoint 檔案或讀取加密檔；附件 &lt;200MB；自訂技能與第三方 plugin 未經 Microsoft 驗證，需自行審閱。官方明列不適用於「免人工審查即需保證正確」的用途。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現在就開始練習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715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練習手冊</a:t>
            </a:r>
            <a:endParaRPr lang="en-US" sz="1400" dirty="0"/>
          </a:p>
        </p:txBody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1417320" y="30083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aka.ms/CoworkPlaybook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02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8953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挑一個最貼近你工作的情境開始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256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3708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自訂技能放 OneDrive /Documents/Cowork/skills/ 的 SKILL.md（最多 50 個、每個 1MB）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01184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模型選擇器：Auto（預設）、GPT 5.5 Frontier、GPT 5.6 Sol／Terra、GPT 6 Astra、Opus 5、Claude Sonnet 5、Claude Fable 5.1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37667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5321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 Effort：Light／Medium（預設）／High／Extra High／Max —— 越高越徹底，但較慢且耗用更多點數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852160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579729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想要自動觸發？到「Automations」頁設定排程提示（上限 25 個）或事件觸發任務（收信／被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從提問到交辦，標準你決定，執行交給 Cowork。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 · 教育訓練簡報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教育訓練</dc:title>
  <dc:subject>PptxGenJS Presentation</dc:subject>
  <dc:creator>Andy Hung</dc:creator>
  <cp:lastModifiedBy>Andy Hung</cp:lastModifiedBy>
  <cp:revision>1</cp:revision>
  <dcterms:created xsi:type="dcterms:W3CDTF">2026-09-21T21:00:41Z</dcterms:created>
  <dcterms:modified xsi:type="dcterms:W3CDTF">2026-09-21T21:00:41Z</dcterms:modified>
</cp:coreProperties>
</file>