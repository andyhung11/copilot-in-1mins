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workPlaybook" TargetMode="External"/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4" Type="http://schemas.openxmlformats.org/officeDocument/2006/relationships/image" Target="../media/image-21-3.png"/><Relationship Id="rId5" Type="http://schemas.openxmlformats.org/officeDocument/2006/relationships/image" Target="../media/image-21-4.png"/><Relationship Id="rId6" Type="http://schemas.openxmlformats.org/officeDocument/2006/relationships/image" Target="../media/image-21-5.png"/><Relationship Id="rId7" Type="http://schemas.openxmlformats.org/officeDocument/2006/relationships/image" Target="../media/image-21-6.png"/><Relationship Id="rId8" Type="http://schemas.openxmlformats.org/officeDocument/2006/relationships/image" Target="../media/image-21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C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 AI 的實戰工作流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5 個通用工作情境，看 Copilot 如何跨 App 多步執行，並在中高風險動作前顯示風險等級、等你核准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84048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教育訓練簡報 · 客戶分享版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今天的內容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17007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 Cowork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什麼是代理式 AI，和一般 Copilot Chat 有何不同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737360" y="2615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核心能力與運作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技能、工作區、行動前審核、自我驗證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37360" y="3529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39502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範例檔下載後拖進對話，以及哪些情境會動到信箱與行事曆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37360" y="4443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五大實戰情境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37360" y="4864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收件匣、客戶拜訪、數據、研究簡報、自訂技能，逐一拆解工作流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3218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37360" y="5358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套用到你的日常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57790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如何把這些情境延伸到自己的工作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COWORK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從「對話」到「代理執行」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是 Copilot 的</a:t>
            </a:r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代理式（agentic）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工作模式。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你交付一個目標，它會自己拆解步驟、讀取雲端檔案、載入需要的技能，跨 App 產出成果並自我檢查——中高風險動作會顯示風險等級並停下來請你核准。你從「快速單輪問答」升級為「交付一個可執行的任務」。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611880"/>
            <a:ext cx="3454298" cy="8229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Chat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快速單輪問答；適合立即回答與腦力激盪。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68698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8698" y="3611880"/>
            <a:ext cx="3454298" cy="8229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3931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8738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代理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8738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你給目標，它跨 App 多步驟自主執行，可運行數分鐘到數小時。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97317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3611880"/>
            <a:ext cx="3454298" cy="8229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3931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7357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你仍是主導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7357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對外或影響他人的動作，一律先暫停等你核准。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與一般 Copilot Chat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solidFill>
            <a:srgbClr val="0F1031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Copilot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Cowork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互動方式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交付目標，跨 App 自主多步執行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秒～分鐘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分鐘～數小時（自主執行）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任務複雜度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單步驟、單一工作階段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跨任務與來源的多步驟工作流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檔案處理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661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貼上片段內容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3566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讀取雲端附件、產出新檔案；不存取本機檔案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技能運用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661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單一對話能力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40233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自動載入 14 個內建技能與自訂技能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聊天視窗的文字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0" y="4480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中真實的文件、試算表、簡報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自動啟動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5661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每次都要你開啟並下指令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89520" y="4937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排程提示／事件觸發：收信或被 @提及時自動執行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外部系統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56616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接地於 M365 資料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89520" y="5394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可透過 Plugins／MCP 連外部系統，官方目錄已有 92 個合作夥伴 plugin（D365、SAP、Fabric 等）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你自行判斷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0" y="5852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中高風險動作顯示風險等級，核准後才執行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四個讓 Cowork 不一樣的能力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A4D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295144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個內建技能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Word、Excel、PowerPoint、PDF、Email、Scheduling、Calendar Management、Meetings、Daily Briefing、Enterprise Search、Deep Research、Communications、Adaptive Cards、App（Frontier）。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6C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00" y="229514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6048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工作區 Workspace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96048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右側面板同時呈現進度、輸入檔、輸出檔、已載入技能、排程與已核准權限，過程透明可追。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809744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11680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 RISK-LEVEL；可核准、取消，或設定 per-recipient／per-domain／always 的 don’t ask again；多筆待審可「Approve All」。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24448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4488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CA501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4809744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96048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新能力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96048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排程提示（上限 25 個）與事件觸發任務、投入 Effort 五級調節品質與成本、自訂技能建立後自動產生技能報告（0–100 分四維度，另有含 Safety and RAI 掃描的 5 道獨立關卡）、本機 Edge 瀏覽器（2026/8 GA）、影像生成、Plugins／MCP 連外部系統。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一次代理式工作流，背後發生什麼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620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接收目標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下達指令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57" y="29718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7833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10169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61" y="28620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07833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規劃拆解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07833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理解任務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拆成步驟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10" y="2971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558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77923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515" y="286207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558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載入技能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37558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內建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自訂技能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264" y="297180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334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4567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268" y="2862072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4334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執行產出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24334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建立文件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試算表／信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017" y="2971800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11094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13430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022" y="2862072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1094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自我驗證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8111094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檢查數字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與一致性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0770" y="2971800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97884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381183" y="269748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5775" y="2862072"/>
            <a:ext cx="438912" cy="43891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7884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97884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對外動作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等你核准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整個過程在「工作區」面板透明呈現；可軟／硬暫停、恢復或取消任務。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640080" y="52852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啟動方式不只聊天下指令：也能設定「收到指定信件／被 @提及時」自動觸發（事件驅動任務），一樣走相同的自我驗證與核准流程。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素材下載後拖進對話即可，不需事先放進 OneDrive · 準備時間 約 8 分鐘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43584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下載範例檔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43584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每個情境的〈參考檔案〉區都有下載連結，點了就存到你的電腦。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8728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3320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82232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信箱：它會建立草稿，不會擅自寄出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82232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有幾個情境會請 Cowork 草擬信件。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📅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43584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行事曆：本週留一些空檔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43584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有幾個情境會請 Cowork 排會議或建立提醒，寫進的是你自己的行事曆。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78728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443320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82232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產出會存到你的 OneDrive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82232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產生的檔案會存進你自己的 OneDrive，也可以在對話右側的側邊欄直接預覽或下載。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🧩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43584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技能資料夾：現場建立，不要先放進去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43584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有情境會示範現場建立自訂技能。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78728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8728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443320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⏰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82232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自動化頁面：先清掉殘留的任務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82232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有情境會建立排程提示或事件觸發任務。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590288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590288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" y="464515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🔎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43584" y="4636008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Enterprise Search：組織裡要真的有東西可搜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243584" y="4910328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有情境會請 Cowork 先用 Enterprise Search 盤點組織內部…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78728" y="4590288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78728" y="4590288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6443320" y="464515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🔬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882232" y="4636008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Deep Research 很慢也很貴，示範前先試跑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882232" y="4910328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有情境會用到 Deep Research。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0080" y="5532120"/>
            <a:ext cx="1091153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5532120"/>
            <a:ext cx="91440" cy="7498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" y="5614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開課前最後檢查</a:t>
            </a:r>
            <a:endParaRPr lang="en-US" sz="1200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5641848"/>
            <a:ext cx="155448" cy="155448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2999232" y="5586984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要練的情境，它的參考檔案都已下載到你的電腦</a:t>
            </a:r>
            <a:endParaRPr lang="en-US" sz="1050" dirty="0"/>
          </a:p>
        </p:txBody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852160"/>
            <a:ext cx="155448" cy="155448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2999232" y="5797296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清楚核准卡出現時要逐格檢查收件者，練習信不會寄給真實對象</a:t>
            </a:r>
            <a:endParaRPr lang="en-US" sz="1050" dirty="0"/>
          </a:p>
        </p:txBody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062472"/>
            <a:ext cx="155448" cy="155448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2999232" y="6007608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行事曆本週有空檔，可以讓它排入測試會議</a:t>
            </a:r>
            <a:endParaRPr lang="en-US" sz="1050" dirty="0"/>
          </a:p>
        </p:txBody>
      </p:sp>
      <p:sp>
        <p:nvSpPr>
          <p:cNvPr id="55" name="Text 5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五個實戰情境總覽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88969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889699" cy="109728"/>
          </a:xfrm>
          <a:prstGeom prst="rect">
            <a:avLst/>
          </a:prstGeom>
          <a:solidFill>
            <a:srgbClr val="CA5010"/>
          </a:solidFill>
          <a:ln/>
        </p:spPr>
      </p:sp>
      <p:sp>
        <p:nvSpPr>
          <p:cNvPr id="7" name="Shape 5"/>
          <p:cNvSpPr/>
          <p:nvPr/>
        </p:nvSpPr>
        <p:spPr>
          <a:xfrm>
            <a:off x="1127730" y="2194560"/>
            <a:ext cx="914400" cy="914400"/>
          </a:xfrm>
          <a:prstGeom prst="ellipse">
            <a:avLst/>
          </a:prstGeom>
          <a:solidFill>
            <a:srgbClr val="CA501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8898" y="239572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163824"/>
            <a:ext cx="1706819" cy="1898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50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生產力 / 個人效率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31520" y="3408553"/>
            <a:ext cx="1706819" cy="247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收件匣分流排程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" y="3738499"/>
            <a:ext cx="1706819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 · Daily Briefing · 排程提示 Scheduled prompt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4415155"/>
            <a:ext cx="1706819" cy="363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10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★☆☆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95539" y="1828800"/>
            <a:ext cx="188969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95539" y="1828800"/>
            <a:ext cx="1889699" cy="109728"/>
          </a:xfrm>
          <a:prstGeom prst="rect">
            <a:avLst/>
          </a:prstGeom>
          <a:solidFill>
            <a:srgbClr val="0067B8"/>
          </a:solidFill>
          <a:ln/>
        </p:spPr>
      </p:sp>
      <p:sp>
        <p:nvSpPr>
          <p:cNvPr id="15" name="Shape 12"/>
          <p:cNvSpPr/>
          <p:nvPr/>
        </p:nvSpPr>
        <p:spPr>
          <a:xfrm>
            <a:off x="3383189" y="2194560"/>
            <a:ext cx="914400" cy="914400"/>
          </a:xfrm>
          <a:prstGeom prst="ellipse">
            <a:avLst/>
          </a:prstGeom>
          <a:solidFill>
            <a:srgbClr val="0067B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357" y="239572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86979" y="3163824"/>
            <a:ext cx="1706819" cy="1898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 / 售前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986979" y="3408553"/>
            <a:ext cx="1706819" cy="247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客戶拜訪全流程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986979" y="3738499"/>
            <a:ext cx="1706819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 · Email · Scheduling · Calendar Management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986979" y="4613275"/>
            <a:ext cx="1706819" cy="363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12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★☆☆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150998" y="1828800"/>
            <a:ext cx="188969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150998" y="1828800"/>
            <a:ext cx="1889699" cy="109728"/>
          </a:xfrm>
          <a:prstGeom prst="rect">
            <a:avLst/>
          </a:prstGeom>
          <a:solidFill>
            <a:srgbClr val="0A8F5B"/>
          </a:solidFill>
          <a:ln/>
        </p:spPr>
      </p:sp>
      <p:sp>
        <p:nvSpPr>
          <p:cNvPr id="23" name="Shape 19"/>
          <p:cNvSpPr/>
          <p:nvPr/>
        </p:nvSpPr>
        <p:spPr>
          <a:xfrm>
            <a:off x="5638648" y="2194560"/>
            <a:ext cx="914400" cy="914400"/>
          </a:xfrm>
          <a:prstGeom prst="ellipse">
            <a:avLst/>
          </a:prstGeom>
          <a:solidFill>
            <a:srgbClr val="0A8F5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16" y="2395728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42438" y="3163824"/>
            <a:ext cx="1706819" cy="1898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8F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 / 營運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242438" y="3408553"/>
            <a:ext cx="1706819" cy="495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銷售數據多維呈現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5242438" y="3986149"/>
            <a:ext cx="1706819" cy="39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· Adaptive Cards · PDF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242438" y="4464685"/>
            <a:ext cx="1706819" cy="363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10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★☆☆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406457" y="1828800"/>
            <a:ext cx="188969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406457" y="1828800"/>
            <a:ext cx="1889699" cy="109728"/>
          </a:xfrm>
          <a:prstGeom prst="rect">
            <a:avLst/>
          </a:prstGeom>
          <a:solidFill>
            <a:srgbClr val="8764B8"/>
          </a:solidFill>
          <a:ln/>
        </p:spPr>
      </p:sp>
      <p:sp>
        <p:nvSpPr>
          <p:cNvPr id="31" name="Shape 26"/>
          <p:cNvSpPr/>
          <p:nvPr/>
        </p:nvSpPr>
        <p:spPr>
          <a:xfrm>
            <a:off x="7894107" y="2194560"/>
            <a:ext cx="914400" cy="914400"/>
          </a:xfrm>
          <a:prstGeom prst="ellipse">
            <a:avLst/>
          </a:prstGeom>
          <a:solidFill>
            <a:srgbClr val="8764B8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275" y="239572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97897" y="3163824"/>
            <a:ext cx="1706819" cy="1898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 / 客戶經營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7497897" y="3408553"/>
            <a:ext cx="1706819" cy="247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內外部情報整合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7497897" y="3738499"/>
            <a:ext cx="1706819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Enterprise Search · Deep Research · PowerPoint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7497897" y="4415155"/>
            <a:ext cx="1706819" cy="363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15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9661916" y="1828800"/>
            <a:ext cx="188969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9661916" y="1828800"/>
            <a:ext cx="1889699" cy="109728"/>
          </a:xfrm>
          <a:prstGeom prst="rect">
            <a:avLst/>
          </a:prstGeom>
          <a:solidFill>
            <a:srgbClr val="7A4DDB"/>
          </a:solidFill>
          <a:ln/>
        </p:spPr>
      </p:sp>
      <p:sp>
        <p:nvSpPr>
          <p:cNvPr id="39" name="Shape 33"/>
          <p:cNvSpPr/>
          <p:nvPr/>
        </p:nvSpPr>
        <p:spPr>
          <a:xfrm>
            <a:off x="10149566" y="2194560"/>
            <a:ext cx="914400" cy="914400"/>
          </a:xfrm>
          <a:prstGeom prst="ellipse">
            <a:avLst/>
          </a:prstGeom>
          <a:solidFill>
            <a:srgbClr val="7A4DDB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0734" y="2395728"/>
            <a:ext cx="512064" cy="5120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753356" y="3163824"/>
            <a:ext cx="1706819" cy="174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8" b="1" dirty="0">
                <a:solidFill>
                  <a:srgbClr val="7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知識工作 / 自動化</a:t>
            </a:r>
            <a:endParaRPr lang="en-US" sz="1058" dirty="0"/>
          </a:p>
        </p:txBody>
      </p:sp>
      <p:sp>
        <p:nvSpPr>
          <p:cNvPr id="42" name="Text 35"/>
          <p:cNvSpPr/>
          <p:nvPr/>
        </p:nvSpPr>
        <p:spPr>
          <a:xfrm>
            <a:off x="9753356" y="3393364"/>
            <a:ext cx="1706819" cy="455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自訂技能與事件觸發</a:t>
            </a:r>
            <a:endParaRPr lang="en-US" sz="1380" dirty="0"/>
          </a:p>
        </p:txBody>
      </p:sp>
      <p:sp>
        <p:nvSpPr>
          <p:cNvPr id="43" name="Text 36"/>
          <p:cNvSpPr/>
          <p:nvPr/>
        </p:nvSpPr>
        <p:spPr>
          <a:xfrm>
            <a:off x="9753356" y="3931336"/>
            <a:ext cx="1706819" cy="7290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4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 · 技能評測 Skill Report · 事件觸發任務 Event-driven task</a:t>
            </a:r>
            <a:endParaRPr lang="en-US" sz="1104" dirty="0"/>
          </a:p>
        </p:txBody>
      </p:sp>
      <p:sp>
        <p:nvSpPr>
          <p:cNvPr id="44" name="Text 37"/>
          <p:cNvSpPr/>
          <p:nvPr/>
        </p:nvSpPr>
        <p:spPr>
          <a:xfrm>
            <a:off x="9753356" y="4742713"/>
            <a:ext cx="1706819" cy="3341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12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18 分鐘</a:t>
            </a:r>
            <a:endParaRPr lang="en-US" sz="1012" dirty="0"/>
          </a:p>
          <a:p>
            <a:pPr algn="ctr" indent="0" marL="0">
              <a:buNone/>
            </a:pPr>
            <a:r>
              <a:rPr lang="en-US" sz="1012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1012" dirty="0"/>
          </a:p>
        </p:txBody>
      </p:sp>
      <p:sp>
        <p:nvSpPr>
          <p:cNvPr id="45" name="Text 3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A501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50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CA501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生產力 / 個人效率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收件匣分流排程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10 分鐘 · 難度 ★☆☆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499616" y="4572000"/>
            <a:ext cx="171907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499616" y="457200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Daily Briefing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275234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2752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 Scheduled prompt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把一份『分流規則』交給 Cowork，讓它每天早上用同一套標準幫你掃過收件匣、分四象限、挑出今天非回不可的信，再產出一份 5 分鐘讀完的晨間簡報；最後把整套流程設成每天 08:30 自動執行 —— 從今天起，你開機時它已經做完了。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179222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50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24942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A501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249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50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23113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上傳規則並請它分流今天的收件匣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59689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把參考檔案中的分流規則 md 上傳到聊天框，送出下面的提示詞。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21868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A501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50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20040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觀察它如何讀信、逐封套規則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56616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展開「思考流程」追蹤，看它如何把每封信對應到你的規則；確認收件匣與規則都有被讀取後，送出下面的提示詞。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18795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A501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50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16966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收到你的每日晨間簡報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53542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讀一下你的晨間簡報，對照規則第四節的五個區塊，確認它照你的格式排版。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15721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A501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157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50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13892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設成每天 08:30 自動執行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50468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送出下面的提示詞，把整套流程交給排程。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CA5010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50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s1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A50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s1_04_schedule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A50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CA5010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〔操作〕分流規則 md 已上傳，Cowork 讀取了你的真實收件匣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〔判斷〕最多 3 封最優先信被標為 ⭐，且它說得出每一封是套用哪一條規則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〔產出〕晨間簡報含規則第四節的五個區塊（今日焦點／今日會議／必須回覆／等待中／提醒）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7B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6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067B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 / 售前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客戶拜訪全流程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12 分鐘 · 難度 ★☆☆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713232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399032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399032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395728" y="4572000"/>
            <a:ext cx="131673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2395728" y="4572000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Scheduling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074920"/>
            <a:ext cx="222199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074920"/>
            <a:ext cx="2221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Calendar Management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從一份客戶背景資料出發，讓 Cowork 自動產出「會前簡報重點」，會後草擬跟進信並在你核准後寄出，最後直接把下次會議排進行事曆 —— 從準備、收尾到約下一步，一條龍走完。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067B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上傳背景檔並下指令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在聊天框點選上傳附件，把參考檔案中的客戶背景 docx 上傳，送出下面的提示詞。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29443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067B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29260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觀察代理式工作流與產出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2918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展開工作區面板，觀察它自我驗證的過程；讀完 Word 初稿後，送出下面的提示詞。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39136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067B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38953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會後：草擬跟進信並核准寄出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2611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Word 簡報初稿的內容符合預期後，送出下面的提示詞，並在核准卡出現時確認三件事。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48828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067B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48646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把下次會議直接排進行事曆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2303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跟進信寄出後，送出下面的提示詞，讓它把信裡承諾的下一步真的變成一場會議。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067B8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s2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6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s2_07_meeting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6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0067B8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〔操作〕客戶背景 docx 已上傳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〔產出〕Word 簡報重點含四個段落且內容對應背景資料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〔判斷〕你問過它「有沒有發現矛盾或資訊不足」，並確認最終版本正確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8F5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A8F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A8F5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 / 營運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銷售數據多維呈現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10 分鐘 · 難度 ★☆☆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499616" y="4572000"/>
            <a:ext cx="171907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499616" y="457200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Adaptive Cards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61264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612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丟一份原始銷售明細給 Cowork，讓它自動算出樞紐彙總、用公式連動、標出最佳與最差，並寫出關鍵發現；再把三個重點做成對話裡就能看的互動卡片，以及一份可直接轉寄的 PDF —— 同一份分析，三種給人看的方式。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F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A8F5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F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上傳數據並說清楚你要的分析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把參考檔案中的銷售原始 xlsx 上傳到聊天框，送出下面的提示詞。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29443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A8F5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F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29260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觀察它如何自我驗證數字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2918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展開「思考流程」追蹤，觀察 Python 計算與 Excel 建立的交替步驟；確認數字有做交叉驗算後…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39136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A8F5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F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38953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打開儀表板驗收成果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2611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點開產出的 xlsx 預覽，確認工作表結構；如果你想了解哪些數字是活公式、哪些是寫死的，送出下面的提示詞。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48828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A8F5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F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48646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同一份分析，換兩種給人看的方式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2303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儀表板驗收無誤後，送出下面的提示詞，請它把三個關鍵發現做成互動卡片，並另存一份 PDF 摘要。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A8F5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8F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s3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8F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s3_05_car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8F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0A8F5B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〔操作〕銷售原始 xlsx 已上傳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〔產出〕產出檔含「銷售分析儀表板」與「原始數據」兩個工作表，三張樞紐彙總表各含小計、佔比與退貨率，以 SUMIF 公式連動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〔產出〕附有三點關鍵發現與建議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764B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8764B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 / 客戶經營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內外部情報整合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15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02082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020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Enterprise Search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1618488" cy="402336"/>
          </a:xfrm>
          <a:prstGeom prst="roundRect">
            <a:avLst>
              <a:gd name="adj" fmla="val 50000"/>
            </a:avLst>
          </a:prstGeom>
          <a:solidFill>
            <a:srgbClr val="8764B8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1618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Deep Research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304288" y="5074920"/>
            <a:ext cx="1316736" cy="402336"/>
          </a:xfrm>
          <a:prstGeom prst="roundRect">
            <a:avLst>
              <a:gd name="adj" fmla="val 50000"/>
            </a:avLst>
          </a:prstGeom>
          <a:solidFill>
            <a:srgbClr val="C43E1C"/>
          </a:solidFill>
          <a:ln/>
        </p:spPr>
      </p:sp>
      <p:sp>
        <p:nvSpPr>
          <p:cNvPr id="15" name="Text 12"/>
          <p:cNvSpPr/>
          <p:nvPr/>
        </p:nvSpPr>
        <p:spPr>
          <a:xfrm>
            <a:off x="2304288" y="5074920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PowerPoint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做客戶簡報前，先問一個常被跳過的問題：我們公司內部已經知道什麼？讓 Cowork 先用企業搜尋撈出組織內既有的會議紀錄與往來資料，再上網深度研究補外部資訊，最後接力做成一份有憑有據的 PowerPoint。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764B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先問內部：我們已經知道什麼？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先不要上傳任何檔案，也先不要上網查。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29443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764B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29260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再問外部：把缺的補起來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2918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把參考檔案中的研究簡報大綱 md 上傳到聊天框，送出下面的提示詞。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39136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764B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38953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多技能接力：內部＋外部 → 投影片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2611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確認研究摘要 research-report.md 已寫出，並看到 PowerPoint 技能被載入後…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48828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764B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48646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驗收：哪些能講、哪些要先查證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2303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點開 PowerPoint 預覽，確認 8 頁結構完整，找出黃色佔位符欄位與來源標註；送出下面的提示詞。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8764B8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s4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s4_05_deck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8764B8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〔操作〕你一個檔案都沒上傳，Cowork 就用企業搜尋撈出組織內既有的客戶資料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〔判斷〕你看得出內部已知什麼、缺什麼，才決定外部要查哪些面向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〔產出〕深度研究產出一份附有真實來源連結的研究摘要（.md）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A4DD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7A4DD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知識工作 / 自動化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自訂技能與事件觸發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18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645920" cy="402336"/>
          </a:xfrm>
          <a:prstGeom prst="roundRect">
            <a:avLst>
              <a:gd name="adj" fmla="val 50000"/>
            </a:avLst>
          </a:prstGeom>
          <a:solidFill>
            <a:srgbClr val="7A4DD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235000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2350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技能評測 Skill Report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577840"/>
            <a:ext cx="321868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577840"/>
            <a:ext cx="32186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事件觸發任務 Event-driven task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把你每週都要做的固定工作教給 Cowork 一次，看它自動幫你的技能打分數，最後再讓這個技能自己啟動 —— 收到特定的信就自動跑，連那句觸發語都不必說。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A4D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先問 Cowork：技能怎麼建？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送出下面的提示詞，讓 Cowork 說明它自己的技能機制。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29443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A4D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29260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 Cowork 對話式幫你建技能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2918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把參考檔案中的 S5_SKILL.md 上傳，對照技能定義，再送出下面的提示詞讓 Cowork 直接建立技能。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39136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A4D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38953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開新工作階段，用一句話觸發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2611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關閉目前的 Cowork 對話，開啟一個全新的 Cowork 聊天…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48828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A4DD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48646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讓技能自己啟動：設一個事件觸發任務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2303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送出下面的提示詞，把剛才那個技能掛到「收到特定信件」這個事件上。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7A4DD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s5_01_howto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s5_10_trigger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7A4DDB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〔操作〕customer-weekly-report 技能已建立並同步到 OneDrive 的 Documents/Cowork/skills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〔評測〕你看到了技能報告的分數，並說得出四個維度分別在評什麼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〔判斷〕你知道「高分」不等於「通過」，因為安全與 RAI 掃描是獨立的關卡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把情境延伸到你的日常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01952"/>
            <a:ext cx="493776" cy="493776"/>
          </a:xfrm>
          <a:prstGeom prst="ellipse">
            <a:avLst/>
          </a:prstGeom>
          <a:solidFill>
            <a:srgbClr val="CA501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02996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1965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50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生產力 / 個人效率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749040" y="1819656"/>
            <a:ext cx="76196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把規則改成你自己的判斷標準（你的 VIP 名單、你的象限定義），打造專屬分流邏輯。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2624328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743200"/>
            <a:ext cx="493776" cy="493776"/>
          </a:xfrm>
          <a:prstGeom prst="ellipse">
            <a:avLst/>
          </a:prstGeom>
          <a:solidFill>
            <a:srgbClr val="0067B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87121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66090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7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 / 售前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749040" y="2660904"/>
            <a:ext cx="76196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把背景檔換成你真實的客戶資料（去識別化後），讓 Cowork 產生你下一場拜訪的 brief。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3465576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3584448"/>
            <a:ext cx="493776" cy="493776"/>
          </a:xfrm>
          <a:prstGeom prst="ellipse">
            <a:avLst/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712464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50215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F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 / 營運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749040" y="3502152"/>
            <a:ext cx="76196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換成你自己的銷售或營運數據，產生屬於你部門的儀表板。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40080" y="4306824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8680" y="4425696"/>
            <a:ext cx="493776" cy="493776"/>
          </a:xfrm>
          <a:prstGeom prst="ellipse">
            <a:avLst/>
          </a:prstGeom>
          <a:solidFill>
            <a:srgbClr val="8764B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4553712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34340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 / 客戶經營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3749040" y="4343400"/>
            <a:ext cx="76196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換成你自己負責的客戶，先跑企業搜尋看看公司內部到底累積了多少你不知道的資料。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640080" y="5148072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68680" y="5266944"/>
            <a:ext cx="493776" cy="493776"/>
          </a:xfrm>
          <a:prstGeom prst="ellipse">
            <a:avLst/>
          </a:prstGeom>
          <a:solidFill>
            <a:srgbClr val="7A4DD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5394960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518464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知識工作 / 自動化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749040" y="5184648"/>
            <a:ext cx="76196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把段落與用語改成你公司真正的週報格式，建立屬於你自己的版本。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自動化，但你始終是決策者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0370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中高風險動作會顯示 RISK-LEVEL；寄信、發 Teams、建立會議等動作先攤開可編輯預覽，核准後才送出。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9544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266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控制範圍清楚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37413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don’t ask again 可限定 per-recipient、per-domain 或 always；任務可軟／硬暫停、恢復或取消。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215384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79976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自動化任務也有把關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91640" y="45445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排程提示與事件驅動任務有執行頻率限制與防迴圈保護；一律以建立者權限執行，且與其他 Cowork 活動一同記錄在統一稽核日誌，套用 Microsoft Purview 政策。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385816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550408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675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限制也要知道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91640" y="57150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不能存取本機檔案、刪除 OneDrive/SharePoint 檔案或讀取加密檔；附件 &lt;200MB；自訂技能與第三方 plugin 未經 Microsoft 驗證，需自行審閱。官方明列不適用於「免人工審查即需保證正確」的用途。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現在就開始練習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60604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8036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715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練習手冊</a:t>
            </a:r>
            <a:endParaRPr lang="en-US" sz="1400" dirty="0"/>
          </a:p>
        </p:txBody>
      </p:sp>
      <p:sp>
        <p:nvSpPr>
          <p:cNvPr id="6" name="Text 3">
            <a:hlinkClick r:id="rId3" tooltip=""/>
          </p:cNvPr>
          <p:cNvSpPr/>
          <p:nvPr/>
        </p:nvSpPr>
        <p:spPr>
          <a:xfrm>
            <a:off x="1417320" y="30083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E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aka.ms/CoworkPlaybook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5020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8953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挑一個最貼近你工作的情境開始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2569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43708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自訂技能放 OneDrive /Documents/Cowork/skills/ 的 SKILL.md（最多 50 個、每個 1MB）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901184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模型選擇器：Auto（預設）、GPT 5.5 Frontier、GPT 5.6 Sol／Terra、GPT 6 Astra、Opus 5、Claude Sonnet 5、Claude Fable 5.1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376672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53218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 Effort：Light／Medium（預設）／High／Extra High／Max —— 越高越徹底，但較慢且耗用更多點數</a:t>
            </a:r>
            <a:endParaRPr lang="en-US" sz="14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852160"/>
            <a:ext cx="237744" cy="23774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579729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想要自動觸發？到「Automations」頁設定排程提示（上限 25 個）或事件觸發任務（收信／被 @提及）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從提問到交辦，標準你決定，執行交給 Cowork。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3200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 · 教育訓練簡報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Cowork 教育訓練</dc:title>
  <dc:subject>PptxGenJS Presentation</dc:subject>
  <dc:creator>Andy Hung</dc:creator>
  <cp:lastModifiedBy>Andy Hung</cp:lastModifiedBy>
  <cp:revision>1</cp:revision>
  <dcterms:created xsi:type="dcterms:W3CDTF">2026-09-21T21:00:44Z</dcterms:created>
  <dcterms:modified xsi:type="dcterms:W3CDTF">2026-09-21T21:00:44Z</dcterms:modified>
</cp:coreProperties>
</file>