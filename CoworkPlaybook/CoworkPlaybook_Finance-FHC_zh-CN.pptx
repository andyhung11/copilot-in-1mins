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image" Target="../media/image-25-4.png"/><Relationship Id="rId6" Type="http://schemas.openxmlformats.org/officeDocument/2006/relationships/image" Target="../media/image-25-5.png"/><Relationship Id="rId7" Type="http://schemas.openxmlformats.org/officeDocument/2006/relationships/image" Target="../media/image-25-6.png"/><Relationship Id="rId8" Type="http://schemas.openxmlformats.org/officeDocument/2006/relationships/image" Target="../media/image-2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 AI 的实战工作流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7 个金控总部合规的真实场景，看 Copilot 如何跨应用多步执行，并在中高风险操作前显示风险等级、等你批准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培训演示文稿 · 客户分享版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今天的内容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什么是代理式 AI，和一般 Copilot Chat 有什么不同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核心能力与运作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技能、工作区、操作前审批、自检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练习环境准备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素材课前放进 OneDrive 和邮箱，让 Cowork 自己去找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七大实战场景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会签分流、教育培训、跨子公司协调会、集团合并敞口、突发事件报告、共同营销核对、会签技能，逐一拆解工作流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用到你的日常工作里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如何把这些场景延伸到自己的工作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从「对话」到「代理执行」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你交付一个目标，它会自己拆解步骤、读取云端文件、加载需要的技能，跨应用产出成果并自检——中高风险操作会显示风险等级并停下来请你批准。你从「快速单轮问答」升级为「交付一个可执行的任务」。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快速单轮问答；适合即时回答和头脑风暴。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你给目标，它跨应用多步骤自主执行，可以运行几分钟到几小时。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你仍然主导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对外或影响别人的操作，一律先暂停等你批准。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与一般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交付目标，跨应用自主多步执行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快速单轮问答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交付目标，跨应用自主多步执行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分钟～数小时（自主执行）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秒～分钟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分钟～数小时（自主执行）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跨任务与来源的多步骤工作流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单步骤、单个会话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跨任务与来源的多步骤工作流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读取云端附件、产出新文件；不访问本地文件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粘贴片段内容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读取云端附件、产出新文件；不访问本地文件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14 个内置技能和自定义技能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单一对话能力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14 个内置技能和自定义技能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里真实的文档、电子表格、演示文稿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聊天窗口里的文字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里真实的文档、电子表格、演示文稿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计划提示／事件触发：收到邮件或被 @提及时自动执行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每次都要你打开并下指令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计划提示／事件触发：收到邮件或被 @提及时自动执行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 Plugins／MCP 连外部系统，官方目录已有 92 个合作伙伴 plugin（D365、SAP、Fabric 等）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接地于 M365 数据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 Plugins／MCP 连外部系统，官方目录已有 92 个合作伙伴 plugin（D365、SAP、Fabric 等）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中高风险操作显示风险等级，批准后才执行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你自己判断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中高风险操作显示风险等级，批准后才执行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四个让 Cowork 不一样的能力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个内置技能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Word、Excel、PowerPoint、PDF、Email、Scheduling、Calendar Management、Meetings、Daily Briefing、Enterprise Search、Deep Research、Communications、Adaptive Cards、App（Frontier）。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右侧面板同时显示进度、输入文件、输出文件、已加载技能、计划任务和已批准的权限，过程透明可追溯。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 RISK-LEVEL；可以批准、取消，或者设置仅限此收件人／仅限此域名／始终允许；多条待审可以一起批准。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计划提示（上限 25 个）和事件触发任务、工作量级别五档调节质量与成本、自定义技能创建后自动生成技能报告（0–100 分四个维度，另有含安全与 RAI 扫描的 5 道独立关卡）、本机 Edge 浏览器（2026/8 GA）、图像生成、Plugins／MCP 连外部系统。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一次代理式工作流，背后发生什么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接收目标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下达指令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理解任务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拆成步骤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内置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自定义技能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执行产出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创建文档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电子表格／邮件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核对数字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对外操作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等你批准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整个过程在「工作区」面板里透明呈现；可以软／硬暂停、恢复或取消任务。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启动方式不只是聊天下指令：也能设置「收到指定邮件／被 @提及时」自动触发（事件驱动任务），一样走相同的自检和审批流程。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练习环境准备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素材课前先放进 OneDrive 的 文件/Cowork_Lab/金控合规/，练习时 Cowork 自己去找 · 准备时间 约 20 分钟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OneDrive 文件夹，把七个场景的素材放进去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OneDrive 建立 文件/Cowork_Lab/金控合规/，底下再开七个子文件夹：FIN1_会签分流…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把合规窗口名册放在母层，并填上真的收得到信的账号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合规窗口名册.md 要放在 金控合规 母文件夹，不要放进任何子文件夹 —— 场景 3 会从这里查与会者。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寄五封产品送合规确认给自己（场景 1 的起点）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用你自己的账号寄给自己，五封邮件的主题与正文都在 信箱_種入用/FIN1_产品送合规确认_五封.md…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📎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上传用的五个文件留在本机，不要放进 OneDrive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上传用/ 底下的五个文件（场景 4 的三张头寸表、场景 6 的名单、场景 7 的送审资料）是练习当下才上传的…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959352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959352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0142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400507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素材里的日期，练习前先和今天核对一下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279392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会议区间（场景 3）、上线日（场景 6、7）、报告时间…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开课前最后检查</a:t>
            </a:r>
            <a:endParaRPr lang="en-US" sz="12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七个子文件夹都建好了，每个场景的文件都在对的那一个底下</a:t>
            </a:r>
            <a:endParaRPr lang="en-US" sz="105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合规窗口名册在母文件夹，而且邮箱栏已经填成收得到信的账号</a:t>
            </a:r>
            <a:endParaRPr lang="en-US" sz="105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五封产品送合规确认都在收件箱，案件编号没有被改掉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七大实战场景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355010" cy="109728"/>
          </a:xfrm>
          <a:prstGeom prst="rect">
            <a:avLst/>
          </a:prstGeom>
          <a:solidFill>
            <a:srgbClr val="123F6D"/>
          </a:solidFill>
          <a:ln/>
        </p:spPr>
      </p:sp>
      <p:sp>
        <p:nvSpPr>
          <p:cNvPr id="7" name="Shape 5"/>
          <p:cNvSpPr/>
          <p:nvPr/>
        </p:nvSpPr>
        <p:spPr>
          <a:xfrm>
            <a:off x="860385" y="2194560"/>
            <a:ext cx="914400" cy="914400"/>
          </a:xfrm>
          <a:prstGeom prst="ellipse">
            <a:avLst/>
          </a:prstGeom>
          <a:solidFill>
            <a:srgbClr val="123F6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55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123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828" dirty="0"/>
          </a:p>
        </p:txBody>
      </p:sp>
      <p:sp>
        <p:nvSpPr>
          <p:cNvPr id="10" name="Text 7"/>
          <p:cNvSpPr/>
          <p:nvPr/>
        </p:nvSpPr>
        <p:spPr>
          <a:xfrm>
            <a:off x="731520" y="3355391"/>
            <a:ext cx="117213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共用邮箱会签分流：五封一样的信，只有一封要办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31520" y="4150919"/>
            <a:ext cx="1172130" cy="998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 · 企业搜索 Enterprise Search · 每日晨报 Daily Briefing · Adaptive Cards · 计划提示 Scheduled prompt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731520" y="5231740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12 分钟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792" dirty="0"/>
          </a:p>
        </p:txBody>
      </p:sp>
      <p:sp>
        <p:nvSpPr>
          <p:cNvPr id="13" name="Shape 10"/>
          <p:cNvSpPr/>
          <p:nvPr/>
        </p:nvSpPr>
        <p:spPr>
          <a:xfrm>
            <a:off x="2232834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32834" y="1828800"/>
            <a:ext cx="1355010" cy="109728"/>
          </a:xfrm>
          <a:prstGeom prst="rect">
            <a:avLst/>
          </a:prstGeom>
          <a:solidFill>
            <a:srgbClr val="1B5E57"/>
          </a:solidFill>
          <a:ln/>
        </p:spPr>
      </p:sp>
      <p:sp>
        <p:nvSpPr>
          <p:cNvPr id="15" name="Shape 12"/>
          <p:cNvSpPr/>
          <p:nvPr/>
        </p:nvSpPr>
        <p:spPr>
          <a:xfrm>
            <a:off x="2453139" y="2194560"/>
            <a:ext cx="914400" cy="914400"/>
          </a:xfrm>
          <a:prstGeom prst="ellipse">
            <a:avLst/>
          </a:prstGeom>
          <a:solidFill>
            <a:srgbClr val="1B5E57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24274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1B5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828" dirty="0"/>
          </a:p>
        </p:txBody>
      </p:sp>
      <p:sp>
        <p:nvSpPr>
          <p:cNvPr id="18" name="Text 14"/>
          <p:cNvSpPr/>
          <p:nvPr/>
        </p:nvSpPr>
        <p:spPr>
          <a:xfrm>
            <a:off x="2324274" y="3355391"/>
            <a:ext cx="117213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合规教育培训：整体达标，该达标的那群人没达标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2324274" y="4150919"/>
            <a:ext cx="1172130" cy="998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 · 图片生成 Image generation · Excel · 沟通撰写 Communications · Email · Adaptive Cards</a:t>
            </a:r>
            <a:endParaRPr lang="en-US" sz="864" dirty="0"/>
          </a:p>
        </p:txBody>
      </p:sp>
      <p:sp>
        <p:nvSpPr>
          <p:cNvPr id="20" name="Text 16"/>
          <p:cNvSpPr/>
          <p:nvPr/>
        </p:nvSpPr>
        <p:spPr>
          <a:xfrm>
            <a:off x="2324274" y="5231740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792" dirty="0"/>
          </a:p>
        </p:txBody>
      </p:sp>
      <p:sp>
        <p:nvSpPr>
          <p:cNvPr id="21" name="Shape 17"/>
          <p:cNvSpPr/>
          <p:nvPr/>
        </p:nvSpPr>
        <p:spPr>
          <a:xfrm>
            <a:off x="3825588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25588" y="1828800"/>
            <a:ext cx="1355010" cy="109728"/>
          </a:xfrm>
          <a:prstGeom prst="rect">
            <a:avLst/>
          </a:prstGeom>
          <a:solidFill>
            <a:srgbClr val="5B3A7A"/>
          </a:solidFill>
          <a:ln/>
        </p:spPr>
      </p:sp>
      <p:sp>
        <p:nvSpPr>
          <p:cNvPr id="23" name="Shape 19"/>
          <p:cNvSpPr/>
          <p:nvPr/>
        </p:nvSpPr>
        <p:spPr>
          <a:xfrm>
            <a:off x="4045893" y="2194560"/>
            <a:ext cx="914400" cy="914400"/>
          </a:xfrm>
          <a:prstGeom prst="ellipse">
            <a:avLst/>
          </a:prstGeom>
          <a:solidFill>
            <a:srgbClr val="5B3A7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61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17028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5B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828" dirty="0"/>
          </a:p>
        </p:txBody>
      </p:sp>
      <p:sp>
        <p:nvSpPr>
          <p:cNvPr id="26" name="Text 21"/>
          <p:cNvSpPr/>
          <p:nvPr/>
        </p:nvSpPr>
        <p:spPr>
          <a:xfrm>
            <a:off x="3917028" y="3355391"/>
            <a:ext cx="117213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跨子公司协调会：名册上四个人，实际只有三个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3917028" y="3972611"/>
            <a:ext cx="1172130" cy="998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会议排程 Scheduling · 日历管理 Calendar Management · 企业搜索 Enterprise Search · Word · Email</a:t>
            </a:r>
            <a:endParaRPr lang="en-US" sz="864" dirty="0"/>
          </a:p>
        </p:txBody>
      </p:sp>
      <p:sp>
        <p:nvSpPr>
          <p:cNvPr id="28" name="Text 23"/>
          <p:cNvSpPr/>
          <p:nvPr/>
        </p:nvSpPr>
        <p:spPr>
          <a:xfrm>
            <a:off x="3917028" y="5053432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15 分钟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29" name="Shape 24"/>
          <p:cNvSpPr/>
          <p:nvPr/>
        </p:nvSpPr>
        <p:spPr>
          <a:xfrm>
            <a:off x="5418343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18343" y="1828800"/>
            <a:ext cx="1355010" cy="109728"/>
          </a:xfrm>
          <a:prstGeom prst="rect">
            <a:avLst/>
          </a:prstGeom>
          <a:solidFill>
            <a:srgbClr val="8A4B1E"/>
          </a:solidFill>
          <a:ln/>
        </p:spPr>
      </p:sp>
      <p:sp>
        <p:nvSpPr>
          <p:cNvPr id="31" name="Shape 26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8A4B1E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09783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8A4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828" dirty="0"/>
          </a:p>
        </p:txBody>
      </p:sp>
      <p:sp>
        <p:nvSpPr>
          <p:cNvPr id="34" name="Text 28"/>
          <p:cNvSpPr/>
          <p:nvPr/>
        </p:nvSpPr>
        <p:spPr>
          <a:xfrm>
            <a:off x="5509783" y="3355391"/>
            <a:ext cx="117213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集团合并敞口：四家都没超，合并起来超了</a:t>
            </a:r>
            <a:endParaRPr lang="en-US" sz="1080" dirty="0"/>
          </a:p>
        </p:txBody>
      </p:sp>
      <p:sp>
        <p:nvSpPr>
          <p:cNvPr id="35" name="Text 29"/>
          <p:cNvSpPr/>
          <p:nvPr/>
        </p:nvSpPr>
        <p:spPr>
          <a:xfrm>
            <a:off x="5509783" y="3972611"/>
            <a:ext cx="1172130" cy="8558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 · Excel · 企业搜索 Enterprise Search · Adaptive Cards · PowerPoint</a:t>
            </a:r>
            <a:endParaRPr lang="en-US" sz="864" dirty="0"/>
          </a:p>
        </p:txBody>
      </p:sp>
      <p:sp>
        <p:nvSpPr>
          <p:cNvPr id="36" name="Text 30"/>
          <p:cNvSpPr/>
          <p:nvPr/>
        </p:nvSpPr>
        <p:spPr>
          <a:xfrm>
            <a:off x="5509783" y="4910785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37" name="Shape 31"/>
          <p:cNvSpPr/>
          <p:nvPr/>
        </p:nvSpPr>
        <p:spPr>
          <a:xfrm>
            <a:off x="7011097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011097" y="1828800"/>
            <a:ext cx="1355010" cy="109728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39" name="Shape 33"/>
          <p:cNvSpPr/>
          <p:nvPr/>
        </p:nvSpPr>
        <p:spPr>
          <a:xfrm>
            <a:off x="7231402" y="2194560"/>
            <a:ext cx="914400" cy="91440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570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102537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9B22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828" dirty="0"/>
          </a:p>
        </p:txBody>
      </p:sp>
      <p:sp>
        <p:nvSpPr>
          <p:cNvPr id="42" name="Text 35"/>
          <p:cNvSpPr/>
          <p:nvPr/>
        </p:nvSpPr>
        <p:spPr>
          <a:xfrm>
            <a:off x="7102537" y="3355391"/>
            <a:ext cx="117213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重大突发事件报告：两小时的起算点不是你以为的那个</a:t>
            </a:r>
            <a:endParaRPr lang="en-US" sz="1080" dirty="0"/>
          </a:p>
        </p:txBody>
      </p:sp>
      <p:sp>
        <p:nvSpPr>
          <p:cNvPr id="43" name="Text 36"/>
          <p:cNvSpPr/>
          <p:nvPr/>
        </p:nvSpPr>
        <p:spPr>
          <a:xfrm>
            <a:off x="7102537" y="4150919"/>
            <a:ext cx="1172130" cy="998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 Event trigger · Email · Adaptive Cards · 日历管理 Calendar Management · 企业搜索 Enterprise Search</a:t>
            </a:r>
            <a:endParaRPr lang="en-US" sz="864" dirty="0"/>
          </a:p>
        </p:txBody>
      </p:sp>
      <p:sp>
        <p:nvSpPr>
          <p:cNvPr id="44" name="Text 37"/>
          <p:cNvSpPr/>
          <p:nvPr/>
        </p:nvSpPr>
        <p:spPr>
          <a:xfrm>
            <a:off x="7102537" y="5231740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18 分钟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45" name="Shape 38"/>
          <p:cNvSpPr/>
          <p:nvPr/>
        </p:nvSpPr>
        <p:spPr>
          <a:xfrm>
            <a:off x="8603851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603851" y="1828800"/>
            <a:ext cx="1355010" cy="109728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47" name="Shape 40"/>
          <p:cNvSpPr/>
          <p:nvPr/>
        </p:nvSpPr>
        <p:spPr>
          <a:xfrm>
            <a:off x="8824156" y="2194560"/>
            <a:ext cx="914400" cy="914400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324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695291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828" dirty="0"/>
          </a:p>
        </p:txBody>
      </p:sp>
      <p:sp>
        <p:nvSpPr>
          <p:cNvPr id="50" name="Text 42"/>
          <p:cNvSpPr/>
          <p:nvPr/>
        </p:nvSpPr>
        <p:spPr>
          <a:xfrm>
            <a:off x="8695291" y="3355391"/>
            <a:ext cx="117213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共同营销名单：“有同意”不等于“可以营销”</a:t>
            </a:r>
            <a:endParaRPr lang="en-US" sz="1080" dirty="0"/>
          </a:p>
        </p:txBody>
      </p:sp>
      <p:sp>
        <p:nvSpPr>
          <p:cNvPr id="51" name="Text 43"/>
          <p:cNvSpPr/>
          <p:nvPr/>
        </p:nvSpPr>
        <p:spPr>
          <a:xfrm>
            <a:off x="8695291" y="3972611"/>
            <a:ext cx="1172130" cy="998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 · 上传文件 File upload · Excel · 沟通撰写 Communications · Email</a:t>
            </a:r>
            <a:endParaRPr lang="en-US" sz="864" dirty="0"/>
          </a:p>
        </p:txBody>
      </p:sp>
      <p:sp>
        <p:nvSpPr>
          <p:cNvPr id="52" name="Text 44"/>
          <p:cNvSpPr/>
          <p:nvPr/>
        </p:nvSpPr>
        <p:spPr>
          <a:xfrm>
            <a:off x="8695291" y="5053432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18 分钟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53" name="Shape 45"/>
          <p:cNvSpPr/>
          <p:nvPr/>
        </p:nvSpPr>
        <p:spPr>
          <a:xfrm>
            <a:off x="10196605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10196605" y="1828800"/>
            <a:ext cx="1355010" cy="109728"/>
          </a:xfrm>
          <a:prstGeom prst="rect">
            <a:avLst/>
          </a:prstGeom>
          <a:solidFill>
            <a:srgbClr val="4A4A7A"/>
          </a:solidFill>
          <a:ln/>
        </p:spPr>
      </p:sp>
      <p:sp>
        <p:nvSpPr>
          <p:cNvPr id="55" name="Shape 47"/>
          <p:cNvSpPr/>
          <p:nvPr/>
        </p:nvSpPr>
        <p:spPr>
          <a:xfrm>
            <a:off x="10416910" y="2194560"/>
            <a:ext cx="914400" cy="914400"/>
          </a:xfrm>
          <a:prstGeom prst="ellipse">
            <a:avLst/>
          </a:prstGeom>
          <a:solidFill>
            <a:srgbClr val="4A4A7A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8078" y="2395728"/>
            <a:ext cx="512064" cy="512064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10288045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4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828" dirty="0"/>
          </a:p>
        </p:txBody>
      </p:sp>
      <p:sp>
        <p:nvSpPr>
          <p:cNvPr id="58" name="Text 49"/>
          <p:cNvSpPr/>
          <p:nvPr/>
        </p:nvSpPr>
        <p:spPr>
          <a:xfrm>
            <a:off x="10288045" y="3355391"/>
            <a:ext cx="117213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新产品会签技能：判准要以渠道为轴，不是产品</a:t>
            </a:r>
            <a:endParaRPr lang="en-US" sz="1080" dirty="0"/>
          </a:p>
        </p:txBody>
      </p:sp>
      <p:sp>
        <p:nvSpPr>
          <p:cNvPr id="59" name="Text 50"/>
          <p:cNvSpPr/>
          <p:nvPr/>
        </p:nvSpPr>
        <p:spPr>
          <a:xfrm>
            <a:off x="10288045" y="3972611"/>
            <a:ext cx="117213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 Skill · 技能评测 Skill Report · 企业搜索 Enterprise Search · Excel</a:t>
            </a:r>
            <a:endParaRPr lang="en-US" sz="864" dirty="0"/>
          </a:p>
        </p:txBody>
      </p:sp>
      <p:sp>
        <p:nvSpPr>
          <p:cNvPr id="60" name="Text 51"/>
          <p:cNvSpPr/>
          <p:nvPr/>
        </p:nvSpPr>
        <p:spPr>
          <a:xfrm>
            <a:off x="10288045" y="4768139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61" name="Text 5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F6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3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23F6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共用邮箱会签分流：五封一样的信，只有一封要办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12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26280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10328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10328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294376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294376"/>
            <a:ext cx="2551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每日晨报 Daily Briefing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678424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678424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Cards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62472"/>
            <a:ext cx="275234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6062472"/>
            <a:ext cx="2752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 Scheduled prompt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Zava 人寿同一天送来五封“产品送合规确认”，主题几乎一模一样。哪几件合规部门真的要出具意见书？答案不在邮件里，在备案送审对照表里。而且主题标“急件”的那两封，刚好都不急。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F6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让它先读懂这五封邮件在讲什么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F6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算出唯一那件的到期日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接着上一步同一个工作阶段问，不要开新的。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F6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分类归档，并做成一张待办卡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这一步会实际在你的邮箱建立文件夹并移动邮件，Cowork 会先征求你的同意。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F6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设成每天早上自动跑一次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设好之后请回到左侧自动化页确认它在清单上；拍完截图记得把它停用，免得一直跑。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23F6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3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01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1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1_04b_automations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23F6D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判定的依据是产品类型，不是主题怎么写 —— 它有没有指出是对照表的哪一条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五件里只有一件需要合规意见书，其余四件是存查 —— 有没有被“五封都要办”带着走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到期日是自收件次日起算工作日，遇假日要顺延 —— 它算出来的日期对不对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5E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5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B5E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合规教育培训：整体达标，该达标的那群人没达标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26280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10328"/>
            <a:ext cx="275234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10328"/>
            <a:ext cx="2752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图片生成 Image generation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294376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294376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678424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678424"/>
            <a:ext cx="2551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沟通撰写 Communications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62472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6062472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499616" y="6062472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1499616" y="6062472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Cards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要做今年的公平对待客户原则教育培训 —— 幻灯片、宣导插图、完成率统计、催办邮件，一次做完。统计出来集团完成率 94.0%，四家子公司每一家都在门槛之上。但再拆一层，问题就出来了。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5E5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做出授课幻灯片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不用上传任何文件，素材都在 OneDrive 的Cowork_Lab/金控合规/FIN2_教育培训。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286893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5E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28689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285064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请它生一张宣导插图放进封面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321640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内置图片生成，直接用讲的就好，不需要另外找图库。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37627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5E5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3762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37444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算完成率，并拆到会出问题的那一层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41102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接着同一个工作阶段问。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465658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5E5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46565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463829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处理新入职人员，看调整后数字怎么变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00405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这一步考的是它会不会把办法的例外条款套上去。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5E5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对没达标的单位发催办邮件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收件人请从 OneDrive 母文件夹的合规窗口名册查，那份名册的邮箱要填你自己或讲好的同事。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B5E5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02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2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5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2_05b_sent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5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B5E57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集团整体与四家子公司都在门槛之上 —— 它有没有停在这里就说“全部达标”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没达标的是人寿外勤营销员这一层，不是人寿整体 —— 它有没有拆到这一层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新入职人员是从分母扣除，不是当成已完成 —— 两种算法的结果不一样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3A7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B3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跨子公司协调会：名册上四个人，实际只有三个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15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会议排程 Scheduling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56048"/>
            <a:ext cx="305409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56048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日历管理 Calendar Management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340096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34009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724144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724144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399032" y="5724144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1399032" y="5724144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要约四家子公司的合规主管开季度协调会。照名册发四份邀请，会有一个人收到两封 —— 因为基金管理公司的合规主管由证券的兼任。而议程里刚好有一项，依信息隔离墙规范，那位兼任者不能同席。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3A7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先搞清楚实际要约的是谁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合规窗口名册在 OneDrive 的母文件夹Cowork_Lab/金控合规，不在子文件夹里。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3A7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读议程与隔离墙规范，判断能不能排成一场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这一步是整个场景的关键，让它自己把两份文件对起来。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3A7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找出大家都有空的时段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它会去查与会者的日历，注意有没有人整天不在。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3A7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把会排进日历并发出邀请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这一步会真的发出会议邀请，Cowork 会先让你看过。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B3A7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03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3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3_04b_calendar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5B3A7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名册是七列、实际是六个人 —— 它有没有发现有一位是兼任，而不是发七份邀请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受隔离墙影响的是第 3 项，处理方式是分场，不是把人整场排除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有一位与会者某一天整天不在 —— 它有没有把那天排除，还是照排下去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4B1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4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A4B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集团合并敞口：四家都没超，合并起来超了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56048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56048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340096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34009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724144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724144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Cards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404872" y="5724144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9" name="Text 16"/>
          <p:cNvSpPr/>
          <p:nvPr/>
        </p:nvSpPr>
        <p:spPr>
          <a:xfrm>
            <a:off x="2404872" y="5724144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银行、人寿、证券各自把头寸表送上来，每一家都在自己的限额内。把三张表依关联企业对照表归户之后，有一个集团超限了。直觉会想先砍掉金额最小的那一笔 —— 砍了之后你会发现还是超。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上传三张头寸表，先确认各家自己有没有超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把上传用文件夹里的三个 xlsx 一起拖进对话框。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依关联企业对照表归户，算集团合并敞口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这一步是整个场景的重点。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1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追问：砍哪一笔才真的有用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这一步考的是它会不会被“先砍小的比较省事”带着走。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1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产出试算表与给风管会的幻灯片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两个产出都会出现在侧栏的输出文件夹，可以直接预览与下载。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A4B1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04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4_01_upload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4_04b_deck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8A4B1E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三家子公司各自都没超过自己的限额 —— 它有没有先确认这件事，再往下算合并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归户的依据是关联企业对照表，不是户名相不相像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超额大于金额最小的那一笔 —— 砍掉最小那笔之后仍然超限，它有没有发现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22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重大突发事件报告：两小时的起算点不是你以为的那个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18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45059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 Event trigger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56048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56048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499616" y="4956048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495604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Cards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340096"/>
            <a:ext cx="305409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340096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日历管理 Calendar Management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724144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5724144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子公司的报告邮件一进来就要开始算时间。邮件里最醒目的是事件发生时间，但法定时限是从知悉时起算的，两者差了一天半。而且这件事不只要报监管机关 —— 因为外泄的是客户个人信息。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22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B22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22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先让它读懂报告规定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先不要寄那封报告邮件。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B22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22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设定事件触发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它会跳出一张设置触发？卡片，上面有“何时”“在哪里执行”“它会做什么”与需要的权限，看过再按设置。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B22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22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寄出报告邮件，看触发真的启动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寄出前先把邮件里的事件发生时间改成前一天、确认事件成立的时间改成大约一小时前（两者相隔一天半左右…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B222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22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追问它漏了什么，并把截止时间排进日历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在触发跑出来的那个工作阶段里继续问。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22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05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5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B22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5_04b_calendar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B22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时限是从知悉时起算，不是事件发生时 —— 它用的是哪一个时间点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这件事有不只一条义务 —— 它有没有只算了报告监管机关那一条就收工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两条义务的对象不同，时限也各自独立计算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共同营销名单：“有同意”不等于“可以营销”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18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26280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10328"/>
            <a:ext cx="224942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10328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294376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294376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678424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678424"/>
            <a:ext cx="2551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沟通撰写 Communications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62472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6062472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证券要对银行客户做交叉销售，送来一份名单，说“这些人都签过共同营销同意书”。同意书确实都在。但同意是有范围的 —— 哪些资料可以共用、可以营销什么产品、可以给哪几家子公司，是三件不同的事。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先把“同意”这件事的规则问清楚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这一步还不要上传名单，先让它去集团的资料里找规则。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上传名单，逐笔核对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上传用/FIN6_跨售活动名单.csv 拖进对话框。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追问重叠与比例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这一步在检查它有没有把三个维度当成互斥的。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产出退件明细并通知承办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这一步会真的寄出一封邮件，收件人从母文件夹的合规窗口名册查。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06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6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6_04b_mail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同意有三个维度要各自检查，不是一个勾选格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“有勾选同意”的笔数与“可以营销”的笔数差很多 —— 它有没有把两者分开讲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有客户同时触犯两项限制 —— 分类统计有没有重复计算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A7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4A4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新产品会签技能：判准要以渠道为轴，不是产品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 Skill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56048"/>
            <a:ext cx="235000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56048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技能评测 Skill Report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340096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34009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724144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724144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新产品送合规会签，每次要看的都是那五个检查点。做成技能让业务单位自己先跑一遍，合规部门就不用一直当人肉检查表。但技能怎么建，决定了它会不会漏 —— 业务单位以产品分类，法规却是以渠道分的。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4A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先找出判准到底该挂在哪一条轴线上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自定义技能只能在桌机或浏览器操作，移动设备不支持。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4A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请它把技能建起来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技能名称只接受小写英数与连字号；中文名会被自动转成英文代号。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4A7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看技能评测报告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技能建立或更新时，Cowork 会自动跑评测，不用另外要求。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4A7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拿真的送审资料实测一次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先点左侧的新建任务开一个新的对话 —— 刚建好的技能要到新的任务里才调用得到。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4A4A7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07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7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7_04b_verdict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4A4A7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判准的轴线是渠道，不是产品类别 —— 技能里是怎么组织的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数字渠道有几项是其他渠道没有的要求 —— 技能有没有把它们涵盖进去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技能名称只能是小写英数与连字号 —— 它有没有处理掉这件事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把场景延伸到你的日常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11165"/>
            <a:ext cx="493776" cy="493776"/>
          </a:xfrm>
          <a:prstGeom prst="ellipse">
            <a:avLst/>
          </a:prstGeom>
          <a:solidFill>
            <a:srgbClr val="123F6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39181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把计划提示改成“只在有送审件时才寄信给我，没有就不要打扰”，看它怎么处理空结果。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442754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470839"/>
            <a:ext cx="493776" cy="493776"/>
          </a:xfrm>
          <a:prstGeom prst="ellipse">
            <a:avLst/>
          </a:prstGeom>
          <a:solidFill>
            <a:srgbClr val="1B5E5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598855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79330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479330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请它把幻灯片改成只给外勤营销员上的版本，看它会保留哪几个重点、拿掉哪几个。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102429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130514"/>
            <a:ext cx="493776" cy="493776"/>
          </a:xfrm>
          <a:prstGeom prst="ellipse">
            <a:avLst/>
          </a:prstGeom>
          <a:solidFill>
            <a:srgbClr val="5B3A7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5853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39005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3139005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请它把两场会议的议程各自写成一份 Word 会议通知，看它怎么处理分场的说明措辞。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762103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3790188"/>
            <a:ext cx="493776" cy="493776"/>
          </a:xfrm>
          <a:prstGeom prst="ellipse">
            <a:avLst/>
          </a:prstGeom>
          <a:solidFill>
            <a:srgbClr val="8A4B1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91820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798679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749040" y="3798679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问它“如果合格资本下降 10%，会多出几个超限的客户集团”，看它怎么做敏感度分析。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421777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449862"/>
            <a:ext cx="493776" cy="493776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57787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458353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49040" y="4458353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把触发条件改成“Teams 频道有人 @我并提到停机”，看设置触发卡片的内容怎么变。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081451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8680" y="5109537"/>
            <a:ext cx="493776" cy="493776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237553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5118027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749040" y="5118027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问它“如果把活动产品换成定期存款，可营销笔数会变成多少”，看它有没有真的重跑范围判定。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0080" y="5741126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68680" y="5769211"/>
            <a:ext cx="493776" cy="493776"/>
          </a:xfrm>
          <a:prstGeom prst="ellipse">
            <a:avLst/>
          </a:prstGeom>
          <a:solidFill>
            <a:srgbClr val="4A4A7A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897227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554480" y="5777702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金控总部 · 合规风控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3749040" y="5777702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再送一份只走柜面、不走数字的产品进去，看技能会不会正确地不要求数字那几项。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自动化，但你始终是决策者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中高风险操作会显示 RISK-LEVEL；发邮件、发 Teams、创建会议等操作会先摊开成可编辑的预览，批准后才发出。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控制范围清楚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「不再询问」可以限定此收件人、此域名，或者始终允许；任务可以软／硬暂停、恢复或取消。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自动化任务也有把关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计划提示和事件驱动任务有执行频率限制和防循环保护；一律以创建者的权限执行，而且与其他 Cowork 活动一起记录在统一审核日志里，适用 Microsoft Purview 策略。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不能访问本地文件、删除 OneDrive/SharePoint 文件或读取加密文件；附件 &lt;200MB；自定义技能和第三方 plugin 未经 Microsoft 验证，需要自行审阅。官方明确列出不适用于「免人工审查即需保证正确」的用途。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现在就开始练习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练习手册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挑一个最贴近你工作的场景开始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自定义技能放 OneDrive /Documents/Cowork/skills/ 下的 SKILL.md（最多 50 个、每个 1MB）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模型选择器：Auto（默认）、GPT 5.5 Frontier、GPT 5.6 Sol／Terra、GPT 6 Astra、Opus 5、Claude Sonnet 5、Claude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工作量级别：Light／Medium（默认）／High／Extra High／Max —— 越高越彻底，但更慢且消耗更多点数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想要自动触发？到「自动化」页设置计划提示（上限 25 个）或事件触发任务（收到邮件／被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从提问到交办，标准你决定，执行交给 Cowork。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 · 培训演示文稿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培训</dc:title>
  <dc:subject>PptxGenJS Presentation</dc:subject>
  <dc:creator>Andy Hung</dc:creator>
  <cp:lastModifiedBy>Andy Hung</cp:lastModifiedBy>
  <cp:revision>1</cp:revision>
  <dcterms:created xsi:type="dcterms:W3CDTF">2026-09-28T21:25:49Z</dcterms:created>
  <dcterms:modified xsi:type="dcterms:W3CDTF">2026-09-28T21:25:49Z</dcterms:modified>
</cp:coreProperties>
</file>