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5-image-1.png"/><Relationship Id="rId2"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image" Target="../media/image-25-6.png"/><Relationship Id="rId8" Type="http://schemas.openxmlformats.org/officeDocument/2006/relationships/image" Target="../media/image-25-7.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Segoe UI" pitchFamily="34" charset="0"/>
                <a:ea typeface="Segoe UI" pitchFamily="34" charset="-122"/>
                <a:cs typeface="Segoe U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Segoe UI" pitchFamily="34" charset="0"/>
                <a:ea typeface="Segoe UI" pitchFamily="34" charset="-122"/>
                <a:cs typeface="Segoe UI" pitchFamily="34" charset="-120"/>
              </a:rPr>
              <a:t>Agentic AI at work</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Segoe UI" pitchFamily="34" charset="0"/>
                <a:ea typeface="Segoe UI" pitchFamily="34" charset="-122"/>
                <a:cs typeface="Segoe UI" pitchFamily="34" charset="-120"/>
              </a:rPr>
              <a:t>Seven real financial-holding compliance scenarios showing how Copilot executes across apps, shows a risk level before medium/high-risk actions, and waits for your approval</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Training deck · client-ready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we'll cover</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Meet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What agentic AI is, and how it differs from Copilot Chat</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Core capabilities</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Skills, workspace, approval before action, self-verification</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Set up your practice environment</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Seed the material into OneDrive and your mailbox first, so Cowork finds it itself</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Seven hands-on scenarios</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Sign-off triage, staff training, cross-subsidiary meeting, group exposure, incident reporting, cross-marketing check, sign-off skill — one workflow at a time</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Make it your own</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How to extend these scenarios to your own work</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From "chat" to "agentic execution"</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Segoe UI" pitchFamily="34" charset="0"/>
                <a:ea typeface="Segoe UI" pitchFamily="34" charset="-122"/>
                <a:cs typeface="Segoe UI" pitchFamily="34" charset="-120"/>
              </a:rPr>
              <a:t>Cowork is Copilot's </a:t>
            </a:r>
            <a:pPr indent="0" marL="0">
              <a:buNone/>
            </a:pPr>
            <a:r>
              <a:rPr lang="en-US" sz="2200" b="1" dirty="0">
                <a:solidFill>
                  <a:srgbClr val="6366F1"/>
                </a:solidFill>
                <a:latin typeface="Segoe UI" pitchFamily="34" charset="0"/>
                <a:ea typeface="Segoe UI" pitchFamily="34" charset="-122"/>
                <a:cs typeface="Segoe UI" pitchFamily="34" charset="-120"/>
              </a:rPr>
              <a:t>agentic</a:t>
            </a:r>
            <a:pPr indent="0" marL="0">
              <a:buNone/>
            </a:pPr>
            <a:r>
              <a:rPr lang="en-US" sz="2200" dirty="0">
                <a:solidFill>
                  <a:srgbClr val="000000"/>
                </a:solidFill>
                <a:latin typeface="Segoe UI" pitchFamily="34" charset="0"/>
                <a:ea typeface="Segoe UI" pitchFamily="34" charset="-122"/>
                <a:cs typeface="Segoe UI" pitchFamily="34" charset="-120"/>
              </a:rPr>
              <a:t> working mode.</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Segoe UI" pitchFamily="34" charset="0"/>
                <a:ea typeface="Segoe UI" pitchFamily="34" charset="-122"/>
                <a:cs typeface="Segoe UI" pitchFamily="34" charset="-120"/>
              </a:rPr>
              <a:t>You hand it a goal; it breaks the work into steps, reads your cloud files, loads the skills it needs, produces results across apps and checks its own work — pausing for your approval, with a risk level shown, before any medium or high-risk action. You move from quick single-turn answers to handing over a task that actually gets done.</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Copilot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Quick single-turn answers; great for instant replies and brainstorming.</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Cowork agent</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You give a goal; it executes autonomously across apps, for minutes to hours.</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You stay in charge</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Anything outbound or affecting others pauses for your approval.</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Cowork vs.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Quick single-turn Q&amp;A</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Quick single-turn Q&amp;A</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Hand over a goal; autonomous multi-step work across apps</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Seconds to minutes</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Seconds to minutes</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Minutes to hours (autonomous)</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Single step, single session</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Single step, single session</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Multi-step workflows across tasks and sources</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Paste in a snippet</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Paste in a snippet</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Reads cloud attachments and creates new files; no access to local files</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One conversational capability</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One conversational capability</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Loads 14 built-in skills plus your custom ones automatically</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Text in the chat window</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Text in the chat window</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Real documents, spreadsheets and decks in OneDrive</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have to open it and prompt every time</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have to open it and prompt every time</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Scheduled prompts / event-driven: runs on incoming mail or an @mention</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Grounded in M365 data</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Grounded in M365 data</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Connects to external systems via Plugins / MCP — the partner catalogue now lists 92 plugins (D365, SAP, Fabric and more)</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judge for yourself</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judge for yourself</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Medium/high-risk actions show a risk level and run only after approval</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Four things that set Cowork apart</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14 built-in skills</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Word, Excel, PowerPoint, PDF, Email, Scheduling, Calendar Management, Meetings, Daily Briefing, Enterprise Search, Deep Research, Communications, Adaptive Cards, App (Frontier).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The side panel shows progress, input files, output files, loaded skills, schedules and granted permissions all at once — the process stays traceable.</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Approval before action</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Medium/high-risk actions show a RISK-LEVEL; approve, cancel, or set don't-ask-again per recipient, per domain or always; multiple pending actions can be approved together.</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What's new</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050" dirty="0">
                <a:solidFill>
                  <a:srgbClr val="5B6079"/>
                </a:solidFill>
                <a:latin typeface="Segoe UI" pitchFamily="34" charset="0"/>
                <a:ea typeface="Segoe UI" pitchFamily="34" charset="-122"/>
                <a:cs typeface="Segoe UI" pitchFamily="34" charset="-120"/>
              </a:rPr>
              <a:t>Scheduled prompts (up to 25) and event-driven tasks; five Effort levels to balance quality against cost; every custom skill gets an automatic Skill Report (0–100 across four dimensions, plus five separate gates including a Safety and RAI scan); local Edge browser (GA since Aug 2026); image generation; Plugins / MCP for external systems.</a:t>
            </a:r>
            <a:endParaRPr lang="en-US" sz="105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happens inside one agentic workflow</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Take the goal</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Upload files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Give the instruction</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Plan</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Understand the task</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Break it into steps</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Load skills</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14 built-in</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 custom</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Execute</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Create documents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spreadsheets / mail</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Self-verify</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Check the numbers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and consistency</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Approval before action</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Outbound actions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wait for you</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Segoe UI" pitchFamily="34" charset="0"/>
                <a:ea typeface="Segoe UI" pitchFamily="34" charset="-122"/>
                <a:cs typeface="Segoe UI" pitchFamily="34" charset="-120"/>
              </a:rPr>
              <a:t>The whole process is visible in the "Workspace" panel; you can soft/hard pause, resume or cancel a task.</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Segoe UI" pitchFamily="34" charset="0"/>
                <a:ea typeface="Segoe UI" pitchFamily="34" charset="-122"/>
                <a:cs typeface="Segoe UI" pitchFamily="34" charset="-120"/>
              </a:rPr>
              <a:t>It doesn't only start from chat: you can also have it fire automatically when a matching email arrives or you're @mentioned (event-driven tasks) — with the same self-verification and approval flow.</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Set up your practice environment</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Segoe UI" pitchFamily="34" charset="0"/>
                <a:ea typeface="Segoe UI" pitchFamily="34" charset="-122"/>
                <a:cs typeface="Segoe UI" pitchFamily="34" charset="-120"/>
              </a:rPr>
              <a:t>Seed the material into OneDrive under Documents/Cowork_Lab/GroupCompliance/ before the session, and Cowork will find it itself · Setup time about 20 minutes</a:t>
            </a:r>
            <a:endParaRPr lang="en-US" sz="1300" dirty="0"/>
          </a:p>
        </p:txBody>
      </p:sp>
      <p:sp>
        <p:nvSpPr>
          <p:cNvPr id="6" name="Shape 4"/>
          <p:cNvSpPr/>
          <p:nvPr/>
        </p:nvSpPr>
        <p:spPr>
          <a:xfrm>
            <a:off x="640080" y="1874520"/>
            <a:ext cx="5272888" cy="914400"/>
          </a:xfrm>
          <a:prstGeom prst="rect">
            <a:avLst/>
          </a:prstGeom>
          <a:solidFill>
            <a:srgbClr val="FFFFFF"/>
          </a:solidFill>
          <a:ln w="12700">
            <a:solidFill>
              <a:srgbClr val="E4E7F2"/>
            </a:solidFill>
            <a:prstDash val="solid"/>
          </a:ln>
        </p:spPr>
      </p:sp>
      <p:sp>
        <p:nvSpPr>
          <p:cNvPr id="7" name="Shape 5"/>
          <p:cNvSpPr/>
          <p:nvPr/>
        </p:nvSpPr>
        <p:spPr>
          <a:xfrm>
            <a:off x="640080" y="1874520"/>
            <a:ext cx="68580" cy="91440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OneDrive folders and upload the material for all seven scenarios</a:t>
            </a:r>
            <a:endParaRPr lang="en-US" sz="1250" dirty="0"/>
          </a:p>
        </p:txBody>
      </p:sp>
      <p:sp>
        <p:nvSpPr>
          <p:cNvPr id="10" name="Text 8"/>
          <p:cNvSpPr/>
          <p:nvPr/>
        </p:nvSpPr>
        <p:spPr>
          <a:xfrm>
            <a:off x="1243584" y="2194560"/>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Documents/Cowork_Lab/GroupCompliance/ in OneDrive…</a:t>
            </a:r>
            <a:endParaRPr lang="en-US" sz="1050" dirty="0"/>
          </a:p>
        </p:txBody>
      </p:sp>
      <p:sp>
        <p:nvSpPr>
          <p:cNvPr id="11" name="Shape 9"/>
          <p:cNvSpPr/>
          <p:nvPr/>
        </p:nvSpPr>
        <p:spPr>
          <a:xfrm>
            <a:off x="6278728" y="1874520"/>
            <a:ext cx="5272888" cy="91440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91440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Put the compliance contact roster in the parent folder — with addresses that really receive mail</a:t>
            </a:r>
            <a:endParaRPr lang="en-US" sz="1250" dirty="0"/>
          </a:p>
        </p:txBody>
      </p:sp>
      <p:sp>
        <p:nvSpPr>
          <p:cNvPr id="15" name="Text 13"/>
          <p:cNvSpPr/>
          <p:nvPr/>
        </p:nvSpPr>
        <p:spPr>
          <a:xfrm>
            <a:off x="6882232" y="2194560"/>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Compliance_Contact_Roster.md belongs in the GroupComplia…</a:t>
            </a:r>
            <a:endParaRPr lang="en-US" sz="1050" dirty="0"/>
          </a:p>
        </p:txBody>
      </p:sp>
      <p:sp>
        <p:nvSpPr>
          <p:cNvPr id="16" name="Shape 14"/>
          <p:cNvSpPr/>
          <p:nvPr/>
        </p:nvSpPr>
        <p:spPr>
          <a:xfrm>
            <a:off x="640080" y="2916936"/>
            <a:ext cx="5272888" cy="914400"/>
          </a:xfrm>
          <a:prstGeom prst="rect">
            <a:avLst/>
          </a:prstGeom>
          <a:solidFill>
            <a:srgbClr val="FFFFFF"/>
          </a:solidFill>
          <a:ln w="12700">
            <a:solidFill>
              <a:srgbClr val="E4E7F2"/>
            </a:solidFill>
            <a:prstDash val="solid"/>
          </a:ln>
        </p:spPr>
      </p:sp>
      <p:sp>
        <p:nvSpPr>
          <p:cNvPr id="17" name="Shape 15"/>
          <p:cNvSpPr/>
          <p:nvPr/>
        </p:nvSpPr>
        <p:spPr>
          <a:xfrm>
            <a:off x="640080" y="2916936"/>
            <a:ext cx="68580" cy="914400"/>
          </a:xfrm>
          <a:prstGeom prst="rect">
            <a:avLst/>
          </a:prstGeom>
          <a:solidFill>
            <a:srgbClr val="6366F1"/>
          </a:solidFill>
          <a:ln/>
        </p:spPr>
      </p:sp>
      <p:sp>
        <p:nvSpPr>
          <p:cNvPr id="18" name="Text 16"/>
          <p:cNvSpPr/>
          <p:nvPr/>
        </p:nvSpPr>
        <p:spPr>
          <a:xfrm>
            <a:off x="804672" y="297180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9" name="Text 17"/>
          <p:cNvSpPr/>
          <p:nvPr/>
        </p:nvSpPr>
        <p:spPr>
          <a:xfrm>
            <a:off x="1243584" y="296265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Send yourself the five product confirmation emails — the starting point for scenario 1</a:t>
            </a:r>
            <a:endParaRPr lang="en-US" sz="1250" dirty="0"/>
          </a:p>
        </p:txBody>
      </p:sp>
      <p:sp>
        <p:nvSpPr>
          <p:cNvPr id="20" name="Text 18"/>
          <p:cNvSpPr/>
          <p:nvPr/>
        </p:nvSpPr>
        <p:spPr>
          <a:xfrm>
            <a:off x="1243584" y="3236976"/>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Send them to yourself from your own account. Subjects an…</a:t>
            </a:r>
            <a:endParaRPr lang="en-US" sz="1050" dirty="0"/>
          </a:p>
        </p:txBody>
      </p:sp>
      <p:sp>
        <p:nvSpPr>
          <p:cNvPr id="21" name="Shape 19"/>
          <p:cNvSpPr/>
          <p:nvPr/>
        </p:nvSpPr>
        <p:spPr>
          <a:xfrm>
            <a:off x="6278728" y="2916936"/>
            <a:ext cx="5272888" cy="914400"/>
          </a:xfrm>
          <a:prstGeom prst="rect">
            <a:avLst/>
          </a:prstGeom>
          <a:solidFill>
            <a:srgbClr val="FFFFFF"/>
          </a:solidFill>
          <a:ln w="12700">
            <a:solidFill>
              <a:srgbClr val="E4E7F2"/>
            </a:solidFill>
            <a:prstDash val="solid"/>
          </a:ln>
        </p:spPr>
      </p:sp>
      <p:sp>
        <p:nvSpPr>
          <p:cNvPr id="22" name="Shape 20"/>
          <p:cNvSpPr/>
          <p:nvPr/>
        </p:nvSpPr>
        <p:spPr>
          <a:xfrm>
            <a:off x="6278728" y="2916936"/>
            <a:ext cx="68580" cy="914400"/>
          </a:xfrm>
          <a:prstGeom prst="rect">
            <a:avLst/>
          </a:prstGeom>
          <a:solidFill>
            <a:srgbClr val="6366F1"/>
          </a:solidFill>
          <a:ln/>
        </p:spPr>
      </p:sp>
      <p:sp>
        <p:nvSpPr>
          <p:cNvPr id="23" name="Text 21"/>
          <p:cNvSpPr/>
          <p:nvPr/>
        </p:nvSpPr>
        <p:spPr>
          <a:xfrm>
            <a:off x="6443320" y="297180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4" name="Text 22"/>
          <p:cNvSpPr/>
          <p:nvPr/>
        </p:nvSpPr>
        <p:spPr>
          <a:xfrm>
            <a:off x="6882232" y="296265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Keep the five upload files on your own device — don't put them in OneDrive</a:t>
            </a:r>
            <a:endParaRPr lang="en-US" sz="1250" dirty="0"/>
          </a:p>
        </p:txBody>
      </p:sp>
      <p:sp>
        <p:nvSpPr>
          <p:cNvPr id="25" name="Text 23"/>
          <p:cNvSpPr/>
          <p:nvPr/>
        </p:nvSpPr>
        <p:spPr>
          <a:xfrm>
            <a:off x="6882232" y="3236976"/>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The five files under 上傳用/ — the three position sheets fo…</a:t>
            </a:r>
            <a:endParaRPr lang="en-US" sz="1050" dirty="0"/>
          </a:p>
        </p:txBody>
      </p:sp>
      <p:sp>
        <p:nvSpPr>
          <p:cNvPr id="26" name="Shape 24"/>
          <p:cNvSpPr/>
          <p:nvPr/>
        </p:nvSpPr>
        <p:spPr>
          <a:xfrm>
            <a:off x="640080" y="3959352"/>
            <a:ext cx="5272888" cy="914400"/>
          </a:xfrm>
          <a:prstGeom prst="rect">
            <a:avLst/>
          </a:prstGeom>
          <a:solidFill>
            <a:srgbClr val="FFFFFF"/>
          </a:solidFill>
          <a:ln w="12700">
            <a:solidFill>
              <a:srgbClr val="E4E7F2"/>
            </a:solidFill>
            <a:prstDash val="solid"/>
          </a:ln>
        </p:spPr>
      </p:sp>
      <p:sp>
        <p:nvSpPr>
          <p:cNvPr id="27" name="Shape 25"/>
          <p:cNvSpPr/>
          <p:nvPr/>
        </p:nvSpPr>
        <p:spPr>
          <a:xfrm>
            <a:off x="640080" y="3959352"/>
            <a:ext cx="68580" cy="914400"/>
          </a:xfrm>
          <a:prstGeom prst="rect">
            <a:avLst/>
          </a:prstGeom>
          <a:solidFill>
            <a:srgbClr val="6366F1"/>
          </a:solidFill>
          <a:ln/>
        </p:spPr>
      </p:sp>
      <p:sp>
        <p:nvSpPr>
          <p:cNvPr id="28" name="Text 26"/>
          <p:cNvSpPr/>
          <p:nvPr/>
        </p:nvSpPr>
        <p:spPr>
          <a:xfrm>
            <a:off x="804672" y="401421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9" name="Text 27"/>
          <p:cNvSpPr/>
          <p:nvPr/>
        </p:nvSpPr>
        <p:spPr>
          <a:xfrm>
            <a:off x="1243584" y="400507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Check the dates in the material against today before you start</a:t>
            </a:r>
            <a:endParaRPr lang="en-US" sz="1250" dirty="0"/>
          </a:p>
        </p:txBody>
      </p:sp>
      <p:sp>
        <p:nvSpPr>
          <p:cNvPr id="30" name="Text 28"/>
          <p:cNvSpPr/>
          <p:nvPr/>
        </p:nvSpPr>
        <p:spPr>
          <a:xfrm>
            <a:off x="1243584" y="4279392"/>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The meeting window (scenario 3), the go-live and launch …</a:t>
            </a:r>
            <a:endParaRPr lang="en-US" sz="1050" dirty="0"/>
          </a:p>
        </p:txBody>
      </p:sp>
      <p:sp>
        <p:nvSpPr>
          <p:cNvPr id="31" name="Shape 29"/>
          <p:cNvSpPr/>
          <p:nvPr/>
        </p:nvSpPr>
        <p:spPr>
          <a:xfrm>
            <a:off x="640080" y="5532120"/>
            <a:ext cx="10911535" cy="749808"/>
          </a:xfrm>
          <a:prstGeom prst="rect">
            <a:avLst/>
          </a:prstGeom>
          <a:solidFill>
            <a:srgbClr val="FFFFFF"/>
          </a:solidFill>
          <a:ln w="12700">
            <a:solidFill>
              <a:srgbClr val="E4E7F2"/>
            </a:solidFill>
            <a:prstDash val="solid"/>
          </a:ln>
        </p:spPr>
      </p:sp>
      <p:sp>
        <p:nvSpPr>
          <p:cNvPr id="32" name="Shape 30"/>
          <p:cNvSpPr/>
          <p:nvPr/>
        </p:nvSpPr>
        <p:spPr>
          <a:xfrm>
            <a:off x="640080" y="5532120"/>
            <a:ext cx="91440" cy="749808"/>
          </a:xfrm>
          <a:prstGeom prst="rect">
            <a:avLst/>
          </a:prstGeom>
          <a:solidFill>
            <a:srgbClr val="6366F1"/>
          </a:solidFill>
          <a:ln/>
        </p:spPr>
      </p:sp>
      <p:sp>
        <p:nvSpPr>
          <p:cNvPr id="33" name="Text 31"/>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Segoe UI" pitchFamily="34" charset="0"/>
                <a:ea typeface="Segoe UI" pitchFamily="34" charset="-122"/>
                <a:cs typeface="Segoe UI" pitchFamily="34" charset="-120"/>
              </a:rPr>
              <a:t>Final check before the session</a:t>
            </a:r>
            <a:endParaRPr lang="en-US" sz="1200" dirty="0"/>
          </a:p>
        </p:txBody>
      </p:sp>
      <p:pic>
        <p:nvPicPr>
          <p:cNvPr id="34"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35" name="Text 32"/>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All seven subfolders exist, and each scenario's files are in the right one</a:t>
            </a:r>
            <a:endParaRPr lang="en-US" sz="1050" dirty="0"/>
          </a:p>
        </p:txBody>
      </p:sp>
      <p:pic>
        <p:nvPicPr>
          <p:cNvPr id="36"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37" name="Text 33"/>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contact roster is in the parent folder, with real, reachable addresses in the email column</a:t>
            </a:r>
            <a:endParaRPr lang="en-US" sz="1050" dirty="0"/>
          </a:p>
        </p:txBody>
      </p:sp>
      <p:pic>
        <p:nvPicPr>
          <p:cNvPr id="38"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39" name="Text 34"/>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All five product confirmation emails are in the inbox with their case numbers intact</a:t>
            </a:r>
            <a:endParaRPr lang="en-US" sz="1050" dirty="0"/>
          </a:p>
        </p:txBody>
      </p:sp>
      <p:sp>
        <p:nvSpPr>
          <p:cNvPr id="40"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1"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7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Seven hands-on scenarios</a:t>
            </a:r>
            <a:endParaRPr lang="en-US" sz="3000" dirty="0"/>
          </a:p>
        </p:txBody>
      </p:sp>
      <p:sp>
        <p:nvSpPr>
          <p:cNvPr id="5" name="Shape 3"/>
          <p:cNvSpPr/>
          <p:nvPr/>
        </p:nvSpPr>
        <p:spPr>
          <a:xfrm>
            <a:off x="640080"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355010" cy="109728"/>
          </a:xfrm>
          <a:prstGeom prst="rect">
            <a:avLst/>
          </a:prstGeom>
          <a:solidFill>
            <a:srgbClr val="123F6D"/>
          </a:solidFill>
          <a:ln/>
        </p:spPr>
      </p:sp>
      <p:sp>
        <p:nvSpPr>
          <p:cNvPr id="7" name="Shape 5"/>
          <p:cNvSpPr/>
          <p:nvPr/>
        </p:nvSpPr>
        <p:spPr>
          <a:xfrm>
            <a:off x="860385" y="2194560"/>
            <a:ext cx="914400" cy="914400"/>
          </a:xfrm>
          <a:prstGeom prst="ellipse">
            <a:avLst/>
          </a:prstGeom>
          <a:solidFill>
            <a:srgbClr val="123F6D"/>
          </a:solidFill>
          <a:ln/>
        </p:spPr>
      </p:sp>
      <p:pic>
        <p:nvPicPr>
          <p:cNvPr id="8" name="Image 0" descr="preencoded.png">    </p:cNvPr>
          <p:cNvPicPr>
            <a:picLocks noChangeAspect="1"/>
          </p:cNvPicPr>
          <p:nvPr/>
        </p:nvPicPr>
        <p:blipFill>
          <a:blip r:embed="rId1"/>
          <a:stretch>
            <a:fillRect/>
          </a:stretch>
        </p:blipFill>
        <p:spPr>
          <a:xfrm>
            <a:off x="1061553" y="2395728"/>
            <a:ext cx="512064" cy="512064"/>
          </a:xfrm>
          <a:prstGeom prst="rect">
            <a:avLst/>
          </a:prstGeom>
        </p:spPr>
      </p:pic>
      <p:sp>
        <p:nvSpPr>
          <p:cNvPr id="9" name="Text 6"/>
          <p:cNvSpPr/>
          <p:nvPr/>
        </p:nvSpPr>
        <p:spPr>
          <a:xfrm>
            <a:off x="731520" y="3163824"/>
            <a:ext cx="1172130" cy="410108"/>
          </a:xfrm>
          <a:prstGeom prst="rect">
            <a:avLst/>
          </a:prstGeom>
          <a:noFill/>
          <a:ln/>
        </p:spPr>
        <p:txBody>
          <a:bodyPr wrap="square" rtlCol="0" anchor="t"/>
          <a:lstStyle/>
          <a:p>
            <a:pPr algn="ctr" indent="0" marL="0">
              <a:buNone/>
            </a:pPr>
            <a:r>
              <a:rPr lang="en-US" sz="828" b="1" dirty="0">
                <a:solidFill>
                  <a:srgbClr val="123F6D"/>
                </a:solidFill>
                <a:latin typeface="Segoe UI" pitchFamily="34" charset="0"/>
                <a:ea typeface="Segoe UI" pitchFamily="34" charset="-122"/>
                <a:cs typeface="Segoe UI" pitchFamily="34" charset="-120"/>
              </a:rPr>
              <a:t>Financial Holding HQ · Compliance &amp; Risk</a:t>
            </a:r>
            <a:endParaRPr lang="en-US" sz="828" dirty="0"/>
          </a:p>
        </p:txBody>
      </p:sp>
      <p:sp>
        <p:nvSpPr>
          <p:cNvPr id="10" name="Text 7"/>
          <p:cNvSpPr/>
          <p:nvPr/>
        </p:nvSpPr>
        <p:spPr>
          <a:xfrm>
            <a:off x="731520" y="3628796"/>
            <a:ext cx="1172130" cy="713232"/>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Triaging the Shared Compliance Mailbox</a:t>
            </a:r>
            <a:endParaRPr lang="en-US" sz="1080" dirty="0"/>
          </a:p>
        </p:txBody>
      </p:sp>
      <p:sp>
        <p:nvSpPr>
          <p:cNvPr id="11" name="Text 8"/>
          <p:cNvSpPr/>
          <p:nvPr/>
        </p:nvSpPr>
        <p:spPr>
          <a:xfrm>
            <a:off x="731520" y="4424324"/>
            <a:ext cx="1172130" cy="713232"/>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Email · Enterprise Search · Daily Briefing · Adaptive Cards · Scheduled prompt</a:t>
            </a:r>
            <a:endParaRPr lang="en-US" sz="864" dirty="0"/>
          </a:p>
        </p:txBody>
      </p:sp>
      <p:sp>
        <p:nvSpPr>
          <p:cNvPr id="12" name="Text 9"/>
          <p:cNvSpPr/>
          <p:nvPr/>
        </p:nvSpPr>
        <p:spPr>
          <a:xfrm>
            <a:off x="731520" y="5219852"/>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~12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13" name="Shape 10"/>
          <p:cNvSpPr/>
          <p:nvPr/>
        </p:nvSpPr>
        <p:spPr>
          <a:xfrm>
            <a:off x="2232834"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232834" y="1828800"/>
            <a:ext cx="1355010" cy="109728"/>
          </a:xfrm>
          <a:prstGeom prst="rect">
            <a:avLst/>
          </a:prstGeom>
          <a:solidFill>
            <a:srgbClr val="1B5E57"/>
          </a:solidFill>
          <a:ln/>
        </p:spPr>
      </p:sp>
      <p:sp>
        <p:nvSpPr>
          <p:cNvPr id="15" name="Shape 12"/>
          <p:cNvSpPr/>
          <p:nvPr/>
        </p:nvSpPr>
        <p:spPr>
          <a:xfrm>
            <a:off x="2453139" y="2194560"/>
            <a:ext cx="914400" cy="914400"/>
          </a:xfrm>
          <a:prstGeom prst="ellipse">
            <a:avLst/>
          </a:prstGeom>
          <a:solidFill>
            <a:srgbClr val="1B5E57"/>
          </a:solidFill>
          <a:ln/>
        </p:spPr>
      </p:sp>
      <p:pic>
        <p:nvPicPr>
          <p:cNvPr id="16" name="Image 1" descr="preencoded.png">    </p:cNvPr>
          <p:cNvPicPr>
            <a:picLocks noChangeAspect="1"/>
          </p:cNvPicPr>
          <p:nvPr/>
        </p:nvPicPr>
        <p:blipFill>
          <a:blip r:embed="rId2"/>
          <a:stretch>
            <a:fillRect/>
          </a:stretch>
        </p:blipFill>
        <p:spPr>
          <a:xfrm>
            <a:off x="2654307" y="2395728"/>
            <a:ext cx="512064" cy="512064"/>
          </a:xfrm>
          <a:prstGeom prst="rect">
            <a:avLst/>
          </a:prstGeom>
        </p:spPr>
      </p:pic>
      <p:sp>
        <p:nvSpPr>
          <p:cNvPr id="17" name="Text 13"/>
          <p:cNvSpPr/>
          <p:nvPr/>
        </p:nvSpPr>
        <p:spPr>
          <a:xfrm>
            <a:off x="2324274" y="3163824"/>
            <a:ext cx="1172130" cy="410108"/>
          </a:xfrm>
          <a:prstGeom prst="rect">
            <a:avLst/>
          </a:prstGeom>
          <a:noFill/>
          <a:ln/>
        </p:spPr>
        <p:txBody>
          <a:bodyPr wrap="square" rtlCol="0" anchor="t"/>
          <a:lstStyle/>
          <a:p>
            <a:pPr algn="ctr" indent="0" marL="0">
              <a:buNone/>
            </a:pPr>
            <a:r>
              <a:rPr lang="en-US" sz="828" b="1" dirty="0">
                <a:solidFill>
                  <a:srgbClr val="1B5E57"/>
                </a:solidFill>
                <a:latin typeface="Segoe UI" pitchFamily="34" charset="0"/>
                <a:ea typeface="Segoe UI" pitchFamily="34" charset="-122"/>
                <a:cs typeface="Segoe UI" pitchFamily="34" charset="-120"/>
              </a:rPr>
              <a:t>Financial Holding HQ · Compliance &amp; Risk</a:t>
            </a:r>
            <a:endParaRPr lang="en-US" sz="828" dirty="0"/>
          </a:p>
        </p:txBody>
      </p:sp>
      <p:sp>
        <p:nvSpPr>
          <p:cNvPr id="18" name="Text 14"/>
          <p:cNvSpPr/>
          <p:nvPr/>
        </p:nvSpPr>
        <p:spPr>
          <a:xfrm>
            <a:off x="2324274" y="3628796"/>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Compliance Training: On Target Overall, Off Target Where It Matters</a:t>
            </a:r>
            <a:endParaRPr lang="en-US" sz="1080" dirty="0"/>
          </a:p>
        </p:txBody>
      </p:sp>
      <p:sp>
        <p:nvSpPr>
          <p:cNvPr id="19" name="Text 15"/>
          <p:cNvSpPr/>
          <p:nvPr/>
        </p:nvSpPr>
        <p:spPr>
          <a:xfrm>
            <a:off x="2324274" y="4780940"/>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PowerPoint · Image generation …</a:t>
            </a:r>
            <a:endParaRPr lang="en-US" sz="864" dirty="0"/>
          </a:p>
        </p:txBody>
      </p:sp>
      <p:sp>
        <p:nvSpPr>
          <p:cNvPr id="20" name="Text 16"/>
          <p:cNvSpPr/>
          <p:nvPr/>
        </p:nvSpPr>
        <p:spPr>
          <a:xfrm>
            <a:off x="2324274" y="5291176"/>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1" name="Shape 17"/>
          <p:cNvSpPr/>
          <p:nvPr/>
        </p:nvSpPr>
        <p:spPr>
          <a:xfrm>
            <a:off x="3825588"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3825588" y="1828800"/>
            <a:ext cx="1355010" cy="109728"/>
          </a:xfrm>
          <a:prstGeom prst="rect">
            <a:avLst/>
          </a:prstGeom>
          <a:solidFill>
            <a:srgbClr val="5B3A7A"/>
          </a:solidFill>
          <a:ln/>
        </p:spPr>
      </p:sp>
      <p:sp>
        <p:nvSpPr>
          <p:cNvPr id="23" name="Shape 19"/>
          <p:cNvSpPr/>
          <p:nvPr/>
        </p:nvSpPr>
        <p:spPr>
          <a:xfrm>
            <a:off x="4045893" y="2194560"/>
            <a:ext cx="914400" cy="914400"/>
          </a:xfrm>
          <a:prstGeom prst="ellipse">
            <a:avLst/>
          </a:prstGeom>
          <a:solidFill>
            <a:srgbClr val="5B3A7A"/>
          </a:solidFill>
          <a:ln/>
        </p:spPr>
      </p:sp>
      <p:pic>
        <p:nvPicPr>
          <p:cNvPr id="24" name="Image 2" descr="preencoded.png">    </p:cNvPr>
          <p:cNvPicPr>
            <a:picLocks noChangeAspect="1"/>
          </p:cNvPicPr>
          <p:nvPr/>
        </p:nvPicPr>
        <p:blipFill>
          <a:blip r:embed="rId3"/>
          <a:stretch>
            <a:fillRect/>
          </a:stretch>
        </p:blipFill>
        <p:spPr>
          <a:xfrm>
            <a:off x="4247061" y="2395728"/>
            <a:ext cx="512064" cy="512064"/>
          </a:xfrm>
          <a:prstGeom prst="rect">
            <a:avLst/>
          </a:prstGeom>
        </p:spPr>
      </p:pic>
      <p:sp>
        <p:nvSpPr>
          <p:cNvPr id="25" name="Text 20"/>
          <p:cNvSpPr/>
          <p:nvPr/>
        </p:nvSpPr>
        <p:spPr>
          <a:xfrm>
            <a:off x="3917028" y="3163824"/>
            <a:ext cx="1172130" cy="410108"/>
          </a:xfrm>
          <a:prstGeom prst="rect">
            <a:avLst/>
          </a:prstGeom>
          <a:noFill/>
          <a:ln/>
        </p:spPr>
        <p:txBody>
          <a:bodyPr wrap="square" rtlCol="0" anchor="t"/>
          <a:lstStyle/>
          <a:p>
            <a:pPr algn="ctr" indent="0" marL="0">
              <a:buNone/>
            </a:pPr>
            <a:r>
              <a:rPr lang="en-US" sz="828" b="1" dirty="0">
                <a:solidFill>
                  <a:srgbClr val="5B3A7A"/>
                </a:solidFill>
                <a:latin typeface="Segoe UI" pitchFamily="34" charset="0"/>
                <a:ea typeface="Segoe UI" pitchFamily="34" charset="-122"/>
                <a:cs typeface="Segoe UI" pitchFamily="34" charset="-120"/>
              </a:rPr>
              <a:t>Financial Holding HQ · Compliance &amp; Risk</a:t>
            </a:r>
            <a:endParaRPr lang="en-US" sz="828" dirty="0"/>
          </a:p>
        </p:txBody>
      </p:sp>
      <p:sp>
        <p:nvSpPr>
          <p:cNvPr id="26" name="Text 21"/>
          <p:cNvSpPr/>
          <p:nvPr/>
        </p:nvSpPr>
        <p:spPr>
          <a:xfrm>
            <a:off x="3917028" y="3628796"/>
            <a:ext cx="1172130" cy="891540"/>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The Quarterly Coordination Meeting That Cannot Be One Meeting</a:t>
            </a:r>
            <a:endParaRPr lang="en-US" sz="1080" dirty="0"/>
          </a:p>
        </p:txBody>
      </p:sp>
      <p:sp>
        <p:nvSpPr>
          <p:cNvPr id="27" name="Text 22"/>
          <p:cNvSpPr/>
          <p:nvPr/>
        </p:nvSpPr>
        <p:spPr>
          <a:xfrm>
            <a:off x="3917028" y="4602632"/>
            <a:ext cx="1172130" cy="427939"/>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Scheduling · Calendar Management …</a:t>
            </a:r>
            <a:endParaRPr lang="en-US" sz="864" dirty="0"/>
          </a:p>
        </p:txBody>
      </p:sp>
      <p:sp>
        <p:nvSpPr>
          <p:cNvPr id="28" name="Text 23"/>
          <p:cNvSpPr/>
          <p:nvPr/>
        </p:nvSpPr>
        <p:spPr>
          <a:xfrm>
            <a:off x="3917028" y="5112868"/>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~15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9" name="Shape 24"/>
          <p:cNvSpPr/>
          <p:nvPr/>
        </p:nvSpPr>
        <p:spPr>
          <a:xfrm>
            <a:off x="5418343"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5418343" y="1828800"/>
            <a:ext cx="1355010" cy="109728"/>
          </a:xfrm>
          <a:prstGeom prst="rect">
            <a:avLst/>
          </a:prstGeom>
          <a:solidFill>
            <a:srgbClr val="8A4B1E"/>
          </a:solidFill>
          <a:ln/>
        </p:spPr>
      </p:sp>
      <p:sp>
        <p:nvSpPr>
          <p:cNvPr id="31" name="Shape 26"/>
          <p:cNvSpPr/>
          <p:nvPr/>
        </p:nvSpPr>
        <p:spPr>
          <a:xfrm>
            <a:off x="5638648" y="2194560"/>
            <a:ext cx="914400" cy="914400"/>
          </a:xfrm>
          <a:prstGeom prst="ellipse">
            <a:avLst/>
          </a:prstGeom>
          <a:solidFill>
            <a:srgbClr val="8A4B1E"/>
          </a:solidFill>
          <a:ln/>
        </p:spPr>
      </p:sp>
      <p:pic>
        <p:nvPicPr>
          <p:cNvPr id="32" name="Image 3" descr="preencoded.png">    </p:cNvPr>
          <p:cNvPicPr>
            <a:picLocks noChangeAspect="1"/>
          </p:cNvPicPr>
          <p:nvPr/>
        </p:nvPicPr>
        <p:blipFill>
          <a:blip r:embed="rId4"/>
          <a:stretch>
            <a:fillRect/>
          </a:stretch>
        </p:blipFill>
        <p:spPr>
          <a:xfrm>
            <a:off x="5839816" y="2395728"/>
            <a:ext cx="512064" cy="512064"/>
          </a:xfrm>
          <a:prstGeom prst="rect">
            <a:avLst/>
          </a:prstGeom>
        </p:spPr>
      </p:pic>
      <p:sp>
        <p:nvSpPr>
          <p:cNvPr id="33" name="Text 27"/>
          <p:cNvSpPr/>
          <p:nvPr/>
        </p:nvSpPr>
        <p:spPr>
          <a:xfrm>
            <a:off x="5509783" y="3163824"/>
            <a:ext cx="1172130" cy="410108"/>
          </a:xfrm>
          <a:prstGeom prst="rect">
            <a:avLst/>
          </a:prstGeom>
          <a:noFill/>
          <a:ln/>
        </p:spPr>
        <p:txBody>
          <a:bodyPr wrap="square" rtlCol="0" anchor="t"/>
          <a:lstStyle/>
          <a:p>
            <a:pPr algn="ctr" indent="0" marL="0">
              <a:buNone/>
            </a:pPr>
            <a:r>
              <a:rPr lang="en-US" sz="828" b="1" dirty="0">
                <a:solidFill>
                  <a:srgbClr val="8A4B1E"/>
                </a:solidFill>
                <a:latin typeface="Segoe UI" pitchFamily="34" charset="0"/>
                <a:ea typeface="Segoe UI" pitchFamily="34" charset="-122"/>
                <a:cs typeface="Segoe UI" pitchFamily="34" charset="-120"/>
              </a:rPr>
              <a:t>Financial Holding HQ · Compliance &amp; Risk</a:t>
            </a:r>
            <a:endParaRPr lang="en-US" sz="828" dirty="0"/>
          </a:p>
        </p:txBody>
      </p:sp>
      <p:sp>
        <p:nvSpPr>
          <p:cNvPr id="34" name="Text 28"/>
          <p:cNvSpPr/>
          <p:nvPr/>
        </p:nvSpPr>
        <p:spPr>
          <a:xfrm>
            <a:off x="5509783" y="3628796"/>
            <a:ext cx="1172130" cy="891540"/>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Group Exposure: Four Subsidiaries Within Limit, One Group Over</a:t>
            </a:r>
            <a:endParaRPr lang="en-US" sz="1080" dirty="0"/>
          </a:p>
        </p:txBody>
      </p:sp>
      <p:sp>
        <p:nvSpPr>
          <p:cNvPr id="35" name="Text 29"/>
          <p:cNvSpPr/>
          <p:nvPr/>
        </p:nvSpPr>
        <p:spPr>
          <a:xfrm>
            <a:off x="5509783" y="4602632"/>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File upload · Excel …</a:t>
            </a:r>
            <a:endParaRPr lang="en-US" sz="864" dirty="0"/>
          </a:p>
        </p:txBody>
      </p:sp>
      <p:sp>
        <p:nvSpPr>
          <p:cNvPr id="36" name="Text 30"/>
          <p:cNvSpPr/>
          <p:nvPr/>
        </p:nvSpPr>
        <p:spPr>
          <a:xfrm>
            <a:off x="5509783" y="4970221"/>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37" name="Shape 31"/>
          <p:cNvSpPr/>
          <p:nvPr/>
        </p:nvSpPr>
        <p:spPr>
          <a:xfrm>
            <a:off x="7011097"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7011097" y="1828800"/>
            <a:ext cx="1355010" cy="109728"/>
          </a:xfrm>
          <a:prstGeom prst="rect">
            <a:avLst/>
          </a:prstGeom>
          <a:solidFill>
            <a:srgbClr val="9B2226"/>
          </a:solidFill>
          <a:ln/>
        </p:spPr>
      </p:sp>
      <p:sp>
        <p:nvSpPr>
          <p:cNvPr id="39" name="Shape 33"/>
          <p:cNvSpPr/>
          <p:nvPr/>
        </p:nvSpPr>
        <p:spPr>
          <a:xfrm>
            <a:off x="7231402" y="2194560"/>
            <a:ext cx="914400" cy="914400"/>
          </a:xfrm>
          <a:prstGeom prst="ellipse">
            <a:avLst/>
          </a:prstGeom>
          <a:solidFill>
            <a:srgbClr val="9B2226"/>
          </a:solidFill>
          <a:ln/>
        </p:spPr>
      </p:sp>
      <p:pic>
        <p:nvPicPr>
          <p:cNvPr id="40" name="Image 4" descr="preencoded.png">    </p:cNvPr>
          <p:cNvPicPr>
            <a:picLocks noChangeAspect="1"/>
          </p:cNvPicPr>
          <p:nvPr/>
        </p:nvPicPr>
        <p:blipFill>
          <a:blip r:embed="rId5"/>
          <a:stretch>
            <a:fillRect/>
          </a:stretch>
        </p:blipFill>
        <p:spPr>
          <a:xfrm>
            <a:off x="7432570" y="2395728"/>
            <a:ext cx="512064" cy="512064"/>
          </a:xfrm>
          <a:prstGeom prst="rect">
            <a:avLst/>
          </a:prstGeom>
        </p:spPr>
      </p:pic>
      <p:sp>
        <p:nvSpPr>
          <p:cNvPr id="41" name="Text 34"/>
          <p:cNvSpPr/>
          <p:nvPr/>
        </p:nvSpPr>
        <p:spPr>
          <a:xfrm>
            <a:off x="7102537" y="3163824"/>
            <a:ext cx="1172130" cy="410108"/>
          </a:xfrm>
          <a:prstGeom prst="rect">
            <a:avLst/>
          </a:prstGeom>
          <a:noFill/>
          <a:ln/>
        </p:spPr>
        <p:txBody>
          <a:bodyPr wrap="square" rtlCol="0" anchor="t"/>
          <a:lstStyle/>
          <a:p>
            <a:pPr algn="ctr" indent="0" marL="0">
              <a:buNone/>
            </a:pPr>
            <a:r>
              <a:rPr lang="en-US" sz="828" b="1" dirty="0">
                <a:solidFill>
                  <a:srgbClr val="9B2226"/>
                </a:solidFill>
                <a:latin typeface="Segoe UI" pitchFamily="34" charset="0"/>
                <a:ea typeface="Segoe UI" pitchFamily="34" charset="-122"/>
                <a:cs typeface="Segoe UI" pitchFamily="34" charset="-120"/>
              </a:rPr>
              <a:t>Financial Holding HQ · Compliance &amp; Risk</a:t>
            </a:r>
            <a:endParaRPr lang="en-US" sz="828" dirty="0"/>
          </a:p>
        </p:txBody>
      </p:sp>
      <p:sp>
        <p:nvSpPr>
          <p:cNvPr id="42" name="Text 35"/>
          <p:cNvSpPr/>
          <p:nvPr/>
        </p:nvSpPr>
        <p:spPr>
          <a:xfrm>
            <a:off x="7102537" y="3628796"/>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Incident Reporting: The Two-Hour Clock Does Not Start Where You Think</a:t>
            </a:r>
            <a:endParaRPr lang="en-US" sz="1080" dirty="0"/>
          </a:p>
        </p:txBody>
      </p:sp>
      <p:sp>
        <p:nvSpPr>
          <p:cNvPr id="43" name="Text 36"/>
          <p:cNvSpPr/>
          <p:nvPr/>
        </p:nvSpPr>
        <p:spPr>
          <a:xfrm>
            <a:off x="7102537" y="4780940"/>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Event trigger · Email …</a:t>
            </a:r>
            <a:endParaRPr lang="en-US" sz="864" dirty="0"/>
          </a:p>
        </p:txBody>
      </p:sp>
      <p:sp>
        <p:nvSpPr>
          <p:cNvPr id="44" name="Text 37"/>
          <p:cNvSpPr/>
          <p:nvPr/>
        </p:nvSpPr>
        <p:spPr>
          <a:xfrm>
            <a:off x="7102537" y="5148529"/>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~18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45" name="Shape 38"/>
          <p:cNvSpPr/>
          <p:nvPr/>
        </p:nvSpPr>
        <p:spPr>
          <a:xfrm>
            <a:off x="8603851"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8603851" y="1828800"/>
            <a:ext cx="1355010" cy="109728"/>
          </a:xfrm>
          <a:prstGeom prst="rect">
            <a:avLst/>
          </a:prstGeom>
          <a:solidFill>
            <a:srgbClr val="0F6E6E"/>
          </a:solidFill>
          <a:ln/>
        </p:spPr>
      </p:sp>
      <p:sp>
        <p:nvSpPr>
          <p:cNvPr id="47" name="Shape 40"/>
          <p:cNvSpPr/>
          <p:nvPr/>
        </p:nvSpPr>
        <p:spPr>
          <a:xfrm>
            <a:off x="8824156" y="2194560"/>
            <a:ext cx="914400" cy="914400"/>
          </a:xfrm>
          <a:prstGeom prst="ellipse">
            <a:avLst/>
          </a:prstGeom>
          <a:solidFill>
            <a:srgbClr val="0F6E6E"/>
          </a:solidFill>
          <a:ln/>
        </p:spPr>
      </p:sp>
      <p:pic>
        <p:nvPicPr>
          <p:cNvPr id="48" name="Image 5" descr="preencoded.png">    </p:cNvPr>
          <p:cNvPicPr>
            <a:picLocks noChangeAspect="1"/>
          </p:cNvPicPr>
          <p:nvPr/>
        </p:nvPicPr>
        <p:blipFill>
          <a:blip r:embed="rId6"/>
          <a:stretch>
            <a:fillRect/>
          </a:stretch>
        </p:blipFill>
        <p:spPr>
          <a:xfrm>
            <a:off x="9025324" y="2395728"/>
            <a:ext cx="512064" cy="512064"/>
          </a:xfrm>
          <a:prstGeom prst="rect">
            <a:avLst/>
          </a:prstGeom>
        </p:spPr>
      </p:pic>
      <p:sp>
        <p:nvSpPr>
          <p:cNvPr id="49" name="Text 41"/>
          <p:cNvSpPr/>
          <p:nvPr/>
        </p:nvSpPr>
        <p:spPr>
          <a:xfrm>
            <a:off x="8695291" y="3163824"/>
            <a:ext cx="1172130" cy="410108"/>
          </a:xfrm>
          <a:prstGeom prst="rect">
            <a:avLst/>
          </a:prstGeom>
          <a:noFill/>
          <a:ln/>
        </p:spPr>
        <p:txBody>
          <a:bodyPr wrap="square" rtlCol="0" anchor="t"/>
          <a:lstStyle/>
          <a:p>
            <a:pPr algn="ctr" indent="0" marL="0">
              <a:buNone/>
            </a:pPr>
            <a:r>
              <a:rPr lang="en-US" sz="828" b="1" dirty="0">
                <a:solidFill>
                  <a:srgbClr val="0F6E6E"/>
                </a:solidFill>
                <a:latin typeface="Segoe UI" pitchFamily="34" charset="0"/>
                <a:ea typeface="Segoe UI" pitchFamily="34" charset="-122"/>
                <a:cs typeface="Segoe UI" pitchFamily="34" charset="-120"/>
              </a:rPr>
              <a:t>Financial Holding HQ · Compliance &amp; Risk</a:t>
            </a:r>
            <a:endParaRPr lang="en-US" sz="828" dirty="0"/>
          </a:p>
        </p:txBody>
      </p:sp>
      <p:sp>
        <p:nvSpPr>
          <p:cNvPr id="50" name="Text 42"/>
          <p:cNvSpPr/>
          <p:nvPr/>
        </p:nvSpPr>
        <p:spPr>
          <a:xfrm>
            <a:off x="8695291" y="3628796"/>
            <a:ext cx="1172130" cy="713232"/>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Cross-Marketing Lists: Consent Is Not a Yes/No Field</a:t>
            </a:r>
            <a:endParaRPr lang="en-US" sz="1080" dirty="0"/>
          </a:p>
        </p:txBody>
      </p:sp>
      <p:sp>
        <p:nvSpPr>
          <p:cNvPr id="51" name="Text 43"/>
          <p:cNvSpPr/>
          <p:nvPr/>
        </p:nvSpPr>
        <p:spPr>
          <a:xfrm>
            <a:off x="8695291" y="4424324"/>
            <a:ext cx="1172130" cy="713232"/>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Enterprise Search · File upload · Excel · Communications · Email</a:t>
            </a:r>
            <a:endParaRPr lang="en-US" sz="864" dirty="0"/>
          </a:p>
        </p:txBody>
      </p:sp>
      <p:sp>
        <p:nvSpPr>
          <p:cNvPr id="52" name="Text 44"/>
          <p:cNvSpPr/>
          <p:nvPr/>
        </p:nvSpPr>
        <p:spPr>
          <a:xfrm>
            <a:off x="8695291" y="5219852"/>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~18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53" name="Shape 45"/>
          <p:cNvSpPr/>
          <p:nvPr/>
        </p:nvSpPr>
        <p:spPr>
          <a:xfrm>
            <a:off x="10196605" y="1828800"/>
            <a:ext cx="1355010"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54" name="Shape 46"/>
          <p:cNvSpPr/>
          <p:nvPr/>
        </p:nvSpPr>
        <p:spPr>
          <a:xfrm>
            <a:off x="10196605" y="1828800"/>
            <a:ext cx="1355010" cy="109728"/>
          </a:xfrm>
          <a:prstGeom prst="rect">
            <a:avLst/>
          </a:prstGeom>
          <a:solidFill>
            <a:srgbClr val="4A4A7A"/>
          </a:solidFill>
          <a:ln/>
        </p:spPr>
      </p:sp>
      <p:sp>
        <p:nvSpPr>
          <p:cNvPr id="55" name="Shape 47"/>
          <p:cNvSpPr/>
          <p:nvPr/>
        </p:nvSpPr>
        <p:spPr>
          <a:xfrm>
            <a:off x="10416910" y="2194560"/>
            <a:ext cx="914400" cy="914400"/>
          </a:xfrm>
          <a:prstGeom prst="ellipse">
            <a:avLst/>
          </a:prstGeom>
          <a:solidFill>
            <a:srgbClr val="4A4A7A"/>
          </a:solidFill>
          <a:ln/>
        </p:spPr>
      </p:sp>
      <p:pic>
        <p:nvPicPr>
          <p:cNvPr id="56" name="Image 6" descr="preencoded.png">    </p:cNvPr>
          <p:cNvPicPr>
            <a:picLocks noChangeAspect="1"/>
          </p:cNvPicPr>
          <p:nvPr/>
        </p:nvPicPr>
        <p:blipFill>
          <a:blip r:embed="rId7"/>
          <a:stretch>
            <a:fillRect/>
          </a:stretch>
        </p:blipFill>
        <p:spPr>
          <a:xfrm>
            <a:off x="10618078" y="2395728"/>
            <a:ext cx="512064" cy="512064"/>
          </a:xfrm>
          <a:prstGeom prst="rect">
            <a:avLst/>
          </a:prstGeom>
        </p:spPr>
      </p:pic>
      <p:sp>
        <p:nvSpPr>
          <p:cNvPr id="57" name="Text 48"/>
          <p:cNvSpPr/>
          <p:nvPr/>
        </p:nvSpPr>
        <p:spPr>
          <a:xfrm>
            <a:off x="10288045" y="3163824"/>
            <a:ext cx="1172130" cy="410108"/>
          </a:xfrm>
          <a:prstGeom prst="rect">
            <a:avLst/>
          </a:prstGeom>
          <a:noFill/>
          <a:ln/>
        </p:spPr>
        <p:txBody>
          <a:bodyPr wrap="square" rtlCol="0" anchor="t"/>
          <a:lstStyle/>
          <a:p>
            <a:pPr algn="ctr" indent="0" marL="0">
              <a:buNone/>
            </a:pPr>
            <a:r>
              <a:rPr lang="en-US" sz="828" b="1" dirty="0">
                <a:solidFill>
                  <a:srgbClr val="4A4A7A"/>
                </a:solidFill>
                <a:latin typeface="Segoe UI" pitchFamily="34" charset="0"/>
                <a:ea typeface="Segoe UI" pitchFamily="34" charset="-122"/>
                <a:cs typeface="Segoe UI" pitchFamily="34" charset="-120"/>
              </a:rPr>
              <a:t>Financial Holding HQ · Compliance &amp; Risk</a:t>
            </a:r>
            <a:endParaRPr lang="en-US" sz="828" dirty="0"/>
          </a:p>
        </p:txBody>
      </p:sp>
      <p:sp>
        <p:nvSpPr>
          <p:cNvPr id="58" name="Text 49"/>
          <p:cNvSpPr/>
          <p:nvPr/>
        </p:nvSpPr>
        <p:spPr>
          <a:xfrm>
            <a:off x="10288045" y="3628796"/>
            <a:ext cx="1172130" cy="1069848"/>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A Product Sign-off Skill, Built on Channels Rather Than Products</a:t>
            </a:r>
            <a:endParaRPr lang="en-US" sz="1080" dirty="0"/>
          </a:p>
        </p:txBody>
      </p:sp>
      <p:sp>
        <p:nvSpPr>
          <p:cNvPr id="59" name="Text 50"/>
          <p:cNvSpPr/>
          <p:nvPr/>
        </p:nvSpPr>
        <p:spPr>
          <a:xfrm>
            <a:off x="10288045" y="4780940"/>
            <a:ext cx="1172130" cy="285293"/>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Custom skill · Skill Report …</a:t>
            </a:r>
            <a:endParaRPr lang="en-US" sz="864" dirty="0"/>
          </a:p>
        </p:txBody>
      </p:sp>
      <p:sp>
        <p:nvSpPr>
          <p:cNvPr id="60" name="Text 51"/>
          <p:cNvSpPr/>
          <p:nvPr/>
        </p:nvSpPr>
        <p:spPr>
          <a:xfrm>
            <a:off x="10288045" y="5148529"/>
            <a:ext cx="1172130"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61" name="Text 52"/>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62" name="Text 53"/>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23F6D"/>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23F6D"/>
                </a:solidFill>
                <a:latin typeface="Segoe UI" pitchFamily="34" charset="0"/>
                <a:ea typeface="Segoe UI" pitchFamily="34" charset="-122"/>
                <a:cs typeface="Segoe UI" pitchFamily="34" charset="-120"/>
              </a:rPr>
              <a:t>Scenario 01</a:t>
            </a:r>
            <a:endParaRPr lang="en-US" sz="1400" dirty="0"/>
          </a:p>
        </p:txBody>
      </p:sp>
      <p:sp>
        <p:nvSpPr>
          <p:cNvPr id="5" name="Shape 3"/>
          <p:cNvSpPr/>
          <p:nvPr/>
        </p:nvSpPr>
        <p:spPr>
          <a:xfrm>
            <a:off x="502920" y="1143000"/>
            <a:ext cx="1097280" cy="1097280"/>
          </a:xfrm>
          <a:prstGeom prst="ellipse">
            <a:avLst/>
          </a:prstGeom>
          <a:solidFill>
            <a:srgbClr val="123F6D"/>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Triaging the Shared Compliance Mailbox</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~12 min · Level ★★☆</a:t>
            </a:r>
            <a:endParaRPr lang="en-US" sz="1300" dirty="0"/>
          </a:p>
        </p:txBody>
      </p:sp>
      <p:sp>
        <p:nvSpPr>
          <p:cNvPr id="10" name="Shape 7"/>
          <p:cNvSpPr/>
          <p:nvPr/>
        </p:nvSpPr>
        <p:spPr>
          <a:xfrm>
            <a:off x="502920" y="4572000"/>
            <a:ext cx="813816" cy="329184"/>
          </a:xfrm>
          <a:prstGeom prst="roundRect">
            <a:avLst>
              <a:gd name="adj" fmla="val 50000"/>
            </a:avLst>
          </a:prstGeom>
          <a:solidFill>
            <a:srgbClr val="6366F1"/>
          </a:solidFill>
          <a:ln/>
        </p:spPr>
      </p:sp>
      <p:sp>
        <p:nvSpPr>
          <p:cNvPr id="11" name="Text 8"/>
          <p:cNvSpPr/>
          <p:nvPr/>
        </p:nvSpPr>
        <p:spPr>
          <a:xfrm>
            <a:off x="502920" y="4572000"/>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Email</a:t>
            </a:r>
            <a:endParaRPr lang="en-US" sz="1050" dirty="0"/>
          </a:p>
        </p:txBody>
      </p:sp>
      <p:sp>
        <p:nvSpPr>
          <p:cNvPr id="12" name="Shape 9"/>
          <p:cNvSpPr/>
          <p:nvPr/>
        </p:nvSpPr>
        <p:spPr>
          <a:xfrm>
            <a:off x="1499616" y="4572000"/>
            <a:ext cx="2020824" cy="329184"/>
          </a:xfrm>
          <a:prstGeom prst="roundRect">
            <a:avLst>
              <a:gd name="adj" fmla="val 50000"/>
            </a:avLst>
          </a:prstGeom>
          <a:solidFill>
            <a:srgbClr val="6366F1"/>
          </a:solidFill>
          <a:ln/>
        </p:spPr>
      </p:sp>
      <p:sp>
        <p:nvSpPr>
          <p:cNvPr id="13" name="Text 10"/>
          <p:cNvSpPr/>
          <p:nvPr/>
        </p:nvSpPr>
        <p:spPr>
          <a:xfrm>
            <a:off x="1499616" y="4572000"/>
            <a:ext cx="2020824"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Enterprise Search</a:t>
            </a:r>
            <a:endParaRPr lang="en-US" sz="1050" dirty="0"/>
          </a:p>
        </p:txBody>
      </p:sp>
      <p:sp>
        <p:nvSpPr>
          <p:cNvPr id="14" name="Shape 11"/>
          <p:cNvSpPr/>
          <p:nvPr/>
        </p:nvSpPr>
        <p:spPr>
          <a:xfrm>
            <a:off x="502920" y="4956048"/>
            <a:ext cx="1719072" cy="329184"/>
          </a:xfrm>
          <a:prstGeom prst="roundRect">
            <a:avLst>
              <a:gd name="adj" fmla="val 50000"/>
            </a:avLst>
          </a:prstGeom>
          <a:solidFill>
            <a:srgbClr val="6366F1"/>
          </a:solidFill>
          <a:ln/>
        </p:spPr>
      </p:sp>
      <p:sp>
        <p:nvSpPr>
          <p:cNvPr id="15" name="Text 12"/>
          <p:cNvSpPr/>
          <p:nvPr/>
        </p:nvSpPr>
        <p:spPr>
          <a:xfrm>
            <a:off x="502920" y="4956048"/>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Daily Briefing</a:t>
            </a:r>
            <a:endParaRPr lang="en-US" sz="1050" dirty="0"/>
          </a:p>
        </p:txBody>
      </p:sp>
      <p:sp>
        <p:nvSpPr>
          <p:cNvPr id="16" name="Shape 13"/>
          <p:cNvSpPr/>
          <p:nvPr/>
        </p:nvSpPr>
        <p:spPr>
          <a:xfrm>
            <a:off x="502920" y="5340096"/>
            <a:ext cx="1719072" cy="329184"/>
          </a:xfrm>
          <a:prstGeom prst="roundRect">
            <a:avLst>
              <a:gd name="adj" fmla="val 50000"/>
            </a:avLst>
          </a:prstGeom>
          <a:solidFill>
            <a:srgbClr val="6366F1"/>
          </a:solidFill>
          <a:ln/>
        </p:spPr>
      </p:sp>
      <p:sp>
        <p:nvSpPr>
          <p:cNvPr id="17" name="Text 14"/>
          <p:cNvSpPr/>
          <p:nvPr/>
        </p:nvSpPr>
        <p:spPr>
          <a:xfrm>
            <a:off x="502920" y="5340096"/>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Adaptive Cards</a:t>
            </a:r>
            <a:endParaRPr lang="en-US" sz="1050" dirty="0"/>
          </a:p>
        </p:txBody>
      </p:sp>
      <p:sp>
        <p:nvSpPr>
          <p:cNvPr id="18" name="Shape 15"/>
          <p:cNvSpPr/>
          <p:nvPr/>
        </p:nvSpPr>
        <p:spPr>
          <a:xfrm>
            <a:off x="502920" y="5724144"/>
            <a:ext cx="1920240" cy="329184"/>
          </a:xfrm>
          <a:prstGeom prst="roundRect">
            <a:avLst>
              <a:gd name="adj" fmla="val 50000"/>
            </a:avLst>
          </a:prstGeom>
          <a:solidFill>
            <a:srgbClr val="6366F1"/>
          </a:solidFill>
          <a:ln/>
        </p:spPr>
      </p:sp>
      <p:sp>
        <p:nvSpPr>
          <p:cNvPr id="19" name="Text 16"/>
          <p:cNvSpPr/>
          <p:nvPr/>
        </p:nvSpPr>
        <p:spPr>
          <a:xfrm>
            <a:off x="502920" y="5724144"/>
            <a:ext cx="1920240"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Scheduled prompt</a:t>
            </a:r>
            <a:endParaRPr lang="en-US" sz="1050" dirty="0"/>
          </a:p>
        </p:txBody>
      </p:sp>
      <p:sp>
        <p:nvSpPr>
          <p:cNvPr id="20" name="Text 17"/>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Zava Life has sent five "product compliance confirmation" emails on the same day, with almost identical subject lines. Which of them actually need a compliance opinion? The answer is not in the emails — it is in the filing-versus-approval matrix. And the two marked URGENT happen to be the ones that are not.</a:t>
            </a:r>
            <a:endParaRPr lang="en-US" sz="1500" dirty="0"/>
          </a:p>
        </p:txBody>
      </p:sp>
      <p:sp>
        <p:nvSpPr>
          <p:cNvPr id="21" name="Text 18"/>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123F6D"/>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523744"/>
            <a:ext cx="457200" cy="457200"/>
          </a:xfrm>
          <a:prstGeom prst="ellipse">
            <a:avLst/>
          </a:prstGeom>
          <a:solidFill>
            <a:srgbClr val="FFFFFF">
              <a:alpha val="12000"/>
            </a:srgbClr>
          </a:solidFill>
          <a:ln w="19050">
            <a:solidFill>
              <a:srgbClr val="123F6D"/>
            </a:solidFill>
            <a:prstDash val="solid"/>
          </a:ln>
        </p:spPr>
      </p:sp>
      <p:sp>
        <p:nvSpPr>
          <p:cNvPr id="23" name="Text 20"/>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123F6D"/>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Let it work out what the five emails actually are</a:t>
            </a:r>
            <a:endParaRPr lang="en-US" sz="1600" dirty="0"/>
          </a:p>
        </p:txBody>
      </p:sp>
      <p:sp>
        <p:nvSpPr>
          <p:cNvPr id="25" name="Text 22"/>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The five emails are in your inbox; th…</a:t>
            </a:r>
            <a:endParaRPr lang="en-US" sz="1300" dirty="0"/>
          </a:p>
        </p:txBody>
      </p:sp>
      <p:sp>
        <p:nvSpPr>
          <p:cNvPr id="26" name="Shape 23"/>
          <p:cNvSpPr/>
          <p:nvPr/>
        </p:nvSpPr>
        <p:spPr>
          <a:xfrm>
            <a:off x="4526280" y="3493008"/>
            <a:ext cx="457200" cy="457200"/>
          </a:xfrm>
          <a:prstGeom prst="ellipse">
            <a:avLst/>
          </a:prstGeom>
          <a:solidFill>
            <a:srgbClr val="FFFFFF">
              <a:alpha val="12000"/>
            </a:srgbClr>
          </a:solidFill>
          <a:ln w="19050">
            <a:solidFill>
              <a:srgbClr val="123F6D"/>
            </a:solidFill>
            <a:prstDash val="solid"/>
          </a:ln>
        </p:spPr>
      </p:sp>
      <p:sp>
        <p:nvSpPr>
          <p:cNvPr id="27" name="Text 24"/>
          <p:cNvSpPr/>
          <p:nvPr/>
        </p:nvSpPr>
        <p:spPr>
          <a:xfrm>
            <a:off x="4526280" y="3493008"/>
            <a:ext cx="457200" cy="457200"/>
          </a:xfrm>
          <a:prstGeom prst="rect">
            <a:avLst/>
          </a:prstGeom>
          <a:noFill/>
          <a:ln/>
        </p:spPr>
        <p:txBody>
          <a:bodyPr wrap="square" rtlCol="0" anchor="ctr"/>
          <a:lstStyle/>
          <a:p>
            <a:pPr algn="ctr" indent="0" marL="0">
              <a:buNone/>
            </a:pPr>
            <a:r>
              <a:rPr lang="en-US" sz="1600" b="1" dirty="0">
                <a:solidFill>
                  <a:srgbClr val="123F6D"/>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4747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the due date for the only one that counts</a:t>
            </a:r>
            <a:endParaRPr lang="en-US" sz="1600" dirty="0"/>
          </a:p>
        </p:txBody>
      </p:sp>
      <p:sp>
        <p:nvSpPr>
          <p:cNvPr id="29" name="Text 26"/>
          <p:cNvSpPr/>
          <p:nvPr/>
        </p:nvSpPr>
        <p:spPr>
          <a:xfrm>
            <a:off x="5166360" y="38404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Ask this in the same session — don't start a new one.。</a:t>
            </a:r>
            <a:endParaRPr lang="en-US" sz="1300" dirty="0"/>
          </a:p>
        </p:txBody>
      </p:sp>
      <p:sp>
        <p:nvSpPr>
          <p:cNvPr id="30" name="Shape 27"/>
          <p:cNvSpPr/>
          <p:nvPr/>
        </p:nvSpPr>
        <p:spPr>
          <a:xfrm>
            <a:off x="4526280" y="4462272"/>
            <a:ext cx="457200" cy="457200"/>
          </a:xfrm>
          <a:prstGeom prst="ellipse">
            <a:avLst/>
          </a:prstGeom>
          <a:solidFill>
            <a:srgbClr val="FFFFFF">
              <a:alpha val="12000"/>
            </a:srgbClr>
          </a:solidFill>
          <a:ln w="19050">
            <a:solidFill>
              <a:srgbClr val="123F6D"/>
            </a:solidFill>
            <a:prstDash val="solid"/>
          </a:ln>
        </p:spPr>
      </p:sp>
      <p:sp>
        <p:nvSpPr>
          <p:cNvPr id="31" name="Text 28"/>
          <p:cNvSpPr/>
          <p:nvPr/>
        </p:nvSpPr>
        <p:spPr>
          <a:xfrm>
            <a:off x="4526280" y="4462272"/>
            <a:ext cx="457200" cy="457200"/>
          </a:xfrm>
          <a:prstGeom prst="rect">
            <a:avLst/>
          </a:prstGeom>
          <a:noFill/>
          <a:ln/>
        </p:spPr>
        <p:txBody>
          <a:bodyPr wrap="square" rtlCol="0" anchor="ctr"/>
          <a:lstStyle/>
          <a:p>
            <a:pPr algn="ctr" indent="0" marL="0">
              <a:buNone/>
            </a:pPr>
            <a:r>
              <a:rPr lang="en-US" sz="1600" b="1" dirty="0">
                <a:solidFill>
                  <a:srgbClr val="123F6D"/>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4439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File them, and turn the result into a card</a:t>
            </a:r>
            <a:endParaRPr lang="en-US" sz="1600" dirty="0"/>
          </a:p>
        </p:txBody>
      </p:sp>
      <p:sp>
        <p:nvSpPr>
          <p:cNvPr id="33" name="Text 30"/>
          <p:cNvSpPr/>
          <p:nvPr/>
        </p:nvSpPr>
        <p:spPr>
          <a:xfrm>
            <a:off x="5166360" y="48097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really creates folders in your mailbox and mov…</a:t>
            </a:r>
            <a:endParaRPr lang="en-US" sz="1300" dirty="0"/>
          </a:p>
        </p:txBody>
      </p:sp>
      <p:sp>
        <p:nvSpPr>
          <p:cNvPr id="34" name="Shape 31"/>
          <p:cNvSpPr/>
          <p:nvPr/>
        </p:nvSpPr>
        <p:spPr>
          <a:xfrm>
            <a:off x="4526280" y="5431536"/>
            <a:ext cx="457200" cy="457200"/>
          </a:xfrm>
          <a:prstGeom prst="ellipse">
            <a:avLst/>
          </a:prstGeom>
          <a:solidFill>
            <a:srgbClr val="FFFFFF">
              <a:alpha val="12000"/>
            </a:srgbClr>
          </a:solidFill>
          <a:ln w="19050">
            <a:solidFill>
              <a:srgbClr val="123F6D"/>
            </a:solidFill>
            <a:prstDash val="solid"/>
          </a:ln>
        </p:spPr>
      </p:sp>
      <p:sp>
        <p:nvSpPr>
          <p:cNvPr id="35" name="Text 32"/>
          <p:cNvSpPr/>
          <p:nvPr/>
        </p:nvSpPr>
        <p:spPr>
          <a:xfrm>
            <a:off x="4526280" y="5431536"/>
            <a:ext cx="457200" cy="457200"/>
          </a:xfrm>
          <a:prstGeom prst="rect">
            <a:avLst/>
          </a:prstGeom>
          <a:noFill/>
          <a:ln/>
        </p:spPr>
        <p:txBody>
          <a:bodyPr wrap="square" rtlCol="0" anchor="ctr"/>
          <a:lstStyle/>
          <a:p>
            <a:pPr algn="ctr" indent="0" marL="0">
              <a:buNone/>
            </a:pPr>
            <a:r>
              <a:rPr lang="en-US" sz="1600" b="1" dirty="0">
                <a:solidFill>
                  <a:srgbClr val="123F6D"/>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4132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it into a scheduled prompt that runs every morning</a:t>
            </a:r>
            <a:endParaRPr lang="en-US" sz="1600" dirty="0"/>
          </a:p>
        </p:txBody>
      </p:sp>
      <p:sp>
        <p:nvSpPr>
          <p:cNvPr id="37" name="Text 34"/>
          <p:cNvSpPr/>
          <p:nvPr/>
        </p:nvSpPr>
        <p:spPr>
          <a:xfrm>
            <a:off x="5166360" y="57790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Once it's set, check the Automations page in the left na…</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23F6D"/>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23F6D"/>
                </a:solidFill>
                <a:latin typeface="Segoe UI" pitchFamily="34" charset="0"/>
                <a:ea typeface="Segoe UI" pitchFamily="34" charset="-122"/>
                <a:cs typeface="Segoe UI" pitchFamily="34" charset="-120"/>
              </a:rPr>
              <a:t>Scenario 01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1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23F6D"/>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1_04b_automations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23F6D"/>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23F6D"/>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determination rests on the product type, not the subject line — did it cite the specific line of the matrix?</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Only one of the five needs a compliance opinion; the other four are filing only — did it avoid treating all five as work?</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deadline counts working days from the day after receipt and rolls over weekends — is the date it produced correct?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B5E57"/>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B5E57"/>
                </a:solidFill>
                <a:latin typeface="Segoe UI" pitchFamily="34" charset="0"/>
                <a:ea typeface="Segoe UI" pitchFamily="34" charset="-122"/>
                <a:cs typeface="Segoe UI" pitchFamily="34" charset="-120"/>
              </a:rPr>
              <a:t>Scenario 02</a:t>
            </a:r>
            <a:endParaRPr lang="en-US" sz="1400" dirty="0"/>
          </a:p>
        </p:txBody>
      </p:sp>
      <p:sp>
        <p:nvSpPr>
          <p:cNvPr id="5" name="Shape 3"/>
          <p:cNvSpPr/>
          <p:nvPr/>
        </p:nvSpPr>
        <p:spPr>
          <a:xfrm>
            <a:off x="502920" y="1143000"/>
            <a:ext cx="1097280" cy="1097280"/>
          </a:xfrm>
          <a:prstGeom prst="ellipse">
            <a:avLst/>
          </a:prstGeom>
          <a:solidFill>
            <a:srgbClr val="1B5E57"/>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Compliance Training: On Target Overall, Off Target Where It Matters</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316736" cy="329184"/>
          </a:xfrm>
          <a:prstGeom prst="roundRect">
            <a:avLst>
              <a:gd name="adj" fmla="val 50000"/>
            </a:avLst>
          </a:prstGeom>
          <a:solidFill>
            <a:srgbClr val="C43E1C"/>
          </a:solidFill>
          <a:ln/>
        </p:spPr>
      </p:sp>
      <p:sp>
        <p:nvSpPr>
          <p:cNvPr id="11" name="Text 8"/>
          <p:cNvSpPr/>
          <p:nvPr/>
        </p:nvSpPr>
        <p:spPr>
          <a:xfrm>
            <a:off x="502920" y="4572000"/>
            <a:ext cx="131673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PowerPoint</a:t>
            </a:r>
            <a:endParaRPr lang="en-US" sz="1050" dirty="0"/>
          </a:p>
        </p:txBody>
      </p:sp>
      <p:sp>
        <p:nvSpPr>
          <p:cNvPr id="12" name="Shape 9"/>
          <p:cNvSpPr/>
          <p:nvPr/>
        </p:nvSpPr>
        <p:spPr>
          <a:xfrm>
            <a:off x="502920" y="4956048"/>
            <a:ext cx="1920240" cy="329184"/>
          </a:xfrm>
          <a:prstGeom prst="roundRect">
            <a:avLst>
              <a:gd name="adj" fmla="val 50000"/>
            </a:avLst>
          </a:prstGeom>
          <a:solidFill>
            <a:srgbClr val="6366F1"/>
          </a:solidFill>
          <a:ln/>
        </p:spPr>
      </p:sp>
      <p:sp>
        <p:nvSpPr>
          <p:cNvPr id="13" name="Text 10"/>
          <p:cNvSpPr/>
          <p:nvPr/>
        </p:nvSpPr>
        <p:spPr>
          <a:xfrm>
            <a:off x="502920" y="4956048"/>
            <a:ext cx="1920240"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Image generation</a:t>
            </a:r>
            <a:endParaRPr lang="en-US" sz="1050" dirty="0"/>
          </a:p>
        </p:txBody>
      </p:sp>
      <p:sp>
        <p:nvSpPr>
          <p:cNvPr id="14" name="Shape 11"/>
          <p:cNvSpPr/>
          <p:nvPr/>
        </p:nvSpPr>
        <p:spPr>
          <a:xfrm>
            <a:off x="2606040" y="4956048"/>
            <a:ext cx="813816" cy="329184"/>
          </a:xfrm>
          <a:prstGeom prst="roundRect">
            <a:avLst>
              <a:gd name="adj" fmla="val 50000"/>
            </a:avLst>
          </a:prstGeom>
          <a:solidFill>
            <a:srgbClr val="217346"/>
          </a:solidFill>
          <a:ln/>
        </p:spPr>
      </p:sp>
      <p:sp>
        <p:nvSpPr>
          <p:cNvPr id="15" name="Text 12"/>
          <p:cNvSpPr/>
          <p:nvPr/>
        </p:nvSpPr>
        <p:spPr>
          <a:xfrm>
            <a:off x="2606040" y="4956048"/>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Excel</a:t>
            </a:r>
            <a:endParaRPr lang="en-US" sz="1050" dirty="0"/>
          </a:p>
        </p:txBody>
      </p:sp>
      <p:sp>
        <p:nvSpPr>
          <p:cNvPr id="16" name="Shape 13"/>
          <p:cNvSpPr/>
          <p:nvPr/>
        </p:nvSpPr>
        <p:spPr>
          <a:xfrm>
            <a:off x="502920" y="5340096"/>
            <a:ext cx="1719072" cy="329184"/>
          </a:xfrm>
          <a:prstGeom prst="roundRect">
            <a:avLst>
              <a:gd name="adj" fmla="val 50000"/>
            </a:avLst>
          </a:prstGeom>
          <a:solidFill>
            <a:srgbClr val="6366F1"/>
          </a:solidFill>
          <a:ln/>
        </p:spPr>
      </p:sp>
      <p:sp>
        <p:nvSpPr>
          <p:cNvPr id="17" name="Text 14"/>
          <p:cNvSpPr/>
          <p:nvPr/>
        </p:nvSpPr>
        <p:spPr>
          <a:xfrm>
            <a:off x="502920" y="5340096"/>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Communications</a:t>
            </a:r>
            <a:endParaRPr lang="en-US" sz="1050" dirty="0"/>
          </a:p>
        </p:txBody>
      </p:sp>
      <p:sp>
        <p:nvSpPr>
          <p:cNvPr id="18" name="Shape 15"/>
          <p:cNvSpPr/>
          <p:nvPr/>
        </p:nvSpPr>
        <p:spPr>
          <a:xfrm>
            <a:off x="2404872" y="5340096"/>
            <a:ext cx="813816" cy="329184"/>
          </a:xfrm>
          <a:prstGeom prst="roundRect">
            <a:avLst>
              <a:gd name="adj" fmla="val 50000"/>
            </a:avLst>
          </a:prstGeom>
          <a:solidFill>
            <a:srgbClr val="6366F1"/>
          </a:solidFill>
          <a:ln/>
        </p:spPr>
      </p:sp>
      <p:sp>
        <p:nvSpPr>
          <p:cNvPr id="19" name="Text 16"/>
          <p:cNvSpPr/>
          <p:nvPr/>
        </p:nvSpPr>
        <p:spPr>
          <a:xfrm>
            <a:off x="2404872" y="5340096"/>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Email</a:t>
            </a:r>
            <a:endParaRPr lang="en-US" sz="1050" dirty="0"/>
          </a:p>
        </p:txBody>
      </p:sp>
      <p:sp>
        <p:nvSpPr>
          <p:cNvPr id="20" name="Shape 17"/>
          <p:cNvSpPr/>
          <p:nvPr/>
        </p:nvSpPr>
        <p:spPr>
          <a:xfrm>
            <a:off x="502920" y="5724144"/>
            <a:ext cx="1719072" cy="329184"/>
          </a:xfrm>
          <a:prstGeom prst="roundRect">
            <a:avLst>
              <a:gd name="adj" fmla="val 50000"/>
            </a:avLst>
          </a:prstGeom>
          <a:solidFill>
            <a:srgbClr val="6366F1"/>
          </a:solidFill>
          <a:ln/>
        </p:spPr>
      </p:sp>
      <p:sp>
        <p:nvSpPr>
          <p:cNvPr id="21" name="Text 18"/>
          <p:cNvSpPr/>
          <p:nvPr/>
        </p:nvSpPr>
        <p:spPr>
          <a:xfrm>
            <a:off x="502920" y="5724144"/>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Adaptive Cards</a:t>
            </a:r>
            <a:endParaRPr lang="en-US" sz="1050" dirty="0"/>
          </a:p>
        </p:txBody>
      </p:sp>
      <p:sp>
        <p:nvSpPr>
          <p:cNvPr id="22" name="Text 19"/>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This year's fair-treatment-of-customers training needs slides, an awareness illustration, completion statistics and reminder emails — all in one go. The numbers come back at 94.0% group-wide, with every subsidiary above the threshold. Break it down one more level and the problem appears.</a:t>
            </a:r>
            <a:endParaRPr lang="en-US" sz="1200" dirty="0"/>
          </a:p>
        </p:txBody>
      </p:sp>
      <p:sp>
        <p:nvSpPr>
          <p:cNvPr id="23" name="Text 20"/>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1B5E57"/>
                </a:solidFill>
                <a:latin typeface="Segoe UI" pitchFamily="34" charset="0"/>
                <a:ea typeface="Segoe UI" pitchFamily="34" charset="-122"/>
                <a:cs typeface="Segoe UI" pitchFamily="34" charset="-120"/>
              </a:rPr>
              <a:t>Agentic workflow</a:t>
            </a:r>
            <a:endParaRPr lang="en-US" sz="1500" dirty="0"/>
          </a:p>
        </p:txBody>
      </p:sp>
      <p:sp>
        <p:nvSpPr>
          <p:cNvPr id="24" name="Shape 21"/>
          <p:cNvSpPr/>
          <p:nvPr/>
        </p:nvSpPr>
        <p:spPr>
          <a:xfrm>
            <a:off x="4526280" y="2112264"/>
            <a:ext cx="457200" cy="457200"/>
          </a:xfrm>
          <a:prstGeom prst="ellipse">
            <a:avLst/>
          </a:prstGeom>
          <a:solidFill>
            <a:srgbClr val="FFFFFF">
              <a:alpha val="12000"/>
            </a:srgbClr>
          </a:solidFill>
          <a:ln w="19050">
            <a:solidFill>
              <a:srgbClr val="1B5E57"/>
            </a:solidFill>
            <a:prstDash val="solid"/>
          </a:ln>
        </p:spPr>
      </p:sp>
      <p:sp>
        <p:nvSpPr>
          <p:cNvPr id="25" name="Text 22"/>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1B5E57"/>
                </a:solidFill>
                <a:latin typeface="Segoe UI" pitchFamily="34" charset="0"/>
                <a:ea typeface="Segoe UI" pitchFamily="34" charset="-122"/>
                <a:cs typeface="Segoe UI" pitchFamily="34" charset="-120"/>
              </a:rPr>
              <a:t>1</a:t>
            </a:r>
            <a:endParaRPr lang="en-US" sz="1600" dirty="0"/>
          </a:p>
        </p:txBody>
      </p:sp>
      <p:sp>
        <p:nvSpPr>
          <p:cNvPr id="26" name="Text 23"/>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Build the training deck</a:t>
            </a:r>
            <a:endParaRPr lang="en-US" sz="1600" dirty="0"/>
          </a:p>
        </p:txBody>
      </p:sp>
      <p:sp>
        <p:nvSpPr>
          <p:cNvPr id="27" name="Text 24"/>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 the material is in Cowork_Lab/GroupC…</a:t>
            </a:r>
            <a:endParaRPr lang="en-US" sz="1300" dirty="0"/>
          </a:p>
        </p:txBody>
      </p:sp>
      <p:sp>
        <p:nvSpPr>
          <p:cNvPr id="28" name="Shape 25"/>
          <p:cNvSpPr/>
          <p:nvPr/>
        </p:nvSpPr>
        <p:spPr>
          <a:xfrm>
            <a:off x="4526280" y="2971800"/>
            <a:ext cx="457200" cy="457200"/>
          </a:xfrm>
          <a:prstGeom prst="ellipse">
            <a:avLst/>
          </a:prstGeom>
          <a:solidFill>
            <a:srgbClr val="FFFFFF">
              <a:alpha val="12000"/>
            </a:srgbClr>
          </a:solidFill>
          <a:ln w="19050">
            <a:solidFill>
              <a:srgbClr val="1B5E57"/>
            </a:solidFill>
            <a:prstDash val="solid"/>
          </a:ln>
        </p:spPr>
      </p:sp>
      <p:sp>
        <p:nvSpPr>
          <p:cNvPr id="29" name="Text 26"/>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B5E57"/>
                </a:solidFill>
                <a:latin typeface="Segoe UI" pitchFamily="34" charset="0"/>
                <a:ea typeface="Segoe UI" pitchFamily="34" charset="-122"/>
                <a:cs typeface="Segoe UI" pitchFamily="34" charset="-120"/>
              </a:rPr>
              <a:t>2</a:t>
            </a:r>
            <a:endParaRPr lang="en-US" sz="1600" dirty="0"/>
          </a:p>
        </p:txBody>
      </p:sp>
      <p:sp>
        <p:nvSpPr>
          <p:cNvPr id="30" name="Text 27"/>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Have it generate an awareness illustration for the cover</a:t>
            </a:r>
            <a:endParaRPr lang="en-US" sz="1600" dirty="0"/>
          </a:p>
        </p:txBody>
      </p:sp>
      <p:sp>
        <p:nvSpPr>
          <p:cNvPr id="31" name="Text 28"/>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Cowork has built-in image generation — just describe wha…</a:t>
            </a:r>
            <a:endParaRPr lang="en-US" sz="1300" dirty="0"/>
          </a:p>
        </p:txBody>
      </p:sp>
      <p:sp>
        <p:nvSpPr>
          <p:cNvPr id="32" name="Shape 29"/>
          <p:cNvSpPr/>
          <p:nvPr/>
        </p:nvSpPr>
        <p:spPr>
          <a:xfrm>
            <a:off x="4526280" y="3831336"/>
            <a:ext cx="457200" cy="457200"/>
          </a:xfrm>
          <a:prstGeom prst="ellipse">
            <a:avLst/>
          </a:prstGeom>
          <a:solidFill>
            <a:srgbClr val="FFFFFF">
              <a:alpha val="12000"/>
            </a:srgbClr>
          </a:solidFill>
          <a:ln w="19050">
            <a:solidFill>
              <a:srgbClr val="1B5E57"/>
            </a:solidFill>
            <a:prstDash val="solid"/>
          </a:ln>
        </p:spPr>
      </p:sp>
      <p:sp>
        <p:nvSpPr>
          <p:cNvPr id="33" name="Text 30"/>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B5E57"/>
                </a:solidFill>
                <a:latin typeface="Segoe UI" pitchFamily="34" charset="0"/>
                <a:ea typeface="Segoe UI" pitchFamily="34" charset="-122"/>
                <a:cs typeface="Segoe UI" pitchFamily="34" charset="-120"/>
              </a:rPr>
              <a:t>3</a:t>
            </a:r>
            <a:endParaRPr lang="en-US" sz="1600" dirty="0"/>
          </a:p>
        </p:txBody>
      </p:sp>
      <p:sp>
        <p:nvSpPr>
          <p:cNvPr id="34" name="Text 31"/>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Compute the completion rate — and break it down far enough</a:t>
            </a:r>
            <a:endParaRPr lang="en-US" sz="1600" dirty="0"/>
          </a:p>
        </p:txBody>
      </p:sp>
      <p:sp>
        <p:nvSpPr>
          <p:cNvPr id="35" name="Text 32"/>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Stay in the same session.。</a:t>
            </a:r>
            <a:endParaRPr lang="en-US" sz="1300" dirty="0"/>
          </a:p>
        </p:txBody>
      </p:sp>
      <p:sp>
        <p:nvSpPr>
          <p:cNvPr id="36" name="Shape 33"/>
          <p:cNvSpPr/>
          <p:nvPr/>
        </p:nvSpPr>
        <p:spPr>
          <a:xfrm>
            <a:off x="4526280" y="4690872"/>
            <a:ext cx="457200" cy="457200"/>
          </a:xfrm>
          <a:prstGeom prst="ellipse">
            <a:avLst/>
          </a:prstGeom>
          <a:solidFill>
            <a:srgbClr val="FFFFFF">
              <a:alpha val="12000"/>
            </a:srgbClr>
          </a:solidFill>
          <a:ln w="19050">
            <a:solidFill>
              <a:srgbClr val="1B5E57"/>
            </a:solidFill>
            <a:prstDash val="solid"/>
          </a:ln>
        </p:spPr>
      </p:sp>
      <p:sp>
        <p:nvSpPr>
          <p:cNvPr id="37" name="Text 34"/>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B5E57"/>
                </a:solidFill>
                <a:latin typeface="Segoe UI" pitchFamily="34" charset="0"/>
                <a:ea typeface="Segoe UI" pitchFamily="34" charset="-122"/>
                <a:cs typeface="Segoe UI" pitchFamily="34" charset="-120"/>
              </a:rPr>
              <a:t>4</a:t>
            </a:r>
            <a:endParaRPr lang="en-US" sz="1600" dirty="0"/>
          </a:p>
        </p:txBody>
      </p:sp>
      <p:sp>
        <p:nvSpPr>
          <p:cNvPr id="38" name="Text 35"/>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Apply the new-hire rule and see what moves</a:t>
            </a:r>
            <a:endParaRPr lang="en-US" sz="1600" dirty="0"/>
          </a:p>
        </p:txBody>
      </p:sp>
      <p:sp>
        <p:nvSpPr>
          <p:cNvPr id="39" name="Text 36"/>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is about whether it applies the exception clau…</a:t>
            </a:r>
            <a:endParaRPr lang="en-US" sz="1300" dirty="0"/>
          </a:p>
        </p:txBody>
      </p:sp>
      <p:sp>
        <p:nvSpPr>
          <p:cNvPr id="40" name="Shape 37"/>
          <p:cNvSpPr/>
          <p:nvPr/>
        </p:nvSpPr>
        <p:spPr>
          <a:xfrm>
            <a:off x="4526280" y="5550408"/>
            <a:ext cx="457200" cy="457200"/>
          </a:xfrm>
          <a:prstGeom prst="ellipse">
            <a:avLst/>
          </a:prstGeom>
          <a:solidFill>
            <a:srgbClr val="FFFFFF">
              <a:alpha val="12000"/>
            </a:srgbClr>
          </a:solidFill>
          <a:ln w="19050">
            <a:solidFill>
              <a:srgbClr val="1B5E57"/>
            </a:solidFill>
            <a:prstDash val="solid"/>
          </a:ln>
        </p:spPr>
      </p:sp>
      <p:sp>
        <p:nvSpPr>
          <p:cNvPr id="41" name="Text 38"/>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B5E57"/>
                </a:solidFill>
                <a:latin typeface="Segoe UI" pitchFamily="34" charset="0"/>
                <a:ea typeface="Segoe UI" pitchFamily="34" charset="-122"/>
                <a:cs typeface="Segoe UI" pitchFamily="34" charset="-120"/>
              </a:rPr>
              <a:t>5</a:t>
            </a:r>
            <a:endParaRPr lang="en-US" sz="1600" dirty="0"/>
          </a:p>
        </p:txBody>
      </p:sp>
      <p:sp>
        <p:nvSpPr>
          <p:cNvPr id="42" name="Text 39"/>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Send the reminder to the unit that fell short</a:t>
            </a:r>
            <a:endParaRPr lang="en-US" sz="1600" dirty="0"/>
          </a:p>
        </p:txBody>
      </p:sp>
      <p:sp>
        <p:nvSpPr>
          <p:cNvPr id="43" name="Text 40"/>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Look the recipient up in the compliance contact roster i…</a:t>
            </a:r>
            <a:endParaRPr lang="en-US" sz="1300" dirty="0"/>
          </a:p>
        </p:txBody>
      </p:sp>
      <p:sp>
        <p:nvSpPr>
          <p:cNvPr id="44" name="Text 4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5" name="Text 4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B5E57"/>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B5E57"/>
                </a:solidFill>
                <a:latin typeface="Segoe UI" pitchFamily="34" charset="0"/>
                <a:ea typeface="Segoe UI" pitchFamily="34" charset="-122"/>
                <a:cs typeface="Segoe UI" pitchFamily="34" charset="-120"/>
              </a:rPr>
              <a:t>Scenario 02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2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B5E57"/>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2_05b_sent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B5E57"/>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B5E57"/>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group total and all four subsidiaries clear the threshold — did it stop there and call it a pass?</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shortfall sits at the Zava Life field agents level, not Zava Life as a whole — did it break the data down that far?</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New hires come out of the denominator, not counted as completed — the two treatments give different answers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5B3A7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5B3A7A"/>
                </a:solidFill>
                <a:latin typeface="Segoe UI" pitchFamily="34" charset="0"/>
                <a:ea typeface="Segoe UI" pitchFamily="34" charset="-122"/>
                <a:cs typeface="Segoe UI" pitchFamily="34" charset="-120"/>
              </a:rPr>
              <a:t>Scenario 03</a:t>
            </a:r>
            <a:endParaRPr lang="en-US" sz="1400" dirty="0"/>
          </a:p>
        </p:txBody>
      </p:sp>
      <p:sp>
        <p:nvSpPr>
          <p:cNvPr id="5" name="Shape 3"/>
          <p:cNvSpPr/>
          <p:nvPr/>
        </p:nvSpPr>
        <p:spPr>
          <a:xfrm>
            <a:off x="502920" y="1143000"/>
            <a:ext cx="1097280" cy="1097280"/>
          </a:xfrm>
          <a:prstGeom prst="ellipse">
            <a:avLst/>
          </a:prstGeom>
          <a:solidFill>
            <a:srgbClr val="5B3A7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The Quarterly Coordination Meeting That Cannot Be One Meeting</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1316736" cy="329184"/>
          </a:xfrm>
          <a:prstGeom prst="roundRect">
            <a:avLst>
              <a:gd name="adj" fmla="val 50000"/>
            </a:avLst>
          </a:prstGeom>
          <a:solidFill>
            <a:srgbClr val="6366F1"/>
          </a:solidFill>
          <a:ln/>
        </p:spPr>
      </p:sp>
      <p:sp>
        <p:nvSpPr>
          <p:cNvPr id="11" name="Text 8"/>
          <p:cNvSpPr/>
          <p:nvPr/>
        </p:nvSpPr>
        <p:spPr>
          <a:xfrm>
            <a:off x="502920" y="4572000"/>
            <a:ext cx="131673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Scheduling</a:t>
            </a:r>
            <a:endParaRPr lang="en-US" sz="1050" dirty="0"/>
          </a:p>
        </p:txBody>
      </p:sp>
      <p:sp>
        <p:nvSpPr>
          <p:cNvPr id="12" name="Shape 9"/>
          <p:cNvSpPr/>
          <p:nvPr/>
        </p:nvSpPr>
        <p:spPr>
          <a:xfrm>
            <a:off x="502920" y="4956048"/>
            <a:ext cx="2221992" cy="329184"/>
          </a:xfrm>
          <a:prstGeom prst="roundRect">
            <a:avLst>
              <a:gd name="adj" fmla="val 50000"/>
            </a:avLst>
          </a:prstGeom>
          <a:solidFill>
            <a:srgbClr val="6366F1"/>
          </a:solidFill>
          <a:ln/>
        </p:spPr>
      </p:sp>
      <p:sp>
        <p:nvSpPr>
          <p:cNvPr id="13" name="Text 10"/>
          <p:cNvSpPr/>
          <p:nvPr/>
        </p:nvSpPr>
        <p:spPr>
          <a:xfrm>
            <a:off x="502920" y="4956048"/>
            <a:ext cx="222199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Calendar Management</a:t>
            </a:r>
            <a:endParaRPr lang="en-US" sz="1050" dirty="0"/>
          </a:p>
        </p:txBody>
      </p:sp>
      <p:sp>
        <p:nvSpPr>
          <p:cNvPr id="14" name="Shape 11"/>
          <p:cNvSpPr/>
          <p:nvPr/>
        </p:nvSpPr>
        <p:spPr>
          <a:xfrm>
            <a:off x="502920" y="5340096"/>
            <a:ext cx="2020824" cy="329184"/>
          </a:xfrm>
          <a:prstGeom prst="roundRect">
            <a:avLst>
              <a:gd name="adj" fmla="val 50000"/>
            </a:avLst>
          </a:prstGeom>
          <a:solidFill>
            <a:srgbClr val="6366F1"/>
          </a:solidFill>
          <a:ln/>
        </p:spPr>
      </p:sp>
      <p:sp>
        <p:nvSpPr>
          <p:cNvPr id="15" name="Text 12"/>
          <p:cNvSpPr/>
          <p:nvPr/>
        </p:nvSpPr>
        <p:spPr>
          <a:xfrm>
            <a:off x="502920" y="5340096"/>
            <a:ext cx="2020824"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Enterprise Search</a:t>
            </a:r>
            <a:endParaRPr lang="en-US" sz="1050" dirty="0"/>
          </a:p>
        </p:txBody>
      </p:sp>
      <p:sp>
        <p:nvSpPr>
          <p:cNvPr id="16" name="Shape 13"/>
          <p:cNvSpPr/>
          <p:nvPr/>
        </p:nvSpPr>
        <p:spPr>
          <a:xfrm>
            <a:off x="2706624" y="5340096"/>
            <a:ext cx="713232" cy="329184"/>
          </a:xfrm>
          <a:prstGeom prst="roundRect">
            <a:avLst>
              <a:gd name="adj" fmla="val 50000"/>
            </a:avLst>
          </a:prstGeom>
          <a:solidFill>
            <a:srgbClr val="2B579A"/>
          </a:solidFill>
          <a:ln/>
        </p:spPr>
      </p:sp>
      <p:sp>
        <p:nvSpPr>
          <p:cNvPr id="17" name="Text 14"/>
          <p:cNvSpPr/>
          <p:nvPr/>
        </p:nvSpPr>
        <p:spPr>
          <a:xfrm>
            <a:off x="2706624" y="5340096"/>
            <a:ext cx="71323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Word</a:t>
            </a:r>
            <a:endParaRPr lang="en-US" sz="1050" dirty="0"/>
          </a:p>
        </p:txBody>
      </p:sp>
      <p:sp>
        <p:nvSpPr>
          <p:cNvPr id="18" name="Shape 15"/>
          <p:cNvSpPr/>
          <p:nvPr/>
        </p:nvSpPr>
        <p:spPr>
          <a:xfrm>
            <a:off x="502920" y="5724144"/>
            <a:ext cx="813816" cy="329184"/>
          </a:xfrm>
          <a:prstGeom prst="roundRect">
            <a:avLst>
              <a:gd name="adj" fmla="val 50000"/>
            </a:avLst>
          </a:prstGeom>
          <a:solidFill>
            <a:srgbClr val="6366F1"/>
          </a:solidFill>
          <a:ln/>
        </p:spPr>
      </p:sp>
      <p:sp>
        <p:nvSpPr>
          <p:cNvPr id="19" name="Text 16"/>
          <p:cNvSpPr/>
          <p:nvPr/>
        </p:nvSpPr>
        <p:spPr>
          <a:xfrm>
            <a:off x="502920" y="5724144"/>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Email</a:t>
            </a:r>
            <a:endParaRPr lang="en-US" sz="1050" dirty="0"/>
          </a:p>
        </p:txBody>
      </p:sp>
      <p:sp>
        <p:nvSpPr>
          <p:cNvPr id="20" name="Text 17"/>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A quarterly coordination meeting needs the compliance heads of all four subsidiaries. Send four invitations straight off the roster and one person gets two of them — the investment trust's compliance head is the securities arm's compliance head. And one item on the agenda is precisely the kind that person cannot sit through, under the group's information barrier rules.</a:t>
            </a:r>
            <a:endParaRPr lang="en-US" sz="1500" dirty="0"/>
          </a:p>
        </p:txBody>
      </p:sp>
      <p:sp>
        <p:nvSpPr>
          <p:cNvPr id="21" name="Text 18"/>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5B3A7A"/>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798064"/>
            <a:ext cx="457200" cy="457200"/>
          </a:xfrm>
          <a:prstGeom prst="ellipse">
            <a:avLst/>
          </a:prstGeom>
          <a:solidFill>
            <a:srgbClr val="FFFFFF">
              <a:alpha val="12000"/>
            </a:srgbClr>
          </a:solidFill>
          <a:ln w="19050">
            <a:solidFill>
              <a:srgbClr val="5B3A7A"/>
            </a:solidFill>
            <a:prstDash val="solid"/>
          </a:ln>
        </p:spPr>
      </p:sp>
      <p:sp>
        <p:nvSpPr>
          <p:cNvPr id="23" name="Text 20"/>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5B3A7A"/>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who you are actually inviting</a:t>
            </a:r>
            <a:endParaRPr lang="en-US" sz="1600" dirty="0"/>
          </a:p>
        </p:txBody>
      </p:sp>
      <p:sp>
        <p:nvSpPr>
          <p:cNvPr id="25" name="Text 22"/>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compliance contact roster sits in the parent folder …</a:t>
            </a:r>
            <a:endParaRPr lang="en-US" sz="1300" dirty="0"/>
          </a:p>
        </p:txBody>
      </p:sp>
      <p:sp>
        <p:nvSpPr>
          <p:cNvPr id="26" name="Shape 23"/>
          <p:cNvSpPr/>
          <p:nvPr/>
        </p:nvSpPr>
        <p:spPr>
          <a:xfrm>
            <a:off x="4526280" y="3715512"/>
            <a:ext cx="457200" cy="457200"/>
          </a:xfrm>
          <a:prstGeom prst="ellipse">
            <a:avLst/>
          </a:prstGeom>
          <a:solidFill>
            <a:srgbClr val="FFFFFF">
              <a:alpha val="12000"/>
            </a:srgbClr>
          </a:solidFill>
          <a:ln w="19050">
            <a:solidFill>
              <a:srgbClr val="5B3A7A"/>
            </a:solidFill>
            <a:prstDash val="solid"/>
          </a:ln>
        </p:spPr>
      </p:sp>
      <p:sp>
        <p:nvSpPr>
          <p:cNvPr id="27" name="Text 24"/>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5B3A7A"/>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agenda against the barrier rules</a:t>
            </a:r>
            <a:endParaRPr lang="en-US" sz="1600" dirty="0"/>
          </a:p>
        </p:txBody>
      </p:sp>
      <p:sp>
        <p:nvSpPr>
          <p:cNvPr id="29" name="Text 26"/>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is the crux of the scenario — let it put the two do…</a:t>
            </a:r>
            <a:endParaRPr lang="en-US" sz="1300" dirty="0"/>
          </a:p>
        </p:txBody>
      </p:sp>
      <p:sp>
        <p:nvSpPr>
          <p:cNvPr id="30" name="Shape 27"/>
          <p:cNvSpPr/>
          <p:nvPr/>
        </p:nvSpPr>
        <p:spPr>
          <a:xfrm>
            <a:off x="4526280" y="4632960"/>
            <a:ext cx="457200" cy="457200"/>
          </a:xfrm>
          <a:prstGeom prst="ellipse">
            <a:avLst/>
          </a:prstGeom>
          <a:solidFill>
            <a:srgbClr val="FFFFFF">
              <a:alpha val="12000"/>
            </a:srgbClr>
          </a:solidFill>
          <a:ln w="19050">
            <a:solidFill>
              <a:srgbClr val="5B3A7A"/>
            </a:solidFill>
            <a:prstDash val="solid"/>
          </a:ln>
        </p:spPr>
      </p:sp>
      <p:sp>
        <p:nvSpPr>
          <p:cNvPr id="31" name="Text 28"/>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5B3A7A"/>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Find a slot that works for everyone</a:t>
            </a:r>
            <a:endParaRPr lang="en-US" sz="1600" dirty="0"/>
          </a:p>
        </p:txBody>
      </p:sp>
      <p:sp>
        <p:nvSpPr>
          <p:cNvPr id="33" name="Text 30"/>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It will check attendees' calendars — watch for anyone ou…</a:t>
            </a:r>
            <a:endParaRPr lang="en-US" sz="1300" dirty="0"/>
          </a:p>
        </p:txBody>
      </p:sp>
      <p:sp>
        <p:nvSpPr>
          <p:cNvPr id="34" name="Shape 31"/>
          <p:cNvSpPr/>
          <p:nvPr/>
        </p:nvSpPr>
        <p:spPr>
          <a:xfrm>
            <a:off x="4526280" y="5550408"/>
            <a:ext cx="457200" cy="457200"/>
          </a:xfrm>
          <a:prstGeom prst="ellipse">
            <a:avLst/>
          </a:prstGeom>
          <a:solidFill>
            <a:srgbClr val="FFFFFF">
              <a:alpha val="12000"/>
            </a:srgbClr>
          </a:solidFill>
          <a:ln w="19050">
            <a:solidFill>
              <a:srgbClr val="5B3A7A"/>
            </a:solidFill>
            <a:prstDash val="solid"/>
          </a:ln>
        </p:spPr>
      </p:sp>
      <p:sp>
        <p:nvSpPr>
          <p:cNvPr id="35" name="Text 32"/>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5B3A7A"/>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Create the meetings and send the invitations</a:t>
            </a:r>
            <a:endParaRPr lang="en-US" sz="1600" dirty="0"/>
          </a:p>
        </p:txBody>
      </p:sp>
      <p:sp>
        <p:nvSpPr>
          <p:cNvPr id="37" name="Text 34"/>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really sends invitations; Cowork shows you the…</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5B3A7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5B3A7A"/>
                </a:solidFill>
                <a:latin typeface="Segoe UI" pitchFamily="34" charset="0"/>
                <a:ea typeface="Segoe UI" pitchFamily="34" charset="-122"/>
                <a:cs typeface="Segoe UI" pitchFamily="34" charset="-120"/>
              </a:rPr>
              <a:t>Scenario 03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3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5B3A7A"/>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3_04b_calendar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5B3A7A"/>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5B3A7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roster has seven rows but six people — did it spot that one person holds two roles, rather than sending seven invitations?</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walled item is item 3, and the remedy is a separate session — not dropping that person from the whole meeting</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One attendee is out for an entire day — did it rule that day out, or schedule over it?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A4B1E"/>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A4B1E"/>
                </a:solidFill>
                <a:latin typeface="Segoe UI" pitchFamily="34" charset="0"/>
                <a:ea typeface="Segoe UI" pitchFamily="34" charset="-122"/>
                <a:cs typeface="Segoe UI" pitchFamily="34" charset="-120"/>
              </a:rPr>
              <a:t>Scenario 04</a:t>
            </a:r>
            <a:endParaRPr lang="en-US" sz="1400" dirty="0"/>
          </a:p>
        </p:txBody>
      </p:sp>
      <p:sp>
        <p:nvSpPr>
          <p:cNvPr id="5" name="Shape 3"/>
          <p:cNvSpPr/>
          <p:nvPr/>
        </p:nvSpPr>
        <p:spPr>
          <a:xfrm>
            <a:off x="502920" y="1143000"/>
            <a:ext cx="1097280" cy="1097280"/>
          </a:xfrm>
          <a:prstGeom prst="ellipse">
            <a:avLst/>
          </a:prstGeom>
          <a:solidFill>
            <a:srgbClr val="8A4B1E"/>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Group Exposure: Four Subsidiaries Within Limit, One Group Over</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417320" cy="402336"/>
          </a:xfrm>
          <a:prstGeom prst="roundRect">
            <a:avLst>
              <a:gd name="adj" fmla="val 50000"/>
            </a:avLst>
          </a:prstGeom>
          <a:solidFill>
            <a:srgbClr val="6366F1"/>
          </a:solidFill>
          <a:ln/>
        </p:spPr>
      </p:sp>
      <p:sp>
        <p:nvSpPr>
          <p:cNvPr id="11" name="Text 8"/>
          <p:cNvSpPr/>
          <p:nvPr/>
        </p:nvSpPr>
        <p:spPr>
          <a:xfrm>
            <a:off x="502920" y="457200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2" name="Shape 9"/>
          <p:cNvSpPr/>
          <p:nvPr/>
        </p:nvSpPr>
        <p:spPr>
          <a:xfrm>
            <a:off x="2103120" y="4572000"/>
            <a:ext cx="813816" cy="402336"/>
          </a:xfrm>
          <a:prstGeom prst="roundRect">
            <a:avLst>
              <a:gd name="adj" fmla="val 50000"/>
            </a:avLst>
          </a:prstGeom>
          <a:solidFill>
            <a:srgbClr val="217346"/>
          </a:solidFill>
          <a:ln/>
        </p:spPr>
      </p:sp>
      <p:sp>
        <p:nvSpPr>
          <p:cNvPr id="13" name="Text 10"/>
          <p:cNvSpPr/>
          <p:nvPr/>
        </p:nvSpPr>
        <p:spPr>
          <a:xfrm>
            <a:off x="21031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502920" y="5577840"/>
            <a:ext cx="1719072" cy="402336"/>
          </a:xfrm>
          <a:prstGeom prst="roundRect">
            <a:avLst>
              <a:gd name="adj" fmla="val 50000"/>
            </a:avLst>
          </a:prstGeom>
          <a:solidFill>
            <a:srgbClr val="6366F1"/>
          </a:solidFill>
          <a:ln/>
        </p:spPr>
      </p:sp>
      <p:sp>
        <p:nvSpPr>
          <p:cNvPr id="17" name="Text 14"/>
          <p:cNvSpPr/>
          <p:nvPr/>
        </p:nvSpPr>
        <p:spPr>
          <a:xfrm>
            <a:off x="502920" y="557784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Adaptive Cards</a:t>
            </a:r>
            <a:endParaRPr lang="en-US" sz="1200" dirty="0"/>
          </a:p>
        </p:txBody>
      </p:sp>
      <p:sp>
        <p:nvSpPr>
          <p:cNvPr id="18" name="Shape 15"/>
          <p:cNvSpPr/>
          <p:nvPr/>
        </p:nvSpPr>
        <p:spPr>
          <a:xfrm>
            <a:off x="2404872" y="5577840"/>
            <a:ext cx="1316736" cy="402336"/>
          </a:xfrm>
          <a:prstGeom prst="roundRect">
            <a:avLst>
              <a:gd name="adj" fmla="val 50000"/>
            </a:avLst>
          </a:prstGeom>
          <a:solidFill>
            <a:srgbClr val="C43E1C"/>
          </a:solidFill>
          <a:ln/>
        </p:spPr>
      </p:sp>
      <p:sp>
        <p:nvSpPr>
          <p:cNvPr id="19" name="Text 16"/>
          <p:cNvSpPr/>
          <p:nvPr/>
        </p:nvSpPr>
        <p:spPr>
          <a:xfrm>
            <a:off x="2404872" y="557784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PowerPoint</a:t>
            </a:r>
            <a:endParaRPr lang="en-US" sz="1200" dirty="0"/>
          </a:p>
        </p:txBody>
      </p:sp>
      <p:sp>
        <p:nvSpPr>
          <p:cNvPr id="20" name="Text 17"/>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The bank, the life company and the securities arm each send up their positions, and every one of them is inside its own limit. Map the three sheets onto the affiliation table and one customer group breaches. The instinct is to unwind the smallest line first — do that and you are still over.</a:t>
            </a:r>
            <a:endParaRPr lang="en-US" sz="1500" dirty="0"/>
          </a:p>
        </p:txBody>
      </p:sp>
      <p:sp>
        <p:nvSpPr>
          <p:cNvPr id="21" name="Text 18"/>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8A4B1E"/>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523744"/>
            <a:ext cx="457200" cy="457200"/>
          </a:xfrm>
          <a:prstGeom prst="ellipse">
            <a:avLst/>
          </a:prstGeom>
          <a:solidFill>
            <a:srgbClr val="FFFFFF">
              <a:alpha val="12000"/>
            </a:srgbClr>
          </a:solidFill>
          <a:ln w="19050">
            <a:solidFill>
              <a:srgbClr val="8A4B1E"/>
            </a:solidFill>
            <a:prstDash val="solid"/>
          </a:ln>
        </p:spPr>
      </p:sp>
      <p:sp>
        <p:nvSpPr>
          <p:cNvPr id="23" name="Text 20"/>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8A4B1E"/>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three sheets and check each subsidiary against its own limit</a:t>
            </a:r>
            <a:endParaRPr lang="en-US" sz="1600" dirty="0"/>
          </a:p>
        </p:txBody>
      </p:sp>
      <p:sp>
        <p:nvSpPr>
          <p:cNvPr id="25" name="Text 22"/>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all three xlsx files from the 上傳用 folder into the c…</a:t>
            </a:r>
            <a:endParaRPr lang="en-US" sz="1300" dirty="0"/>
          </a:p>
        </p:txBody>
      </p:sp>
      <p:sp>
        <p:nvSpPr>
          <p:cNvPr id="26" name="Shape 23"/>
          <p:cNvSpPr/>
          <p:nvPr/>
        </p:nvSpPr>
        <p:spPr>
          <a:xfrm>
            <a:off x="4526280" y="3493008"/>
            <a:ext cx="457200" cy="457200"/>
          </a:xfrm>
          <a:prstGeom prst="ellipse">
            <a:avLst/>
          </a:prstGeom>
          <a:solidFill>
            <a:srgbClr val="FFFFFF">
              <a:alpha val="12000"/>
            </a:srgbClr>
          </a:solidFill>
          <a:ln w="19050">
            <a:solidFill>
              <a:srgbClr val="8A4B1E"/>
            </a:solidFill>
            <a:prstDash val="solid"/>
          </a:ln>
        </p:spPr>
      </p:sp>
      <p:sp>
        <p:nvSpPr>
          <p:cNvPr id="27" name="Text 24"/>
          <p:cNvSpPr/>
          <p:nvPr/>
        </p:nvSpPr>
        <p:spPr>
          <a:xfrm>
            <a:off x="4526280" y="3493008"/>
            <a:ext cx="457200" cy="457200"/>
          </a:xfrm>
          <a:prstGeom prst="rect">
            <a:avLst/>
          </a:prstGeom>
          <a:noFill/>
          <a:ln/>
        </p:spPr>
        <p:txBody>
          <a:bodyPr wrap="square" rtlCol="0" anchor="ctr"/>
          <a:lstStyle/>
          <a:p>
            <a:pPr algn="ctr" indent="0" marL="0">
              <a:buNone/>
            </a:pPr>
            <a:r>
              <a:rPr lang="en-US" sz="1600" b="1" dirty="0">
                <a:solidFill>
                  <a:srgbClr val="8A4B1E"/>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4747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Map to customer groups and compute the combined exposure</a:t>
            </a:r>
            <a:endParaRPr lang="en-US" sz="1600" dirty="0"/>
          </a:p>
        </p:txBody>
      </p:sp>
      <p:sp>
        <p:nvSpPr>
          <p:cNvPr id="29" name="Text 26"/>
          <p:cNvSpPr/>
          <p:nvPr/>
        </p:nvSpPr>
        <p:spPr>
          <a:xfrm>
            <a:off x="5166360" y="38404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is the heart of the scenario.。</a:t>
            </a:r>
            <a:endParaRPr lang="en-US" sz="1300" dirty="0"/>
          </a:p>
        </p:txBody>
      </p:sp>
      <p:sp>
        <p:nvSpPr>
          <p:cNvPr id="30" name="Shape 27"/>
          <p:cNvSpPr/>
          <p:nvPr/>
        </p:nvSpPr>
        <p:spPr>
          <a:xfrm>
            <a:off x="4526280" y="4462272"/>
            <a:ext cx="457200" cy="457200"/>
          </a:xfrm>
          <a:prstGeom prst="ellipse">
            <a:avLst/>
          </a:prstGeom>
          <a:solidFill>
            <a:srgbClr val="FFFFFF">
              <a:alpha val="12000"/>
            </a:srgbClr>
          </a:solidFill>
          <a:ln w="19050">
            <a:solidFill>
              <a:srgbClr val="8A4B1E"/>
            </a:solidFill>
            <a:prstDash val="solid"/>
          </a:ln>
        </p:spPr>
      </p:sp>
      <p:sp>
        <p:nvSpPr>
          <p:cNvPr id="31" name="Text 28"/>
          <p:cNvSpPr/>
          <p:nvPr/>
        </p:nvSpPr>
        <p:spPr>
          <a:xfrm>
            <a:off x="4526280" y="4462272"/>
            <a:ext cx="457200" cy="457200"/>
          </a:xfrm>
          <a:prstGeom prst="rect">
            <a:avLst/>
          </a:prstGeom>
          <a:noFill/>
          <a:ln/>
        </p:spPr>
        <p:txBody>
          <a:bodyPr wrap="square" rtlCol="0" anchor="ctr"/>
          <a:lstStyle/>
          <a:p>
            <a:pPr algn="ctr" indent="0" marL="0">
              <a:buNone/>
            </a:pPr>
            <a:r>
              <a:rPr lang="en-US" sz="1600" b="1" dirty="0">
                <a:solidFill>
                  <a:srgbClr val="8A4B1E"/>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4439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which line actually fixes it</a:t>
            </a:r>
            <a:endParaRPr lang="en-US" sz="1600" dirty="0"/>
          </a:p>
        </p:txBody>
      </p:sp>
      <p:sp>
        <p:nvSpPr>
          <p:cNvPr id="33" name="Text 30"/>
          <p:cNvSpPr/>
          <p:nvPr/>
        </p:nvSpPr>
        <p:spPr>
          <a:xfrm>
            <a:off x="5166360" y="48097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is about whether it assumes the smallest line …</a:t>
            </a:r>
            <a:endParaRPr lang="en-US" sz="1300" dirty="0"/>
          </a:p>
        </p:txBody>
      </p:sp>
      <p:sp>
        <p:nvSpPr>
          <p:cNvPr id="34" name="Shape 31"/>
          <p:cNvSpPr/>
          <p:nvPr/>
        </p:nvSpPr>
        <p:spPr>
          <a:xfrm>
            <a:off x="4526280" y="5431536"/>
            <a:ext cx="457200" cy="457200"/>
          </a:xfrm>
          <a:prstGeom prst="ellipse">
            <a:avLst/>
          </a:prstGeom>
          <a:solidFill>
            <a:srgbClr val="FFFFFF">
              <a:alpha val="12000"/>
            </a:srgbClr>
          </a:solidFill>
          <a:ln w="19050">
            <a:solidFill>
              <a:srgbClr val="8A4B1E"/>
            </a:solidFill>
            <a:prstDash val="solid"/>
          </a:ln>
        </p:spPr>
      </p:sp>
      <p:sp>
        <p:nvSpPr>
          <p:cNvPr id="35" name="Text 32"/>
          <p:cNvSpPr/>
          <p:nvPr/>
        </p:nvSpPr>
        <p:spPr>
          <a:xfrm>
            <a:off x="4526280" y="5431536"/>
            <a:ext cx="457200" cy="457200"/>
          </a:xfrm>
          <a:prstGeom prst="rect">
            <a:avLst/>
          </a:prstGeom>
          <a:noFill/>
          <a:ln/>
        </p:spPr>
        <p:txBody>
          <a:bodyPr wrap="square" rtlCol="0" anchor="ctr"/>
          <a:lstStyle/>
          <a:p>
            <a:pPr algn="ctr" indent="0" marL="0">
              <a:buNone/>
            </a:pPr>
            <a:r>
              <a:rPr lang="en-US" sz="1600" b="1" dirty="0">
                <a:solidFill>
                  <a:srgbClr val="8A4B1E"/>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4132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Produce the workbook and the risk committee deck</a:t>
            </a:r>
            <a:endParaRPr lang="en-US" sz="1600" dirty="0"/>
          </a:p>
        </p:txBody>
      </p:sp>
      <p:sp>
        <p:nvSpPr>
          <p:cNvPr id="37" name="Text 34"/>
          <p:cNvSpPr/>
          <p:nvPr/>
        </p:nvSpPr>
        <p:spPr>
          <a:xfrm>
            <a:off x="5166360" y="57790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Both outputs appear in the Output folder in the side pan…</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A4B1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A4B1E"/>
                </a:solidFill>
                <a:latin typeface="Segoe UI" pitchFamily="34" charset="0"/>
                <a:ea typeface="Segoe UI" pitchFamily="34" charset="-122"/>
                <a:cs typeface="Segoe UI" pitchFamily="34" charset="-120"/>
              </a:rPr>
              <a:t>Scenario 04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4_01_upload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A4B1E"/>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4_04b_deck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A4B1E"/>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A4B1E"/>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three subsidiaries are individually within limit — did it establish that first before combining?</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Grouping follows the affiliation table, not how similar the names look</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excess is larger than the smallest line — removing it leaves the group still over the cap. Did it notice?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9B2226"/>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9B2226"/>
                </a:solidFill>
                <a:latin typeface="Segoe UI" pitchFamily="34" charset="0"/>
                <a:ea typeface="Segoe UI" pitchFamily="34" charset="-122"/>
                <a:cs typeface="Segoe UI" pitchFamily="34" charset="-120"/>
              </a:rPr>
              <a:t>Scenario 05</a:t>
            </a:r>
            <a:endParaRPr lang="en-US" sz="1400" dirty="0"/>
          </a:p>
        </p:txBody>
      </p:sp>
      <p:sp>
        <p:nvSpPr>
          <p:cNvPr id="5" name="Shape 3"/>
          <p:cNvSpPr/>
          <p:nvPr/>
        </p:nvSpPr>
        <p:spPr>
          <a:xfrm>
            <a:off x="502920" y="1143000"/>
            <a:ext cx="1097280" cy="1097280"/>
          </a:xfrm>
          <a:prstGeom prst="ellipse">
            <a:avLst/>
          </a:prstGeom>
          <a:solidFill>
            <a:srgbClr val="9B2226"/>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Incident Reporting: The Two-Hour Clock Does Not Start Where You Think</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~18 min · Level ★★★</a:t>
            </a:r>
            <a:endParaRPr lang="en-US" sz="1300" dirty="0"/>
          </a:p>
        </p:txBody>
      </p:sp>
      <p:sp>
        <p:nvSpPr>
          <p:cNvPr id="10" name="Shape 7"/>
          <p:cNvSpPr/>
          <p:nvPr/>
        </p:nvSpPr>
        <p:spPr>
          <a:xfrm>
            <a:off x="502920" y="4572000"/>
            <a:ext cx="1618488" cy="329184"/>
          </a:xfrm>
          <a:prstGeom prst="roundRect">
            <a:avLst>
              <a:gd name="adj" fmla="val 50000"/>
            </a:avLst>
          </a:prstGeom>
          <a:solidFill>
            <a:srgbClr val="6366F1"/>
          </a:solidFill>
          <a:ln/>
        </p:spPr>
      </p:sp>
      <p:sp>
        <p:nvSpPr>
          <p:cNvPr id="11" name="Text 8"/>
          <p:cNvSpPr/>
          <p:nvPr/>
        </p:nvSpPr>
        <p:spPr>
          <a:xfrm>
            <a:off x="502920" y="4572000"/>
            <a:ext cx="1618488"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Event trigger</a:t>
            </a:r>
            <a:endParaRPr lang="en-US" sz="1050" dirty="0"/>
          </a:p>
        </p:txBody>
      </p:sp>
      <p:sp>
        <p:nvSpPr>
          <p:cNvPr id="12" name="Shape 9"/>
          <p:cNvSpPr/>
          <p:nvPr/>
        </p:nvSpPr>
        <p:spPr>
          <a:xfrm>
            <a:off x="2304288" y="4572000"/>
            <a:ext cx="813816" cy="329184"/>
          </a:xfrm>
          <a:prstGeom prst="roundRect">
            <a:avLst>
              <a:gd name="adj" fmla="val 50000"/>
            </a:avLst>
          </a:prstGeom>
          <a:solidFill>
            <a:srgbClr val="6366F1"/>
          </a:solidFill>
          <a:ln/>
        </p:spPr>
      </p:sp>
      <p:sp>
        <p:nvSpPr>
          <p:cNvPr id="13" name="Text 10"/>
          <p:cNvSpPr/>
          <p:nvPr/>
        </p:nvSpPr>
        <p:spPr>
          <a:xfrm>
            <a:off x="2304288" y="4572000"/>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Email</a:t>
            </a:r>
            <a:endParaRPr lang="en-US" sz="1050" dirty="0"/>
          </a:p>
        </p:txBody>
      </p:sp>
      <p:sp>
        <p:nvSpPr>
          <p:cNvPr id="14" name="Shape 11"/>
          <p:cNvSpPr/>
          <p:nvPr/>
        </p:nvSpPr>
        <p:spPr>
          <a:xfrm>
            <a:off x="502920" y="4956048"/>
            <a:ext cx="1719072" cy="329184"/>
          </a:xfrm>
          <a:prstGeom prst="roundRect">
            <a:avLst>
              <a:gd name="adj" fmla="val 50000"/>
            </a:avLst>
          </a:prstGeom>
          <a:solidFill>
            <a:srgbClr val="6366F1"/>
          </a:solidFill>
          <a:ln/>
        </p:spPr>
      </p:sp>
      <p:sp>
        <p:nvSpPr>
          <p:cNvPr id="15" name="Text 12"/>
          <p:cNvSpPr/>
          <p:nvPr/>
        </p:nvSpPr>
        <p:spPr>
          <a:xfrm>
            <a:off x="502920" y="4956048"/>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Adaptive Cards</a:t>
            </a:r>
            <a:endParaRPr lang="en-US" sz="1050" dirty="0"/>
          </a:p>
        </p:txBody>
      </p:sp>
      <p:sp>
        <p:nvSpPr>
          <p:cNvPr id="16" name="Shape 13"/>
          <p:cNvSpPr/>
          <p:nvPr/>
        </p:nvSpPr>
        <p:spPr>
          <a:xfrm>
            <a:off x="502920" y="5340096"/>
            <a:ext cx="2221992" cy="329184"/>
          </a:xfrm>
          <a:prstGeom prst="roundRect">
            <a:avLst>
              <a:gd name="adj" fmla="val 50000"/>
            </a:avLst>
          </a:prstGeom>
          <a:solidFill>
            <a:srgbClr val="6366F1"/>
          </a:solidFill>
          <a:ln/>
        </p:spPr>
      </p:sp>
      <p:sp>
        <p:nvSpPr>
          <p:cNvPr id="17" name="Text 14"/>
          <p:cNvSpPr/>
          <p:nvPr/>
        </p:nvSpPr>
        <p:spPr>
          <a:xfrm>
            <a:off x="502920" y="5340096"/>
            <a:ext cx="222199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Calendar Management</a:t>
            </a:r>
            <a:endParaRPr lang="en-US" sz="1050" dirty="0"/>
          </a:p>
        </p:txBody>
      </p:sp>
      <p:sp>
        <p:nvSpPr>
          <p:cNvPr id="18" name="Shape 15"/>
          <p:cNvSpPr/>
          <p:nvPr/>
        </p:nvSpPr>
        <p:spPr>
          <a:xfrm>
            <a:off x="502920" y="5724144"/>
            <a:ext cx="2020824" cy="329184"/>
          </a:xfrm>
          <a:prstGeom prst="roundRect">
            <a:avLst>
              <a:gd name="adj" fmla="val 50000"/>
            </a:avLst>
          </a:prstGeom>
          <a:solidFill>
            <a:srgbClr val="6366F1"/>
          </a:solidFill>
          <a:ln/>
        </p:spPr>
      </p:sp>
      <p:sp>
        <p:nvSpPr>
          <p:cNvPr id="19" name="Text 16"/>
          <p:cNvSpPr/>
          <p:nvPr/>
        </p:nvSpPr>
        <p:spPr>
          <a:xfrm>
            <a:off x="502920" y="5724144"/>
            <a:ext cx="2020824"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Enterprise Search</a:t>
            </a:r>
            <a:endParaRPr lang="en-US" sz="1050" dirty="0"/>
          </a:p>
        </p:txBody>
      </p:sp>
      <p:sp>
        <p:nvSpPr>
          <p:cNvPr id="20" name="Text 17"/>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The clock starts the moment a subsidiary's incident report arrives. The most prominent timestamp in the email is when the incident happened — but the statutory clock runs from when you became aware, and the two are a day and a half apart. And reporting to the regulator is not the only obligation here, because what leaked was customer personal data.</a:t>
            </a:r>
            <a:endParaRPr lang="en-US" sz="1500" dirty="0"/>
          </a:p>
        </p:txBody>
      </p:sp>
      <p:sp>
        <p:nvSpPr>
          <p:cNvPr id="21" name="Text 18"/>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9B2226"/>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798064"/>
            <a:ext cx="457200" cy="457200"/>
          </a:xfrm>
          <a:prstGeom prst="ellipse">
            <a:avLst/>
          </a:prstGeom>
          <a:solidFill>
            <a:srgbClr val="FFFFFF">
              <a:alpha val="12000"/>
            </a:srgbClr>
          </a:solidFill>
          <a:ln w="19050">
            <a:solidFill>
              <a:srgbClr val="9B2226"/>
            </a:solidFill>
            <a:prstDash val="solid"/>
          </a:ln>
        </p:spPr>
      </p:sp>
      <p:sp>
        <p:nvSpPr>
          <p:cNvPr id="23" name="Text 20"/>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9B2226"/>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Have it read the reporting procedure first</a:t>
            </a:r>
            <a:endParaRPr lang="en-US" sz="1600" dirty="0"/>
          </a:p>
        </p:txBody>
      </p:sp>
      <p:sp>
        <p:nvSpPr>
          <p:cNvPr id="25" name="Text 22"/>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Don't send the incident email yet. This step is only abo…</a:t>
            </a:r>
            <a:endParaRPr lang="en-US" sz="1300" dirty="0"/>
          </a:p>
        </p:txBody>
      </p:sp>
      <p:sp>
        <p:nvSpPr>
          <p:cNvPr id="26" name="Shape 23"/>
          <p:cNvSpPr/>
          <p:nvPr/>
        </p:nvSpPr>
        <p:spPr>
          <a:xfrm>
            <a:off x="4526280" y="3715512"/>
            <a:ext cx="457200" cy="457200"/>
          </a:xfrm>
          <a:prstGeom prst="ellipse">
            <a:avLst/>
          </a:prstGeom>
          <a:solidFill>
            <a:srgbClr val="FFFFFF">
              <a:alpha val="12000"/>
            </a:srgbClr>
          </a:solidFill>
          <a:ln w="19050">
            <a:solidFill>
              <a:srgbClr val="9B2226"/>
            </a:solidFill>
            <a:prstDash val="solid"/>
          </a:ln>
        </p:spPr>
      </p:sp>
      <p:sp>
        <p:nvSpPr>
          <p:cNvPr id="27" name="Text 24"/>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9B2226"/>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Arm the event-driven task</a:t>
            </a:r>
            <a:endParaRPr lang="en-US" sz="1600" dirty="0"/>
          </a:p>
        </p:txBody>
      </p:sp>
      <p:sp>
        <p:nvSpPr>
          <p:cNvPr id="29" name="Text 26"/>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 Set up trigger? card appears showing When, Run in, Wha…</a:t>
            </a:r>
            <a:endParaRPr lang="en-US" sz="1300" dirty="0"/>
          </a:p>
        </p:txBody>
      </p:sp>
      <p:sp>
        <p:nvSpPr>
          <p:cNvPr id="30" name="Shape 27"/>
          <p:cNvSpPr/>
          <p:nvPr/>
        </p:nvSpPr>
        <p:spPr>
          <a:xfrm>
            <a:off x="4526280" y="4632960"/>
            <a:ext cx="457200" cy="457200"/>
          </a:xfrm>
          <a:prstGeom prst="ellipse">
            <a:avLst/>
          </a:prstGeom>
          <a:solidFill>
            <a:srgbClr val="FFFFFF">
              <a:alpha val="12000"/>
            </a:srgbClr>
          </a:solidFill>
          <a:ln w="19050">
            <a:solidFill>
              <a:srgbClr val="9B2226"/>
            </a:solidFill>
            <a:prstDash val="solid"/>
          </a:ln>
        </p:spPr>
      </p:sp>
      <p:sp>
        <p:nvSpPr>
          <p:cNvPr id="31" name="Text 28"/>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9B2226"/>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Send the notification and watch the trigger fire</a:t>
            </a:r>
            <a:endParaRPr lang="en-US" sz="1600" dirty="0"/>
          </a:p>
        </p:txBody>
      </p:sp>
      <p:sp>
        <p:nvSpPr>
          <p:cNvPr id="33" name="Text 30"/>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Before sending, change the time of occurrence in the ema…</a:t>
            </a:r>
            <a:endParaRPr lang="en-US" sz="1300" dirty="0"/>
          </a:p>
        </p:txBody>
      </p:sp>
      <p:sp>
        <p:nvSpPr>
          <p:cNvPr id="34" name="Shape 31"/>
          <p:cNvSpPr/>
          <p:nvPr/>
        </p:nvSpPr>
        <p:spPr>
          <a:xfrm>
            <a:off x="4526280" y="5550408"/>
            <a:ext cx="457200" cy="457200"/>
          </a:xfrm>
          <a:prstGeom prst="ellipse">
            <a:avLst/>
          </a:prstGeom>
          <a:solidFill>
            <a:srgbClr val="FFFFFF">
              <a:alpha val="12000"/>
            </a:srgbClr>
          </a:solidFill>
          <a:ln w="19050">
            <a:solidFill>
              <a:srgbClr val="9B2226"/>
            </a:solidFill>
            <a:prstDash val="solid"/>
          </a:ln>
        </p:spPr>
      </p:sp>
      <p:sp>
        <p:nvSpPr>
          <p:cNvPr id="35" name="Text 32"/>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9B2226"/>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what it missed, then put the deadlines in the calendar</a:t>
            </a:r>
            <a:endParaRPr lang="en-US" sz="1600" dirty="0"/>
          </a:p>
        </p:txBody>
      </p:sp>
      <p:sp>
        <p:nvSpPr>
          <p:cNvPr id="37" name="Text 34"/>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Continue in the session the trigger opened. Remember to …</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9B2226"/>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9B2226"/>
                </a:solidFill>
                <a:latin typeface="Segoe UI" pitchFamily="34" charset="0"/>
                <a:ea typeface="Segoe UI" pitchFamily="34" charset="-122"/>
                <a:cs typeface="Segoe UI" pitchFamily="34" charset="-120"/>
              </a:rPr>
              <a:t>Scenario 05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5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9B2226"/>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5_04b_calendar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9B2226"/>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9B2226"/>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clock runs from when you became aware, not when the incident happened — which timestamp did it use?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There is more than one obligation here — did it stop after the regulator one?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two obligations have different audiences and separate clocks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F6E6E"/>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F6E6E"/>
                </a:solidFill>
                <a:latin typeface="Segoe UI" pitchFamily="34" charset="0"/>
                <a:ea typeface="Segoe UI" pitchFamily="34" charset="-122"/>
                <a:cs typeface="Segoe UI" pitchFamily="34" charset="-120"/>
              </a:rPr>
              <a:t>Scenario 06</a:t>
            </a:r>
            <a:endParaRPr lang="en-US" sz="1400" dirty="0"/>
          </a:p>
        </p:txBody>
      </p:sp>
      <p:sp>
        <p:nvSpPr>
          <p:cNvPr id="5" name="Shape 3"/>
          <p:cNvSpPr/>
          <p:nvPr/>
        </p:nvSpPr>
        <p:spPr>
          <a:xfrm>
            <a:off x="502920" y="1143000"/>
            <a:ext cx="1097280" cy="1097280"/>
          </a:xfrm>
          <a:prstGeom prst="ellipse">
            <a:avLst/>
          </a:prstGeom>
          <a:solidFill>
            <a:srgbClr val="0F6E6E"/>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Cross-Marketing Lists: Consent Is Not a Yes/No Field</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~18 min · Level ★★★</a:t>
            </a:r>
            <a:endParaRPr lang="en-US" sz="1300" dirty="0"/>
          </a:p>
        </p:txBody>
      </p:sp>
      <p:sp>
        <p:nvSpPr>
          <p:cNvPr id="10" name="Shape 7"/>
          <p:cNvSpPr/>
          <p:nvPr/>
        </p:nvSpPr>
        <p:spPr>
          <a:xfrm>
            <a:off x="502920" y="4572000"/>
            <a:ext cx="2020824" cy="402336"/>
          </a:xfrm>
          <a:prstGeom prst="roundRect">
            <a:avLst>
              <a:gd name="adj" fmla="val 50000"/>
            </a:avLst>
          </a:prstGeom>
          <a:solidFill>
            <a:srgbClr val="6366F1"/>
          </a:solidFill>
          <a:ln/>
        </p:spPr>
      </p:sp>
      <p:sp>
        <p:nvSpPr>
          <p:cNvPr id="11" name="Text 8"/>
          <p:cNvSpPr/>
          <p:nvPr/>
        </p:nvSpPr>
        <p:spPr>
          <a:xfrm>
            <a:off x="502920" y="457200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2" name="Shape 9"/>
          <p:cNvSpPr/>
          <p:nvPr/>
        </p:nvSpPr>
        <p:spPr>
          <a:xfrm>
            <a:off x="502920" y="5074920"/>
            <a:ext cx="1417320" cy="402336"/>
          </a:xfrm>
          <a:prstGeom prst="roundRect">
            <a:avLst>
              <a:gd name="adj" fmla="val 50000"/>
            </a:avLst>
          </a:prstGeom>
          <a:solidFill>
            <a:srgbClr val="6366F1"/>
          </a:solidFill>
          <a:ln/>
        </p:spPr>
      </p:sp>
      <p:sp>
        <p:nvSpPr>
          <p:cNvPr id="13" name="Text 10"/>
          <p:cNvSpPr/>
          <p:nvPr/>
        </p:nvSpPr>
        <p:spPr>
          <a:xfrm>
            <a:off x="502920" y="507492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4" name="Shape 11"/>
          <p:cNvSpPr/>
          <p:nvPr/>
        </p:nvSpPr>
        <p:spPr>
          <a:xfrm>
            <a:off x="2103120" y="5074920"/>
            <a:ext cx="813816" cy="402336"/>
          </a:xfrm>
          <a:prstGeom prst="roundRect">
            <a:avLst>
              <a:gd name="adj" fmla="val 50000"/>
            </a:avLst>
          </a:prstGeom>
          <a:solidFill>
            <a:srgbClr val="217346"/>
          </a:solidFill>
          <a:ln/>
        </p:spPr>
      </p:sp>
      <p:sp>
        <p:nvSpPr>
          <p:cNvPr id="15" name="Text 12"/>
          <p:cNvSpPr/>
          <p:nvPr/>
        </p:nvSpPr>
        <p:spPr>
          <a:xfrm>
            <a:off x="21031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6" name="Shape 13"/>
          <p:cNvSpPr/>
          <p:nvPr/>
        </p:nvSpPr>
        <p:spPr>
          <a:xfrm>
            <a:off x="502920" y="5577840"/>
            <a:ext cx="1719072" cy="402336"/>
          </a:xfrm>
          <a:prstGeom prst="roundRect">
            <a:avLst>
              <a:gd name="adj" fmla="val 50000"/>
            </a:avLst>
          </a:prstGeom>
          <a:solidFill>
            <a:srgbClr val="6366F1"/>
          </a:solidFill>
          <a:ln/>
        </p:spPr>
      </p:sp>
      <p:sp>
        <p:nvSpPr>
          <p:cNvPr id="17" name="Text 14"/>
          <p:cNvSpPr/>
          <p:nvPr/>
        </p:nvSpPr>
        <p:spPr>
          <a:xfrm>
            <a:off x="502920" y="557784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Communications</a:t>
            </a:r>
            <a:endParaRPr lang="en-US" sz="1200" dirty="0"/>
          </a:p>
        </p:txBody>
      </p:sp>
      <p:sp>
        <p:nvSpPr>
          <p:cNvPr id="18" name="Shape 15"/>
          <p:cNvSpPr/>
          <p:nvPr/>
        </p:nvSpPr>
        <p:spPr>
          <a:xfrm>
            <a:off x="2404872" y="5577840"/>
            <a:ext cx="813816" cy="402336"/>
          </a:xfrm>
          <a:prstGeom prst="roundRect">
            <a:avLst>
              <a:gd name="adj" fmla="val 50000"/>
            </a:avLst>
          </a:prstGeom>
          <a:solidFill>
            <a:srgbClr val="6366F1"/>
          </a:solidFill>
          <a:ln/>
        </p:spPr>
      </p:sp>
      <p:sp>
        <p:nvSpPr>
          <p:cNvPr id="19" name="Text 16"/>
          <p:cNvSpPr/>
          <p:nvPr/>
        </p:nvSpPr>
        <p:spPr>
          <a:xfrm>
            <a:off x="2404872" y="557784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20" name="Text 17"/>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The securities arm wants to cross-sell to bank customers and sends over a list, saying they have all signed the cross-marketing consent. They have. But consent has a scope — which data may be shared, which products may be marketed, and which subsidiaries may receive it are three separate questions.</a:t>
            </a:r>
            <a:endParaRPr lang="en-US" sz="1500" dirty="0"/>
          </a:p>
        </p:txBody>
      </p:sp>
      <p:sp>
        <p:nvSpPr>
          <p:cNvPr id="21" name="Text 18"/>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0F6E6E"/>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798064"/>
            <a:ext cx="457200" cy="457200"/>
          </a:xfrm>
          <a:prstGeom prst="ellipse">
            <a:avLst/>
          </a:prstGeom>
          <a:solidFill>
            <a:srgbClr val="FFFFFF">
              <a:alpha val="12000"/>
            </a:srgbClr>
          </a:solidFill>
          <a:ln w="19050">
            <a:solidFill>
              <a:srgbClr val="0F6E6E"/>
            </a:solidFill>
            <a:prstDash val="solid"/>
          </a:ln>
        </p:spPr>
      </p:sp>
      <p:sp>
        <p:nvSpPr>
          <p:cNvPr id="23" name="Text 20"/>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0F6E6E"/>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Establish what consent actually governs</a:t>
            </a:r>
            <a:endParaRPr lang="en-US" sz="1600" dirty="0"/>
          </a:p>
        </p:txBody>
      </p:sp>
      <p:sp>
        <p:nvSpPr>
          <p:cNvPr id="25" name="Text 22"/>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Don't upload the list yet — let it go and find the rules…</a:t>
            </a:r>
            <a:endParaRPr lang="en-US" sz="1300" dirty="0"/>
          </a:p>
        </p:txBody>
      </p:sp>
      <p:sp>
        <p:nvSpPr>
          <p:cNvPr id="26" name="Shape 23"/>
          <p:cNvSpPr/>
          <p:nvPr/>
        </p:nvSpPr>
        <p:spPr>
          <a:xfrm>
            <a:off x="4526280" y="3715512"/>
            <a:ext cx="457200" cy="457200"/>
          </a:xfrm>
          <a:prstGeom prst="ellipse">
            <a:avLst/>
          </a:prstGeom>
          <a:solidFill>
            <a:srgbClr val="FFFFFF">
              <a:alpha val="12000"/>
            </a:srgbClr>
          </a:solidFill>
          <a:ln w="19050">
            <a:solidFill>
              <a:srgbClr val="0F6E6E"/>
            </a:solidFill>
            <a:prstDash val="solid"/>
          </a:ln>
        </p:spPr>
      </p:sp>
      <p:sp>
        <p:nvSpPr>
          <p:cNvPr id="27" name="Text 24"/>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0F6E6E"/>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list and check it line by line</a:t>
            </a:r>
            <a:endParaRPr lang="en-US" sz="1600" dirty="0"/>
          </a:p>
        </p:txBody>
      </p:sp>
      <p:sp>
        <p:nvSpPr>
          <p:cNvPr id="29" name="Text 26"/>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上傳用/FIN6_Campaign_List.csv into the chat.。</a:t>
            </a:r>
            <a:endParaRPr lang="en-US" sz="1300" dirty="0"/>
          </a:p>
        </p:txBody>
      </p:sp>
      <p:sp>
        <p:nvSpPr>
          <p:cNvPr id="30" name="Shape 27"/>
          <p:cNvSpPr/>
          <p:nvPr/>
        </p:nvSpPr>
        <p:spPr>
          <a:xfrm>
            <a:off x="4526280" y="4632960"/>
            <a:ext cx="457200" cy="457200"/>
          </a:xfrm>
          <a:prstGeom prst="ellipse">
            <a:avLst/>
          </a:prstGeom>
          <a:solidFill>
            <a:srgbClr val="FFFFFF">
              <a:alpha val="12000"/>
            </a:srgbClr>
          </a:solidFill>
          <a:ln w="19050">
            <a:solidFill>
              <a:srgbClr val="0F6E6E"/>
            </a:solidFill>
            <a:prstDash val="solid"/>
          </a:ln>
        </p:spPr>
      </p:sp>
      <p:sp>
        <p:nvSpPr>
          <p:cNvPr id="31" name="Text 28"/>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0F6E6E"/>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Probe the overlap and the ratio</a:t>
            </a:r>
            <a:endParaRPr lang="en-US" sz="1600" dirty="0"/>
          </a:p>
        </p:txBody>
      </p:sp>
      <p:sp>
        <p:nvSpPr>
          <p:cNvPr id="33" name="Text 30"/>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checks whether it treated the three dimensions as m…</a:t>
            </a:r>
            <a:endParaRPr lang="en-US" sz="1300" dirty="0"/>
          </a:p>
        </p:txBody>
      </p:sp>
      <p:sp>
        <p:nvSpPr>
          <p:cNvPr id="34" name="Shape 31"/>
          <p:cNvSpPr/>
          <p:nvPr/>
        </p:nvSpPr>
        <p:spPr>
          <a:xfrm>
            <a:off x="4526280" y="5550408"/>
            <a:ext cx="457200" cy="457200"/>
          </a:xfrm>
          <a:prstGeom prst="ellipse">
            <a:avLst/>
          </a:prstGeom>
          <a:solidFill>
            <a:srgbClr val="FFFFFF">
              <a:alpha val="12000"/>
            </a:srgbClr>
          </a:solidFill>
          <a:ln w="19050">
            <a:solidFill>
              <a:srgbClr val="0F6E6E"/>
            </a:solidFill>
            <a:prstDash val="solid"/>
          </a:ln>
        </p:spPr>
      </p:sp>
      <p:sp>
        <p:nvSpPr>
          <p:cNvPr id="35" name="Text 32"/>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F6E6E"/>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Produce the rejection detail and tell the requester</a:t>
            </a:r>
            <a:endParaRPr lang="en-US" sz="1600" dirty="0"/>
          </a:p>
        </p:txBody>
      </p:sp>
      <p:sp>
        <p:nvSpPr>
          <p:cNvPr id="37" name="Text 34"/>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This step really sends an email; take the recipient from…</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F6E6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F6E6E"/>
                </a:solidFill>
                <a:latin typeface="Segoe UI" pitchFamily="34" charset="0"/>
                <a:ea typeface="Segoe UI" pitchFamily="34" charset="-122"/>
                <a:cs typeface="Segoe UI" pitchFamily="34" charset="-120"/>
              </a:rPr>
              <a:t>Scenario 06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6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F6E6E"/>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6_04b_mail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F6E6E"/>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F6E6E"/>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Consent has three dimensions to check separately, not one checkbox</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number with consent ticked and the number that may be marketed to are very different — did it keep them apart?</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Some customers breach two restrictions at once — does the breakdown double-count them?</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4A4A7A"/>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4A4A7A"/>
                </a:solidFill>
                <a:latin typeface="Segoe UI" pitchFamily="34" charset="0"/>
                <a:ea typeface="Segoe UI" pitchFamily="34" charset="-122"/>
                <a:cs typeface="Segoe UI" pitchFamily="34" charset="-120"/>
              </a:rPr>
              <a:t>Scenario 07</a:t>
            </a:r>
            <a:endParaRPr lang="en-US" sz="1400" dirty="0"/>
          </a:p>
        </p:txBody>
      </p:sp>
      <p:sp>
        <p:nvSpPr>
          <p:cNvPr id="5" name="Shape 3"/>
          <p:cNvSpPr/>
          <p:nvPr/>
        </p:nvSpPr>
        <p:spPr>
          <a:xfrm>
            <a:off x="502920" y="1143000"/>
            <a:ext cx="1097280" cy="1097280"/>
          </a:xfrm>
          <a:prstGeom prst="ellipse">
            <a:avLst/>
          </a:prstGeom>
          <a:solidFill>
            <a:srgbClr val="4A4A7A"/>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Financial Holding HQ · Compliance &amp; Risk</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A Product Sign-off Skill, Built on Channels Rather Than Products</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517904" cy="402336"/>
          </a:xfrm>
          <a:prstGeom prst="roundRect">
            <a:avLst>
              <a:gd name="adj" fmla="val 50000"/>
            </a:avLst>
          </a:prstGeom>
          <a:solidFill>
            <a:srgbClr val="7A4DDB"/>
          </a:solidFill>
          <a:ln/>
        </p:spPr>
      </p:sp>
      <p:sp>
        <p:nvSpPr>
          <p:cNvPr id="11" name="Text 8"/>
          <p:cNvSpPr/>
          <p:nvPr/>
        </p:nvSpPr>
        <p:spPr>
          <a:xfrm>
            <a:off x="502920"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Custom skill</a:t>
            </a:r>
            <a:endParaRPr lang="en-US" sz="1200" dirty="0"/>
          </a:p>
        </p:txBody>
      </p:sp>
      <p:sp>
        <p:nvSpPr>
          <p:cNvPr id="12" name="Shape 9"/>
          <p:cNvSpPr/>
          <p:nvPr/>
        </p:nvSpPr>
        <p:spPr>
          <a:xfrm>
            <a:off x="2203704" y="4572000"/>
            <a:ext cx="1517904" cy="402336"/>
          </a:xfrm>
          <a:prstGeom prst="roundRect">
            <a:avLst>
              <a:gd name="adj" fmla="val 50000"/>
            </a:avLst>
          </a:prstGeom>
          <a:solidFill>
            <a:srgbClr val="6366F1"/>
          </a:solidFill>
          <a:ln/>
        </p:spPr>
      </p:sp>
      <p:sp>
        <p:nvSpPr>
          <p:cNvPr id="13" name="Text 10"/>
          <p:cNvSpPr/>
          <p:nvPr/>
        </p:nvSpPr>
        <p:spPr>
          <a:xfrm>
            <a:off x="2203704" y="457200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Skill Report</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2706624" y="5074920"/>
            <a:ext cx="813816" cy="402336"/>
          </a:xfrm>
          <a:prstGeom prst="roundRect">
            <a:avLst>
              <a:gd name="adj" fmla="val 50000"/>
            </a:avLst>
          </a:prstGeom>
          <a:solidFill>
            <a:srgbClr val="217346"/>
          </a:solidFill>
          <a:ln/>
        </p:spPr>
      </p:sp>
      <p:sp>
        <p:nvSpPr>
          <p:cNvPr id="17" name="Text 14"/>
          <p:cNvSpPr/>
          <p:nvPr/>
        </p:nvSpPr>
        <p:spPr>
          <a:xfrm>
            <a:off x="2706624"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8" name="Text 15"/>
          <p:cNvSpPr/>
          <p:nvPr/>
        </p:nvSpPr>
        <p:spPr>
          <a:xfrm>
            <a:off x="4526280" y="566928"/>
            <a:ext cx="7132320" cy="164592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Every new product sign-off comes down to the same five checkpoints. Turn them into a skill and the business unit can run it themselves, so the compliance office stops being a human checklist.But how you build the skill decides what it misses — the business thinks in product categories, while the rules are written by channel.</a:t>
            </a:r>
            <a:endParaRPr lang="en-US" sz="1500" dirty="0"/>
          </a:p>
        </p:txBody>
      </p:sp>
      <p:sp>
        <p:nvSpPr>
          <p:cNvPr id="19" name="Text 16"/>
          <p:cNvSpPr/>
          <p:nvPr/>
        </p:nvSpPr>
        <p:spPr>
          <a:xfrm>
            <a:off x="4526280" y="2340864"/>
            <a:ext cx="7132320" cy="365760"/>
          </a:xfrm>
          <a:prstGeom prst="rect">
            <a:avLst/>
          </a:prstGeom>
          <a:noFill/>
          <a:ln/>
        </p:spPr>
        <p:txBody>
          <a:bodyPr wrap="square" rtlCol="0" anchor="ctr"/>
          <a:lstStyle/>
          <a:p>
            <a:pPr indent="0" marL="0">
              <a:buNone/>
            </a:pPr>
            <a:r>
              <a:rPr lang="en-US" sz="1500" b="1" dirty="0">
                <a:solidFill>
                  <a:srgbClr val="4A4A7A"/>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798064"/>
            <a:ext cx="457200" cy="457200"/>
          </a:xfrm>
          <a:prstGeom prst="ellipse">
            <a:avLst/>
          </a:prstGeom>
          <a:solidFill>
            <a:srgbClr val="FFFFFF">
              <a:alpha val="12000"/>
            </a:srgbClr>
          </a:solidFill>
          <a:ln w="19050">
            <a:solidFill>
              <a:srgbClr val="4A4A7A"/>
            </a:solidFill>
            <a:prstDash val="solid"/>
          </a:ln>
        </p:spPr>
      </p:sp>
      <p:sp>
        <p:nvSpPr>
          <p:cNvPr id="21" name="Text 18"/>
          <p:cNvSpPr/>
          <p:nvPr/>
        </p:nvSpPr>
        <p:spPr>
          <a:xfrm>
            <a:off x="4526280" y="2798064"/>
            <a:ext cx="457200" cy="457200"/>
          </a:xfrm>
          <a:prstGeom prst="rect">
            <a:avLst/>
          </a:prstGeom>
          <a:noFill/>
          <a:ln/>
        </p:spPr>
        <p:txBody>
          <a:bodyPr wrap="square" rtlCol="0" anchor="ctr"/>
          <a:lstStyle/>
          <a:p>
            <a:pPr algn="ctr" indent="0" marL="0">
              <a:buNone/>
            </a:pPr>
            <a:r>
              <a:rPr lang="en-US" sz="1600" b="1" dirty="0">
                <a:solidFill>
                  <a:srgbClr val="4A4A7A"/>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7797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which axis the criteria belong on</a:t>
            </a:r>
            <a:endParaRPr lang="en-US" sz="1600" dirty="0"/>
          </a:p>
        </p:txBody>
      </p:sp>
      <p:sp>
        <p:nvSpPr>
          <p:cNvPr id="23" name="Text 20"/>
          <p:cNvSpPr/>
          <p:nvPr/>
        </p:nvSpPr>
        <p:spPr>
          <a:xfrm>
            <a:off x="5166360" y="31455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 Custom skills work on desktop and browser only — mobi…</a:t>
            </a:r>
            <a:endParaRPr lang="en-US" sz="1300" dirty="0"/>
          </a:p>
        </p:txBody>
      </p:sp>
      <p:sp>
        <p:nvSpPr>
          <p:cNvPr id="24" name="Shape 21"/>
          <p:cNvSpPr/>
          <p:nvPr/>
        </p:nvSpPr>
        <p:spPr>
          <a:xfrm>
            <a:off x="4526280" y="3715512"/>
            <a:ext cx="457200" cy="457200"/>
          </a:xfrm>
          <a:prstGeom prst="ellipse">
            <a:avLst/>
          </a:prstGeom>
          <a:solidFill>
            <a:srgbClr val="FFFFFF">
              <a:alpha val="12000"/>
            </a:srgbClr>
          </a:solidFill>
          <a:ln w="19050">
            <a:solidFill>
              <a:srgbClr val="4A4A7A"/>
            </a:solidFill>
            <a:prstDash val="solid"/>
          </a:ln>
        </p:spPr>
      </p:sp>
      <p:sp>
        <p:nvSpPr>
          <p:cNvPr id="25" name="Text 22"/>
          <p:cNvSpPr/>
          <p:nvPr/>
        </p:nvSpPr>
        <p:spPr>
          <a:xfrm>
            <a:off x="4526280" y="3715512"/>
            <a:ext cx="457200" cy="457200"/>
          </a:xfrm>
          <a:prstGeom prst="rect">
            <a:avLst/>
          </a:prstGeom>
          <a:noFill/>
          <a:ln/>
        </p:spPr>
        <p:txBody>
          <a:bodyPr wrap="square" rtlCol="0" anchor="ctr"/>
          <a:lstStyle/>
          <a:p>
            <a:pPr algn="ctr" indent="0" marL="0">
              <a:buNone/>
            </a:pPr>
            <a:r>
              <a:rPr lang="en-US" sz="1600" b="1" dirty="0">
                <a:solidFill>
                  <a:srgbClr val="4A4A7A"/>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369722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Have it build the skill</a:t>
            </a:r>
            <a:endParaRPr lang="en-US" sz="1600" dirty="0"/>
          </a:p>
        </p:txBody>
      </p:sp>
      <p:sp>
        <p:nvSpPr>
          <p:cNvPr id="27" name="Text 24"/>
          <p:cNvSpPr/>
          <p:nvPr/>
        </p:nvSpPr>
        <p:spPr>
          <a:xfrm>
            <a:off x="5166360" y="406298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Skill names accept lowercase letters, digits and hyphens…</a:t>
            </a:r>
            <a:endParaRPr lang="en-US" sz="1300" dirty="0"/>
          </a:p>
        </p:txBody>
      </p:sp>
      <p:sp>
        <p:nvSpPr>
          <p:cNvPr id="28" name="Shape 25"/>
          <p:cNvSpPr/>
          <p:nvPr/>
        </p:nvSpPr>
        <p:spPr>
          <a:xfrm>
            <a:off x="4526280" y="4632960"/>
            <a:ext cx="457200" cy="457200"/>
          </a:xfrm>
          <a:prstGeom prst="ellipse">
            <a:avLst/>
          </a:prstGeom>
          <a:solidFill>
            <a:srgbClr val="FFFFFF">
              <a:alpha val="12000"/>
            </a:srgbClr>
          </a:solidFill>
          <a:ln w="19050">
            <a:solidFill>
              <a:srgbClr val="4A4A7A"/>
            </a:solidFill>
            <a:prstDash val="solid"/>
          </a:ln>
        </p:spPr>
      </p:sp>
      <p:sp>
        <p:nvSpPr>
          <p:cNvPr id="29" name="Text 26"/>
          <p:cNvSpPr/>
          <p:nvPr/>
        </p:nvSpPr>
        <p:spPr>
          <a:xfrm>
            <a:off x="4526280" y="4632960"/>
            <a:ext cx="457200" cy="457200"/>
          </a:xfrm>
          <a:prstGeom prst="rect">
            <a:avLst/>
          </a:prstGeom>
          <a:noFill/>
          <a:ln/>
        </p:spPr>
        <p:txBody>
          <a:bodyPr wrap="square" rtlCol="0" anchor="ctr"/>
          <a:lstStyle/>
          <a:p>
            <a:pPr algn="ctr" indent="0" marL="0">
              <a:buNone/>
            </a:pPr>
            <a:r>
              <a:rPr lang="en-US" sz="1600" b="1" dirty="0">
                <a:solidFill>
                  <a:srgbClr val="4A4A7A"/>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461467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Skill Report</a:t>
            </a:r>
            <a:endParaRPr lang="en-US" sz="1600" dirty="0"/>
          </a:p>
        </p:txBody>
      </p:sp>
      <p:sp>
        <p:nvSpPr>
          <p:cNvPr id="31" name="Text 28"/>
          <p:cNvSpPr/>
          <p:nvPr/>
        </p:nvSpPr>
        <p:spPr>
          <a:xfrm>
            <a:off x="5166360" y="498043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Cowork evaluates a skill automatically whenever it is cr…</a:t>
            </a:r>
            <a:endParaRPr lang="en-US" sz="1300" dirty="0"/>
          </a:p>
        </p:txBody>
      </p:sp>
      <p:sp>
        <p:nvSpPr>
          <p:cNvPr id="32" name="Shape 29"/>
          <p:cNvSpPr/>
          <p:nvPr/>
        </p:nvSpPr>
        <p:spPr>
          <a:xfrm>
            <a:off x="4526280" y="5550408"/>
            <a:ext cx="457200" cy="457200"/>
          </a:xfrm>
          <a:prstGeom prst="ellipse">
            <a:avLst/>
          </a:prstGeom>
          <a:solidFill>
            <a:srgbClr val="FFFFFF">
              <a:alpha val="12000"/>
            </a:srgbClr>
          </a:solidFill>
          <a:ln w="19050">
            <a:solidFill>
              <a:srgbClr val="4A4A7A"/>
            </a:solidFill>
            <a:prstDash val="solid"/>
          </a:ln>
        </p:spPr>
      </p:sp>
      <p:sp>
        <p:nvSpPr>
          <p:cNvPr id="33" name="Text 30"/>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4A4A7A"/>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Test it against a real submission</a:t>
            </a:r>
            <a:endParaRPr lang="en-US" sz="1600" dirty="0"/>
          </a:p>
        </p:txBody>
      </p:sp>
      <p:sp>
        <p:nvSpPr>
          <p:cNvPr id="35" name="Text 32"/>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First select New task on the left to start a fresh conve…</a:t>
            </a:r>
            <a:endParaRPr lang="en-US" sz="1300" dirty="0"/>
          </a:p>
        </p:txBody>
      </p:sp>
      <p:sp>
        <p:nvSpPr>
          <p:cNvPr id="36" name="Text 3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7" name="Text 3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4A4A7A"/>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4A4A7A"/>
                </a:solidFill>
                <a:latin typeface="Segoe UI" pitchFamily="34" charset="0"/>
                <a:ea typeface="Segoe UI" pitchFamily="34" charset="-122"/>
                <a:cs typeface="Segoe UI" pitchFamily="34" charset="-120"/>
              </a:rPr>
              <a:t>Scenario 07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fin7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4A4A7A"/>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fin7_04b_verdict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4A4A7A"/>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4A4A7A"/>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criteria hang on channel, not product category — how is the skill organised?</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digital channel carries requirements the others do not — does the skill cover them?</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Skill names allow only lowercase letters, digits and hyphens — did it handle that?</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Extend it to your own work</a:t>
            </a:r>
            <a:endParaRPr lang="en-US" sz="3000" dirty="0"/>
          </a:p>
        </p:txBody>
      </p:sp>
      <p:sp>
        <p:nvSpPr>
          <p:cNvPr id="5" name="Shape 3"/>
          <p:cNvSpPr/>
          <p:nvPr/>
        </p:nvSpPr>
        <p:spPr>
          <a:xfrm>
            <a:off x="640080" y="1783080"/>
            <a:ext cx="10911535" cy="549946"/>
          </a:xfrm>
          <a:prstGeom prst="rect">
            <a:avLst/>
          </a:prstGeom>
          <a:solidFill>
            <a:srgbClr val="FFFFFF"/>
          </a:solidFill>
          <a:ln w="12700">
            <a:solidFill>
              <a:srgbClr val="E4E7F2"/>
            </a:solidFill>
            <a:prstDash val="solid"/>
          </a:ln>
        </p:spPr>
      </p:sp>
      <p:sp>
        <p:nvSpPr>
          <p:cNvPr id="6" name="Shape 4"/>
          <p:cNvSpPr/>
          <p:nvPr/>
        </p:nvSpPr>
        <p:spPr>
          <a:xfrm>
            <a:off x="868680" y="1811165"/>
            <a:ext cx="493776" cy="493776"/>
          </a:xfrm>
          <a:prstGeom prst="ellipse">
            <a:avLst/>
          </a:prstGeom>
          <a:solidFill>
            <a:srgbClr val="123F6D"/>
          </a:solidFill>
          <a:ln/>
        </p:spPr>
      </p:sp>
      <p:pic>
        <p:nvPicPr>
          <p:cNvPr id="7" name="Image 0" descr="preencoded.png">    </p:cNvPr>
          <p:cNvPicPr>
            <a:picLocks noChangeAspect="1"/>
          </p:cNvPicPr>
          <p:nvPr/>
        </p:nvPicPr>
        <p:blipFill>
          <a:blip r:embed="rId1"/>
          <a:stretch>
            <a:fillRect/>
          </a:stretch>
        </p:blipFill>
        <p:spPr>
          <a:xfrm>
            <a:off x="996696" y="1939181"/>
            <a:ext cx="237744" cy="237744"/>
          </a:xfrm>
          <a:prstGeom prst="rect">
            <a:avLst/>
          </a:prstGeom>
        </p:spPr>
      </p:pic>
      <p:sp>
        <p:nvSpPr>
          <p:cNvPr id="8" name="Text 5"/>
          <p:cNvSpPr/>
          <p:nvPr/>
        </p:nvSpPr>
        <p:spPr>
          <a:xfrm>
            <a:off x="1554480" y="1819656"/>
            <a:ext cx="2286000" cy="476794"/>
          </a:xfrm>
          <a:prstGeom prst="rect">
            <a:avLst/>
          </a:prstGeom>
          <a:noFill/>
          <a:ln/>
        </p:spPr>
        <p:txBody>
          <a:bodyPr wrap="square" rtlCol="0" anchor="ctr"/>
          <a:lstStyle/>
          <a:p>
            <a:pPr indent="0" marL="0">
              <a:buNone/>
            </a:pPr>
            <a:r>
              <a:rPr lang="en-US" sz="1300" b="1" dirty="0">
                <a:solidFill>
                  <a:srgbClr val="123F6D"/>
                </a:solidFill>
                <a:latin typeface="Segoe UI" pitchFamily="34" charset="0"/>
                <a:ea typeface="Segoe UI" pitchFamily="34" charset="-122"/>
                <a:cs typeface="Segoe UI" pitchFamily="34" charset="-120"/>
              </a:rPr>
              <a:t>Financial Holding HQ · Compliance &amp; Risk</a:t>
            </a:r>
            <a:endParaRPr lang="en-US" sz="1300" dirty="0"/>
          </a:p>
        </p:txBody>
      </p:sp>
      <p:sp>
        <p:nvSpPr>
          <p:cNvPr id="9" name="Text 6"/>
          <p:cNvSpPr/>
          <p:nvPr/>
        </p:nvSpPr>
        <p:spPr>
          <a:xfrm>
            <a:off x="3749040" y="1819656"/>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Change the schedule to "only email me when there is an approval case; stay quiet otherwise" and see how it handles an empty result.</a:t>
            </a:r>
            <a:endParaRPr lang="en-US" sz="1250" dirty="0"/>
          </a:p>
        </p:txBody>
      </p:sp>
      <p:sp>
        <p:nvSpPr>
          <p:cNvPr id="10" name="Shape 7"/>
          <p:cNvSpPr/>
          <p:nvPr/>
        </p:nvSpPr>
        <p:spPr>
          <a:xfrm>
            <a:off x="640080" y="2442754"/>
            <a:ext cx="10911535" cy="549946"/>
          </a:xfrm>
          <a:prstGeom prst="rect">
            <a:avLst/>
          </a:prstGeom>
          <a:solidFill>
            <a:srgbClr val="FFFFFF"/>
          </a:solidFill>
          <a:ln w="12700">
            <a:solidFill>
              <a:srgbClr val="E4E7F2"/>
            </a:solidFill>
            <a:prstDash val="solid"/>
          </a:ln>
        </p:spPr>
      </p:sp>
      <p:sp>
        <p:nvSpPr>
          <p:cNvPr id="11" name="Shape 8"/>
          <p:cNvSpPr/>
          <p:nvPr/>
        </p:nvSpPr>
        <p:spPr>
          <a:xfrm>
            <a:off x="868680" y="2470839"/>
            <a:ext cx="493776" cy="493776"/>
          </a:xfrm>
          <a:prstGeom prst="ellipse">
            <a:avLst/>
          </a:prstGeom>
          <a:solidFill>
            <a:srgbClr val="1B5E57"/>
          </a:solidFill>
          <a:ln/>
        </p:spPr>
      </p:sp>
      <p:pic>
        <p:nvPicPr>
          <p:cNvPr id="12" name="Image 1" descr="preencoded.png">    </p:cNvPr>
          <p:cNvPicPr>
            <a:picLocks noChangeAspect="1"/>
          </p:cNvPicPr>
          <p:nvPr/>
        </p:nvPicPr>
        <p:blipFill>
          <a:blip r:embed="rId2"/>
          <a:stretch>
            <a:fillRect/>
          </a:stretch>
        </p:blipFill>
        <p:spPr>
          <a:xfrm>
            <a:off x="996696" y="2598855"/>
            <a:ext cx="237744" cy="237744"/>
          </a:xfrm>
          <a:prstGeom prst="rect">
            <a:avLst/>
          </a:prstGeom>
        </p:spPr>
      </p:pic>
      <p:sp>
        <p:nvSpPr>
          <p:cNvPr id="13" name="Text 9"/>
          <p:cNvSpPr/>
          <p:nvPr/>
        </p:nvSpPr>
        <p:spPr>
          <a:xfrm>
            <a:off x="1554480" y="2479330"/>
            <a:ext cx="2286000" cy="476794"/>
          </a:xfrm>
          <a:prstGeom prst="rect">
            <a:avLst/>
          </a:prstGeom>
          <a:noFill/>
          <a:ln/>
        </p:spPr>
        <p:txBody>
          <a:bodyPr wrap="square" rtlCol="0" anchor="ctr"/>
          <a:lstStyle/>
          <a:p>
            <a:pPr indent="0" marL="0">
              <a:buNone/>
            </a:pPr>
            <a:r>
              <a:rPr lang="en-US" sz="1300" b="1" dirty="0">
                <a:solidFill>
                  <a:srgbClr val="1B5E57"/>
                </a:solidFill>
                <a:latin typeface="Segoe UI" pitchFamily="34" charset="0"/>
                <a:ea typeface="Segoe UI" pitchFamily="34" charset="-122"/>
                <a:cs typeface="Segoe UI" pitchFamily="34" charset="-120"/>
              </a:rPr>
              <a:t>Financial Holding HQ · Compliance &amp; Risk</a:t>
            </a:r>
            <a:endParaRPr lang="en-US" sz="1300" dirty="0"/>
          </a:p>
        </p:txBody>
      </p:sp>
      <p:sp>
        <p:nvSpPr>
          <p:cNvPr id="14" name="Text 10"/>
          <p:cNvSpPr/>
          <p:nvPr/>
        </p:nvSpPr>
        <p:spPr>
          <a:xfrm>
            <a:off x="3749040" y="2479330"/>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it to cut the deck down to a field-agent-only version and see which points it keeps and which it drops.</a:t>
            </a:r>
            <a:endParaRPr lang="en-US" sz="1250" dirty="0"/>
          </a:p>
        </p:txBody>
      </p:sp>
      <p:sp>
        <p:nvSpPr>
          <p:cNvPr id="15" name="Shape 11"/>
          <p:cNvSpPr/>
          <p:nvPr/>
        </p:nvSpPr>
        <p:spPr>
          <a:xfrm>
            <a:off x="640080" y="3102429"/>
            <a:ext cx="10911535" cy="549946"/>
          </a:xfrm>
          <a:prstGeom prst="rect">
            <a:avLst/>
          </a:prstGeom>
          <a:solidFill>
            <a:srgbClr val="FFFFFF"/>
          </a:solidFill>
          <a:ln w="12700">
            <a:solidFill>
              <a:srgbClr val="E4E7F2"/>
            </a:solidFill>
            <a:prstDash val="solid"/>
          </a:ln>
        </p:spPr>
      </p:sp>
      <p:sp>
        <p:nvSpPr>
          <p:cNvPr id="16" name="Shape 12"/>
          <p:cNvSpPr/>
          <p:nvPr/>
        </p:nvSpPr>
        <p:spPr>
          <a:xfrm>
            <a:off x="868680" y="3130514"/>
            <a:ext cx="493776" cy="493776"/>
          </a:xfrm>
          <a:prstGeom prst="ellipse">
            <a:avLst/>
          </a:prstGeom>
          <a:solidFill>
            <a:srgbClr val="5B3A7A"/>
          </a:solidFill>
          <a:ln/>
        </p:spPr>
      </p:sp>
      <p:pic>
        <p:nvPicPr>
          <p:cNvPr id="17" name="Image 2" descr="preencoded.png">    </p:cNvPr>
          <p:cNvPicPr>
            <a:picLocks noChangeAspect="1"/>
          </p:cNvPicPr>
          <p:nvPr/>
        </p:nvPicPr>
        <p:blipFill>
          <a:blip r:embed="rId3"/>
          <a:stretch>
            <a:fillRect/>
          </a:stretch>
        </p:blipFill>
        <p:spPr>
          <a:xfrm>
            <a:off x="996696" y="3258530"/>
            <a:ext cx="237744" cy="237744"/>
          </a:xfrm>
          <a:prstGeom prst="rect">
            <a:avLst/>
          </a:prstGeom>
        </p:spPr>
      </p:pic>
      <p:sp>
        <p:nvSpPr>
          <p:cNvPr id="18" name="Text 13"/>
          <p:cNvSpPr/>
          <p:nvPr/>
        </p:nvSpPr>
        <p:spPr>
          <a:xfrm>
            <a:off x="1554480" y="3139005"/>
            <a:ext cx="2286000" cy="476794"/>
          </a:xfrm>
          <a:prstGeom prst="rect">
            <a:avLst/>
          </a:prstGeom>
          <a:noFill/>
          <a:ln/>
        </p:spPr>
        <p:txBody>
          <a:bodyPr wrap="square" rtlCol="0" anchor="ctr"/>
          <a:lstStyle/>
          <a:p>
            <a:pPr indent="0" marL="0">
              <a:buNone/>
            </a:pPr>
            <a:r>
              <a:rPr lang="en-US" sz="1300" b="1" dirty="0">
                <a:solidFill>
                  <a:srgbClr val="5B3A7A"/>
                </a:solidFill>
                <a:latin typeface="Segoe UI" pitchFamily="34" charset="0"/>
                <a:ea typeface="Segoe UI" pitchFamily="34" charset="-122"/>
                <a:cs typeface="Segoe UI" pitchFamily="34" charset="-120"/>
              </a:rPr>
              <a:t>Financial Holding HQ · Compliance &amp; Risk</a:t>
            </a:r>
            <a:endParaRPr lang="en-US" sz="1300" dirty="0"/>
          </a:p>
        </p:txBody>
      </p:sp>
      <p:sp>
        <p:nvSpPr>
          <p:cNvPr id="19" name="Text 14"/>
          <p:cNvSpPr/>
          <p:nvPr/>
        </p:nvSpPr>
        <p:spPr>
          <a:xfrm>
            <a:off x="3749040" y="3139005"/>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it to turn each meeting's agenda into a Word meeting notice and see how it words the reason for the split.</a:t>
            </a:r>
            <a:endParaRPr lang="en-US" sz="1250" dirty="0"/>
          </a:p>
        </p:txBody>
      </p:sp>
      <p:sp>
        <p:nvSpPr>
          <p:cNvPr id="20" name="Shape 15"/>
          <p:cNvSpPr/>
          <p:nvPr/>
        </p:nvSpPr>
        <p:spPr>
          <a:xfrm>
            <a:off x="640080" y="3762103"/>
            <a:ext cx="10911535" cy="549946"/>
          </a:xfrm>
          <a:prstGeom prst="rect">
            <a:avLst/>
          </a:prstGeom>
          <a:solidFill>
            <a:srgbClr val="FFFFFF"/>
          </a:solidFill>
          <a:ln w="12700">
            <a:solidFill>
              <a:srgbClr val="E4E7F2"/>
            </a:solidFill>
            <a:prstDash val="solid"/>
          </a:ln>
        </p:spPr>
      </p:sp>
      <p:sp>
        <p:nvSpPr>
          <p:cNvPr id="21" name="Shape 16"/>
          <p:cNvSpPr/>
          <p:nvPr/>
        </p:nvSpPr>
        <p:spPr>
          <a:xfrm>
            <a:off x="868680" y="3790188"/>
            <a:ext cx="493776" cy="493776"/>
          </a:xfrm>
          <a:prstGeom prst="ellipse">
            <a:avLst/>
          </a:prstGeom>
          <a:solidFill>
            <a:srgbClr val="8A4B1E"/>
          </a:solidFill>
          <a:ln/>
        </p:spPr>
      </p:sp>
      <p:pic>
        <p:nvPicPr>
          <p:cNvPr id="22" name="Image 3" descr="preencoded.png">    </p:cNvPr>
          <p:cNvPicPr>
            <a:picLocks noChangeAspect="1"/>
          </p:cNvPicPr>
          <p:nvPr/>
        </p:nvPicPr>
        <p:blipFill>
          <a:blip r:embed="rId4"/>
          <a:stretch>
            <a:fillRect/>
          </a:stretch>
        </p:blipFill>
        <p:spPr>
          <a:xfrm>
            <a:off x="996696" y="3918204"/>
            <a:ext cx="237744" cy="237744"/>
          </a:xfrm>
          <a:prstGeom prst="rect">
            <a:avLst/>
          </a:prstGeom>
        </p:spPr>
      </p:pic>
      <p:sp>
        <p:nvSpPr>
          <p:cNvPr id="23" name="Text 17"/>
          <p:cNvSpPr/>
          <p:nvPr/>
        </p:nvSpPr>
        <p:spPr>
          <a:xfrm>
            <a:off x="1554480" y="3798679"/>
            <a:ext cx="2286000" cy="476794"/>
          </a:xfrm>
          <a:prstGeom prst="rect">
            <a:avLst/>
          </a:prstGeom>
          <a:noFill/>
          <a:ln/>
        </p:spPr>
        <p:txBody>
          <a:bodyPr wrap="square" rtlCol="0" anchor="ctr"/>
          <a:lstStyle/>
          <a:p>
            <a:pPr indent="0" marL="0">
              <a:buNone/>
            </a:pPr>
            <a:r>
              <a:rPr lang="en-US" sz="1300" b="1" dirty="0">
                <a:solidFill>
                  <a:srgbClr val="8A4B1E"/>
                </a:solidFill>
                <a:latin typeface="Segoe UI" pitchFamily="34" charset="0"/>
                <a:ea typeface="Segoe UI" pitchFamily="34" charset="-122"/>
                <a:cs typeface="Segoe UI" pitchFamily="34" charset="-120"/>
              </a:rPr>
              <a:t>Financial Holding HQ · Compliance &amp; Risk</a:t>
            </a:r>
            <a:endParaRPr lang="en-US" sz="1300" dirty="0"/>
          </a:p>
        </p:txBody>
      </p:sp>
      <p:sp>
        <p:nvSpPr>
          <p:cNvPr id="24" name="Text 18"/>
          <p:cNvSpPr/>
          <p:nvPr/>
        </p:nvSpPr>
        <p:spPr>
          <a:xfrm>
            <a:off x="3749040" y="3798679"/>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"if eligible capital fell 10%, how many more customer groups would breach?" and watch how it runs the sensitivity.</a:t>
            </a:r>
            <a:endParaRPr lang="en-US" sz="1250" dirty="0"/>
          </a:p>
        </p:txBody>
      </p:sp>
      <p:sp>
        <p:nvSpPr>
          <p:cNvPr id="25" name="Shape 19"/>
          <p:cNvSpPr/>
          <p:nvPr/>
        </p:nvSpPr>
        <p:spPr>
          <a:xfrm>
            <a:off x="640080" y="4421777"/>
            <a:ext cx="10911535" cy="549946"/>
          </a:xfrm>
          <a:prstGeom prst="rect">
            <a:avLst/>
          </a:prstGeom>
          <a:solidFill>
            <a:srgbClr val="FFFFFF"/>
          </a:solidFill>
          <a:ln w="12700">
            <a:solidFill>
              <a:srgbClr val="E4E7F2"/>
            </a:solidFill>
            <a:prstDash val="solid"/>
          </a:ln>
        </p:spPr>
      </p:sp>
      <p:sp>
        <p:nvSpPr>
          <p:cNvPr id="26" name="Shape 20"/>
          <p:cNvSpPr/>
          <p:nvPr/>
        </p:nvSpPr>
        <p:spPr>
          <a:xfrm>
            <a:off x="868680" y="4449862"/>
            <a:ext cx="493776" cy="493776"/>
          </a:xfrm>
          <a:prstGeom prst="ellipse">
            <a:avLst/>
          </a:prstGeom>
          <a:solidFill>
            <a:srgbClr val="9B2226"/>
          </a:solidFill>
          <a:ln/>
        </p:spPr>
      </p:sp>
      <p:pic>
        <p:nvPicPr>
          <p:cNvPr id="27" name="Image 4" descr="preencoded.png">    </p:cNvPr>
          <p:cNvPicPr>
            <a:picLocks noChangeAspect="1"/>
          </p:cNvPicPr>
          <p:nvPr/>
        </p:nvPicPr>
        <p:blipFill>
          <a:blip r:embed="rId5"/>
          <a:stretch>
            <a:fillRect/>
          </a:stretch>
        </p:blipFill>
        <p:spPr>
          <a:xfrm>
            <a:off x="996696" y="4577878"/>
            <a:ext cx="237744" cy="237744"/>
          </a:xfrm>
          <a:prstGeom prst="rect">
            <a:avLst/>
          </a:prstGeom>
        </p:spPr>
      </p:pic>
      <p:sp>
        <p:nvSpPr>
          <p:cNvPr id="28" name="Text 21"/>
          <p:cNvSpPr/>
          <p:nvPr/>
        </p:nvSpPr>
        <p:spPr>
          <a:xfrm>
            <a:off x="1554480" y="4458353"/>
            <a:ext cx="2286000" cy="476794"/>
          </a:xfrm>
          <a:prstGeom prst="rect">
            <a:avLst/>
          </a:prstGeom>
          <a:noFill/>
          <a:ln/>
        </p:spPr>
        <p:txBody>
          <a:bodyPr wrap="square" rtlCol="0" anchor="ctr"/>
          <a:lstStyle/>
          <a:p>
            <a:pPr indent="0" marL="0">
              <a:buNone/>
            </a:pPr>
            <a:r>
              <a:rPr lang="en-US" sz="1300" b="1" dirty="0">
                <a:solidFill>
                  <a:srgbClr val="9B2226"/>
                </a:solidFill>
                <a:latin typeface="Segoe UI" pitchFamily="34" charset="0"/>
                <a:ea typeface="Segoe UI" pitchFamily="34" charset="-122"/>
                <a:cs typeface="Segoe UI" pitchFamily="34" charset="-120"/>
              </a:rPr>
              <a:t>Financial Holding HQ · Compliance &amp; Risk</a:t>
            </a:r>
            <a:endParaRPr lang="en-US" sz="1300" dirty="0"/>
          </a:p>
        </p:txBody>
      </p:sp>
      <p:sp>
        <p:nvSpPr>
          <p:cNvPr id="29" name="Text 22"/>
          <p:cNvSpPr/>
          <p:nvPr/>
        </p:nvSpPr>
        <p:spPr>
          <a:xfrm>
            <a:off x="3749040" y="4458353"/>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Change the trigger to "when I'm @mentioned in a Teams channel about an outage" and see how the Set up trigger card changes.</a:t>
            </a:r>
            <a:endParaRPr lang="en-US" sz="1250" dirty="0"/>
          </a:p>
        </p:txBody>
      </p:sp>
      <p:sp>
        <p:nvSpPr>
          <p:cNvPr id="30" name="Shape 23"/>
          <p:cNvSpPr/>
          <p:nvPr/>
        </p:nvSpPr>
        <p:spPr>
          <a:xfrm>
            <a:off x="640080" y="5081451"/>
            <a:ext cx="10911535" cy="549946"/>
          </a:xfrm>
          <a:prstGeom prst="rect">
            <a:avLst/>
          </a:prstGeom>
          <a:solidFill>
            <a:srgbClr val="FFFFFF"/>
          </a:solidFill>
          <a:ln w="12700">
            <a:solidFill>
              <a:srgbClr val="E4E7F2"/>
            </a:solidFill>
            <a:prstDash val="solid"/>
          </a:ln>
        </p:spPr>
      </p:sp>
      <p:sp>
        <p:nvSpPr>
          <p:cNvPr id="31" name="Shape 24"/>
          <p:cNvSpPr/>
          <p:nvPr/>
        </p:nvSpPr>
        <p:spPr>
          <a:xfrm>
            <a:off x="868680" y="5109537"/>
            <a:ext cx="493776" cy="493776"/>
          </a:xfrm>
          <a:prstGeom prst="ellipse">
            <a:avLst/>
          </a:prstGeom>
          <a:solidFill>
            <a:srgbClr val="0F6E6E"/>
          </a:solidFill>
          <a:ln/>
        </p:spPr>
      </p:sp>
      <p:pic>
        <p:nvPicPr>
          <p:cNvPr id="32" name="Image 5" descr="preencoded.png">    </p:cNvPr>
          <p:cNvPicPr>
            <a:picLocks noChangeAspect="1"/>
          </p:cNvPicPr>
          <p:nvPr/>
        </p:nvPicPr>
        <p:blipFill>
          <a:blip r:embed="rId6"/>
          <a:stretch>
            <a:fillRect/>
          </a:stretch>
        </p:blipFill>
        <p:spPr>
          <a:xfrm>
            <a:off x="996696" y="5237553"/>
            <a:ext cx="237744" cy="237744"/>
          </a:xfrm>
          <a:prstGeom prst="rect">
            <a:avLst/>
          </a:prstGeom>
        </p:spPr>
      </p:pic>
      <p:sp>
        <p:nvSpPr>
          <p:cNvPr id="33" name="Text 25"/>
          <p:cNvSpPr/>
          <p:nvPr/>
        </p:nvSpPr>
        <p:spPr>
          <a:xfrm>
            <a:off x="1554480" y="5118027"/>
            <a:ext cx="2286000" cy="476794"/>
          </a:xfrm>
          <a:prstGeom prst="rect">
            <a:avLst/>
          </a:prstGeom>
          <a:noFill/>
          <a:ln/>
        </p:spPr>
        <p:txBody>
          <a:bodyPr wrap="square" rtlCol="0" anchor="ctr"/>
          <a:lstStyle/>
          <a:p>
            <a:pPr indent="0" marL="0">
              <a:buNone/>
            </a:pPr>
            <a:r>
              <a:rPr lang="en-US" sz="1300" b="1" dirty="0">
                <a:solidFill>
                  <a:srgbClr val="0F6E6E"/>
                </a:solidFill>
                <a:latin typeface="Segoe UI" pitchFamily="34" charset="0"/>
                <a:ea typeface="Segoe UI" pitchFamily="34" charset="-122"/>
                <a:cs typeface="Segoe UI" pitchFamily="34" charset="-120"/>
              </a:rPr>
              <a:t>Financial Holding HQ · Compliance &amp; Risk</a:t>
            </a:r>
            <a:endParaRPr lang="en-US" sz="1300" dirty="0"/>
          </a:p>
        </p:txBody>
      </p:sp>
      <p:sp>
        <p:nvSpPr>
          <p:cNvPr id="34" name="Text 26"/>
          <p:cNvSpPr/>
          <p:nvPr/>
        </p:nvSpPr>
        <p:spPr>
          <a:xfrm>
            <a:off x="3749040" y="5118027"/>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"if the campaign product were a time deposit instead, how many rows could we use?" and see whether it genuinely re-runs the scope test.</a:t>
            </a:r>
            <a:endParaRPr lang="en-US" sz="1250" dirty="0"/>
          </a:p>
        </p:txBody>
      </p:sp>
      <p:sp>
        <p:nvSpPr>
          <p:cNvPr id="35" name="Shape 27"/>
          <p:cNvSpPr/>
          <p:nvPr/>
        </p:nvSpPr>
        <p:spPr>
          <a:xfrm>
            <a:off x="640080" y="5741126"/>
            <a:ext cx="10911535" cy="549946"/>
          </a:xfrm>
          <a:prstGeom prst="rect">
            <a:avLst/>
          </a:prstGeom>
          <a:solidFill>
            <a:srgbClr val="FFFFFF"/>
          </a:solidFill>
          <a:ln w="12700">
            <a:solidFill>
              <a:srgbClr val="E4E7F2"/>
            </a:solidFill>
            <a:prstDash val="solid"/>
          </a:ln>
        </p:spPr>
      </p:sp>
      <p:sp>
        <p:nvSpPr>
          <p:cNvPr id="36" name="Shape 28"/>
          <p:cNvSpPr/>
          <p:nvPr/>
        </p:nvSpPr>
        <p:spPr>
          <a:xfrm>
            <a:off x="868680" y="5769211"/>
            <a:ext cx="493776" cy="493776"/>
          </a:xfrm>
          <a:prstGeom prst="ellipse">
            <a:avLst/>
          </a:prstGeom>
          <a:solidFill>
            <a:srgbClr val="4A4A7A"/>
          </a:solidFill>
          <a:ln/>
        </p:spPr>
      </p:sp>
      <p:pic>
        <p:nvPicPr>
          <p:cNvPr id="37" name="Image 6" descr="preencoded.png">    </p:cNvPr>
          <p:cNvPicPr>
            <a:picLocks noChangeAspect="1"/>
          </p:cNvPicPr>
          <p:nvPr/>
        </p:nvPicPr>
        <p:blipFill>
          <a:blip r:embed="rId7"/>
          <a:stretch>
            <a:fillRect/>
          </a:stretch>
        </p:blipFill>
        <p:spPr>
          <a:xfrm>
            <a:off x="996696" y="5897227"/>
            <a:ext cx="237744" cy="237744"/>
          </a:xfrm>
          <a:prstGeom prst="rect">
            <a:avLst/>
          </a:prstGeom>
        </p:spPr>
      </p:pic>
      <p:sp>
        <p:nvSpPr>
          <p:cNvPr id="38" name="Text 29"/>
          <p:cNvSpPr/>
          <p:nvPr/>
        </p:nvSpPr>
        <p:spPr>
          <a:xfrm>
            <a:off x="1554480" y="5777702"/>
            <a:ext cx="2286000" cy="476794"/>
          </a:xfrm>
          <a:prstGeom prst="rect">
            <a:avLst/>
          </a:prstGeom>
          <a:noFill/>
          <a:ln/>
        </p:spPr>
        <p:txBody>
          <a:bodyPr wrap="square" rtlCol="0" anchor="ctr"/>
          <a:lstStyle/>
          <a:p>
            <a:pPr indent="0" marL="0">
              <a:buNone/>
            </a:pPr>
            <a:r>
              <a:rPr lang="en-US" sz="1300" b="1" dirty="0">
                <a:solidFill>
                  <a:srgbClr val="4A4A7A"/>
                </a:solidFill>
                <a:latin typeface="Segoe UI" pitchFamily="34" charset="0"/>
                <a:ea typeface="Segoe UI" pitchFamily="34" charset="-122"/>
                <a:cs typeface="Segoe UI" pitchFamily="34" charset="-120"/>
              </a:rPr>
              <a:t>Financial Holding HQ · Compliance &amp; Risk</a:t>
            </a:r>
            <a:endParaRPr lang="en-US" sz="1300" dirty="0"/>
          </a:p>
        </p:txBody>
      </p:sp>
      <p:sp>
        <p:nvSpPr>
          <p:cNvPr id="39" name="Text 30"/>
          <p:cNvSpPr/>
          <p:nvPr/>
        </p:nvSpPr>
        <p:spPr>
          <a:xfrm>
            <a:off x="3749040" y="5777702"/>
            <a:ext cx="7619695" cy="476794"/>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Feed it a product that only goes through the branch channel and check the skill correctly does not demand the digital-only items.</a:t>
            </a:r>
            <a:endParaRPr lang="en-US" sz="1250" dirty="0"/>
          </a:p>
        </p:txBody>
      </p:sp>
      <p:sp>
        <p:nvSpPr>
          <p:cNvPr id="40" name="Text 31"/>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1" name="Text 32"/>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Segoe UI" pitchFamily="34" charset="0"/>
                <a:ea typeface="Segoe UI" pitchFamily="34" charset="-122"/>
                <a:cs typeface="Segoe U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Automated — but you're still the decision maker</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Approval before action</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Medium/high-risk actions show a RISK-LEVEL; sending mail, posting to Teams or creating meetings all open as an editable preview and go out only after approval.</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Scope you control</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Don't-ask-again can be limited to a recipient, a domain, or always; tasks can be soft/hard paused, resumed or cancelled.</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Automated tasks have guardrails too</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Scheduled prompts and event-driven tasks have run-frequency limits and loop protection; they always run with the creator's permissions, and are recorded in the unified audit log alongside all other Cowork activity, under Microsoft Purview policy.</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Know the limits</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No access to local files, no deleting OneDrive/SharePoint files, no reading encrypted files; attachments under 200MB; custom skills and third-party plugins aren't validated by Microsoft, so review the output yourself. Microsoft explicitly lists it as unsuitable where accuracy must be guaranteed without human review.</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Start practising now</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Cowork Playbook</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Start with the scenario closest to your own work</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Custom skills live in OneDrive at /Documents/Cowork/skills/ as SKILL.md (up to 50, 1MB each)</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Model picker: Auto (default), GPT 5.5 Frontier, GPT 5.6 Sol/Terra, GPT 6 Astra, Opus 5, Claude Sonnet 5, 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Effort: Light / Medium (default) / High / Extra High / Max — higher is more thorough, but slower and uses more credits</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Want it to fire by itself? Set a scheduled prompt (up to 25) or an event-driven task (incoming mail / @mention) on the "Automations" page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Thank you</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Segoe UI" pitchFamily="34" charset="0"/>
                <a:ea typeface="Segoe UI" pitchFamily="34" charset="-122"/>
                <a:cs typeface="Segoe UI" pitchFamily="34" charset="-120"/>
              </a:rPr>
              <a:t>From asking to delegating — you set the standard, Cowork does the 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Segoe UI" pitchFamily="34" charset="0"/>
                <a:ea typeface="Segoe UI" pitchFamily="34" charset="-122"/>
                <a:cs typeface="Segoe UI" pitchFamily="34" charset="-120"/>
              </a:rPr>
              <a:t>Microsoft 365 Copilot Cowork · Training deck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Training</dc:title>
  <dc:subject>PptxGenJS Presentation</dc:subject>
  <dc:creator>Andy Hung</dc:creator>
  <cp:lastModifiedBy>Andy Hung</cp:lastModifiedBy>
  <cp:revision>1</cp:revision>
  <dcterms:created xsi:type="dcterms:W3CDTF">2026-09-28T21:25:48Z</dcterms:created>
  <dcterms:modified xsi:type="dcterms:W3CDTF">2026-09-28T21:25:48Z</dcterms:modified>
</cp:coreProperties>
</file>