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aka.ms/CoworkPlaybook" TargetMode="External"/><Relationship Id="rId1" Type="http://schemas.openxmlformats.org/officeDocument/2006/relationships/image" Target="../media/Slide-25-image-1.png"/><Relationship Id="rId2" Type="http://schemas.openxmlformats.org/officeDocument/2006/relationships/image" Target="../media/image-25-2.png"/><Relationship Id="rId4" Type="http://schemas.openxmlformats.org/officeDocument/2006/relationships/image" Target="../media/image-25-3.png"/><Relationship Id="rId5" Type="http://schemas.openxmlformats.org/officeDocument/2006/relationships/image" Target="../media/image-25-4.png"/><Relationship Id="rId6" Type="http://schemas.openxmlformats.org/officeDocument/2006/relationships/image" Target="../media/image-25-5.png"/><Relationship Id="rId7" Type="http://schemas.openxmlformats.org/officeDocument/2006/relationships/image" Target="../media/image-25-6.png"/><Relationship Id="rId8" Type="http://schemas.openxmlformats.org/officeDocument/2006/relationships/image" Target="../media/image-25-7.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1371600"/>
            <a:ext cx="2788920" cy="457200"/>
          </a:xfrm>
          <a:prstGeom prst="roundRect">
            <a:avLst>
              <a:gd name="adj" fmla="val 50000"/>
            </a:avLst>
          </a:prstGeom>
          <a:solidFill>
            <a:srgbClr val="FFFFFF">
              <a:alpha val="12000"/>
            </a:srgbClr>
          </a:solidFill>
          <a:ln w="12700">
            <a:solidFill>
              <a:srgbClr val="FFFFFF">
                <a:alpha val="30000"/>
              </a:srgbClr>
            </a:solidFill>
            <a:prstDash val="solid"/>
          </a:ln>
        </p:spPr>
      </p:sp>
      <p:pic>
        <p:nvPicPr>
          <p:cNvPr id="3" name="Image 0" descr="preencoded.png">    </p:cNvPr>
          <p:cNvPicPr>
            <a:picLocks noChangeAspect="1"/>
          </p:cNvPicPr>
          <p:nvPr/>
        </p:nvPicPr>
        <p:blipFill>
          <a:blip r:embed="rId2"/>
          <a:stretch>
            <a:fillRect/>
          </a:stretch>
        </p:blipFill>
        <p:spPr>
          <a:xfrm>
            <a:off x="841248" y="1481328"/>
            <a:ext cx="237744" cy="237744"/>
          </a:xfrm>
          <a:prstGeom prst="rect">
            <a:avLst/>
          </a:prstGeom>
        </p:spPr>
      </p:pic>
      <p:sp>
        <p:nvSpPr>
          <p:cNvPr id="4" name="Text 1"/>
          <p:cNvSpPr/>
          <p:nvPr/>
        </p:nvSpPr>
        <p:spPr>
          <a:xfrm>
            <a:off x="1143000" y="1371600"/>
            <a:ext cx="2377440" cy="45720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Microsoft 365 Copilot</a:t>
            </a:r>
            <a:endParaRPr lang="en-US" sz="1300" dirty="0"/>
          </a:p>
        </p:txBody>
      </p:sp>
      <p:sp>
        <p:nvSpPr>
          <p:cNvPr id="5" name="Text 2"/>
          <p:cNvSpPr/>
          <p:nvPr/>
        </p:nvSpPr>
        <p:spPr>
          <a:xfrm>
            <a:off x="603504" y="1874520"/>
            <a:ext cx="10058400" cy="1280160"/>
          </a:xfrm>
          <a:prstGeom prst="rect">
            <a:avLst/>
          </a:prstGeom>
          <a:noFill/>
          <a:ln/>
        </p:spPr>
        <p:txBody>
          <a:bodyPr wrap="square" rtlCol="0" anchor="ctr"/>
          <a:lstStyle/>
          <a:p>
            <a:pPr indent="0" marL="0">
              <a:buNone/>
            </a:pPr>
            <a:r>
              <a:rPr lang="en-US" sz="8400" b="1" dirty="0">
                <a:solidFill>
                  <a:srgbClr val="FFFFFF"/>
                </a:solidFill>
                <a:latin typeface="Segoe UI" pitchFamily="34" charset="0"/>
                <a:ea typeface="Segoe UI" pitchFamily="34" charset="-122"/>
                <a:cs typeface="Segoe UI" pitchFamily="34" charset="-120"/>
              </a:rPr>
              <a:t>Cowork</a:t>
            </a:r>
            <a:endParaRPr lang="en-US" sz="8400" dirty="0"/>
          </a:p>
        </p:txBody>
      </p:sp>
      <p:sp>
        <p:nvSpPr>
          <p:cNvPr id="6" name="Text 3"/>
          <p:cNvSpPr/>
          <p:nvPr/>
        </p:nvSpPr>
        <p:spPr>
          <a:xfrm>
            <a:off x="640080" y="3154680"/>
            <a:ext cx="10058400" cy="731520"/>
          </a:xfrm>
          <a:prstGeom prst="rect">
            <a:avLst/>
          </a:prstGeom>
          <a:noFill/>
          <a:ln/>
        </p:spPr>
        <p:txBody>
          <a:bodyPr wrap="square" rtlCol="0" anchor="ctr"/>
          <a:lstStyle/>
          <a:p>
            <a:pPr indent="0" marL="0">
              <a:buNone/>
            </a:pPr>
            <a:r>
              <a:rPr lang="en-US" sz="3400" b="1" dirty="0">
                <a:solidFill>
                  <a:srgbClr val="CFC9FF"/>
                </a:solidFill>
                <a:latin typeface="Segoe UI" pitchFamily="34" charset="0"/>
                <a:ea typeface="Segoe UI" pitchFamily="34" charset="-122"/>
                <a:cs typeface="Segoe UI" pitchFamily="34" charset="-120"/>
              </a:rPr>
              <a:t>Agentic AI at work</a:t>
            </a:r>
            <a:endParaRPr lang="en-US" sz="3400" dirty="0"/>
          </a:p>
        </p:txBody>
      </p:sp>
      <p:sp>
        <p:nvSpPr>
          <p:cNvPr id="7" name="Text 4"/>
          <p:cNvSpPr/>
          <p:nvPr/>
        </p:nvSpPr>
        <p:spPr>
          <a:xfrm>
            <a:off x="640080" y="3977640"/>
            <a:ext cx="9601200" cy="548640"/>
          </a:xfrm>
          <a:prstGeom prst="rect">
            <a:avLst/>
          </a:prstGeom>
          <a:noFill/>
          <a:ln/>
        </p:spPr>
        <p:txBody>
          <a:bodyPr wrap="square" rtlCol="0" anchor="ctr"/>
          <a:lstStyle/>
          <a:p>
            <a:pPr indent="0" marL="0">
              <a:buNone/>
            </a:pPr>
            <a:r>
              <a:rPr lang="en-US" sz="1600" dirty="0">
                <a:solidFill>
                  <a:srgbClr val="B9BCE0"/>
                </a:solidFill>
                <a:latin typeface="Segoe UI" pitchFamily="34" charset="0"/>
                <a:ea typeface="Segoe UI" pitchFamily="34" charset="-122"/>
                <a:cs typeface="Segoe UI" pitchFamily="34" charset="-120"/>
              </a:rPr>
              <a:t>Seven real telecom network operations scenarios showing how Copilot executes across apps, shows a risk level before medium/high-risk actions, and waits for your approval</a:t>
            </a:r>
            <a:endParaRPr lang="en-US" sz="1600" dirty="0"/>
          </a:p>
        </p:txBody>
      </p:sp>
      <p:sp>
        <p:nvSpPr>
          <p:cNvPr id="8" name="Shape 5"/>
          <p:cNvSpPr/>
          <p:nvPr/>
        </p:nvSpPr>
        <p:spPr>
          <a:xfrm>
            <a:off x="640080" y="5074920"/>
            <a:ext cx="3840480" cy="0"/>
          </a:xfrm>
          <a:prstGeom prst="line">
            <a:avLst/>
          </a:prstGeom>
          <a:noFill/>
          <a:ln w="12700">
            <a:solidFill>
              <a:srgbClr val="FFFFFF">
                <a:alpha val="25000"/>
              </a:srgbClr>
            </a:solidFill>
            <a:prstDash val="solid"/>
          </a:ln>
        </p:spPr>
      </p:sp>
      <p:sp>
        <p:nvSpPr>
          <p:cNvPr id="9" name="Text 6"/>
          <p:cNvSpPr/>
          <p:nvPr/>
        </p:nvSpPr>
        <p:spPr>
          <a:xfrm>
            <a:off x="640080" y="5212080"/>
            <a:ext cx="7315200" cy="36576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Training deck · client-ready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AGENDA</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we'll cover</a:t>
            </a:r>
            <a:endParaRPr lang="en-US" sz="3000" dirty="0"/>
          </a:p>
        </p:txBody>
      </p:sp>
      <p:sp>
        <p:nvSpPr>
          <p:cNvPr id="5" name="Text 3"/>
          <p:cNvSpPr/>
          <p:nvPr/>
        </p:nvSpPr>
        <p:spPr>
          <a:xfrm>
            <a:off x="640080" y="16642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01</a:t>
            </a:r>
            <a:endParaRPr lang="en-US" sz="3400" dirty="0"/>
          </a:p>
        </p:txBody>
      </p:sp>
      <p:sp>
        <p:nvSpPr>
          <p:cNvPr id="6" name="Text 4"/>
          <p:cNvSpPr/>
          <p:nvPr/>
        </p:nvSpPr>
        <p:spPr>
          <a:xfrm>
            <a:off x="1737360" y="17007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Meet Cowork</a:t>
            </a:r>
            <a:endParaRPr lang="en-US" sz="1900" dirty="0"/>
          </a:p>
        </p:txBody>
      </p:sp>
      <p:sp>
        <p:nvSpPr>
          <p:cNvPr id="7" name="Text 5"/>
          <p:cNvSpPr/>
          <p:nvPr/>
        </p:nvSpPr>
        <p:spPr>
          <a:xfrm>
            <a:off x="1737360" y="21214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What agentic AI is, and how it differs from Copilot Chat</a:t>
            </a:r>
            <a:endParaRPr lang="en-US" sz="1350" dirty="0"/>
          </a:p>
        </p:txBody>
      </p:sp>
      <p:sp>
        <p:nvSpPr>
          <p:cNvPr id="8" name="Text 6"/>
          <p:cNvSpPr/>
          <p:nvPr/>
        </p:nvSpPr>
        <p:spPr>
          <a:xfrm>
            <a:off x="640080" y="25786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02</a:t>
            </a:r>
            <a:endParaRPr lang="en-US" sz="3400" dirty="0"/>
          </a:p>
        </p:txBody>
      </p:sp>
      <p:sp>
        <p:nvSpPr>
          <p:cNvPr id="9" name="Text 7"/>
          <p:cNvSpPr/>
          <p:nvPr/>
        </p:nvSpPr>
        <p:spPr>
          <a:xfrm>
            <a:off x="1737360" y="26151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Core capabilities</a:t>
            </a:r>
            <a:endParaRPr lang="en-US" sz="1900" dirty="0"/>
          </a:p>
        </p:txBody>
      </p:sp>
      <p:sp>
        <p:nvSpPr>
          <p:cNvPr id="10" name="Text 8"/>
          <p:cNvSpPr/>
          <p:nvPr/>
        </p:nvSpPr>
        <p:spPr>
          <a:xfrm>
            <a:off x="1737360" y="30358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Skills, workspace, approval before action, self-verification</a:t>
            </a:r>
            <a:endParaRPr lang="en-US" sz="1350" dirty="0"/>
          </a:p>
        </p:txBody>
      </p:sp>
      <p:sp>
        <p:nvSpPr>
          <p:cNvPr id="11" name="Text 9"/>
          <p:cNvSpPr/>
          <p:nvPr/>
        </p:nvSpPr>
        <p:spPr>
          <a:xfrm>
            <a:off x="640080" y="34930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03</a:t>
            </a:r>
            <a:endParaRPr lang="en-US" sz="3400" dirty="0"/>
          </a:p>
        </p:txBody>
      </p:sp>
      <p:sp>
        <p:nvSpPr>
          <p:cNvPr id="12" name="Text 10"/>
          <p:cNvSpPr/>
          <p:nvPr/>
        </p:nvSpPr>
        <p:spPr>
          <a:xfrm>
            <a:off x="1737360" y="35295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Set up your practice environment</a:t>
            </a:r>
            <a:endParaRPr lang="en-US" sz="1900" dirty="0"/>
          </a:p>
        </p:txBody>
      </p:sp>
      <p:sp>
        <p:nvSpPr>
          <p:cNvPr id="13" name="Text 11"/>
          <p:cNvSpPr/>
          <p:nvPr/>
        </p:nvSpPr>
        <p:spPr>
          <a:xfrm>
            <a:off x="1737360" y="39502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Seed the material into OneDrive and your mailbox first, so Cowork finds it itself</a:t>
            </a:r>
            <a:endParaRPr lang="en-US" sz="1350" dirty="0"/>
          </a:p>
        </p:txBody>
      </p:sp>
      <p:sp>
        <p:nvSpPr>
          <p:cNvPr id="14" name="Text 12"/>
          <p:cNvSpPr/>
          <p:nvPr/>
        </p:nvSpPr>
        <p:spPr>
          <a:xfrm>
            <a:off x="640080" y="44074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04</a:t>
            </a:r>
            <a:endParaRPr lang="en-US" sz="3400" dirty="0"/>
          </a:p>
        </p:txBody>
      </p:sp>
      <p:sp>
        <p:nvSpPr>
          <p:cNvPr id="15" name="Text 13"/>
          <p:cNvSpPr/>
          <p:nvPr/>
        </p:nvSpPr>
        <p:spPr>
          <a:xfrm>
            <a:off x="1737360" y="44439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Seven hands-on scenarios</a:t>
            </a:r>
            <a:endParaRPr lang="en-US" sz="1900" dirty="0"/>
          </a:p>
        </p:txBody>
      </p:sp>
      <p:sp>
        <p:nvSpPr>
          <p:cNvPr id="16" name="Text 14"/>
          <p:cNvSpPr/>
          <p:nvPr/>
        </p:nvSpPr>
        <p:spPr>
          <a:xfrm>
            <a:off x="1737360" y="48646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Alarm triage, maintenance window, circuit SLA, regulatory notification, tariff capacity, disclosure order, quality reporting — one workflow at a time</a:t>
            </a:r>
            <a:endParaRPr lang="en-US" sz="1350" dirty="0"/>
          </a:p>
        </p:txBody>
      </p:sp>
      <p:sp>
        <p:nvSpPr>
          <p:cNvPr id="17" name="Text 15"/>
          <p:cNvSpPr/>
          <p:nvPr/>
        </p:nvSpPr>
        <p:spPr>
          <a:xfrm>
            <a:off x="640080" y="53218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05</a:t>
            </a:r>
            <a:endParaRPr lang="en-US" sz="3400" dirty="0"/>
          </a:p>
        </p:txBody>
      </p:sp>
      <p:sp>
        <p:nvSpPr>
          <p:cNvPr id="18" name="Text 16"/>
          <p:cNvSpPr/>
          <p:nvPr/>
        </p:nvSpPr>
        <p:spPr>
          <a:xfrm>
            <a:off x="1737360" y="53583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Make it your own</a:t>
            </a:r>
            <a:endParaRPr lang="en-US" sz="1900" dirty="0"/>
          </a:p>
        </p:txBody>
      </p:sp>
      <p:sp>
        <p:nvSpPr>
          <p:cNvPr id="19" name="Text 17"/>
          <p:cNvSpPr/>
          <p:nvPr/>
        </p:nvSpPr>
        <p:spPr>
          <a:xfrm>
            <a:off x="1737360" y="57790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How to extend these scenarios to your own work</a:t>
            </a:r>
            <a:endParaRPr lang="en-US" sz="1350" dirty="0"/>
          </a:p>
        </p:txBody>
      </p:sp>
      <p:sp>
        <p:nvSpPr>
          <p:cNvPr id="20" name="Text 18"/>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9"/>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WHAT IS COWORK</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From "chat" to "agentic execution"</a:t>
            </a:r>
            <a:endParaRPr lang="en-US" sz="3000" dirty="0"/>
          </a:p>
        </p:txBody>
      </p:sp>
      <p:sp>
        <p:nvSpPr>
          <p:cNvPr id="5" name="Text 3"/>
          <p:cNvSpPr/>
          <p:nvPr/>
        </p:nvSpPr>
        <p:spPr>
          <a:xfrm>
            <a:off x="640080" y="1737360"/>
            <a:ext cx="10881360" cy="457200"/>
          </a:xfrm>
          <a:prstGeom prst="rect">
            <a:avLst/>
          </a:prstGeom>
          <a:noFill/>
          <a:ln/>
        </p:spPr>
        <p:txBody>
          <a:bodyPr wrap="square" rtlCol="0" anchor="ctr"/>
          <a:lstStyle/>
          <a:p>
            <a:pPr indent="0" marL="0">
              <a:buNone/>
            </a:pPr>
            <a:r>
              <a:rPr lang="en-US" sz="2200" dirty="0">
                <a:solidFill>
                  <a:srgbClr val="000000"/>
                </a:solidFill>
                <a:latin typeface="Segoe UI" pitchFamily="34" charset="0"/>
                <a:ea typeface="Segoe UI" pitchFamily="34" charset="-122"/>
                <a:cs typeface="Segoe UI" pitchFamily="34" charset="-120"/>
              </a:rPr>
              <a:t>Cowork is Copilot's </a:t>
            </a:r>
            <a:pPr indent="0" marL="0">
              <a:buNone/>
            </a:pPr>
            <a:r>
              <a:rPr lang="en-US" sz="2200" b="1" dirty="0">
                <a:solidFill>
                  <a:srgbClr val="6366F1"/>
                </a:solidFill>
                <a:latin typeface="Segoe UI" pitchFamily="34" charset="0"/>
                <a:ea typeface="Segoe UI" pitchFamily="34" charset="-122"/>
                <a:cs typeface="Segoe UI" pitchFamily="34" charset="-120"/>
              </a:rPr>
              <a:t>agentic</a:t>
            </a:r>
            <a:pPr indent="0" marL="0">
              <a:buNone/>
            </a:pPr>
            <a:r>
              <a:rPr lang="en-US" sz="2200" dirty="0">
                <a:solidFill>
                  <a:srgbClr val="000000"/>
                </a:solidFill>
                <a:latin typeface="Segoe UI" pitchFamily="34" charset="0"/>
                <a:ea typeface="Segoe UI" pitchFamily="34" charset="-122"/>
                <a:cs typeface="Segoe UI" pitchFamily="34" charset="-120"/>
              </a:rPr>
              <a:t> working mode.</a:t>
            </a:r>
            <a:endParaRPr lang="en-US" sz="2200" dirty="0"/>
          </a:p>
        </p:txBody>
      </p:sp>
      <p:sp>
        <p:nvSpPr>
          <p:cNvPr id="6" name="Text 4"/>
          <p:cNvSpPr/>
          <p:nvPr/>
        </p:nvSpPr>
        <p:spPr>
          <a:xfrm>
            <a:off x="640080" y="2286000"/>
            <a:ext cx="10881360" cy="914400"/>
          </a:xfrm>
          <a:prstGeom prst="rect">
            <a:avLst/>
          </a:prstGeom>
          <a:noFill/>
          <a:ln/>
        </p:spPr>
        <p:txBody>
          <a:bodyPr wrap="square" rtlCol="0" anchor="ctr"/>
          <a:lstStyle/>
          <a:p>
            <a:pPr indent="0" marL="0">
              <a:lnSpc>
                <a:spcPct val="130000"/>
              </a:lnSpc>
              <a:buNone/>
            </a:pPr>
            <a:r>
              <a:rPr lang="en-US" sz="1500" dirty="0">
                <a:solidFill>
                  <a:srgbClr val="5B6079"/>
                </a:solidFill>
                <a:latin typeface="Segoe UI" pitchFamily="34" charset="0"/>
                <a:ea typeface="Segoe UI" pitchFamily="34" charset="-122"/>
                <a:cs typeface="Segoe UI" pitchFamily="34" charset="-120"/>
              </a:rPr>
              <a:t>You hand it a goal; it breaks the work into steps, reads your cloud files, loads the skills it needs, produces results across apps and checks its own work — pausing for your approval, with a risk level shown, before any medium or high-risk action. You move from quick single-turn answers to handing over a task that actually gets done.</a:t>
            </a:r>
            <a:endParaRPr lang="en-US" sz="1500" dirty="0"/>
          </a:p>
        </p:txBody>
      </p:sp>
      <p:sp>
        <p:nvSpPr>
          <p:cNvPr id="7" name="Shape 5"/>
          <p:cNvSpPr/>
          <p:nvPr/>
        </p:nvSpPr>
        <p:spPr>
          <a:xfrm>
            <a:off x="640080"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8" name="Shape 6"/>
          <p:cNvSpPr/>
          <p:nvPr/>
        </p:nvSpPr>
        <p:spPr>
          <a:xfrm>
            <a:off x="640080" y="3611880"/>
            <a:ext cx="3454298" cy="82296"/>
          </a:xfrm>
          <a:prstGeom prst="rect">
            <a:avLst/>
          </a:prstGeom>
          <a:solidFill>
            <a:srgbClr val="94A3B8"/>
          </a:solidFill>
          <a:ln/>
        </p:spPr>
      </p:sp>
      <p:pic>
        <p:nvPicPr>
          <p:cNvPr id="9" name="Image 0" descr="preencoded.png">    </p:cNvPr>
          <p:cNvPicPr>
            <a:picLocks noChangeAspect="1"/>
          </p:cNvPicPr>
          <p:nvPr/>
        </p:nvPicPr>
        <p:blipFill>
          <a:blip r:embed="rId1"/>
          <a:stretch>
            <a:fillRect/>
          </a:stretch>
        </p:blipFill>
        <p:spPr>
          <a:xfrm>
            <a:off x="960120" y="3931920"/>
            <a:ext cx="457200" cy="457200"/>
          </a:xfrm>
          <a:prstGeom prst="rect">
            <a:avLst/>
          </a:prstGeom>
        </p:spPr>
      </p:pic>
      <p:sp>
        <p:nvSpPr>
          <p:cNvPr id="10" name="Text 7"/>
          <p:cNvSpPr/>
          <p:nvPr/>
        </p:nvSpPr>
        <p:spPr>
          <a:xfrm>
            <a:off x="960120"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Copilot Chat</a:t>
            </a:r>
            <a:endParaRPr lang="en-US" sz="1700" dirty="0"/>
          </a:p>
        </p:txBody>
      </p:sp>
      <p:sp>
        <p:nvSpPr>
          <p:cNvPr id="11" name="Text 8"/>
          <p:cNvSpPr/>
          <p:nvPr/>
        </p:nvSpPr>
        <p:spPr>
          <a:xfrm>
            <a:off x="960120"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Quick single-turn answers; great for instant replies and brainstorming.</a:t>
            </a:r>
            <a:endParaRPr lang="en-US" sz="1400" dirty="0"/>
          </a:p>
        </p:txBody>
      </p:sp>
      <p:sp>
        <p:nvSpPr>
          <p:cNvPr id="12" name="Shape 9"/>
          <p:cNvSpPr/>
          <p:nvPr/>
        </p:nvSpPr>
        <p:spPr>
          <a:xfrm>
            <a:off x="4368698"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3" name="Shape 10"/>
          <p:cNvSpPr/>
          <p:nvPr/>
        </p:nvSpPr>
        <p:spPr>
          <a:xfrm>
            <a:off x="4368698" y="3611880"/>
            <a:ext cx="3454298" cy="82296"/>
          </a:xfrm>
          <a:prstGeom prst="rect">
            <a:avLst/>
          </a:prstGeom>
          <a:solidFill>
            <a:srgbClr val="6366F1"/>
          </a:solidFill>
          <a:ln/>
        </p:spPr>
      </p:sp>
      <p:pic>
        <p:nvPicPr>
          <p:cNvPr id="14" name="Image 1" descr="preencoded.png">    </p:cNvPr>
          <p:cNvPicPr>
            <a:picLocks noChangeAspect="1"/>
          </p:cNvPicPr>
          <p:nvPr/>
        </p:nvPicPr>
        <p:blipFill>
          <a:blip r:embed="rId2"/>
          <a:stretch>
            <a:fillRect/>
          </a:stretch>
        </p:blipFill>
        <p:spPr>
          <a:xfrm>
            <a:off x="4688738" y="3931920"/>
            <a:ext cx="457200" cy="457200"/>
          </a:xfrm>
          <a:prstGeom prst="rect">
            <a:avLst/>
          </a:prstGeom>
        </p:spPr>
      </p:pic>
      <p:sp>
        <p:nvSpPr>
          <p:cNvPr id="15" name="Text 11"/>
          <p:cNvSpPr/>
          <p:nvPr/>
        </p:nvSpPr>
        <p:spPr>
          <a:xfrm>
            <a:off x="4688738"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Cowork agent</a:t>
            </a:r>
            <a:endParaRPr lang="en-US" sz="1700" dirty="0"/>
          </a:p>
        </p:txBody>
      </p:sp>
      <p:sp>
        <p:nvSpPr>
          <p:cNvPr id="16" name="Text 12"/>
          <p:cNvSpPr/>
          <p:nvPr/>
        </p:nvSpPr>
        <p:spPr>
          <a:xfrm>
            <a:off x="4688738"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You give a goal; it executes autonomously across apps, for minutes to hours.</a:t>
            </a:r>
            <a:endParaRPr lang="en-US" sz="1400" dirty="0"/>
          </a:p>
        </p:txBody>
      </p:sp>
      <p:sp>
        <p:nvSpPr>
          <p:cNvPr id="17" name="Shape 13"/>
          <p:cNvSpPr/>
          <p:nvPr/>
        </p:nvSpPr>
        <p:spPr>
          <a:xfrm>
            <a:off x="8097317"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8" name="Shape 14"/>
          <p:cNvSpPr/>
          <p:nvPr/>
        </p:nvSpPr>
        <p:spPr>
          <a:xfrm>
            <a:off x="8097317" y="3611880"/>
            <a:ext cx="3454298" cy="82296"/>
          </a:xfrm>
          <a:prstGeom prst="rect">
            <a:avLst/>
          </a:prstGeom>
          <a:solidFill>
            <a:srgbClr val="8B5CF6"/>
          </a:solidFill>
          <a:ln/>
        </p:spPr>
      </p:sp>
      <p:pic>
        <p:nvPicPr>
          <p:cNvPr id="19" name="Image 2" descr="preencoded.png">    </p:cNvPr>
          <p:cNvPicPr>
            <a:picLocks noChangeAspect="1"/>
          </p:cNvPicPr>
          <p:nvPr/>
        </p:nvPicPr>
        <p:blipFill>
          <a:blip r:embed="rId3"/>
          <a:stretch>
            <a:fillRect/>
          </a:stretch>
        </p:blipFill>
        <p:spPr>
          <a:xfrm>
            <a:off x="8417357" y="3931920"/>
            <a:ext cx="457200" cy="457200"/>
          </a:xfrm>
          <a:prstGeom prst="rect">
            <a:avLst/>
          </a:prstGeom>
        </p:spPr>
      </p:pic>
      <p:sp>
        <p:nvSpPr>
          <p:cNvPr id="20" name="Text 15"/>
          <p:cNvSpPr/>
          <p:nvPr/>
        </p:nvSpPr>
        <p:spPr>
          <a:xfrm>
            <a:off x="8417357"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You stay in charge</a:t>
            </a:r>
            <a:endParaRPr lang="en-US" sz="1700" dirty="0"/>
          </a:p>
        </p:txBody>
      </p:sp>
      <p:sp>
        <p:nvSpPr>
          <p:cNvPr id="21" name="Text 16"/>
          <p:cNvSpPr/>
          <p:nvPr/>
        </p:nvSpPr>
        <p:spPr>
          <a:xfrm>
            <a:off x="8417357"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Anything outbound or affecting others pauses for your approval.</a:t>
            </a:r>
            <a:endParaRPr lang="en-US" sz="1400" dirty="0"/>
          </a:p>
        </p:txBody>
      </p:sp>
      <p:sp>
        <p:nvSpPr>
          <p:cNvPr id="22" name="Text 1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3" name="Text 1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COMPARISON</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Cowork vs. Copilot Chat</a:t>
            </a:r>
            <a:endParaRPr lang="en-US" sz="3000" dirty="0"/>
          </a:p>
        </p:txBody>
      </p:sp>
      <p:sp>
        <p:nvSpPr>
          <p:cNvPr id="5" name="Shape 3"/>
          <p:cNvSpPr/>
          <p:nvPr/>
        </p:nvSpPr>
        <p:spPr>
          <a:xfrm>
            <a:off x="640080" y="1737360"/>
            <a:ext cx="2743200" cy="457200"/>
          </a:xfrm>
          <a:prstGeom prst="rect">
            <a:avLst/>
          </a:prstGeom>
          <a:solidFill>
            <a:srgbClr val="EEF0F8"/>
          </a:solidFill>
          <a:ln/>
        </p:spPr>
      </p:sp>
      <p:sp>
        <p:nvSpPr>
          <p:cNvPr id="6" name="Shape 4"/>
          <p:cNvSpPr/>
          <p:nvPr/>
        </p:nvSpPr>
        <p:spPr>
          <a:xfrm>
            <a:off x="3383280" y="1737360"/>
            <a:ext cx="4023360" cy="457200"/>
          </a:xfrm>
          <a:prstGeom prst="rect">
            <a:avLst/>
          </a:prstGeom>
          <a:solidFill>
            <a:srgbClr val="0F1031"/>
          </a:solidFill>
          <a:ln/>
        </p:spPr>
      </p:sp>
      <p:sp>
        <p:nvSpPr>
          <p:cNvPr id="7" name="Shape 5"/>
          <p:cNvSpPr/>
          <p:nvPr/>
        </p:nvSpPr>
        <p:spPr>
          <a:xfrm>
            <a:off x="7406640" y="1737360"/>
            <a:ext cx="4142232" cy="457200"/>
          </a:xfrm>
          <a:prstGeom prst="rect">
            <a:avLst/>
          </a:prstGeom>
          <a:solidFill>
            <a:srgbClr val="6366F1"/>
          </a:solidFill>
          <a:ln/>
        </p:spPr>
      </p:sp>
      <p:sp>
        <p:nvSpPr>
          <p:cNvPr id="8" name="Text 6"/>
          <p:cNvSpPr/>
          <p:nvPr/>
        </p:nvSpPr>
        <p:spPr>
          <a:xfrm>
            <a:off x="640080" y="1737360"/>
            <a:ext cx="2743200" cy="457200"/>
          </a:xfrm>
          <a:prstGeom prst="rect">
            <a:avLst/>
          </a:prstGeom>
          <a:noFill/>
          <a:ln/>
        </p:spPr>
        <p:txBody>
          <a:bodyPr wrap="square" rtlCol="0" anchor="ctr"/>
          <a:lstStyle/>
          <a:p>
            <a:pPr indent="0" marL="0">
              <a:buNone/>
            </a:pPr>
            <a:endParaRPr lang="en-US" dirty="0"/>
          </a:p>
        </p:txBody>
      </p:sp>
      <p:sp>
        <p:nvSpPr>
          <p:cNvPr id="9" name="Text 7"/>
          <p:cNvSpPr/>
          <p:nvPr/>
        </p:nvSpPr>
        <p:spPr>
          <a:xfrm>
            <a:off x="3383280" y="1737360"/>
            <a:ext cx="4023360" cy="4572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Copilot Chat</a:t>
            </a:r>
            <a:endParaRPr lang="en-US" sz="1400" dirty="0"/>
          </a:p>
        </p:txBody>
      </p:sp>
      <p:sp>
        <p:nvSpPr>
          <p:cNvPr id="10" name="Text 8"/>
          <p:cNvSpPr/>
          <p:nvPr/>
        </p:nvSpPr>
        <p:spPr>
          <a:xfrm>
            <a:off x="7406640" y="1737360"/>
            <a:ext cx="4142232" cy="4572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Copilot Cowork</a:t>
            </a:r>
            <a:endParaRPr lang="en-US" sz="1400" dirty="0"/>
          </a:p>
        </p:txBody>
      </p:sp>
      <p:sp>
        <p:nvSpPr>
          <p:cNvPr id="11" name="Shape 9"/>
          <p:cNvSpPr/>
          <p:nvPr/>
        </p:nvSpPr>
        <p:spPr>
          <a:xfrm>
            <a:off x="640080" y="2194560"/>
            <a:ext cx="10908792" cy="457200"/>
          </a:xfrm>
          <a:prstGeom prst="rect">
            <a:avLst/>
          </a:prstGeom>
          <a:solidFill>
            <a:srgbClr val="F2F4FB"/>
          </a:solidFill>
          <a:ln/>
        </p:spPr>
      </p:sp>
      <p:sp>
        <p:nvSpPr>
          <p:cNvPr id="12" name="Text 10"/>
          <p:cNvSpPr/>
          <p:nvPr/>
        </p:nvSpPr>
        <p:spPr>
          <a:xfrm>
            <a:off x="822960" y="21945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Quick single-turn Q&amp;A</a:t>
            </a:r>
            <a:endParaRPr lang="en-US" sz="1250" dirty="0"/>
          </a:p>
        </p:txBody>
      </p:sp>
      <p:sp>
        <p:nvSpPr>
          <p:cNvPr id="13" name="Text 11"/>
          <p:cNvSpPr/>
          <p:nvPr/>
        </p:nvSpPr>
        <p:spPr>
          <a:xfrm>
            <a:off x="3566160" y="21945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Quick single-turn Q&amp;A</a:t>
            </a:r>
            <a:endParaRPr lang="en-US" sz="1250" dirty="0"/>
          </a:p>
        </p:txBody>
      </p:sp>
      <p:sp>
        <p:nvSpPr>
          <p:cNvPr id="14" name="Text 12"/>
          <p:cNvSpPr/>
          <p:nvPr/>
        </p:nvSpPr>
        <p:spPr>
          <a:xfrm>
            <a:off x="7589520" y="21945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Hand over a goal; autonomous multi-step work across apps</a:t>
            </a:r>
            <a:endParaRPr lang="en-US" sz="1250" dirty="0"/>
          </a:p>
        </p:txBody>
      </p:sp>
      <p:sp>
        <p:nvSpPr>
          <p:cNvPr id="15" name="Shape 13"/>
          <p:cNvSpPr/>
          <p:nvPr/>
        </p:nvSpPr>
        <p:spPr>
          <a:xfrm>
            <a:off x="640080" y="2651760"/>
            <a:ext cx="10908792" cy="457200"/>
          </a:xfrm>
          <a:prstGeom prst="rect">
            <a:avLst/>
          </a:prstGeom>
          <a:solidFill>
            <a:srgbClr val="FFFFFF"/>
          </a:solidFill>
          <a:ln/>
        </p:spPr>
      </p:sp>
      <p:sp>
        <p:nvSpPr>
          <p:cNvPr id="16" name="Text 14"/>
          <p:cNvSpPr/>
          <p:nvPr/>
        </p:nvSpPr>
        <p:spPr>
          <a:xfrm>
            <a:off x="822960" y="26517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Seconds to minutes</a:t>
            </a:r>
            <a:endParaRPr lang="en-US" sz="1250" dirty="0"/>
          </a:p>
        </p:txBody>
      </p:sp>
      <p:sp>
        <p:nvSpPr>
          <p:cNvPr id="17" name="Text 15"/>
          <p:cNvSpPr/>
          <p:nvPr/>
        </p:nvSpPr>
        <p:spPr>
          <a:xfrm>
            <a:off x="3566160" y="26517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Seconds to minutes</a:t>
            </a:r>
            <a:endParaRPr lang="en-US" sz="1250" dirty="0"/>
          </a:p>
        </p:txBody>
      </p:sp>
      <p:sp>
        <p:nvSpPr>
          <p:cNvPr id="18" name="Text 16"/>
          <p:cNvSpPr/>
          <p:nvPr/>
        </p:nvSpPr>
        <p:spPr>
          <a:xfrm>
            <a:off x="7589520" y="26517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Minutes to hours (autonomous)</a:t>
            </a:r>
            <a:endParaRPr lang="en-US" sz="1250" dirty="0"/>
          </a:p>
        </p:txBody>
      </p:sp>
      <p:sp>
        <p:nvSpPr>
          <p:cNvPr id="19" name="Shape 17"/>
          <p:cNvSpPr/>
          <p:nvPr/>
        </p:nvSpPr>
        <p:spPr>
          <a:xfrm>
            <a:off x="640080" y="3108960"/>
            <a:ext cx="10908792" cy="457200"/>
          </a:xfrm>
          <a:prstGeom prst="rect">
            <a:avLst/>
          </a:prstGeom>
          <a:solidFill>
            <a:srgbClr val="F2F4FB"/>
          </a:solidFill>
          <a:ln/>
        </p:spPr>
      </p:sp>
      <p:sp>
        <p:nvSpPr>
          <p:cNvPr id="20" name="Text 18"/>
          <p:cNvSpPr/>
          <p:nvPr/>
        </p:nvSpPr>
        <p:spPr>
          <a:xfrm>
            <a:off x="822960" y="31089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Single step, single session</a:t>
            </a:r>
            <a:endParaRPr lang="en-US" sz="1250" dirty="0"/>
          </a:p>
        </p:txBody>
      </p:sp>
      <p:sp>
        <p:nvSpPr>
          <p:cNvPr id="21" name="Text 19"/>
          <p:cNvSpPr/>
          <p:nvPr/>
        </p:nvSpPr>
        <p:spPr>
          <a:xfrm>
            <a:off x="3566160" y="31089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Single step, single session</a:t>
            </a:r>
            <a:endParaRPr lang="en-US" sz="1250" dirty="0"/>
          </a:p>
        </p:txBody>
      </p:sp>
      <p:sp>
        <p:nvSpPr>
          <p:cNvPr id="22" name="Text 20"/>
          <p:cNvSpPr/>
          <p:nvPr/>
        </p:nvSpPr>
        <p:spPr>
          <a:xfrm>
            <a:off x="7589520" y="31089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Multi-step workflows across tasks and sources</a:t>
            </a:r>
            <a:endParaRPr lang="en-US" sz="1250" dirty="0"/>
          </a:p>
        </p:txBody>
      </p:sp>
      <p:sp>
        <p:nvSpPr>
          <p:cNvPr id="23" name="Shape 21"/>
          <p:cNvSpPr/>
          <p:nvPr/>
        </p:nvSpPr>
        <p:spPr>
          <a:xfrm>
            <a:off x="640080" y="3566160"/>
            <a:ext cx="10908792" cy="457200"/>
          </a:xfrm>
          <a:prstGeom prst="rect">
            <a:avLst/>
          </a:prstGeom>
          <a:solidFill>
            <a:srgbClr val="FFFFFF"/>
          </a:solidFill>
          <a:ln/>
        </p:spPr>
      </p:sp>
      <p:sp>
        <p:nvSpPr>
          <p:cNvPr id="24" name="Text 22"/>
          <p:cNvSpPr/>
          <p:nvPr/>
        </p:nvSpPr>
        <p:spPr>
          <a:xfrm>
            <a:off x="822960" y="35661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Paste in a snippet</a:t>
            </a:r>
            <a:endParaRPr lang="en-US" sz="1250" dirty="0"/>
          </a:p>
        </p:txBody>
      </p:sp>
      <p:sp>
        <p:nvSpPr>
          <p:cNvPr id="25" name="Text 23"/>
          <p:cNvSpPr/>
          <p:nvPr/>
        </p:nvSpPr>
        <p:spPr>
          <a:xfrm>
            <a:off x="3566160" y="35661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Paste in a snippet</a:t>
            </a:r>
            <a:endParaRPr lang="en-US" sz="1250" dirty="0"/>
          </a:p>
        </p:txBody>
      </p:sp>
      <p:sp>
        <p:nvSpPr>
          <p:cNvPr id="26" name="Text 24"/>
          <p:cNvSpPr/>
          <p:nvPr/>
        </p:nvSpPr>
        <p:spPr>
          <a:xfrm>
            <a:off x="7589520" y="35661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Reads cloud attachments and creates new files; no access to local files</a:t>
            </a:r>
            <a:endParaRPr lang="en-US" sz="1250" dirty="0"/>
          </a:p>
        </p:txBody>
      </p:sp>
      <p:sp>
        <p:nvSpPr>
          <p:cNvPr id="27" name="Shape 25"/>
          <p:cNvSpPr/>
          <p:nvPr/>
        </p:nvSpPr>
        <p:spPr>
          <a:xfrm>
            <a:off x="640080" y="4023360"/>
            <a:ext cx="10908792" cy="457200"/>
          </a:xfrm>
          <a:prstGeom prst="rect">
            <a:avLst/>
          </a:prstGeom>
          <a:solidFill>
            <a:srgbClr val="F2F4FB"/>
          </a:solidFill>
          <a:ln/>
        </p:spPr>
      </p:sp>
      <p:sp>
        <p:nvSpPr>
          <p:cNvPr id="28" name="Text 26"/>
          <p:cNvSpPr/>
          <p:nvPr/>
        </p:nvSpPr>
        <p:spPr>
          <a:xfrm>
            <a:off x="822960" y="40233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One conversational capability</a:t>
            </a:r>
            <a:endParaRPr lang="en-US" sz="1250" dirty="0"/>
          </a:p>
        </p:txBody>
      </p:sp>
      <p:sp>
        <p:nvSpPr>
          <p:cNvPr id="29" name="Text 27"/>
          <p:cNvSpPr/>
          <p:nvPr/>
        </p:nvSpPr>
        <p:spPr>
          <a:xfrm>
            <a:off x="3566160" y="40233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One conversational capability</a:t>
            </a:r>
            <a:endParaRPr lang="en-US" sz="1250" dirty="0"/>
          </a:p>
        </p:txBody>
      </p:sp>
      <p:sp>
        <p:nvSpPr>
          <p:cNvPr id="30" name="Text 28"/>
          <p:cNvSpPr/>
          <p:nvPr/>
        </p:nvSpPr>
        <p:spPr>
          <a:xfrm>
            <a:off x="7589520" y="40233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Loads 14 built-in skills plus your custom ones automatically</a:t>
            </a:r>
            <a:endParaRPr lang="en-US" sz="1250" dirty="0"/>
          </a:p>
        </p:txBody>
      </p:sp>
      <p:sp>
        <p:nvSpPr>
          <p:cNvPr id="31" name="Shape 29"/>
          <p:cNvSpPr/>
          <p:nvPr/>
        </p:nvSpPr>
        <p:spPr>
          <a:xfrm>
            <a:off x="640080" y="4480560"/>
            <a:ext cx="10908792" cy="457200"/>
          </a:xfrm>
          <a:prstGeom prst="rect">
            <a:avLst/>
          </a:prstGeom>
          <a:solidFill>
            <a:srgbClr val="FFFFFF"/>
          </a:solidFill>
          <a:ln/>
        </p:spPr>
      </p:sp>
      <p:sp>
        <p:nvSpPr>
          <p:cNvPr id="32" name="Text 30"/>
          <p:cNvSpPr/>
          <p:nvPr/>
        </p:nvSpPr>
        <p:spPr>
          <a:xfrm>
            <a:off x="822960" y="44805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Text in the chat window</a:t>
            </a:r>
            <a:endParaRPr lang="en-US" sz="1250" dirty="0"/>
          </a:p>
        </p:txBody>
      </p:sp>
      <p:sp>
        <p:nvSpPr>
          <p:cNvPr id="33" name="Text 31"/>
          <p:cNvSpPr/>
          <p:nvPr/>
        </p:nvSpPr>
        <p:spPr>
          <a:xfrm>
            <a:off x="3566160" y="44805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Text in the chat window</a:t>
            </a:r>
            <a:endParaRPr lang="en-US" sz="1250" dirty="0"/>
          </a:p>
        </p:txBody>
      </p:sp>
      <p:sp>
        <p:nvSpPr>
          <p:cNvPr id="34" name="Text 32"/>
          <p:cNvSpPr/>
          <p:nvPr/>
        </p:nvSpPr>
        <p:spPr>
          <a:xfrm>
            <a:off x="7589520" y="44805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Real documents, spreadsheets and decks in OneDrive</a:t>
            </a:r>
            <a:endParaRPr lang="en-US" sz="1250" dirty="0"/>
          </a:p>
        </p:txBody>
      </p:sp>
      <p:sp>
        <p:nvSpPr>
          <p:cNvPr id="35" name="Shape 33"/>
          <p:cNvSpPr/>
          <p:nvPr/>
        </p:nvSpPr>
        <p:spPr>
          <a:xfrm>
            <a:off x="640080" y="4937760"/>
            <a:ext cx="10908792" cy="457200"/>
          </a:xfrm>
          <a:prstGeom prst="rect">
            <a:avLst/>
          </a:prstGeom>
          <a:solidFill>
            <a:srgbClr val="F2F4FB"/>
          </a:solidFill>
          <a:ln/>
        </p:spPr>
      </p:sp>
      <p:sp>
        <p:nvSpPr>
          <p:cNvPr id="36" name="Text 34"/>
          <p:cNvSpPr/>
          <p:nvPr/>
        </p:nvSpPr>
        <p:spPr>
          <a:xfrm>
            <a:off x="822960" y="49377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You have to open it and prompt every time</a:t>
            </a:r>
            <a:endParaRPr lang="en-US" sz="1250" dirty="0"/>
          </a:p>
        </p:txBody>
      </p:sp>
      <p:sp>
        <p:nvSpPr>
          <p:cNvPr id="37" name="Text 35"/>
          <p:cNvSpPr/>
          <p:nvPr/>
        </p:nvSpPr>
        <p:spPr>
          <a:xfrm>
            <a:off x="3566160" y="49377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You have to open it and prompt every time</a:t>
            </a:r>
            <a:endParaRPr lang="en-US" sz="1250" dirty="0"/>
          </a:p>
        </p:txBody>
      </p:sp>
      <p:sp>
        <p:nvSpPr>
          <p:cNvPr id="38" name="Text 36"/>
          <p:cNvSpPr/>
          <p:nvPr/>
        </p:nvSpPr>
        <p:spPr>
          <a:xfrm>
            <a:off x="7589520" y="49377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Scheduled prompts / event-driven: runs on incoming mail or an @mention</a:t>
            </a:r>
            <a:endParaRPr lang="en-US" sz="1250" dirty="0"/>
          </a:p>
        </p:txBody>
      </p:sp>
      <p:sp>
        <p:nvSpPr>
          <p:cNvPr id="39" name="Shape 37"/>
          <p:cNvSpPr/>
          <p:nvPr/>
        </p:nvSpPr>
        <p:spPr>
          <a:xfrm>
            <a:off x="640080" y="5394960"/>
            <a:ext cx="10908792" cy="457200"/>
          </a:xfrm>
          <a:prstGeom prst="rect">
            <a:avLst/>
          </a:prstGeom>
          <a:solidFill>
            <a:srgbClr val="FFFFFF"/>
          </a:solidFill>
          <a:ln/>
        </p:spPr>
      </p:sp>
      <p:sp>
        <p:nvSpPr>
          <p:cNvPr id="40" name="Text 38"/>
          <p:cNvSpPr/>
          <p:nvPr/>
        </p:nvSpPr>
        <p:spPr>
          <a:xfrm>
            <a:off x="822960" y="53949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Grounded in M365 data</a:t>
            </a:r>
            <a:endParaRPr lang="en-US" sz="1250" dirty="0"/>
          </a:p>
        </p:txBody>
      </p:sp>
      <p:sp>
        <p:nvSpPr>
          <p:cNvPr id="41" name="Text 39"/>
          <p:cNvSpPr/>
          <p:nvPr/>
        </p:nvSpPr>
        <p:spPr>
          <a:xfrm>
            <a:off x="3566160" y="53949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Grounded in M365 data</a:t>
            </a:r>
            <a:endParaRPr lang="en-US" sz="1250" dirty="0"/>
          </a:p>
        </p:txBody>
      </p:sp>
      <p:sp>
        <p:nvSpPr>
          <p:cNvPr id="42" name="Text 40"/>
          <p:cNvSpPr/>
          <p:nvPr/>
        </p:nvSpPr>
        <p:spPr>
          <a:xfrm>
            <a:off x="7589520" y="53949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Connects to external systems via Plugins / MCP — the partner catalogue now lists 92 plugins (D365, SAP, Fabric and more)</a:t>
            </a:r>
            <a:endParaRPr lang="en-US" sz="1250" dirty="0"/>
          </a:p>
        </p:txBody>
      </p:sp>
      <p:sp>
        <p:nvSpPr>
          <p:cNvPr id="43" name="Shape 41"/>
          <p:cNvSpPr/>
          <p:nvPr/>
        </p:nvSpPr>
        <p:spPr>
          <a:xfrm>
            <a:off x="640080" y="5852160"/>
            <a:ext cx="10908792" cy="457200"/>
          </a:xfrm>
          <a:prstGeom prst="rect">
            <a:avLst/>
          </a:prstGeom>
          <a:solidFill>
            <a:srgbClr val="F2F4FB"/>
          </a:solidFill>
          <a:ln/>
        </p:spPr>
      </p:sp>
      <p:sp>
        <p:nvSpPr>
          <p:cNvPr id="44" name="Text 42"/>
          <p:cNvSpPr/>
          <p:nvPr/>
        </p:nvSpPr>
        <p:spPr>
          <a:xfrm>
            <a:off x="822960" y="58521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You judge for yourself</a:t>
            </a:r>
            <a:endParaRPr lang="en-US" sz="1250" dirty="0"/>
          </a:p>
        </p:txBody>
      </p:sp>
      <p:sp>
        <p:nvSpPr>
          <p:cNvPr id="45" name="Text 43"/>
          <p:cNvSpPr/>
          <p:nvPr/>
        </p:nvSpPr>
        <p:spPr>
          <a:xfrm>
            <a:off x="3566160" y="58521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You judge for yourself</a:t>
            </a:r>
            <a:endParaRPr lang="en-US" sz="1250" dirty="0"/>
          </a:p>
        </p:txBody>
      </p:sp>
      <p:sp>
        <p:nvSpPr>
          <p:cNvPr id="46" name="Text 44"/>
          <p:cNvSpPr/>
          <p:nvPr/>
        </p:nvSpPr>
        <p:spPr>
          <a:xfrm>
            <a:off x="7589520" y="58521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Medium/high-risk actions show a risk level and run only after approval</a:t>
            </a:r>
            <a:endParaRPr lang="en-US" sz="1250" dirty="0"/>
          </a:p>
        </p:txBody>
      </p:sp>
      <p:sp>
        <p:nvSpPr>
          <p:cNvPr id="47" name="Text 4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8" name="Text 4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CORE CAPABILITIES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Four things that set Cowork apart</a:t>
            </a:r>
            <a:endParaRPr lang="en-US" sz="3000" dirty="0"/>
          </a:p>
        </p:txBody>
      </p:sp>
      <p:sp>
        <p:nvSpPr>
          <p:cNvPr id="5" name="Shape 3"/>
          <p:cNvSpPr/>
          <p:nvPr/>
        </p:nvSpPr>
        <p:spPr>
          <a:xfrm>
            <a:off x="640080"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6" name="Shape 4"/>
          <p:cNvSpPr/>
          <p:nvPr/>
        </p:nvSpPr>
        <p:spPr>
          <a:xfrm>
            <a:off x="960120" y="2084832"/>
            <a:ext cx="868680" cy="868680"/>
          </a:xfrm>
          <a:prstGeom prst="roundRect">
            <a:avLst>
              <a:gd name="adj" fmla="val 16842"/>
            </a:avLst>
          </a:prstGeom>
          <a:solidFill>
            <a:srgbClr val="7A4DDB"/>
          </a:solidFill>
          <a:ln/>
        </p:spPr>
      </p:sp>
      <p:pic>
        <p:nvPicPr>
          <p:cNvPr id="7" name="Image 0" descr="preencoded.png">    </p:cNvPr>
          <p:cNvPicPr>
            <a:picLocks noChangeAspect="1"/>
          </p:cNvPicPr>
          <p:nvPr/>
        </p:nvPicPr>
        <p:blipFill>
          <a:blip r:embed="rId1"/>
          <a:stretch>
            <a:fillRect/>
          </a:stretch>
        </p:blipFill>
        <p:spPr>
          <a:xfrm>
            <a:off x="1170432" y="2295144"/>
            <a:ext cx="448056" cy="448056"/>
          </a:xfrm>
          <a:prstGeom prst="rect">
            <a:avLst/>
          </a:prstGeom>
        </p:spPr>
      </p:pic>
      <p:sp>
        <p:nvSpPr>
          <p:cNvPr id="8" name="Text 5"/>
          <p:cNvSpPr/>
          <p:nvPr/>
        </p:nvSpPr>
        <p:spPr>
          <a:xfrm>
            <a:off x="2011680" y="21214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14 built-in skills</a:t>
            </a:r>
            <a:endParaRPr lang="en-US" sz="1800" dirty="0"/>
          </a:p>
        </p:txBody>
      </p:sp>
      <p:sp>
        <p:nvSpPr>
          <p:cNvPr id="9" name="Text 6"/>
          <p:cNvSpPr/>
          <p:nvPr/>
        </p:nvSpPr>
        <p:spPr>
          <a:xfrm>
            <a:off x="2011680"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Word, Excel, PowerPoint, PDF, Email, Scheduling, Calendar Management, Meetings, Daily Briefing, Enterprise Search, Deep Research, Communications, Adaptive Cards, App (Frontier).</a:t>
            </a:r>
            <a:endParaRPr lang="en-US" sz="1300" dirty="0"/>
          </a:p>
        </p:txBody>
      </p:sp>
      <p:sp>
        <p:nvSpPr>
          <p:cNvPr id="10" name="Shape 7"/>
          <p:cNvSpPr/>
          <p:nvPr/>
        </p:nvSpPr>
        <p:spPr>
          <a:xfrm>
            <a:off x="6324448"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1" name="Shape 8"/>
          <p:cNvSpPr/>
          <p:nvPr/>
        </p:nvSpPr>
        <p:spPr>
          <a:xfrm>
            <a:off x="6644488" y="2084832"/>
            <a:ext cx="868680" cy="868680"/>
          </a:xfrm>
          <a:prstGeom prst="roundRect">
            <a:avLst>
              <a:gd name="adj" fmla="val 16842"/>
            </a:avLst>
          </a:prstGeom>
          <a:solidFill>
            <a:srgbClr val="0F6CBD"/>
          </a:solidFill>
          <a:ln/>
        </p:spPr>
      </p:sp>
      <p:pic>
        <p:nvPicPr>
          <p:cNvPr id="12" name="Image 1" descr="preencoded.png">    </p:cNvPr>
          <p:cNvPicPr>
            <a:picLocks noChangeAspect="1"/>
          </p:cNvPicPr>
          <p:nvPr/>
        </p:nvPicPr>
        <p:blipFill>
          <a:blip r:embed="rId2"/>
          <a:stretch>
            <a:fillRect/>
          </a:stretch>
        </p:blipFill>
        <p:spPr>
          <a:xfrm>
            <a:off x="6854800" y="2295144"/>
            <a:ext cx="448056" cy="448056"/>
          </a:xfrm>
          <a:prstGeom prst="rect">
            <a:avLst/>
          </a:prstGeom>
        </p:spPr>
      </p:pic>
      <p:sp>
        <p:nvSpPr>
          <p:cNvPr id="13" name="Text 9"/>
          <p:cNvSpPr/>
          <p:nvPr/>
        </p:nvSpPr>
        <p:spPr>
          <a:xfrm>
            <a:off x="7696048" y="21214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Workspace</a:t>
            </a:r>
            <a:endParaRPr lang="en-US" sz="1800" dirty="0"/>
          </a:p>
        </p:txBody>
      </p:sp>
      <p:sp>
        <p:nvSpPr>
          <p:cNvPr id="14" name="Text 10"/>
          <p:cNvSpPr/>
          <p:nvPr/>
        </p:nvSpPr>
        <p:spPr>
          <a:xfrm>
            <a:off x="7696048"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The side panel shows progress, input files, output files, loaded skills, schedules and granted permissions all at once — the process stays traceable.</a:t>
            </a:r>
            <a:endParaRPr lang="en-US" sz="1300" dirty="0"/>
          </a:p>
        </p:txBody>
      </p:sp>
      <p:sp>
        <p:nvSpPr>
          <p:cNvPr id="15" name="Shape 11"/>
          <p:cNvSpPr/>
          <p:nvPr/>
        </p:nvSpPr>
        <p:spPr>
          <a:xfrm>
            <a:off x="640080"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6" name="Shape 12"/>
          <p:cNvSpPr/>
          <p:nvPr/>
        </p:nvSpPr>
        <p:spPr>
          <a:xfrm>
            <a:off x="960120" y="4599432"/>
            <a:ext cx="868680" cy="868680"/>
          </a:xfrm>
          <a:prstGeom prst="roundRect">
            <a:avLst>
              <a:gd name="adj" fmla="val 16842"/>
            </a:avLst>
          </a:prstGeom>
          <a:solidFill>
            <a:srgbClr val="0A8F5B"/>
          </a:solidFill>
          <a:ln/>
        </p:spPr>
      </p:sp>
      <p:pic>
        <p:nvPicPr>
          <p:cNvPr id="17" name="Image 2" descr="preencoded.png">    </p:cNvPr>
          <p:cNvPicPr>
            <a:picLocks noChangeAspect="1"/>
          </p:cNvPicPr>
          <p:nvPr/>
        </p:nvPicPr>
        <p:blipFill>
          <a:blip r:embed="rId3"/>
          <a:stretch>
            <a:fillRect/>
          </a:stretch>
        </p:blipFill>
        <p:spPr>
          <a:xfrm>
            <a:off x="1170432" y="4809744"/>
            <a:ext cx="448056" cy="448056"/>
          </a:xfrm>
          <a:prstGeom prst="rect">
            <a:avLst/>
          </a:prstGeom>
        </p:spPr>
      </p:pic>
      <p:sp>
        <p:nvSpPr>
          <p:cNvPr id="18" name="Text 13"/>
          <p:cNvSpPr/>
          <p:nvPr/>
        </p:nvSpPr>
        <p:spPr>
          <a:xfrm>
            <a:off x="2011680" y="46360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Approval before action</a:t>
            </a:r>
            <a:endParaRPr lang="en-US" sz="1800" dirty="0"/>
          </a:p>
        </p:txBody>
      </p:sp>
      <p:sp>
        <p:nvSpPr>
          <p:cNvPr id="19" name="Text 14"/>
          <p:cNvSpPr/>
          <p:nvPr/>
        </p:nvSpPr>
        <p:spPr>
          <a:xfrm>
            <a:off x="2011680" y="51206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Medium/high-risk actions show a RISK-LEVEL; approve, cancel, or set don't-ask-again per recipient, per domain or always; multiple pending actions can be approved together.</a:t>
            </a:r>
            <a:endParaRPr lang="en-US" sz="1300" dirty="0"/>
          </a:p>
        </p:txBody>
      </p:sp>
      <p:sp>
        <p:nvSpPr>
          <p:cNvPr id="20" name="Shape 15"/>
          <p:cNvSpPr/>
          <p:nvPr/>
        </p:nvSpPr>
        <p:spPr>
          <a:xfrm>
            <a:off x="6324448"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21" name="Shape 16"/>
          <p:cNvSpPr/>
          <p:nvPr/>
        </p:nvSpPr>
        <p:spPr>
          <a:xfrm>
            <a:off x="6644488" y="4599432"/>
            <a:ext cx="868680" cy="868680"/>
          </a:xfrm>
          <a:prstGeom prst="roundRect">
            <a:avLst>
              <a:gd name="adj" fmla="val 16842"/>
            </a:avLst>
          </a:prstGeom>
          <a:solidFill>
            <a:srgbClr val="CA5010"/>
          </a:solidFill>
          <a:ln/>
        </p:spPr>
      </p:sp>
      <p:pic>
        <p:nvPicPr>
          <p:cNvPr id="22" name="Image 3" descr="preencoded.png">    </p:cNvPr>
          <p:cNvPicPr>
            <a:picLocks noChangeAspect="1"/>
          </p:cNvPicPr>
          <p:nvPr/>
        </p:nvPicPr>
        <p:blipFill>
          <a:blip r:embed="rId4"/>
          <a:stretch>
            <a:fillRect/>
          </a:stretch>
        </p:blipFill>
        <p:spPr>
          <a:xfrm>
            <a:off x="6854800" y="4809744"/>
            <a:ext cx="448056" cy="448056"/>
          </a:xfrm>
          <a:prstGeom prst="rect">
            <a:avLst/>
          </a:prstGeom>
        </p:spPr>
      </p:pic>
      <p:sp>
        <p:nvSpPr>
          <p:cNvPr id="23" name="Text 17"/>
          <p:cNvSpPr/>
          <p:nvPr/>
        </p:nvSpPr>
        <p:spPr>
          <a:xfrm>
            <a:off x="7696048" y="46360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What's new</a:t>
            </a:r>
            <a:endParaRPr lang="en-US" sz="1800" dirty="0"/>
          </a:p>
        </p:txBody>
      </p:sp>
      <p:sp>
        <p:nvSpPr>
          <p:cNvPr id="24" name="Text 18"/>
          <p:cNvSpPr/>
          <p:nvPr/>
        </p:nvSpPr>
        <p:spPr>
          <a:xfrm>
            <a:off x="7696048" y="5120640"/>
            <a:ext cx="3626968" cy="1325880"/>
          </a:xfrm>
          <a:prstGeom prst="rect">
            <a:avLst/>
          </a:prstGeom>
          <a:noFill/>
          <a:ln/>
        </p:spPr>
        <p:txBody>
          <a:bodyPr wrap="square" rtlCol="0" anchor="t"/>
          <a:lstStyle/>
          <a:p>
            <a:pPr indent="0" marL="0">
              <a:lnSpc>
                <a:spcPct val="118000"/>
              </a:lnSpc>
              <a:buNone/>
            </a:pPr>
            <a:r>
              <a:rPr lang="en-US" sz="1050" dirty="0">
                <a:solidFill>
                  <a:srgbClr val="5B6079"/>
                </a:solidFill>
                <a:latin typeface="Segoe UI" pitchFamily="34" charset="0"/>
                <a:ea typeface="Segoe UI" pitchFamily="34" charset="-122"/>
                <a:cs typeface="Segoe UI" pitchFamily="34" charset="-120"/>
              </a:rPr>
              <a:t>Scheduled prompts (up to 25) and event-driven tasks; five Effort levels to balance quality against cost; every custom skill gets an automatic Skill Report (0–100 across four dimensions, plus five separate gates including a Safety and RAI scan); local Edge browser (GA since Aug 2026); image generation; Plugins / MCP for external systems.</a:t>
            </a:r>
            <a:endParaRPr lang="en-US" sz="1050" dirty="0"/>
          </a:p>
        </p:txBody>
      </p:sp>
      <p:sp>
        <p:nvSpPr>
          <p:cNvPr id="25" name="Text 1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6" name="Text 2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HOW IT WORKS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happens inside one agentic workflow</a:t>
            </a:r>
            <a:endParaRPr lang="en-US" sz="3000" dirty="0"/>
          </a:p>
        </p:txBody>
      </p:sp>
      <p:sp>
        <p:nvSpPr>
          <p:cNvPr id="5" name="Shape 3"/>
          <p:cNvSpPr/>
          <p:nvPr/>
        </p:nvSpPr>
        <p:spPr>
          <a:xfrm>
            <a:off x="64008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6" name="Shape 4"/>
          <p:cNvSpPr/>
          <p:nvPr/>
        </p:nvSpPr>
        <p:spPr>
          <a:xfrm>
            <a:off x="1042416" y="2697480"/>
            <a:ext cx="768096" cy="768096"/>
          </a:xfrm>
          <a:prstGeom prst="ellipse">
            <a:avLst/>
          </a:prstGeom>
          <a:solidFill>
            <a:srgbClr val="6366F1"/>
          </a:solidFill>
          <a:ln/>
        </p:spPr>
      </p:sp>
      <p:pic>
        <p:nvPicPr>
          <p:cNvPr id="7" name="Image 0" descr="preencoded.png">    </p:cNvPr>
          <p:cNvPicPr>
            <a:picLocks noChangeAspect="1"/>
          </p:cNvPicPr>
          <p:nvPr/>
        </p:nvPicPr>
        <p:blipFill>
          <a:blip r:embed="rId1"/>
          <a:stretch>
            <a:fillRect/>
          </a:stretch>
        </p:blipFill>
        <p:spPr>
          <a:xfrm>
            <a:off x="1207008" y="2862072"/>
            <a:ext cx="438912" cy="438912"/>
          </a:xfrm>
          <a:prstGeom prst="rect">
            <a:avLst/>
          </a:prstGeom>
        </p:spPr>
      </p:pic>
      <p:sp>
        <p:nvSpPr>
          <p:cNvPr id="8" name="Text 5"/>
          <p:cNvSpPr/>
          <p:nvPr/>
        </p:nvSpPr>
        <p:spPr>
          <a:xfrm>
            <a:off x="64008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Take the goal</a:t>
            </a:r>
            <a:endParaRPr lang="en-US" sz="1400" dirty="0"/>
          </a:p>
        </p:txBody>
      </p:sp>
      <p:sp>
        <p:nvSpPr>
          <p:cNvPr id="9" name="Text 6"/>
          <p:cNvSpPr/>
          <p:nvPr/>
        </p:nvSpPr>
        <p:spPr>
          <a:xfrm>
            <a:off x="64008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Upload files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Give the instruction</a:t>
            </a:r>
            <a:endParaRPr lang="en-US" sz="1200" dirty="0"/>
          </a:p>
        </p:txBody>
      </p:sp>
      <p:pic>
        <p:nvPicPr>
          <p:cNvPr id="10" name="Image 1" descr="preencoded.png">    </p:cNvPr>
          <p:cNvPicPr>
            <a:picLocks noChangeAspect="1"/>
          </p:cNvPicPr>
          <p:nvPr/>
        </p:nvPicPr>
        <p:blipFill>
          <a:blip r:embed="rId2"/>
          <a:stretch>
            <a:fillRect/>
          </a:stretch>
        </p:blipFill>
        <p:spPr>
          <a:xfrm>
            <a:off x="2259757" y="2971800"/>
            <a:ext cx="201168" cy="201168"/>
          </a:xfrm>
          <a:prstGeom prst="rect">
            <a:avLst/>
          </a:prstGeom>
        </p:spPr>
      </p:pic>
      <p:sp>
        <p:nvSpPr>
          <p:cNvPr id="11" name="Shape 7"/>
          <p:cNvSpPr/>
          <p:nvPr/>
        </p:nvSpPr>
        <p:spPr>
          <a:xfrm>
            <a:off x="2507833"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2" name="Shape 8"/>
          <p:cNvSpPr/>
          <p:nvPr/>
        </p:nvSpPr>
        <p:spPr>
          <a:xfrm>
            <a:off x="2910169" y="2697480"/>
            <a:ext cx="768096" cy="768096"/>
          </a:xfrm>
          <a:prstGeom prst="ellipse">
            <a:avLst/>
          </a:prstGeom>
          <a:solidFill>
            <a:srgbClr val="6366F1"/>
          </a:solidFill>
          <a:ln/>
        </p:spPr>
      </p:sp>
      <p:pic>
        <p:nvPicPr>
          <p:cNvPr id="13" name="Image 2" descr="preencoded.png">    </p:cNvPr>
          <p:cNvPicPr>
            <a:picLocks noChangeAspect="1"/>
          </p:cNvPicPr>
          <p:nvPr/>
        </p:nvPicPr>
        <p:blipFill>
          <a:blip r:embed="rId3"/>
          <a:stretch>
            <a:fillRect/>
          </a:stretch>
        </p:blipFill>
        <p:spPr>
          <a:xfrm>
            <a:off x="3074761" y="2862072"/>
            <a:ext cx="438912" cy="438912"/>
          </a:xfrm>
          <a:prstGeom prst="rect">
            <a:avLst/>
          </a:prstGeom>
        </p:spPr>
      </p:pic>
      <p:sp>
        <p:nvSpPr>
          <p:cNvPr id="14" name="Text 9"/>
          <p:cNvSpPr/>
          <p:nvPr/>
        </p:nvSpPr>
        <p:spPr>
          <a:xfrm>
            <a:off x="2507833"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Plan</a:t>
            </a:r>
            <a:endParaRPr lang="en-US" sz="1400" dirty="0"/>
          </a:p>
        </p:txBody>
      </p:sp>
      <p:sp>
        <p:nvSpPr>
          <p:cNvPr id="15" name="Text 10"/>
          <p:cNvSpPr/>
          <p:nvPr/>
        </p:nvSpPr>
        <p:spPr>
          <a:xfrm>
            <a:off x="2507833"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Understand the task</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Break it into steps</a:t>
            </a:r>
            <a:endParaRPr lang="en-US" sz="1200" dirty="0"/>
          </a:p>
        </p:txBody>
      </p:sp>
      <p:pic>
        <p:nvPicPr>
          <p:cNvPr id="16" name="Image 3" descr="preencoded.png">    </p:cNvPr>
          <p:cNvPicPr>
            <a:picLocks noChangeAspect="1"/>
          </p:cNvPicPr>
          <p:nvPr/>
        </p:nvPicPr>
        <p:blipFill>
          <a:blip r:embed="rId4"/>
          <a:stretch>
            <a:fillRect/>
          </a:stretch>
        </p:blipFill>
        <p:spPr>
          <a:xfrm>
            <a:off x="4127510" y="2971800"/>
            <a:ext cx="201168" cy="201168"/>
          </a:xfrm>
          <a:prstGeom prst="rect">
            <a:avLst/>
          </a:prstGeom>
        </p:spPr>
      </p:pic>
      <p:sp>
        <p:nvSpPr>
          <p:cNvPr id="17" name="Shape 11"/>
          <p:cNvSpPr/>
          <p:nvPr/>
        </p:nvSpPr>
        <p:spPr>
          <a:xfrm>
            <a:off x="437558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8" name="Shape 12"/>
          <p:cNvSpPr/>
          <p:nvPr/>
        </p:nvSpPr>
        <p:spPr>
          <a:xfrm>
            <a:off x="4777923" y="2697480"/>
            <a:ext cx="768096" cy="768096"/>
          </a:xfrm>
          <a:prstGeom prst="ellipse">
            <a:avLst/>
          </a:prstGeom>
          <a:solidFill>
            <a:srgbClr val="6366F1"/>
          </a:solidFill>
          <a:ln/>
        </p:spPr>
      </p:sp>
      <p:pic>
        <p:nvPicPr>
          <p:cNvPr id="19" name="Image 4" descr="preencoded.png">    </p:cNvPr>
          <p:cNvPicPr>
            <a:picLocks noChangeAspect="1"/>
          </p:cNvPicPr>
          <p:nvPr/>
        </p:nvPicPr>
        <p:blipFill>
          <a:blip r:embed="rId5"/>
          <a:stretch>
            <a:fillRect/>
          </a:stretch>
        </p:blipFill>
        <p:spPr>
          <a:xfrm>
            <a:off x="4942515" y="2862072"/>
            <a:ext cx="438912" cy="438912"/>
          </a:xfrm>
          <a:prstGeom prst="rect">
            <a:avLst/>
          </a:prstGeom>
        </p:spPr>
      </p:pic>
      <p:sp>
        <p:nvSpPr>
          <p:cNvPr id="20" name="Text 13"/>
          <p:cNvSpPr/>
          <p:nvPr/>
        </p:nvSpPr>
        <p:spPr>
          <a:xfrm>
            <a:off x="437558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Load skills</a:t>
            </a:r>
            <a:endParaRPr lang="en-US" sz="1400" dirty="0"/>
          </a:p>
        </p:txBody>
      </p:sp>
      <p:sp>
        <p:nvSpPr>
          <p:cNvPr id="21" name="Text 14"/>
          <p:cNvSpPr/>
          <p:nvPr/>
        </p:nvSpPr>
        <p:spPr>
          <a:xfrm>
            <a:off x="437558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14 built-in</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 custom</a:t>
            </a:r>
            <a:endParaRPr lang="en-US" sz="1200" dirty="0"/>
          </a:p>
        </p:txBody>
      </p:sp>
      <p:pic>
        <p:nvPicPr>
          <p:cNvPr id="22" name="Image 5" descr="preencoded.png">    </p:cNvPr>
          <p:cNvPicPr>
            <a:picLocks noChangeAspect="1"/>
          </p:cNvPicPr>
          <p:nvPr/>
        </p:nvPicPr>
        <p:blipFill>
          <a:blip r:embed="rId6"/>
          <a:stretch>
            <a:fillRect/>
          </a:stretch>
        </p:blipFill>
        <p:spPr>
          <a:xfrm>
            <a:off x="5995264" y="2971800"/>
            <a:ext cx="201168" cy="201168"/>
          </a:xfrm>
          <a:prstGeom prst="rect">
            <a:avLst/>
          </a:prstGeom>
        </p:spPr>
      </p:pic>
      <p:sp>
        <p:nvSpPr>
          <p:cNvPr id="23" name="Shape 15"/>
          <p:cNvSpPr/>
          <p:nvPr/>
        </p:nvSpPr>
        <p:spPr>
          <a:xfrm>
            <a:off x="624334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24" name="Shape 16"/>
          <p:cNvSpPr/>
          <p:nvPr/>
        </p:nvSpPr>
        <p:spPr>
          <a:xfrm>
            <a:off x="6645676" y="2697480"/>
            <a:ext cx="768096" cy="768096"/>
          </a:xfrm>
          <a:prstGeom prst="ellipse">
            <a:avLst/>
          </a:prstGeom>
          <a:solidFill>
            <a:srgbClr val="6366F1"/>
          </a:solidFill>
          <a:ln/>
        </p:spPr>
      </p:sp>
      <p:pic>
        <p:nvPicPr>
          <p:cNvPr id="25" name="Image 6" descr="preencoded.png">    </p:cNvPr>
          <p:cNvPicPr>
            <a:picLocks noChangeAspect="1"/>
          </p:cNvPicPr>
          <p:nvPr/>
        </p:nvPicPr>
        <p:blipFill>
          <a:blip r:embed="rId7"/>
          <a:stretch>
            <a:fillRect/>
          </a:stretch>
        </p:blipFill>
        <p:spPr>
          <a:xfrm>
            <a:off x="6810268" y="2862072"/>
            <a:ext cx="438912" cy="438912"/>
          </a:xfrm>
          <a:prstGeom prst="rect">
            <a:avLst/>
          </a:prstGeom>
        </p:spPr>
      </p:pic>
      <p:sp>
        <p:nvSpPr>
          <p:cNvPr id="26" name="Text 17"/>
          <p:cNvSpPr/>
          <p:nvPr/>
        </p:nvSpPr>
        <p:spPr>
          <a:xfrm>
            <a:off x="624334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Execute</a:t>
            </a:r>
            <a:endParaRPr lang="en-US" sz="1400" dirty="0"/>
          </a:p>
        </p:txBody>
      </p:sp>
      <p:sp>
        <p:nvSpPr>
          <p:cNvPr id="27" name="Text 18"/>
          <p:cNvSpPr/>
          <p:nvPr/>
        </p:nvSpPr>
        <p:spPr>
          <a:xfrm>
            <a:off x="624334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Create documents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spreadsheets / mail</a:t>
            </a:r>
            <a:endParaRPr lang="en-US" sz="1200" dirty="0"/>
          </a:p>
        </p:txBody>
      </p:sp>
      <p:pic>
        <p:nvPicPr>
          <p:cNvPr id="28" name="Image 7" descr="preencoded.png">    </p:cNvPr>
          <p:cNvPicPr>
            <a:picLocks noChangeAspect="1"/>
          </p:cNvPicPr>
          <p:nvPr/>
        </p:nvPicPr>
        <p:blipFill>
          <a:blip r:embed="rId8"/>
          <a:stretch>
            <a:fillRect/>
          </a:stretch>
        </p:blipFill>
        <p:spPr>
          <a:xfrm>
            <a:off x="7863017" y="2971800"/>
            <a:ext cx="201168" cy="201168"/>
          </a:xfrm>
          <a:prstGeom prst="rect">
            <a:avLst/>
          </a:prstGeom>
        </p:spPr>
      </p:pic>
      <p:sp>
        <p:nvSpPr>
          <p:cNvPr id="29" name="Shape 19"/>
          <p:cNvSpPr/>
          <p:nvPr/>
        </p:nvSpPr>
        <p:spPr>
          <a:xfrm>
            <a:off x="8111094"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0" name="Shape 20"/>
          <p:cNvSpPr/>
          <p:nvPr/>
        </p:nvSpPr>
        <p:spPr>
          <a:xfrm>
            <a:off x="8513430" y="2697480"/>
            <a:ext cx="768096" cy="768096"/>
          </a:xfrm>
          <a:prstGeom prst="ellipse">
            <a:avLst/>
          </a:prstGeom>
          <a:solidFill>
            <a:srgbClr val="6366F1"/>
          </a:solidFill>
          <a:ln/>
        </p:spPr>
      </p:sp>
      <p:pic>
        <p:nvPicPr>
          <p:cNvPr id="31" name="Image 8" descr="preencoded.png">    </p:cNvPr>
          <p:cNvPicPr>
            <a:picLocks noChangeAspect="1"/>
          </p:cNvPicPr>
          <p:nvPr/>
        </p:nvPicPr>
        <p:blipFill>
          <a:blip r:embed="rId9"/>
          <a:stretch>
            <a:fillRect/>
          </a:stretch>
        </p:blipFill>
        <p:spPr>
          <a:xfrm>
            <a:off x="8678022" y="2862072"/>
            <a:ext cx="438912" cy="438912"/>
          </a:xfrm>
          <a:prstGeom prst="rect">
            <a:avLst/>
          </a:prstGeom>
        </p:spPr>
      </p:pic>
      <p:sp>
        <p:nvSpPr>
          <p:cNvPr id="32" name="Text 21"/>
          <p:cNvSpPr/>
          <p:nvPr/>
        </p:nvSpPr>
        <p:spPr>
          <a:xfrm>
            <a:off x="8111094"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Self-verify</a:t>
            </a:r>
            <a:endParaRPr lang="en-US" sz="1400" dirty="0"/>
          </a:p>
        </p:txBody>
      </p:sp>
      <p:sp>
        <p:nvSpPr>
          <p:cNvPr id="33" name="Text 22"/>
          <p:cNvSpPr/>
          <p:nvPr/>
        </p:nvSpPr>
        <p:spPr>
          <a:xfrm>
            <a:off x="8111094"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Check the numbers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and consistency</a:t>
            </a:r>
            <a:endParaRPr lang="en-US" sz="1200" dirty="0"/>
          </a:p>
        </p:txBody>
      </p:sp>
      <p:pic>
        <p:nvPicPr>
          <p:cNvPr id="34" name="Image 9" descr="preencoded.png">    </p:cNvPr>
          <p:cNvPicPr>
            <a:picLocks noChangeAspect="1"/>
          </p:cNvPicPr>
          <p:nvPr/>
        </p:nvPicPr>
        <p:blipFill>
          <a:blip r:embed="rId10"/>
          <a:stretch>
            <a:fillRect/>
          </a:stretch>
        </p:blipFill>
        <p:spPr>
          <a:xfrm>
            <a:off x="9730770" y="2971800"/>
            <a:ext cx="201168" cy="201168"/>
          </a:xfrm>
          <a:prstGeom prst="rect">
            <a:avLst/>
          </a:prstGeom>
        </p:spPr>
      </p:pic>
      <p:sp>
        <p:nvSpPr>
          <p:cNvPr id="35" name="Shape 23"/>
          <p:cNvSpPr/>
          <p:nvPr/>
        </p:nvSpPr>
        <p:spPr>
          <a:xfrm>
            <a:off x="997884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6" name="Shape 24"/>
          <p:cNvSpPr/>
          <p:nvPr/>
        </p:nvSpPr>
        <p:spPr>
          <a:xfrm>
            <a:off x="10381183" y="2697480"/>
            <a:ext cx="768096" cy="768096"/>
          </a:xfrm>
          <a:prstGeom prst="ellipse">
            <a:avLst/>
          </a:prstGeom>
          <a:solidFill>
            <a:srgbClr val="8B5CF6"/>
          </a:solidFill>
          <a:ln/>
        </p:spPr>
      </p:sp>
      <p:pic>
        <p:nvPicPr>
          <p:cNvPr id="37" name="Image 10" descr="preencoded.png">    </p:cNvPr>
          <p:cNvPicPr>
            <a:picLocks noChangeAspect="1"/>
          </p:cNvPicPr>
          <p:nvPr/>
        </p:nvPicPr>
        <p:blipFill>
          <a:blip r:embed="rId11"/>
          <a:stretch>
            <a:fillRect/>
          </a:stretch>
        </p:blipFill>
        <p:spPr>
          <a:xfrm>
            <a:off x="10545775" y="2862072"/>
            <a:ext cx="438912" cy="438912"/>
          </a:xfrm>
          <a:prstGeom prst="rect">
            <a:avLst/>
          </a:prstGeom>
        </p:spPr>
      </p:pic>
      <p:sp>
        <p:nvSpPr>
          <p:cNvPr id="38" name="Text 25"/>
          <p:cNvSpPr/>
          <p:nvPr/>
        </p:nvSpPr>
        <p:spPr>
          <a:xfrm>
            <a:off x="997884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Approval before action</a:t>
            </a:r>
            <a:endParaRPr lang="en-US" sz="1400" dirty="0"/>
          </a:p>
        </p:txBody>
      </p:sp>
      <p:sp>
        <p:nvSpPr>
          <p:cNvPr id="39" name="Text 26"/>
          <p:cNvSpPr/>
          <p:nvPr/>
        </p:nvSpPr>
        <p:spPr>
          <a:xfrm>
            <a:off x="997884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Outbound actions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wait for you</a:t>
            </a:r>
            <a:endParaRPr lang="en-US" sz="1200" dirty="0"/>
          </a:p>
        </p:txBody>
      </p:sp>
      <p:sp>
        <p:nvSpPr>
          <p:cNvPr id="40" name="Text 27"/>
          <p:cNvSpPr/>
          <p:nvPr/>
        </p:nvSpPr>
        <p:spPr>
          <a:xfrm>
            <a:off x="640080" y="4937760"/>
            <a:ext cx="10972800" cy="320040"/>
          </a:xfrm>
          <a:prstGeom prst="rect">
            <a:avLst/>
          </a:prstGeom>
          <a:noFill/>
          <a:ln/>
        </p:spPr>
        <p:txBody>
          <a:bodyPr wrap="square" rtlCol="0" anchor="ctr"/>
          <a:lstStyle/>
          <a:p>
            <a:pPr algn="ctr" indent="0" marL="0">
              <a:buNone/>
            </a:pPr>
            <a:r>
              <a:rPr lang="en-US" sz="1400" i="1" dirty="0">
                <a:solidFill>
                  <a:srgbClr val="5B6079"/>
                </a:solidFill>
                <a:latin typeface="Segoe UI" pitchFamily="34" charset="0"/>
                <a:ea typeface="Segoe UI" pitchFamily="34" charset="-122"/>
                <a:cs typeface="Segoe UI" pitchFamily="34" charset="-120"/>
              </a:rPr>
              <a:t>The whole process is visible in the "Workspace" panel; you can soft/hard pause, resume or cancel a task.</a:t>
            </a:r>
            <a:endParaRPr lang="en-US" sz="1400" dirty="0"/>
          </a:p>
        </p:txBody>
      </p:sp>
      <p:sp>
        <p:nvSpPr>
          <p:cNvPr id="41" name="Text 28"/>
          <p:cNvSpPr/>
          <p:nvPr/>
        </p:nvSpPr>
        <p:spPr>
          <a:xfrm>
            <a:off x="640080" y="5285232"/>
            <a:ext cx="10972800" cy="457200"/>
          </a:xfrm>
          <a:prstGeom prst="rect">
            <a:avLst/>
          </a:prstGeom>
          <a:noFill/>
          <a:ln/>
        </p:spPr>
        <p:txBody>
          <a:bodyPr wrap="square" rtlCol="0" anchor="ctr"/>
          <a:lstStyle/>
          <a:p>
            <a:pPr algn="ctr" indent="0" marL="0">
              <a:buNone/>
            </a:pPr>
            <a:r>
              <a:rPr lang="en-US" sz="1300" i="1" dirty="0">
                <a:solidFill>
                  <a:srgbClr val="5B6079"/>
                </a:solidFill>
                <a:latin typeface="Segoe UI" pitchFamily="34" charset="0"/>
                <a:ea typeface="Segoe UI" pitchFamily="34" charset="-122"/>
                <a:cs typeface="Segoe UI" pitchFamily="34" charset="-120"/>
              </a:rPr>
              <a:t>It doesn't only start from chat: you can also have it fire automatically when a matching email arrives or you're @mentioned (event-driven tasks) — with the same self-verification and approval flow.</a:t>
            </a:r>
            <a:endParaRPr lang="en-US" sz="1300" dirty="0"/>
          </a:p>
        </p:txBody>
      </p:sp>
      <p:sp>
        <p:nvSpPr>
          <p:cNvPr id="42" name="Text 2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3" name="Text 3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BEFORE YOU START</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Set up your practice environment</a:t>
            </a:r>
            <a:endParaRPr lang="en-US" sz="3000" dirty="0"/>
          </a:p>
        </p:txBody>
      </p:sp>
      <p:sp>
        <p:nvSpPr>
          <p:cNvPr id="5" name="Text 3"/>
          <p:cNvSpPr/>
          <p:nvPr/>
        </p:nvSpPr>
        <p:spPr>
          <a:xfrm>
            <a:off x="640080" y="1481328"/>
            <a:ext cx="10972800" cy="329184"/>
          </a:xfrm>
          <a:prstGeom prst="rect">
            <a:avLst/>
          </a:prstGeom>
          <a:noFill/>
          <a:ln/>
        </p:spPr>
        <p:txBody>
          <a:bodyPr wrap="square" rtlCol="0" anchor="ctr"/>
          <a:lstStyle/>
          <a:p>
            <a:pPr indent="0" marL="0">
              <a:buNone/>
            </a:pPr>
            <a:r>
              <a:rPr lang="en-US" sz="1300" dirty="0">
                <a:solidFill>
                  <a:srgbClr val="5B6079"/>
                </a:solidFill>
                <a:latin typeface="Segoe UI" pitchFamily="34" charset="0"/>
                <a:ea typeface="Segoe UI" pitchFamily="34" charset="-122"/>
                <a:cs typeface="Segoe UI" pitchFamily="34" charset="-120"/>
              </a:rPr>
              <a:t>Seed the material into OneDrive under Documents/Cowork_Lab/TelecomOps/ before the session, and Cowork will find it itself · Setup time about 20 minutes</a:t>
            </a:r>
            <a:endParaRPr lang="en-US" sz="1300" dirty="0"/>
          </a:p>
        </p:txBody>
      </p:sp>
      <p:sp>
        <p:nvSpPr>
          <p:cNvPr id="6" name="Shape 4"/>
          <p:cNvSpPr/>
          <p:nvPr/>
        </p:nvSpPr>
        <p:spPr>
          <a:xfrm>
            <a:off x="640080" y="1874520"/>
            <a:ext cx="5272888" cy="777240"/>
          </a:xfrm>
          <a:prstGeom prst="rect">
            <a:avLst/>
          </a:prstGeom>
          <a:solidFill>
            <a:srgbClr val="FFFFFF"/>
          </a:solidFill>
          <a:ln w="12700">
            <a:solidFill>
              <a:srgbClr val="E4E7F2"/>
            </a:solidFill>
            <a:prstDash val="solid"/>
          </a:ln>
        </p:spPr>
      </p:sp>
      <p:sp>
        <p:nvSpPr>
          <p:cNvPr id="7" name="Shape 5"/>
          <p:cNvSpPr/>
          <p:nvPr/>
        </p:nvSpPr>
        <p:spPr>
          <a:xfrm>
            <a:off x="640080" y="1874520"/>
            <a:ext cx="68580" cy="777240"/>
          </a:xfrm>
          <a:prstGeom prst="rect">
            <a:avLst/>
          </a:prstGeom>
          <a:solidFill>
            <a:srgbClr val="6366F1"/>
          </a:solidFill>
          <a:ln/>
        </p:spPr>
      </p:sp>
      <p:sp>
        <p:nvSpPr>
          <p:cNvPr id="8" name="Text 6"/>
          <p:cNvSpPr/>
          <p:nvPr/>
        </p:nvSpPr>
        <p:spPr>
          <a:xfrm>
            <a:off x="804672" y="1929384"/>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9" name="Text 7"/>
          <p:cNvSpPr/>
          <p:nvPr/>
        </p:nvSpPr>
        <p:spPr>
          <a:xfrm>
            <a:off x="1243584" y="1920240"/>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 Understand how dates work in this material first</a:t>
            </a:r>
            <a:endParaRPr lang="en-US" sz="1250" dirty="0"/>
          </a:p>
        </p:txBody>
      </p:sp>
      <p:sp>
        <p:nvSpPr>
          <p:cNvPr id="10" name="Text 8"/>
          <p:cNvSpPr/>
          <p:nvPr/>
        </p:nvSpPr>
        <p:spPr>
          <a:xfrm>
            <a:off x="1243584" y="2194560"/>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The dates in this material are fixed simulated dates: th…</a:t>
            </a:r>
            <a:endParaRPr lang="en-US" sz="1050" dirty="0"/>
          </a:p>
        </p:txBody>
      </p:sp>
      <p:sp>
        <p:nvSpPr>
          <p:cNvPr id="11" name="Shape 9"/>
          <p:cNvSpPr/>
          <p:nvPr/>
        </p:nvSpPr>
        <p:spPr>
          <a:xfrm>
            <a:off x="6278728" y="1874520"/>
            <a:ext cx="5272888" cy="777240"/>
          </a:xfrm>
          <a:prstGeom prst="rect">
            <a:avLst/>
          </a:prstGeom>
          <a:solidFill>
            <a:srgbClr val="FFFFFF"/>
          </a:solidFill>
          <a:ln w="12700">
            <a:solidFill>
              <a:srgbClr val="E4E7F2"/>
            </a:solidFill>
            <a:prstDash val="solid"/>
          </a:ln>
        </p:spPr>
      </p:sp>
      <p:sp>
        <p:nvSpPr>
          <p:cNvPr id="12" name="Shape 10"/>
          <p:cNvSpPr/>
          <p:nvPr/>
        </p:nvSpPr>
        <p:spPr>
          <a:xfrm>
            <a:off x="6278728" y="1874520"/>
            <a:ext cx="68580" cy="777240"/>
          </a:xfrm>
          <a:prstGeom prst="rect">
            <a:avLst/>
          </a:prstGeom>
          <a:solidFill>
            <a:srgbClr val="6366F1"/>
          </a:solidFill>
          <a:ln/>
        </p:spPr>
      </p:sp>
      <p:sp>
        <p:nvSpPr>
          <p:cNvPr id="13" name="Text 11"/>
          <p:cNvSpPr/>
          <p:nvPr/>
        </p:nvSpPr>
        <p:spPr>
          <a:xfrm>
            <a:off x="6443320" y="1929384"/>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14" name="Text 12"/>
          <p:cNvSpPr/>
          <p:nvPr/>
        </p:nvSpPr>
        <p:spPr>
          <a:xfrm>
            <a:off x="6882232" y="1920240"/>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Create the OneDrive folders and upload the material for all seven scenarios</a:t>
            </a:r>
            <a:endParaRPr lang="en-US" sz="1250" dirty="0"/>
          </a:p>
        </p:txBody>
      </p:sp>
      <p:sp>
        <p:nvSpPr>
          <p:cNvPr id="15" name="Text 13"/>
          <p:cNvSpPr/>
          <p:nvPr/>
        </p:nvSpPr>
        <p:spPr>
          <a:xfrm>
            <a:off x="6882232" y="2194560"/>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Create Documents/Cowork_Lab/TelecomOps/ in OneDrive with…</a:t>
            </a:r>
            <a:endParaRPr lang="en-US" sz="1050" dirty="0"/>
          </a:p>
        </p:txBody>
      </p:sp>
      <p:sp>
        <p:nvSpPr>
          <p:cNvPr id="16" name="Shape 14"/>
          <p:cNvSpPr/>
          <p:nvPr/>
        </p:nvSpPr>
        <p:spPr>
          <a:xfrm>
            <a:off x="640080" y="2779776"/>
            <a:ext cx="5272888" cy="777240"/>
          </a:xfrm>
          <a:prstGeom prst="rect">
            <a:avLst/>
          </a:prstGeom>
          <a:solidFill>
            <a:srgbClr val="FFFFFF"/>
          </a:solidFill>
          <a:ln w="12700">
            <a:solidFill>
              <a:srgbClr val="E4E7F2"/>
            </a:solidFill>
            <a:prstDash val="solid"/>
          </a:ln>
        </p:spPr>
      </p:sp>
      <p:sp>
        <p:nvSpPr>
          <p:cNvPr id="17" name="Shape 15"/>
          <p:cNvSpPr/>
          <p:nvPr/>
        </p:nvSpPr>
        <p:spPr>
          <a:xfrm>
            <a:off x="640080" y="2779776"/>
            <a:ext cx="68580" cy="777240"/>
          </a:xfrm>
          <a:prstGeom prst="rect">
            <a:avLst/>
          </a:prstGeom>
          <a:solidFill>
            <a:srgbClr val="6366F1"/>
          </a:solidFill>
          <a:ln/>
        </p:spPr>
      </p:sp>
      <p:sp>
        <p:nvSpPr>
          <p:cNvPr id="18" name="Text 16"/>
          <p:cNvSpPr/>
          <p:nvPr/>
        </p:nvSpPr>
        <p:spPr>
          <a:xfrm>
            <a:off x="804672" y="2834640"/>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19" name="Text 17"/>
          <p:cNvSpPr/>
          <p:nvPr/>
        </p:nvSpPr>
        <p:spPr>
          <a:xfrm>
            <a:off x="1243584" y="2825496"/>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Put the contact list in the parent folder — with addresses that really receive mail</a:t>
            </a:r>
            <a:endParaRPr lang="en-US" sz="1250" dirty="0"/>
          </a:p>
        </p:txBody>
      </p:sp>
      <p:sp>
        <p:nvSpPr>
          <p:cNvPr id="20" name="Text 18"/>
          <p:cNvSpPr/>
          <p:nvPr/>
        </p:nvSpPr>
        <p:spPr>
          <a:xfrm>
            <a:off x="1243584" y="3099816"/>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Contact_List.md belongs in the TelecomOps parent folder …</a:t>
            </a:r>
            <a:endParaRPr lang="en-US" sz="1050" dirty="0"/>
          </a:p>
        </p:txBody>
      </p:sp>
      <p:sp>
        <p:nvSpPr>
          <p:cNvPr id="21" name="Shape 19"/>
          <p:cNvSpPr/>
          <p:nvPr/>
        </p:nvSpPr>
        <p:spPr>
          <a:xfrm>
            <a:off x="6278728" y="2779776"/>
            <a:ext cx="5272888" cy="777240"/>
          </a:xfrm>
          <a:prstGeom prst="rect">
            <a:avLst/>
          </a:prstGeom>
          <a:solidFill>
            <a:srgbClr val="FFFFFF"/>
          </a:solidFill>
          <a:ln w="12700">
            <a:solidFill>
              <a:srgbClr val="E4E7F2"/>
            </a:solidFill>
            <a:prstDash val="solid"/>
          </a:ln>
        </p:spPr>
      </p:sp>
      <p:sp>
        <p:nvSpPr>
          <p:cNvPr id="22" name="Shape 20"/>
          <p:cNvSpPr/>
          <p:nvPr/>
        </p:nvSpPr>
        <p:spPr>
          <a:xfrm>
            <a:off x="6278728" y="2779776"/>
            <a:ext cx="68580" cy="777240"/>
          </a:xfrm>
          <a:prstGeom prst="rect">
            <a:avLst/>
          </a:prstGeom>
          <a:solidFill>
            <a:srgbClr val="6366F1"/>
          </a:solidFill>
          <a:ln/>
        </p:spPr>
      </p:sp>
      <p:sp>
        <p:nvSpPr>
          <p:cNvPr id="23" name="Text 21"/>
          <p:cNvSpPr/>
          <p:nvPr/>
        </p:nvSpPr>
        <p:spPr>
          <a:xfrm>
            <a:off x="6443320" y="2834640"/>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24" name="Text 22"/>
          <p:cNvSpPr/>
          <p:nvPr/>
        </p:nvSpPr>
        <p:spPr>
          <a:xfrm>
            <a:off x="6882232" y="2825496"/>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Send yourself one email — the background for scenario 1</a:t>
            </a:r>
            <a:endParaRPr lang="en-US" sz="1250" dirty="0"/>
          </a:p>
        </p:txBody>
      </p:sp>
      <p:sp>
        <p:nvSpPr>
          <p:cNvPr id="25" name="Text 23"/>
          <p:cNvSpPr/>
          <p:nvPr/>
        </p:nvSpPr>
        <p:spPr>
          <a:xfrm>
            <a:off x="6882232" y="3099816"/>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Send it to yourself from your own account, copying the s…</a:t>
            </a:r>
            <a:endParaRPr lang="en-US" sz="1050" dirty="0"/>
          </a:p>
        </p:txBody>
      </p:sp>
      <p:sp>
        <p:nvSpPr>
          <p:cNvPr id="26" name="Shape 24"/>
          <p:cNvSpPr/>
          <p:nvPr/>
        </p:nvSpPr>
        <p:spPr>
          <a:xfrm>
            <a:off x="640080" y="3685032"/>
            <a:ext cx="5272888" cy="777240"/>
          </a:xfrm>
          <a:prstGeom prst="rect">
            <a:avLst/>
          </a:prstGeom>
          <a:solidFill>
            <a:srgbClr val="FFFFFF"/>
          </a:solidFill>
          <a:ln w="12700">
            <a:solidFill>
              <a:srgbClr val="E4E7F2"/>
            </a:solidFill>
            <a:prstDash val="solid"/>
          </a:ln>
        </p:spPr>
      </p:sp>
      <p:sp>
        <p:nvSpPr>
          <p:cNvPr id="27" name="Shape 25"/>
          <p:cNvSpPr/>
          <p:nvPr/>
        </p:nvSpPr>
        <p:spPr>
          <a:xfrm>
            <a:off x="640080" y="3685032"/>
            <a:ext cx="68580" cy="777240"/>
          </a:xfrm>
          <a:prstGeom prst="rect">
            <a:avLst/>
          </a:prstGeom>
          <a:solidFill>
            <a:srgbClr val="6366F1"/>
          </a:solidFill>
          <a:ln/>
        </p:spPr>
      </p:sp>
      <p:sp>
        <p:nvSpPr>
          <p:cNvPr id="28" name="Text 26"/>
          <p:cNvSpPr/>
          <p:nvPr/>
        </p:nvSpPr>
        <p:spPr>
          <a:xfrm>
            <a:off x="804672" y="3739896"/>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29" name="Text 27"/>
          <p:cNvSpPr/>
          <p:nvPr/>
        </p:nvSpPr>
        <p:spPr>
          <a:xfrm>
            <a:off x="1243584" y="3730752"/>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Create the network operations channel and post the first message (scenario 1)</a:t>
            </a:r>
            <a:endParaRPr lang="en-US" sz="1250" dirty="0"/>
          </a:p>
        </p:txBody>
      </p:sp>
      <p:sp>
        <p:nvSpPr>
          <p:cNvPr id="30" name="Text 28"/>
          <p:cNvSpPr/>
          <p:nvPr/>
        </p:nvSpPr>
        <p:spPr>
          <a:xfrm>
            <a:off x="1243584" y="4005072"/>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Create a channel called Network Operations in any team y…</a:t>
            </a:r>
            <a:endParaRPr lang="en-US" sz="1050" dirty="0"/>
          </a:p>
        </p:txBody>
      </p:sp>
      <p:sp>
        <p:nvSpPr>
          <p:cNvPr id="31" name="Shape 29"/>
          <p:cNvSpPr/>
          <p:nvPr/>
        </p:nvSpPr>
        <p:spPr>
          <a:xfrm>
            <a:off x="6278728" y="3685032"/>
            <a:ext cx="5272888" cy="777240"/>
          </a:xfrm>
          <a:prstGeom prst="rect">
            <a:avLst/>
          </a:prstGeom>
          <a:solidFill>
            <a:srgbClr val="FFFFFF"/>
          </a:solidFill>
          <a:ln w="12700">
            <a:solidFill>
              <a:srgbClr val="E4E7F2"/>
            </a:solidFill>
            <a:prstDash val="solid"/>
          </a:ln>
        </p:spPr>
      </p:sp>
      <p:sp>
        <p:nvSpPr>
          <p:cNvPr id="32" name="Shape 30"/>
          <p:cNvSpPr/>
          <p:nvPr/>
        </p:nvSpPr>
        <p:spPr>
          <a:xfrm>
            <a:off x="6278728" y="3685032"/>
            <a:ext cx="68580" cy="777240"/>
          </a:xfrm>
          <a:prstGeom prst="rect">
            <a:avLst/>
          </a:prstGeom>
          <a:solidFill>
            <a:srgbClr val="6366F1"/>
          </a:solidFill>
          <a:ln/>
        </p:spPr>
      </p:sp>
      <p:sp>
        <p:nvSpPr>
          <p:cNvPr id="33" name="Text 31"/>
          <p:cNvSpPr/>
          <p:nvPr/>
        </p:nvSpPr>
        <p:spPr>
          <a:xfrm>
            <a:off x="6443320" y="3739896"/>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34" name="Text 32"/>
          <p:cNvSpPr/>
          <p:nvPr/>
        </p:nvSpPr>
        <p:spPr>
          <a:xfrm>
            <a:off x="6882232" y="3730752"/>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Download the two files in 上傳用/ to your PC — do not put them in OneDrive</a:t>
            </a:r>
            <a:endParaRPr lang="en-US" sz="1250" dirty="0"/>
          </a:p>
        </p:txBody>
      </p:sp>
      <p:sp>
        <p:nvSpPr>
          <p:cNvPr id="35" name="Text 33"/>
          <p:cNvSpPr/>
          <p:nvPr/>
        </p:nvSpPr>
        <p:spPr>
          <a:xfrm>
            <a:off x="6882232" y="4005072"/>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TEL5_Existing_Plan_Usage.csv (scenario 5) and TEL6_Discl…</a:t>
            </a:r>
            <a:endParaRPr lang="en-US" sz="1050" dirty="0"/>
          </a:p>
        </p:txBody>
      </p:sp>
      <p:sp>
        <p:nvSpPr>
          <p:cNvPr id="36" name="Shape 34"/>
          <p:cNvSpPr/>
          <p:nvPr/>
        </p:nvSpPr>
        <p:spPr>
          <a:xfrm>
            <a:off x="640080" y="4590288"/>
            <a:ext cx="5272888" cy="777240"/>
          </a:xfrm>
          <a:prstGeom prst="rect">
            <a:avLst/>
          </a:prstGeom>
          <a:solidFill>
            <a:srgbClr val="FFFFFF"/>
          </a:solidFill>
          <a:ln w="12700">
            <a:solidFill>
              <a:srgbClr val="E4E7F2"/>
            </a:solidFill>
            <a:prstDash val="solid"/>
          </a:ln>
        </p:spPr>
      </p:sp>
      <p:sp>
        <p:nvSpPr>
          <p:cNvPr id="37" name="Shape 35"/>
          <p:cNvSpPr/>
          <p:nvPr/>
        </p:nvSpPr>
        <p:spPr>
          <a:xfrm>
            <a:off x="640080" y="4590288"/>
            <a:ext cx="68580" cy="777240"/>
          </a:xfrm>
          <a:prstGeom prst="rect">
            <a:avLst/>
          </a:prstGeom>
          <a:solidFill>
            <a:srgbClr val="6366F1"/>
          </a:solidFill>
          <a:ln/>
        </p:spPr>
      </p:sp>
      <p:sp>
        <p:nvSpPr>
          <p:cNvPr id="38" name="Text 36"/>
          <p:cNvSpPr/>
          <p:nvPr/>
        </p:nvSpPr>
        <p:spPr>
          <a:xfrm>
            <a:off x="804672" y="4645152"/>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39" name="Text 37"/>
          <p:cNvSpPr/>
          <p:nvPr/>
        </p:nvSpPr>
        <p:spPr>
          <a:xfrm>
            <a:off x="1243584" y="4636008"/>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Check the skills path is writable, and do scenario 3 on desktop</a:t>
            </a:r>
            <a:endParaRPr lang="en-US" sz="1250" dirty="0"/>
          </a:p>
        </p:txBody>
      </p:sp>
      <p:sp>
        <p:nvSpPr>
          <p:cNvPr id="40" name="Text 38"/>
          <p:cNvSpPr/>
          <p:nvPr/>
        </p:nvSpPr>
        <p:spPr>
          <a:xfrm>
            <a:off x="1243584" y="4910328"/>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Scenario 3 has Cowork create a custom skill at OneDrive/…</a:t>
            </a:r>
            <a:endParaRPr lang="en-US" sz="1050" dirty="0"/>
          </a:p>
        </p:txBody>
      </p:sp>
      <p:sp>
        <p:nvSpPr>
          <p:cNvPr id="41" name="Shape 39"/>
          <p:cNvSpPr/>
          <p:nvPr/>
        </p:nvSpPr>
        <p:spPr>
          <a:xfrm>
            <a:off x="6278728" y="4590288"/>
            <a:ext cx="5272888" cy="777240"/>
          </a:xfrm>
          <a:prstGeom prst="rect">
            <a:avLst/>
          </a:prstGeom>
          <a:solidFill>
            <a:srgbClr val="FFFFFF"/>
          </a:solidFill>
          <a:ln w="12700">
            <a:solidFill>
              <a:srgbClr val="E4E7F2"/>
            </a:solidFill>
            <a:prstDash val="solid"/>
          </a:ln>
        </p:spPr>
      </p:sp>
      <p:sp>
        <p:nvSpPr>
          <p:cNvPr id="42" name="Shape 40"/>
          <p:cNvSpPr/>
          <p:nvPr/>
        </p:nvSpPr>
        <p:spPr>
          <a:xfrm>
            <a:off x="6278728" y="4590288"/>
            <a:ext cx="68580" cy="777240"/>
          </a:xfrm>
          <a:prstGeom prst="rect">
            <a:avLst/>
          </a:prstGeom>
          <a:solidFill>
            <a:srgbClr val="6366F1"/>
          </a:solidFill>
          <a:ln/>
        </p:spPr>
      </p:sp>
      <p:sp>
        <p:nvSpPr>
          <p:cNvPr id="43" name="Text 41"/>
          <p:cNvSpPr/>
          <p:nvPr/>
        </p:nvSpPr>
        <p:spPr>
          <a:xfrm>
            <a:off x="6443320" y="4645152"/>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44" name="Text 42"/>
          <p:cNvSpPr/>
          <p:nvPr/>
        </p:nvSpPr>
        <p:spPr>
          <a:xfrm>
            <a:off x="6882232" y="4636008"/>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Scenario 3 edits a file in place — restore it before running again</a:t>
            </a:r>
            <a:endParaRPr lang="en-US" sz="1250" dirty="0"/>
          </a:p>
        </p:txBody>
      </p:sp>
      <p:sp>
        <p:nvSpPr>
          <p:cNvPr id="45" name="Text 43"/>
          <p:cNvSpPr/>
          <p:nvPr/>
        </p:nvSpPr>
        <p:spPr>
          <a:xfrm>
            <a:off x="6882232" y="4910328"/>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Step four of scenario 3 modifies TEL3_Circuit_Outage_Log…</a:t>
            </a:r>
            <a:endParaRPr lang="en-US" sz="1050" dirty="0"/>
          </a:p>
        </p:txBody>
      </p:sp>
      <p:sp>
        <p:nvSpPr>
          <p:cNvPr id="46" name="Shape 44"/>
          <p:cNvSpPr/>
          <p:nvPr/>
        </p:nvSpPr>
        <p:spPr>
          <a:xfrm>
            <a:off x="640080" y="5532120"/>
            <a:ext cx="10911535" cy="749808"/>
          </a:xfrm>
          <a:prstGeom prst="rect">
            <a:avLst/>
          </a:prstGeom>
          <a:solidFill>
            <a:srgbClr val="FFFFFF"/>
          </a:solidFill>
          <a:ln w="12700">
            <a:solidFill>
              <a:srgbClr val="E4E7F2"/>
            </a:solidFill>
            <a:prstDash val="solid"/>
          </a:ln>
        </p:spPr>
      </p:sp>
      <p:sp>
        <p:nvSpPr>
          <p:cNvPr id="47" name="Shape 45"/>
          <p:cNvSpPr/>
          <p:nvPr/>
        </p:nvSpPr>
        <p:spPr>
          <a:xfrm>
            <a:off x="640080" y="5532120"/>
            <a:ext cx="91440" cy="749808"/>
          </a:xfrm>
          <a:prstGeom prst="rect">
            <a:avLst/>
          </a:prstGeom>
          <a:solidFill>
            <a:srgbClr val="6366F1"/>
          </a:solidFill>
          <a:ln/>
        </p:spPr>
      </p:sp>
      <p:sp>
        <p:nvSpPr>
          <p:cNvPr id="48" name="Text 46"/>
          <p:cNvSpPr/>
          <p:nvPr/>
        </p:nvSpPr>
        <p:spPr>
          <a:xfrm>
            <a:off x="914400" y="5614416"/>
            <a:ext cx="1828800" cy="274320"/>
          </a:xfrm>
          <a:prstGeom prst="rect">
            <a:avLst/>
          </a:prstGeom>
          <a:noFill/>
          <a:ln/>
        </p:spPr>
        <p:txBody>
          <a:bodyPr wrap="square" rtlCol="0" anchor="ctr"/>
          <a:lstStyle/>
          <a:p>
            <a:pPr indent="0" marL="0">
              <a:buNone/>
            </a:pPr>
            <a:r>
              <a:rPr lang="en-US" sz="1200" b="1" dirty="0">
                <a:solidFill>
                  <a:srgbClr val="1E2235"/>
                </a:solidFill>
                <a:latin typeface="Segoe UI" pitchFamily="34" charset="0"/>
                <a:ea typeface="Segoe UI" pitchFamily="34" charset="-122"/>
                <a:cs typeface="Segoe UI" pitchFamily="34" charset="-120"/>
              </a:rPr>
              <a:t>Final check before the session</a:t>
            </a:r>
            <a:endParaRPr lang="en-US" sz="1200" dirty="0"/>
          </a:p>
        </p:txBody>
      </p:sp>
      <p:pic>
        <p:nvPicPr>
          <p:cNvPr id="49" name="Image 0" descr="preencoded.png">    </p:cNvPr>
          <p:cNvPicPr>
            <a:picLocks noChangeAspect="1"/>
          </p:cNvPicPr>
          <p:nvPr/>
        </p:nvPicPr>
        <p:blipFill>
          <a:blip r:embed="rId1"/>
          <a:stretch>
            <a:fillRect/>
          </a:stretch>
        </p:blipFill>
        <p:spPr>
          <a:xfrm>
            <a:off x="2743200" y="5641848"/>
            <a:ext cx="155448" cy="155448"/>
          </a:xfrm>
          <a:prstGeom prst="rect">
            <a:avLst/>
          </a:prstGeom>
        </p:spPr>
      </p:pic>
      <p:sp>
        <p:nvSpPr>
          <p:cNvPr id="50" name="Text 47"/>
          <p:cNvSpPr/>
          <p:nvPr/>
        </p:nvSpPr>
        <p:spPr>
          <a:xfrm>
            <a:off x="2999232" y="5586984"/>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All seven subfolders under TelecomOps exist in OneDrive and the files open</a:t>
            </a:r>
            <a:endParaRPr lang="en-US" sz="1050" dirty="0"/>
          </a:p>
        </p:txBody>
      </p:sp>
      <p:pic>
        <p:nvPicPr>
          <p:cNvPr id="51" name="Image 1" descr="preencoded.png">    </p:cNvPr>
          <p:cNvPicPr>
            <a:picLocks noChangeAspect="1"/>
          </p:cNvPicPr>
          <p:nvPr/>
        </p:nvPicPr>
        <p:blipFill>
          <a:blip r:embed="rId2"/>
          <a:stretch>
            <a:fillRect/>
          </a:stretch>
        </p:blipFill>
        <p:spPr>
          <a:xfrm>
            <a:off x="2743200" y="5852160"/>
            <a:ext cx="155448" cy="155448"/>
          </a:xfrm>
          <a:prstGeom prst="rect">
            <a:avLst/>
          </a:prstGeom>
        </p:spPr>
      </p:pic>
      <p:sp>
        <p:nvSpPr>
          <p:cNvPr id="52" name="Text 48"/>
          <p:cNvSpPr/>
          <p:nvPr/>
        </p:nvSpPr>
        <p:spPr>
          <a:xfrm>
            <a:off x="2999232" y="5797296"/>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The contact list sits in the TelecomOps parent folder, not inside a subfolder, and the email column contains addresses that actually receive mail</a:t>
            </a:r>
            <a:endParaRPr lang="en-US" sz="1050" dirty="0"/>
          </a:p>
        </p:txBody>
      </p:sp>
      <p:pic>
        <p:nvPicPr>
          <p:cNvPr id="53" name="Image 2" descr="preencoded.png">    </p:cNvPr>
          <p:cNvPicPr>
            <a:picLocks noChangeAspect="1"/>
          </p:cNvPicPr>
          <p:nvPr/>
        </p:nvPicPr>
        <p:blipFill>
          <a:blip r:embed="rId3"/>
          <a:stretch>
            <a:fillRect/>
          </a:stretch>
        </p:blipFill>
        <p:spPr>
          <a:xfrm>
            <a:off x="2743200" y="6062472"/>
            <a:ext cx="155448" cy="155448"/>
          </a:xfrm>
          <a:prstGeom prst="rect">
            <a:avLst/>
          </a:prstGeom>
        </p:spPr>
      </p:pic>
      <p:sp>
        <p:nvSpPr>
          <p:cNvPr id="54" name="Text 49"/>
          <p:cNvSpPr/>
          <p:nvPr/>
        </p:nvSpPr>
        <p:spPr>
          <a:xfrm>
            <a:off x="2999232" y="6007608"/>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The night shift handover email is in the inbox, not in junk</a:t>
            </a:r>
            <a:endParaRPr lang="en-US" sz="1050" dirty="0"/>
          </a:p>
        </p:txBody>
      </p:sp>
      <p:sp>
        <p:nvSpPr>
          <p:cNvPr id="55" name="Text 50"/>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56" name="Text 51"/>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7 SCENARIOS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Seven hands-on scenarios</a:t>
            </a:r>
            <a:endParaRPr lang="en-US" sz="3000" dirty="0"/>
          </a:p>
        </p:txBody>
      </p:sp>
      <p:sp>
        <p:nvSpPr>
          <p:cNvPr id="5" name="Shape 3"/>
          <p:cNvSpPr/>
          <p:nvPr/>
        </p:nvSpPr>
        <p:spPr>
          <a:xfrm>
            <a:off x="640080"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6" name="Shape 4"/>
          <p:cNvSpPr/>
          <p:nvPr/>
        </p:nvSpPr>
        <p:spPr>
          <a:xfrm>
            <a:off x="640080" y="1828800"/>
            <a:ext cx="1355010" cy="109728"/>
          </a:xfrm>
          <a:prstGeom prst="rect">
            <a:avLst/>
          </a:prstGeom>
          <a:solidFill>
            <a:srgbClr val="0B2F3A"/>
          </a:solidFill>
          <a:ln/>
        </p:spPr>
      </p:sp>
      <p:sp>
        <p:nvSpPr>
          <p:cNvPr id="7" name="Shape 5"/>
          <p:cNvSpPr/>
          <p:nvPr/>
        </p:nvSpPr>
        <p:spPr>
          <a:xfrm>
            <a:off x="860385" y="2194560"/>
            <a:ext cx="914400" cy="914400"/>
          </a:xfrm>
          <a:prstGeom prst="ellipse">
            <a:avLst/>
          </a:prstGeom>
          <a:solidFill>
            <a:srgbClr val="0B2F3A"/>
          </a:solidFill>
          <a:ln/>
        </p:spPr>
      </p:sp>
      <p:pic>
        <p:nvPicPr>
          <p:cNvPr id="8" name="Image 0" descr="preencoded.png">    </p:cNvPr>
          <p:cNvPicPr>
            <a:picLocks noChangeAspect="1"/>
          </p:cNvPicPr>
          <p:nvPr/>
        </p:nvPicPr>
        <p:blipFill>
          <a:blip r:embed="rId1"/>
          <a:stretch>
            <a:fillRect/>
          </a:stretch>
        </p:blipFill>
        <p:spPr>
          <a:xfrm>
            <a:off x="1061553" y="2395728"/>
            <a:ext cx="512064" cy="512064"/>
          </a:xfrm>
          <a:prstGeom prst="rect">
            <a:avLst/>
          </a:prstGeom>
        </p:spPr>
      </p:pic>
      <p:sp>
        <p:nvSpPr>
          <p:cNvPr id="9" name="Text 6"/>
          <p:cNvSpPr/>
          <p:nvPr/>
        </p:nvSpPr>
        <p:spPr>
          <a:xfrm>
            <a:off x="731520" y="3163824"/>
            <a:ext cx="1172130" cy="273406"/>
          </a:xfrm>
          <a:prstGeom prst="rect">
            <a:avLst/>
          </a:prstGeom>
          <a:noFill/>
          <a:ln/>
        </p:spPr>
        <p:txBody>
          <a:bodyPr wrap="square" rtlCol="0" anchor="t"/>
          <a:lstStyle/>
          <a:p>
            <a:pPr algn="ctr" indent="0" marL="0">
              <a:buNone/>
            </a:pPr>
            <a:r>
              <a:rPr lang="en-US" sz="828" b="1" dirty="0">
                <a:solidFill>
                  <a:srgbClr val="0B2F3A"/>
                </a:solidFill>
                <a:latin typeface="Segoe UI" pitchFamily="34" charset="0"/>
                <a:ea typeface="Segoe UI" pitchFamily="34" charset="-122"/>
                <a:cs typeface="Segoe UI" pitchFamily="34" charset="-120"/>
              </a:rPr>
              <a:t>Telecom · Network Operations</a:t>
            </a:r>
            <a:endParaRPr lang="en-US" sz="828" dirty="0"/>
          </a:p>
        </p:txBody>
      </p:sp>
      <p:sp>
        <p:nvSpPr>
          <p:cNvPr id="10" name="Text 7"/>
          <p:cNvSpPr/>
          <p:nvPr/>
        </p:nvSpPr>
        <p:spPr>
          <a:xfrm>
            <a:off x="731520" y="3492094"/>
            <a:ext cx="1172130" cy="891540"/>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Forty Alarms at Three in the Morning: the Loudest Is Not the Cause</a:t>
            </a:r>
            <a:endParaRPr lang="en-US" sz="1080" dirty="0"/>
          </a:p>
        </p:txBody>
      </p:sp>
      <p:sp>
        <p:nvSpPr>
          <p:cNvPr id="11" name="Text 8"/>
          <p:cNvSpPr/>
          <p:nvPr/>
        </p:nvSpPr>
        <p:spPr>
          <a:xfrm>
            <a:off x="731520" y="4465930"/>
            <a:ext cx="1172130" cy="427939"/>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Adaptive Cards · Excel · Teams · Event trigger</a:t>
            </a:r>
            <a:endParaRPr lang="en-US" sz="864" dirty="0"/>
          </a:p>
        </p:txBody>
      </p:sp>
      <p:sp>
        <p:nvSpPr>
          <p:cNvPr id="12" name="Text 9"/>
          <p:cNvSpPr/>
          <p:nvPr/>
        </p:nvSpPr>
        <p:spPr>
          <a:xfrm>
            <a:off x="731520" y="4976165"/>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~20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13" name="Shape 10"/>
          <p:cNvSpPr/>
          <p:nvPr/>
        </p:nvSpPr>
        <p:spPr>
          <a:xfrm>
            <a:off x="2232834"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14" name="Shape 11"/>
          <p:cNvSpPr/>
          <p:nvPr/>
        </p:nvSpPr>
        <p:spPr>
          <a:xfrm>
            <a:off x="2232834" y="1828800"/>
            <a:ext cx="1355010" cy="109728"/>
          </a:xfrm>
          <a:prstGeom prst="rect">
            <a:avLst/>
          </a:prstGeom>
          <a:solidFill>
            <a:srgbClr val="14364A"/>
          </a:solidFill>
          <a:ln/>
        </p:spPr>
      </p:sp>
      <p:sp>
        <p:nvSpPr>
          <p:cNvPr id="15" name="Shape 12"/>
          <p:cNvSpPr/>
          <p:nvPr/>
        </p:nvSpPr>
        <p:spPr>
          <a:xfrm>
            <a:off x="2453139" y="2194560"/>
            <a:ext cx="914400" cy="914400"/>
          </a:xfrm>
          <a:prstGeom prst="ellipse">
            <a:avLst/>
          </a:prstGeom>
          <a:solidFill>
            <a:srgbClr val="14364A"/>
          </a:solidFill>
          <a:ln/>
        </p:spPr>
      </p:sp>
      <p:pic>
        <p:nvPicPr>
          <p:cNvPr id="16" name="Image 1" descr="preencoded.png">    </p:cNvPr>
          <p:cNvPicPr>
            <a:picLocks noChangeAspect="1"/>
          </p:cNvPicPr>
          <p:nvPr/>
        </p:nvPicPr>
        <p:blipFill>
          <a:blip r:embed="rId2"/>
          <a:stretch>
            <a:fillRect/>
          </a:stretch>
        </p:blipFill>
        <p:spPr>
          <a:xfrm>
            <a:off x="2654307" y="2395728"/>
            <a:ext cx="512064" cy="512064"/>
          </a:xfrm>
          <a:prstGeom prst="rect">
            <a:avLst/>
          </a:prstGeom>
        </p:spPr>
      </p:pic>
      <p:sp>
        <p:nvSpPr>
          <p:cNvPr id="17" name="Text 13"/>
          <p:cNvSpPr/>
          <p:nvPr/>
        </p:nvSpPr>
        <p:spPr>
          <a:xfrm>
            <a:off x="2324274" y="3163824"/>
            <a:ext cx="1172130" cy="273406"/>
          </a:xfrm>
          <a:prstGeom prst="rect">
            <a:avLst/>
          </a:prstGeom>
          <a:noFill/>
          <a:ln/>
        </p:spPr>
        <p:txBody>
          <a:bodyPr wrap="square" rtlCol="0" anchor="t"/>
          <a:lstStyle/>
          <a:p>
            <a:pPr algn="ctr" indent="0" marL="0">
              <a:buNone/>
            </a:pPr>
            <a:r>
              <a:rPr lang="en-US" sz="828" b="1" dirty="0">
                <a:solidFill>
                  <a:srgbClr val="14364A"/>
                </a:solidFill>
                <a:latin typeface="Segoe UI" pitchFamily="34" charset="0"/>
                <a:ea typeface="Segoe UI" pitchFamily="34" charset="-122"/>
                <a:cs typeface="Segoe UI" pitchFamily="34" charset="-120"/>
              </a:rPr>
              <a:t>Telecom · Network Operations</a:t>
            </a:r>
            <a:endParaRPr lang="en-US" sz="828" dirty="0"/>
          </a:p>
        </p:txBody>
      </p:sp>
      <p:sp>
        <p:nvSpPr>
          <p:cNvPr id="18" name="Text 14"/>
          <p:cNvSpPr/>
          <p:nvPr/>
        </p:nvSpPr>
        <p:spPr>
          <a:xfrm>
            <a:off x="2324274" y="3492094"/>
            <a:ext cx="1172130" cy="1248156"/>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The Maintenance Window: the Quietest Three Hours Are the Ones You Cannot Use</a:t>
            </a:r>
            <a:endParaRPr lang="en-US" sz="1080" dirty="0"/>
          </a:p>
        </p:txBody>
      </p:sp>
      <p:sp>
        <p:nvSpPr>
          <p:cNvPr id="19" name="Text 15"/>
          <p:cNvSpPr/>
          <p:nvPr/>
        </p:nvSpPr>
        <p:spPr>
          <a:xfrm>
            <a:off x="2324274" y="4822546"/>
            <a:ext cx="1172130" cy="285293"/>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Excel · Scheduling …</a:t>
            </a:r>
            <a:endParaRPr lang="en-US" sz="864" dirty="0"/>
          </a:p>
        </p:txBody>
      </p:sp>
      <p:sp>
        <p:nvSpPr>
          <p:cNvPr id="20" name="Text 16"/>
          <p:cNvSpPr/>
          <p:nvPr/>
        </p:nvSpPr>
        <p:spPr>
          <a:xfrm>
            <a:off x="2324274" y="5190134"/>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~15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21" name="Shape 17"/>
          <p:cNvSpPr/>
          <p:nvPr/>
        </p:nvSpPr>
        <p:spPr>
          <a:xfrm>
            <a:off x="3825588"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22" name="Shape 18"/>
          <p:cNvSpPr/>
          <p:nvPr/>
        </p:nvSpPr>
        <p:spPr>
          <a:xfrm>
            <a:off x="3825588" y="1828800"/>
            <a:ext cx="1355010" cy="109728"/>
          </a:xfrm>
          <a:prstGeom prst="rect">
            <a:avLst/>
          </a:prstGeom>
          <a:solidFill>
            <a:srgbClr val="1F3A5F"/>
          </a:solidFill>
          <a:ln/>
        </p:spPr>
      </p:sp>
      <p:sp>
        <p:nvSpPr>
          <p:cNvPr id="23" name="Shape 19"/>
          <p:cNvSpPr/>
          <p:nvPr/>
        </p:nvSpPr>
        <p:spPr>
          <a:xfrm>
            <a:off x="4045893" y="2194560"/>
            <a:ext cx="914400" cy="914400"/>
          </a:xfrm>
          <a:prstGeom prst="ellipse">
            <a:avLst/>
          </a:prstGeom>
          <a:solidFill>
            <a:srgbClr val="1F3A5F"/>
          </a:solidFill>
          <a:ln/>
        </p:spPr>
      </p:sp>
      <p:pic>
        <p:nvPicPr>
          <p:cNvPr id="24" name="Image 2" descr="preencoded.png">    </p:cNvPr>
          <p:cNvPicPr>
            <a:picLocks noChangeAspect="1"/>
          </p:cNvPicPr>
          <p:nvPr/>
        </p:nvPicPr>
        <p:blipFill>
          <a:blip r:embed="rId3"/>
          <a:stretch>
            <a:fillRect/>
          </a:stretch>
        </p:blipFill>
        <p:spPr>
          <a:xfrm>
            <a:off x="4247061" y="2395728"/>
            <a:ext cx="512064" cy="512064"/>
          </a:xfrm>
          <a:prstGeom prst="rect">
            <a:avLst/>
          </a:prstGeom>
        </p:spPr>
      </p:pic>
      <p:sp>
        <p:nvSpPr>
          <p:cNvPr id="25" name="Text 20"/>
          <p:cNvSpPr/>
          <p:nvPr/>
        </p:nvSpPr>
        <p:spPr>
          <a:xfrm>
            <a:off x="3917028" y="3163824"/>
            <a:ext cx="1172130" cy="273406"/>
          </a:xfrm>
          <a:prstGeom prst="rect">
            <a:avLst/>
          </a:prstGeom>
          <a:noFill/>
          <a:ln/>
        </p:spPr>
        <p:txBody>
          <a:bodyPr wrap="square" rtlCol="0" anchor="t"/>
          <a:lstStyle/>
          <a:p>
            <a:pPr algn="ctr" indent="0" marL="0">
              <a:buNone/>
            </a:pPr>
            <a:r>
              <a:rPr lang="en-US" sz="828" b="1" dirty="0">
                <a:solidFill>
                  <a:srgbClr val="1F3A5F"/>
                </a:solidFill>
                <a:latin typeface="Segoe UI" pitchFamily="34" charset="0"/>
                <a:ea typeface="Segoe UI" pitchFamily="34" charset="-122"/>
                <a:cs typeface="Segoe UI" pitchFamily="34" charset="-120"/>
              </a:rPr>
              <a:t>Telecom · Network Operations</a:t>
            </a:r>
            <a:endParaRPr lang="en-US" sz="828" dirty="0"/>
          </a:p>
        </p:txBody>
      </p:sp>
      <p:sp>
        <p:nvSpPr>
          <p:cNvPr id="26" name="Text 21"/>
          <p:cNvSpPr/>
          <p:nvPr/>
        </p:nvSpPr>
        <p:spPr>
          <a:xfrm>
            <a:off x="3917028" y="3492094"/>
            <a:ext cx="1172130" cy="1248156"/>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Availability Met, Compensation Due: the Second Threshold in the Contract</a:t>
            </a:r>
            <a:endParaRPr lang="en-US" sz="1080" dirty="0"/>
          </a:p>
        </p:txBody>
      </p:sp>
      <p:sp>
        <p:nvSpPr>
          <p:cNvPr id="27" name="Text 22"/>
          <p:cNvSpPr/>
          <p:nvPr/>
        </p:nvSpPr>
        <p:spPr>
          <a:xfrm>
            <a:off x="3917028" y="4822546"/>
            <a:ext cx="1172130" cy="285293"/>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Excel · Edit existing file …</a:t>
            </a:r>
            <a:endParaRPr lang="en-US" sz="864" dirty="0"/>
          </a:p>
        </p:txBody>
      </p:sp>
      <p:sp>
        <p:nvSpPr>
          <p:cNvPr id="28" name="Text 23"/>
          <p:cNvSpPr/>
          <p:nvPr/>
        </p:nvSpPr>
        <p:spPr>
          <a:xfrm>
            <a:off x="3917028" y="5190134"/>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~25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29" name="Shape 24"/>
          <p:cNvSpPr/>
          <p:nvPr/>
        </p:nvSpPr>
        <p:spPr>
          <a:xfrm>
            <a:off x="5418343"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0" name="Shape 25"/>
          <p:cNvSpPr/>
          <p:nvPr/>
        </p:nvSpPr>
        <p:spPr>
          <a:xfrm>
            <a:off x="5418343" y="1828800"/>
            <a:ext cx="1355010" cy="109728"/>
          </a:xfrm>
          <a:prstGeom prst="rect">
            <a:avLst/>
          </a:prstGeom>
          <a:solidFill>
            <a:srgbClr val="4A2B14"/>
          </a:solidFill>
          <a:ln/>
        </p:spPr>
      </p:sp>
      <p:sp>
        <p:nvSpPr>
          <p:cNvPr id="31" name="Shape 26"/>
          <p:cNvSpPr/>
          <p:nvPr/>
        </p:nvSpPr>
        <p:spPr>
          <a:xfrm>
            <a:off x="5638648" y="2194560"/>
            <a:ext cx="914400" cy="914400"/>
          </a:xfrm>
          <a:prstGeom prst="ellipse">
            <a:avLst/>
          </a:prstGeom>
          <a:solidFill>
            <a:srgbClr val="4A2B14"/>
          </a:solidFill>
          <a:ln/>
        </p:spPr>
      </p:sp>
      <p:pic>
        <p:nvPicPr>
          <p:cNvPr id="32" name="Image 3" descr="preencoded.png">    </p:cNvPr>
          <p:cNvPicPr>
            <a:picLocks noChangeAspect="1"/>
          </p:cNvPicPr>
          <p:nvPr/>
        </p:nvPicPr>
        <p:blipFill>
          <a:blip r:embed="rId4"/>
          <a:stretch>
            <a:fillRect/>
          </a:stretch>
        </p:blipFill>
        <p:spPr>
          <a:xfrm>
            <a:off x="5839816" y="2395728"/>
            <a:ext cx="512064" cy="512064"/>
          </a:xfrm>
          <a:prstGeom prst="rect">
            <a:avLst/>
          </a:prstGeom>
        </p:spPr>
      </p:pic>
      <p:sp>
        <p:nvSpPr>
          <p:cNvPr id="33" name="Text 27"/>
          <p:cNvSpPr/>
          <p:nvPr/>
        </p:nvSpPr>
        <p:spPr>
          <a:xfrm>
            <a:off x="5509783" y="3163824"/>
            <a:ext cx="1172130" cy="273406"/>
          </a:xfrm>
          <a:prstGeom prst="rect">
            <a:avLst/>
          </a:prstGeom>
          <a:noFill/>
          <a:ln/>
        </p:spPr>
        <p:txBody>
          <a:bodyPr wrap="square" rtlCol="0" anchor="t"/>
          <a:lstStyle/>
          <a:p>
            <a:pPr algn="ctr" indent="0" marL="0">
              <a:buNone/>
            </a:pPr>
            <a:r>
              <a:rPr lang="en-US" sz="828" b="1" dirty="0">
                <a:solidFill>
                  <a:srgbClr val="4A2B14"/>
                </a:solidFill>
                <a:latin typeface="Segoe UI" pitchFamily="34" charset="0"/>
                <a:ea typeface="Segoe UI" pitchFamily="34" charset="-122"/>
                <a:cs typeface="Segoe UI" pitchFamily="34" charset="-120"/>
              </a:rPr>
              <a:t>Telecom · Network Operations</a:t>
            </a:r>
            <a:endParaRPr lang="en-US" sz="828" dirty="0"/>
          </a:p>
        </p:txBody>
      </p:sp>
      <p:sp>
        <p:nvSpPr>
          <p:cNvPr id="34" name="Text 28"/>
          <p:cNvSpPr/>
          <p:nvPr/>
        </p:nvSpPr>
        <p:spPr>
          <a:xfrm>
            <a:off x="5509783" y="3492094"/>
            <a:ext cx="1172130" cy="1248156"/>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Below the Subscriber Threshold — and the Two-Hour Clock Is Already Running</a:t>
            </a:r>
            <a:endParaRPr lang="en-US" sz="1080" dirty="0"/>
          </a:p>
        </p:txBody>
      </p:sp>
      <p:sp>
        <p:nvSpPr>
          <p:cNvPr id="35" name="Text 29"/>
          <p:cNvSpPr/>
          <p:nvPr/>
        </p:nvSpPr>
        <p:spPr>
          <a:xfrm>
            <a:off x="5509783" y="4822546"/>
            <a:ext cx="1172130" cy="285293"/>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Communications · Excel · Email …</a:t>
            </a:r>
            <a:endParaRPr lang="en-US" sz="864" dirty="0"/>
          </a:p>
        </p:txBody>
      </p:sp>
      <p:sp>
        <p:nvSpPr>
          <p:cNvPr id="36" name="Text 30"/>
          <p:cNvSpPr/>
          <p:nvPr/>
        </p:nvSpPr>
        <p:spPr>
          <a:xfrm>
            <a:off x="5509783" y="5190134"/>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~20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37" name="Shape 31"/>
          <p:cNvSpPr/>
          <p:nvPr/>
        </p:nvSpPr>
        <p:spPr>
          <a:xfrm>
            <a:off x="7011097"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8" name="Shape 32"/>
          <p:cNvSpPr/>
          <p:nvPr/>
        </p:nvSpPr>
        <p:spPr>
          <a:xfrm>
            <a:off x="7011097" y="1828800"/>
            <a:ext cx="1355010" cy="109728"/>
          </a:xfrm>
          <a:prstGeom prst="rect">
            <a:avLst/>
          </a:prstGeom>
          <a:solidFill>
            <a:srgbClr val="2C1F4A"/>
          </a:solidFill>
          <a:ln/>
        </p:spPr>
      </p:sp>
      <p:sp>
        <p:nvSpPr>
          <p:cNvPr id="39" name="Shape 33"/>
          <p:cNvSpPr/>
          <p:nvPr/>
        </p:nvSpPr>
        <p:spPr>
          <a:xfrm>
            <a:off x="7231402" y="2194560"/>
            <a:ext cx="914400" cy="914400"/>
          </a:xfrm>
          <a:prstGeom prst="ellipse">
            <a:avLst/>
          </a:prstGeom>
          <a:solidFill>
            <a:srgbClr val="2C1F4A"/>
          </a:solidFill>
          <a:ln/>
        </p:spPr>
      </p:sp>
      <p:pic>
        <p:nvPicPr>
          <p:cNvPr id="40" name="Image 4" descr="preencoded.png">    </p:cNvPr>
          <p:cNvPicPr>
            <a:picLocks noChangeAspect="1"/>
          </p:cNvPicPr>
          <p:nvPr/>
        </p:nvPicPr>
        <p:blipFill>
          <a:blip r:embed="rId5"/>
          <a:stretch>
            <a:fillRect/>
          </a:stretch>
        </p:blipFill>
        <p:spPr>
          <a:xfrm>
            <a:off x="7432570" y="2395728"/>
            <a:ext cx="512064" cy="512064"/>
          </a:xfrm>
          <a:prstGeom prst="rect">
            <a:avLst/>
          </a:prstGeom>
        </p:spPr>
      </p:pic>
      <p:sp>
        <p:nvSpPr>
          <p:cNvPr id="41" name="Text 34"/>
          <p:cNvSpPr/>
          <p:nvPr/>
        </p:nvSpPr>
        <p:spPr>
          <a:xfrm>
            <a:off x="7102537" y="3163824"/>
            <a:ext cx="1172130" cy="296189"/>
          </a:xfrm>
          <a:prstGeom prst="rect">
            <a:avLst/>
          </a:prstGeom>
          <a:noFill/>
          <a:ln/>
        </p:spPr>
        <p:txBody>
          <a:bodyPr wrap="square" rtlCol="0" anchor="t"/>
          <a:lstStyle/>
          <a:p>
            <a:pPr algn="ctr" indent="0" marL="0">
              <a:buNone/>
            </a:pPr>
            <a:r>
              <a:rPr lang="en-US" sz="897" b="1" dirty="0">
                <a:solidFill>
                  <a:srgbClr val="2C1F4A"/>
                </a:solidFill>
                <a:latin typeface="Segoe UI" pitchFamily="34" charset="0"/>
                <a:ea typeface="Segoe UI" pitchFamily="34" charset="-122"/>
                <a:cs typeface="Segoe UI" pitchFamily="34" charset="-120"/>
              </a:rPr>
              <a:t>Telecom · Network Operations</a:t>
            </a:r>
            <a:endParaRPr lang="en-US" sz="897" dirty="0"/>
          </a:p>
        </p:txBody>
      </p:sp>
      <p:sp>
        <p:nvSpPr>
          <p:cNvPr id="42" name="Text 35"/>
          <p:cNvSpPr/>
          <p:nvPr/>
        </p:nvSpPr>
        <p:spPr>
          <a:xfrm>
            <a:off x="7102537" y="3514877"/>
            <a:ext cx="1172130" cy="965835"/>
          </a:xfrm>
          <a:prstGeom prst="rect">
            <a:avLst/>
          </a:prstGeom>
          <a:noFill/>
          <a:ln/>
        </p:spPr>
        <p:txBody>
          <a:bodyPr wrap="square" rtlCol="0" anchor="t"/>
          <a:lstStyle/>
          <a:p>
            <a:pPr algn="ctr" indent="0" marL="0">
              <a:buNone/>
            </a:pPr>
            <a:r>
              <a:rPr lang="en-US" sz="1170" b="1" dirty="0">
                <a:solidFill>
                  <a:srgbClr val="1E2235"/>
                </a:solidFill>
                <a:latin typeface="Segoe UI" pitchFamily="34" charset="0"/>
                <a:ea typeface="Segoe UI" pitchFamily="34" charset="-122"/>
                <a:cs typeface="Segoe UI" pitchFamily="34" charset="-120"/>
              </a:rPr>
              <a:t>On the Average, This Tariff Is Perfectly Safe</a:t>
            </a:r>
            <a:endParaRPr lang="en-US" sz="1170" dirty="0"/>
          </a:p>
        </p:txBody>
      </p:sp>
      <p:sp>
        <p:nvSpPr>
          <p:cNvPr id="43" name="Text 36"/>
          <p:cNvSpPr/>
          <p:nvPr/>
        </p:nvSpPr>
        <p:spPr>
          <a:xfrm>
            <a:off x="7102537" y="4563008"/>
            <a:ext cx="1172130" cy="463601"/>
          </a:xfrm>
          <a:prstGeom prst="rect">
            <a:avLst/>
          </a:prstGeom>
          <a:noFill/>
          <a:ln/>
        </p:spPr>
        <p:txBody>
          <a:bodyPr wrap="square" rtlCol="0" anchor="t"/>
          <a:lstStyle/>
          <a:p>
            <a:pPr algn="ctr" indent="0" marL="0">
              <a:lnSpc>
                <a:spcPct val="105000"/>
              </a:lnSpc>
              <a:buNone/>
            </a:pPr>
            <a:r>
              <a:rPr lang="en-US" sz="936" dirty="0">
                <a:solidFill>
                  <a:srgbClr val="5B6079"/>
                </a:solidFill>
                <a:latin typeface="Segoe UI" pitchFamily="34" charset="0"/>
                <a:ea typeface="Segoe UI" pitchFamily="34" charset="-122"/>
                <a:cs typeface="Segoe UI" pitchFamily="34" charset="-120"/>
              </a:rPr>
              <a:t>File upload · Excel · PowerPoint</a:t>
            </a:r>
            <a:endParaRPr lang="en-US" sz="936" dirty="0"/>
          </a:p>
        </p:txBody>
      </p:sp>
      <p:sp>
        <p:nvSpPr>
          <p:cNvPr id="44" name="Text 37"/>
          <p:cNvSpPr/>
          <p:nvPr/>
        </p:nvSpPr>
        <p:spPr>
          <a:xfrm>
            <a:off x="7102537" y="5108905"/>
            <a:ext cx="1172130" cy="283312"/>
          </a:xfrm>
          <a:prstGeom prst="rect">
            <a:avLst/>
          </a:prstGeom>
          <a:noFill/>
          <a:ln/>
        </p:spPr>
        <p:txBody>
          <a:bodyPr wrap="square" rtlCol="0" anchor="t"/>
          <a:lstStyle/>
          <a:p>
            <a:pPr algn="ctr" indent="0" marL="0">
              <a:buNone/>
            </a:pPr>
            <a:r>
              <a:rPr lang="en-US" sz="858" dirty="0">
                <a:solidFill>
                  <a:srgbClr val="9AA0C0"/>
                </a:solidFill>
                <a:latin typeface="Segoe UI" pitchFamily="34" charset="0"/>
                <a:ea typeface="Segoe UI" pitchFamily="34" charset="-122"/>
                <a:cs typeface="Segoe UI" pitchFamily="34" charset="-120"/>
              </a:rPr>
              <a:t>~25 min</a:t>
            </a:r>
            <a:endParaRPr lang="en-US" sz="858" dirty="0"/>
          </a:p>
          <a:p>
            <a:pPr algn="ctr" indent="0" marL="0">
              <a:buNone/>
            </a:pPr>
            <a:r>
              <a:rPr lang="en-US" sz="858" dirty="0">
                <a:solidFill>
                  <a:srgbClr val="9AA0C0"/>
                </a:solidFill>
                <a:latin typeface="Segoe UI" pitchFamily="34" charset="0"/>
                <a:ea typeface="Segoe UI" pitchFamily="34" charset="-122"/>
                <a:cs typeface="Segoe UI" pitchFamily="34" charset="-120"/>
              </a:rPr>
              <a:t> ★★★</a:t>
            </a:r>
            <a:endParaRPr lang="en-US" sz="858" dirty="0"/>
          </a:p>
        </p:txBody>
      </p:sp>
      <p:sp>
        <p:nvSpPr>
          <p:cNvPr id="45" name="Shape 38"/>
          <p:cNvSpPr/>
          <p:nvPr/>
        </p:nvSpPr>
        <p:spPr>
          <a:xfrm>
            <a:off x="8603851"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46" name="Shape 39"/>
          <p:cNvSpPr/>
          <p:nvPr/>
        </p:nvSpPr>
        <p:spPr>
          <a:xfrm>
            <a:off x="8603851" y="1828800"/>
            <a:ext cx="1355010" cy="109728"/>
          </a:xfrm>
          <a:prstGeom prst="rect">
            <a:avLst/>
          </a:prstGeom>
          <a:solidFill>
            <a:srgbClr val="3A2340"/>
          </a:solidFill>
          <a:ln/>
        </p:spPr>
      </p:sp>
      <p:sp>
        <p:nvSpPr>
          <p:cNvPr id="47" name="Shape 40"/>
          <p:cNvSpPr/>
          <p:nvPr/>
        </p:nvSpPr>
        <p:spPr>
          <a:xfrm>
            <a:off x="8824156" y="2194560"/>
            <a:ext cx="914400" cy="914400"/>
          </a:xfrm>
          <a:prstGeom prst="ellipse">
            <a:avLst/>
          </a:prstGeom>
          <a:solidFill>
            <a:srgbClr val="3A2340"/>
          </a:solidFill>
          <a:ln/>
        </p:spPr>
      </p:sp>
      <p:pic>
        <p:nvPicPr>
          <p:cNvPr id="48" name="Image 5" descr="preencoded.png">    </p:cNvPr>
          <p:cNvPicPr>
            <a:picLocks noChangeAspect="1"/>
          </p:cNvPicPr>
          <p:nvPr/>
        </p:nvPicPr>
        <p:blipFill>
          <a:blip r:embed="rId6"/>
          <a:stretch>
            <a:fillRect/>
          </a:stretch>
        </p:blipFill>
        <p:spPr>
          <a:xfrm>
            <a:off x="9025324" y="2395728"/>
            <a:ext cx="512064" cy="512064"/>
          </a:xfrm>
          <a:prstGeom prst="rect">
            <a:avLst/>
          </a:prstGeom>
        </p:spPr>
      </p:pic>
      <p:sp>
        <p:nvSpPr>
          <p:cNvPr id="49" name="Text 41"/>
          <p:cNvSpPr/>
          <p:nvPr/>
        </p:nvSpPr>
        <p:spPr>
          <a:xfrm>
            <a:off x="8695291" y="3163824"/>
            <a:ext cx="1172130" cy="296189"/>
          </a:xfrm>
          <a:prstGeom prst="rect">
            <a:avLst/>
          </a:prstGeom>
          <a:noFill/>
          <a:ln/>
        </p:spPr>
        <p:txBody>
          <a:bodyPr wrap="square" rtlCol="0" anchor="t"/>
          <a:lstStyle/>
          <a:p>
            <a:pPr algn="ctr" indent="0" marL="0">
              <a:buNone/>
            </a:pPr>
            <a:r>
              <a:rPr lang="en-US" sz="897" b="1" dirty="0">
                <a:solidFill>
                  <a:srgbClr val="3A2340"/>
                </a:solidFill>
                <a:latin typeface="Segoe UI" pitchFamily="34" charset="0"/>
                <a:ea typeface="Segoe UI" pitchFamily="34" charset="-122"/>
                <a:cs typeface="Segoe UI" pitchFamily="34" charset="-120"/>
              </a:rPr>
              <a:t>Telecom · Network Operations</a:t>
            </a:r>
            <a:endParaRPr lang="en-US" sz="897" dirty="0"/>
          </a:p>
        </p:txBody>
      </p:sp>
      <p:sp>
        <p:nvSpPr>
          <p:cNvPr id="50" name="Text 42"/>
          <p:cNvSpPr/>
          <p:nvPr/>
        </p:nvSpPr>
        <p:spPr>
          <a:xfrm>
            <a:off x="8695291" y="3514877"/>
            <a:ext cx="1172130" cy="1159002"/>
          </a:xfrm>
          <a:prstGeom prst="rect">
            <a:avLst/>
          </a:prstGeom>
          <a:noFill/>
          <a:ln/>
        </p:spPr>
        <p:txBody>
          <a:bodyPr wrap="square" rtlCol="0" anchor="t"/>
          <a:lstStyle/>
          <a:p>
            <a:pPr algn="ctr" indent="0" marL="0">
              <a:buNone/>
            </a:pPr>
            <a:r>
              <a:rPr lang="en-US" sz="1170" b="1" dirty="0">
                <a:solidFill>
                  <a:srgbClr val="1E2235"/>
                </a:solidFill>
                <a:latin typeface="Segoe UI" pitchFamily="34" charset="0"/>
                <a:ea typeface="Segoe UI" pitchFamily="34" charset="-122"/>
                <a:cs typeface="Segoe UI" pitchFamily="34" charset="-120"/>
              </a:rPr>
              <a:t>This Order Cannot Be Fully Answered — and Cannot Be Refused</a:t>
            </a:r>
            <a:endParaRPr lang="en-US" sz="1170" dirty="0"/>
          </a:p>
        </p:txBody>
      </p:sp>
      <p:sp>
        <p:nvSpPr>
          <p:cNvPr id="51" name="Text 43"/>
          <p:cNvSpPr/>
          <p:nvPr/>
        </p:nvSpPr>
        <p:spPr>
          <a:xfrm>
            <a:off x="8695291" y="4756175"/>
            <a:ext cx="1172130" cy="309067"/>
          </a:xfrm>
          <a:prstGeom prst="rect">
            <a:avLst/>
          </a:prstGeom>
          <a:noFill/>
          <a:ln/>
        </p:spPr>
        <p:txBody>
          <a:bodyPr wrap="square" rtlCol="0" anchor="t"/>
          <a:lstStyle/>
          <a:p>
            <a:pPr algn="ctr" indent="0" marL="0">
              <a:lnSpc>
                <a:spcPct val="105000"/>
              </a:lnSpc>
              <a:buNone/>
            </a:pPr>
            <a:r>
              <a:rPr lang="en-US" sz="936" dirty="0">
                <a:solidFill>
                  <a:srgbClr val="5B6079"/>
                </a:solidFill>
                <a:latin typeface="Segoe UI" pitchFamily="34" charset="0"/>
                <a:ea typeface="Segoe UI" pitchFamily="34" charset="-122"/>
                <a:cs typeface="Segoe UI" pitchFamily="34" charset="-120"/>
              </a:rPr>
              <a:t>File upload · PDF · Word</a:t>
            </a:r>
            <a:endParaRPr lang="en-US" sz="936" dirty="0"/>
          </a:p>
        </p:txBody>
      </p:sp>
      <p:sp>
        <p:nvSpPr>
          <p:cNvPr id="52" name="Text 44"/>
          <p:cNvSpPr/>
          <p:nvPr/>
        </p:nvSpPr>
        <p:spPr>
          <a:xfrm>
            <a:off x="8695291" y="5147539"/>
            <a:ext cx="1172130" cy="283312"/>
          </a:xfrm>
          <a:prstGeom prst="rect">
            <a:avLst/>
          </a:prstGeom>
          <a:noFill/>
          <a:ln/>
        </p:spPr>
        <p:txBody>
          <a:bodyPr wrap="square" rtlCol="0" anchor="t"/>
          <a:lstStyle/>
          <a:p>
            <a:pPr algn="ctr" indent="0" marL="0">
              <a:buNone/>
            </a:pPr>
            <a:r>
              <a:rPr lang="en-US" sz="858" dirty="0">
                <a:solidFill>
                  <a:srgbClr val="9AA0C0"/>
                </a:solidFill>
                <a:latin typeface="Segoe UI" pitchFamily="34" charset="0"/>
                <a:ea typeface="Segoe UI" pitchFamily="34" charset="-122"/>
                <a:cs typeface="Segoe UI" pitchFamily="34" charset="-120"/>
              </a:rPr>
              <a:t>~20 min</a:t>
            </a:r>
            <a:endParaRPr lang="en-US" sz="858" dirty="0"/>
          </a:p>
          <a:p>
            <a:pPr algn="ctr" indent="0" marL="0">
              <a:buNone/>
            </a:pPr>
            <a:r>
              <a:rPr lang="en-US" sz="858" dirty="0">
                <a:solidFill>
                  <a:srgbClr val="9AA0C0"/>
                </a:solidFill>
                <a:latin typeface="Segoe UI" pitchFamily="34" charset="0"/>
                <a:ea typeface="Segoe UI" pitchFamily="34" charset="-122"/>
                <a:cs typeface="Segoe UI" pitchFamily="34" charset="-120"/>
              </a:rPr>
              <a:t> ★★★</a:t>
            </a:r>
            <a:endParaRPr lang="en-US" sz="858" dirty="0"/>
          </a:p>
        </p:txBody>
      </p:sp>
      <p:sp>
        <p:nvSpPr>
          <p:cNvPr id="53" name="Shape 45"/>
          <p:cNvSpPr/>
          <p:nvPr/>
        </p:nvSpPr>
        <p:spPr>
          <a:xfrm>
            <a:off x="10196605"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54" name="Shape 46"/>
          <p:cNvSpPr/>
          <p:nvPr/>
        </p:nvSpPr>
        <p:spPr>
          <a:xfrm>
            <a:off x="10196605" y="1828800"/>
            <a:ext cx="1355010" cy="109728"/>
          </a:xfrm>
          <a:prstGeom prst="rect">
            <a:avLst/>
          </a:prstGeom>
          <a:solidFill>
            <a:srgbClr val="143A2C"/>
          </a:solidFill>
          <a:ln/>
        </p:spPr>
      </p:sp>
      <p:sp>
        <p:nvSpPr>
          <p:cNvPr id="55" name="Shape 47"/>
          <p:cNvSpPr/>
          <p:nvPr/>
        </p:nvSpPr>
        <p:spPr>
          <a:xfrm>
            <a:off x="10416910" y="2194560"/>
            <a:ext cx="914400" cy="914400"/>
          </a:xfrm>
          <a:prstGeom prst="ellipse">
            <a:avLst/>
          </a:prstGeom>
          <a:solidFill>
            <a:srgbClr val="143A2C"/>
          </a:solidFill>
          <a:ln/>
        </p:spPr>
      </p:sp>
      <p:pic>
        <p:nvPicPr>
          <p:cNvPr id="56" name="Image 6" descr="preencoded.png">    </p:cNvPr>
          <p:cNvPicPr>
            <a:picLocks noChangeAspect="1"/>
          </p:cNvPicPr>
          <p:nvPr/>
        </p:nvPicPr>
        <p:blipFill>
          <a:blip r:embed="rId7"/>
          <a:stretch>
            <a:fillRect/>
          </a:stretch>
        </p:blipFill>
        <p:spPr>
          <a:xfrm>
            <a:off x="10618078" y="2395728"/>
            <a:ext cx="512064" cy="512064"/>
          </a:xfrm>
          <a:prstGeom prst="rect">
            <a:avLst/>
          </a:prstGeom>
        </p:spPr>
      </p:pic>
      <p:sp>
        <p:nvSpPr>
          <p:cNvPr id="57" name="Text 48"/>
          <p:cNvSpPr/>
          <p:nvPr/>
        </p:nvSpPr>
        <p:spPr>
          <a:xfrm>
            <a:off x="10288045" y="3163824"/>
            <a:ext cx="1172130" cy="273406"/>
          </a:xfrm>
          <a:prstGeom prst="rect">
            <a:avLst/>
          </a:prstGeom>
          <a:noFill/>
          <a:ln/>
        </p:spPr>
        <p:txBody>
          <a:bodyPr wrap="square" rtlCol="0" anchor="t"/>
          <a:lstStyle/>
          <a:p>
            <a:pPr algn="ctr" indent="0" marL="0">
              <a:buNone/>
            </a:pPr>
            <a:r>
              <a:rPr lang="en-US" sz="828" b="1" dirty="0">
                <a:solidFill>
                  <a:srgbClr val="143A2C"/>
                </a:solidFill>
                <a:latin typeface="Segoe UI" pitchFamily="34" charset="0"/>
                <a:ea typeface="Segoe UI" pitchFamily="34" charset="-122"/>
                <a:cs typeface="Segoe UI" pitchFamily="34" charset="-120"/>
              </a:rPr>
              <a:t>Telecom · Network Operations</a:t>
            </a:r>
            <a:endParaRPr lang="en-US" sz="828" dirty="0"/>
          </a:p>
        </p:txBody>
      </p:sp>
      <p:sp>
        <p:nvSpPr>
          <p:cNvPr id="58" name="Text 49"/>
          <p:cNvSpPr/>
          <p:nvPr/>
        </p:nvSpPr>
        <p:spPr>
          <a:xfrm>
            <a:off x="10288045" y="3492094"/>
            <a:ext cx="1172130" cy="891540"/>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The Month the Network Met Target and One Region Fell Apart</a:t>
            </a:r>
            <a:endParaRPr lang="en-US" sz="1080" dirty="0"/>
          </a:p>
        </p:txBody>
      </p:sp>
      <p:sp>
        <p:nvSpPr>
          <p:cNvPr id="59" name="Text 50"/>
          <p:cNvSpPr/>
          <p:nvPr/>
        </p:nvSpPr>
        <p:spPr>
          <a:xfrm>
            <a:off x="10288045" y="4465930"/>
            <a:ext cx="1172130" cy="427939"/>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Daily Briefing · Excel · Enterprise Search</a:t>
            </a:r>
            <a:endParaRPr lang="en-US" sz="864" dirty="0"/>
          </a:p>
        </p:txBody>
      </p:sp>
      <p:sp>
        <p:nvSpPr>
          <p:cNvPr id="60" name="Text 51"/>
          <p:cNvSpPr/>
          <p:nvPr/>
        </p:nvSpPr>
        <p:spPr>
          <a:xfrm>
            <a:off x="10288045" y="4976165"/>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~20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61" name="Text 52"/>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62" name="Text 53"/>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0B2F3A"/>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0B2F3A"/>
                </a:solidFill>
                <a:latin typeface="Segoe UI" pitchFamily="34" charset="0"/>
                <a:ea typeface="Segoe UI" pitchFamily="34" charset="-122"/>
                <a:cs typeface="Segoe UI" pitchFamily="34" charset="-120"/>
              </a:rPr>
              <a:t>Scenario 01</a:t>
            </a:r>
            <a:endParaRPr lang="en-US" sz="1400" dirty="0"/>
          </a:p>
        </p:txBody>
      </p:sp>
      <p:sp>
        <p:nvSpPr>
          <p:cNvPr id="5" name="Shape 3"/>
          <p:cNvSpPr/>
          <p:nvPr/>
        </p:nvSpPr>
        <p:spPr>
          <a:xfrm>
            <a:off x="502920" y="1143000"/>
            <a:ext cx="1097280" cy="1097280"/>
          </a:xfrm>
          <a:prstGeom prst="ellipse">
            <a:avLst/>
          </a:prstGeom>
          <a:solidFill>
            <a:srgbClr val="0B2F3A"/>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Telecom · Network Operations</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Forty Alarms at Three in the Morning: the Loudest Is Not the Cause</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1719072" cy="402336"/>
          </a:xfrm>
          <a:prstGeom prst="roundRect">
            <a:avLst>
              <a:gd name="adj" fmla="val 50000"/>
            </a:avLst>
          </a:prstGeom>
          <a:solidFill>
            <a:srgbClr val="6366F1"/>
          </a:solidFill>
          <a:ln/>
        </p:spPr>
      </p:sp>
      <p:sp>
        <p:nvSpPr>
          <p:cNvPr id="11" name="Text 8"/>
          <p:cNvSpPr/>
          <p:nvPr/>
        </p:nvSpPr>
        <p:spPr>
          <a:xfrm>
            <a:off x="502920" y="4572000"/>
            <a:ext cx="171907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Adaptive Cards</a:t>
            </a:r>
            <a:endParaRPr lang="en-US" sz="1200" dirty="0"/>
          </a:p>
        </p:txBody>
      </p:sp>
      <p:sp>
        <p:nvSpPr>
          <p:cNvPr id="12" name="Shape 9"/>
          <p:cNvSpPr/>
          <p:nvPr/>
        </p:nvSpPr>
        <p:spPr>
          <a:xfrm>
            <a:off x="2404872" y="4572000"/>
            <a:ext cx="813816" cy="402336"/>
          </a:xfrm>
          <a:prstGeom prst="roundRect">
            <a:avLst>
              <a:gd name="adj" fmla="val 50000"/>
            </a:avLst>
          </a:prstGeom>
          <a:solidFill>
            <a:srgbClr val="217346"/>
          </a:solidFill>
          <a:ln/>
        </p:spPr>
      </p:sp>
      <p:sp>
        <p:nvSpPr>
          <p:cNvPr id="13" name="Text 10"/>
          <p:cNvSpPr/>
          <p:nvPr/>
        </p:nvSpPr>
        <p:spPr>
          <a:xfrm>
            <a:off x="2404872"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4" name="Shape 11"/>
          <p:cNvSpPr/>
          <p:nvPr/>
        </p:nvSpPr>
        <p:spPr>
          <a:xfrm>
            <a:off x="502920" y="5074920"/>
            <a:ext cx="813816" cy="402336"/>
          </a:xfrm>
          <a:prstGeom prst="roundRect">
            <a:avLst>
              <a:gd name="adj" fmla="val 50000"/>
            </a:avLst>
          </a:prstGeom>
          <a:solidFill>
            <a:srgbClr val="6366F1"/>
          </a:solidFill>
          <a:ln/>
        </p:spPr>
      </p:sp>
      <p:sp>
        <p:nvSpPr>
          <p:cNvPr id="15" name="Text 12"/>
          <p:cNvSpPr/>
          <p:nvPr/>
        </p:nvSpPr>
        <p:spPr>
          <a:xfrm>
            <a:off x="502920" y="507492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Teams</a:t>
            </a:r>
            <a:endParaRPr lang="en-US" sz="1200" dirty="0"/>
          </a:p>
        </p:txBody>
      </p:sp>
      <p:sp>
        <p:nvSpPr>
          <p:cNvPr id="16" name="Shape 13"/>
          <p:cNvSpPr/>
          <p:nvPr/>
        </p:nvSpPr>
        <p:spPr>
          <a:xfrm>
            <a:off x="1499616" y="5074920"/>
            <a:ext cx="1618488" cy="402336"/>
          </a:xfrm>
          <a:prstGeom prst="roundRect">
            <a:avLst>
              <a:gd name="adj" fmla="val 50000"/>
            </a:avLst>
          </a:prstGeom>
          <a:solidFill>
            <a:srgbClr val="6366F1"/>
          </a:solidFill>
          <a:ln/>
        </p:spPr>
      </p:sp>
      <p:sp>
        <p:nvSpPr>
          <p:cNvPr id="17" name="Text 14"/>
          <p:cNvSpPr/>
          <p:nvPr/>
        </p:nvSpPr>
        <p:spPr>
          <a:xfrm>
            <a:off x="1499616" y="5074920"/>
            <a:ext cx="1618488"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Event trigger</a:t>
            </a:r>
            <a:endParaRPr lang="en-US" sz="1200" dirty="0"/>
          </a:p>
        </p:txBody>
      </p:sp>
      <p:sp>
        <p:nvSpPr>
          <p:cNvPr id="18" name="Text 15"/>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At 03:12 the alarm console throws up thirty-eight alarms in half an hour. There is one engineer on shift and two crews available. The hard part is not reading the alarms — it is that alarm count has nothing to do with cause. The element that actually failed raised one alarm; the twenty-three cells it took down with it raised thirty-five between them. Work the list by count and you will send out twenty-odd crews to fix symptoms. This scenario ends by setting it up to run itself the next time an alarm email arrives.</a:t>
            </a:r>
            <a:endParaRPr lang="en-US" sz="1200" dirty="0"/>
          </a:p>
        </p:txBody>
      </p:sp>
      <p:sp>
        <p:nvSpPr>
          <p:cNvPr id="19" name="Text 16"/>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0B2F3A"/>
                </a:solidFill>
                <a:latin typeface="Segoe UI" pitchFamily="34" charset="0"/>
                <a:ea typeface="Segoe UI" pitchFamily="34" charset="-122"/>
                <a:cs typeface="Segoe UI" pitchFamily="34" charset="-120"/>
              </a:rPr>
              <a:t>Agentic workflow</a:t>
            </a:r>
            <a:endParaRPr lang="en-US" sz="1500" dirty="0"/>
          </a:p>
        </p:txBody>
      </p:sp>
      <p:sp>
        <p:nvSpPr>
          <p:cNvPr id="20" name="Shape 17"/>
          <p:cNvSpPr/>
          <p:nvPr/>
        </p:nvSpPr>
        <p:spPr>
          <a:xfrm>
            <a:off x="4526280" y="2112264"/>
            <a:ext cx="457200" cy="457200"/>
          </a:xfrm>
          <a:prstGeom prst="ellipse">
            <a:avLst/>
          </a:prstGeom>
          <a:solidFill>
            <a:srgbClr val="FFFFFF">
              <a:alpha val="12000"/>
            </a:srgbClr>
          </a:solidFill>
          <a:ln w="19050">
            <a:solidFill>
              <a:srgbClr val="0B2F3A"/>
            </a:solidFill>
            <a:prstDash val="solid"/>
          </a:ln>
        </p:spPr>
      </p:sp>
      <p:sp>
        <p:nvSpPr>
          <p:cNvPr id="21" name="Text 18"/>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0B2F3A"/>
                </a:solidFill>
                <a:latin typeface="Segoe UI" pitchFamily="34" charset="0"/>
                <a:ea typeface="Segoe UI" pitchFamily="34" charset="-122"/>
                <a:cs typeface="Segoe UI" pitchFamily="34" charset="-120"/>
              </a:rPr>
              <a:t>1</a:t>
            </a:r>
            <a:endParaRPr lang="en-US" sz="1600" dirty="0"/>
          </a:p>
        </p:txBody>
      </p:sp>
      <p:sp>
        <p:nvSpPr>
          <p:cNvPr id="22" name="Text 19"/>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Start by collapsing thirty-eight alarms into events</a:t>
            </a:r>
            <a:endParaRPr lang="en-US" sz="1600" dirty="0"/>
          </a:p>
        </p:txBody>
      </p:sp>
      <p:sp>
        <p:nvSpPr>
          <p:cNvPr id="23" name="Text 20"/>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All three files are in Cowork_Lab/Tel…</a:t>
            </a:r>
            <a:endParaRPr lang="en-US" sz="1300" dirty="0"/>
          </a:p>
        </p:txBody>
      </p:sp>
      <p:sp>
        <p:nvSpPr>
          <p:cNvPr id="24" name="Shape 21"/>
          <p:cNvSpPr/>
          <p:nvPr/>
        </p:nvSpPr>
        <p:spPr>
          <a:xfrm>
            <a:off x="4526280" y="2971800"/>
            <a:ext cx="457200" cy="457200"/>
          </a:xfrm>
          <a:prstGeom prst="ellipse">
            <a:avLst/>
          </a:prstGeom>
          <a:solidFill>
            <a:srgbClr val="FFFFFF">
              <a:alpha val="12000"/>
            </a:srgbClr>
          </a:solidFill>
          <a:ln w="19050">
            <a:solidFill>
              <a:srgbClr val="0B2F3A"/>
            </a:solidFill>
            <a:prstDash val="solid"/>
          </a:ln>
        </p:spPr>
      </p:sp>
      <p:sp>
        <p:nvSpPr>
          <p:cNvPr id="25" name="Text 22"/>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0B2F3A"/>
                </a:solidFill>
                <a:latin typeface="Segoe UI" pitchFamily="34" charset="0"/>
                <a:ea typeface="Segoe UI" pitchFamily="34" charset="-122"/>
                <a:cs typeface="Segoe UI" pitchFamily="34" charset="-120"/>
              </a:rPr>
              <a:t>2</a:t>
            </a:r>
            <a:endParaRPr lang="en-US" sz="1600" dirty="0"/>
          </a:p>
        </p:txBody>
      </p:sp>
      <p:sp>
        <p:nvSpPr>
          <p:cNvPr id="26" name="Text 23"/>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Now ask for the root cause — and for the test it used</a:t>
            </a:r>
            <a:endParaRPr lang="en-US" sz="1600" dirty="0"/>
          </a:p>
        </p:txBody>
      </p:sp>
      <p:sp>
        <p:nvSpPr>
          <p:cNvPr id="27" name="Text 24"/>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Ask only after the grouping. What matters here is not th…</a:t>
            </a:r>
            <a:endParaRPr lang="en-US" sz="1300" dirty="0"/>
          </a:p>
        </p:txBody>
      </p:sp>
      <p:sp>
        <p:nvSpPr>
          <p:cNvPr id="28" name="Shape 25"/>
          <p:cNvSpPr/>
          <p:nvPr/>
        </p:nvSpPr>
        <p:spPr>
          <a:xfrm>
            <a:off x="4526280" y="3831336"/>
            <a:ext cx="457200" cy="457200"/>
          </a:xfrm>
          <a:prstGeom prst="ellipse">
            <a:avLst/>
          </a:prstGeom>
          <a:solidFill>
            <a:srgbClr val="FFFFFF">
              <a:alpha val="12000"/>
            </a:srgbClr>
          </a:solidFill>
          <a:ln w="19050">
            <a:solidFill>
              <a:srgbClr val="0B2F3A"/>
            </a:solidFill>
            <a:prstDash val="solid"/>
          </a:ln>
        </p:spPr>
      </p:sp>
      <p:sp>
        <p:nvSpPr>
          <p:cNvPr id="29" name="Text 26"/>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0B2F3A"/>
                </a:solidFill>
                <a:latin typeface="Segoe UI" pitchFamily="34" charset="0"/>
                <a:ea typeface="Segoe UI" pitchFamily="34" charset="-122"/>
                <a:cs typeface="Segoe UI" pitchFamily="34" charset="-120"/>
              </a:rPr>
              <a:t>3</a:t>
            </a:r>
            <a:endParaRPr lang="en-US" sz="1600" dirty="0"/>
          </a:p>
        </p:txBody>
      </p:sp>
      <p:sp>
        <p:nvSpPr>
          <p:cNvPr id="30" name="Text 27"/>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Turn it into a dispatch card you can act on</a:t>
            </a:r>
            <a:endParaRPr lang="en-US" sz="1600" dirty="0"/>
          </a:p>
        </p:txBody>
      </p:sp>
      <p:sp>
        <p:nvSpPr>
          <p:cNvPr id="31" name="Text 28"/>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Nobody reads prose at three in the morning. This step wa…</a:t>
            </a:r>
            <a:endParaRPr lang="en-US" sz="1300" dirty="0"/>
          </a:p>
        </p:txBody>
      </p:sp>
      <p:sp>
        <p:nvSpPr>
          <p:cNvPr id="32" name="Shape 29"/>
          <p:cNvSpPr/>
          <p:nvPr/>
        </p:nvSpPr>
        <p:spPr>
          <a:xfrm>
            <a:off x="4526280" y="4690872"/>
            <a:ext cx="457200" cy="457200"/>
          </a:xfrm>
          <a:prstGeom prst="ellipse">
            <a:avLst/>
          </a:prstGeom>
          <a:solidFill>
            <a:srgbClr val="FFFFFF">
              <a:alpha val="12000"/>
            </a:srgbClr>
          </a:solidFill>
          <a:ln w="19050">
            <a:solidFill>
              <a:srgbClr val="0B2F3A"/>
            </a:solidFill>
            <a:prstDash val="solid"/>
          </a:ln>
        </p:spPr>
      </p:sp>
      <p:sp>
        <p:nvSpPr>
          <p:cNvPr id="33" name="Text 30"/>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0B2F3A"/>
                </a:solidFill>
                <a:latin typeface="Segoe UI" pitchFamily="34" charset="0"/>
                <a:ea typeface="Segoe UI" pitchFamily="34" charset="-122"/>
                <a:cs typeface="Segoe UI" pitchFamily="34" charset="-120"/>
              </a:rPr>
              <a:t>4</a:t>
            </a:r>
            <a:endParaRPr lang="en-US" sz="1600" dirty="0"/>
          </a:p>
        </p:txBody>
      </p:sp>
      <p:sp>
        <p:nvSpPr>
          <p:cNvPr id="34" name="Text 31"/>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Post it to the operations channel so the next shift sees it</a:t>
            </a:r>
            <a:endParaRPr lang="en-US" sz="1600" dirty="0"/>
          </a:p>
        </p:txBody>
      </p:sp>
      <p:sp>
        <p:nvSpPr>
          <p:cNvPr id="35" name="Text 32"/>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really does post to Teams, so an approval card appe…</a:t>
            </a:r>
            <a:endParaRPr lang="en-US" sz="1300" dirty="0"/>
          </a:p>
        </p:txBody>
      </p:sp>
      <p:sp>
        <p:nvSpPr>
          <p:cNvPr id="36" name="Shape 33"/>
          <p:cNvSpPr/>
          <p:nvPr/>
        </p:nvSpPr>
        <p:spPr>
          <a:xfrm>
            <a:off x="4526280" y="5550408"/>
            <a:ext cx="457200" cy="457200"/>
          </a:xfrm>
          <a:prstGeom prst="ellipse">
            <a:avLst/>
          </a:prstGeom>
          <a:solidFill>
            <a:srgbClr val="FFFFFF">
              <a:alpha val="12000"/>
            </a:srgbClr>
          </a:solidFill>
          <a:ln w="19050">
            <a:solidFill>
              <a:srgbClr val="0B2F3A"/>
            </a:solidFill>
            <a:prstDash val="solid"/>
          </a:ln>
        </p:spPr>
      </p:sp>
      <p:sp>
        <p:nvSpPr>
          <p:cNvPr id="37" name="Text 34"/>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0B2F3A"/>
                </a:solidFill>
                <a:latin typeface="Segoe UI" pitchFamily="34" charset="0"/>
                <a:ea typeface="Segoe UI" pitchFamily="34" charset="-122"/>
                <a:cs typeface="Segoe UI" pitchFamily="34" charset="-120"/>
              </a:rPr>
              <a:t>5</a:t>
            </a:r>
            <a:endParaRPr lang="en-US" sz="1600" dirty="0"/>
          </a:p>
        </p:txBody>
      </p:sp>
      <p:sp>
        <p:nvSpPr>
          <p:cNvPr id="38" name="Text 35"/>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Make it run itself on the next alarm email</a:t>
            </a:r>
            <a:endParaRPr lang="en-US" sz="1600" dirty="0"/>
          </a:p>
        </p:txBody>
      </p:sp>
      <p:sp>
        <p:nvSpPr>
          <p:cNvPr id="39" name="Text 36"/>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really does create an event trigger. Pause it when …</a:t>
            </a:r>
            <a:endParaRPr lang="en-US" sz="1300" dirty="0"/>
          </a:p>
        </p:txBody>
      </p:sp>
      <p:sp>
        <p:nvSpPr>
          <p:cNvPr id="40" name="Text 3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41" name="Text 3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0B2F3A"/>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0B2F3A"/>
                </a:solidFill>
                <a:latin typeface="Segoe UI" pitchFamily="34" charset="0"/>
                <a:ea typeface="Segoe UI" pitchFamily="34" charset="-122"/>
                <a:cs typeface="Segoe UI" pitchFamily="34" charset="-120"/>
              </a:rPr>
              <a:t>Scenario 01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tel1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0B2F3A"/>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tel1_05b_fired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0B2F3A"/>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0B2F3A"/>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event count after grouping is far below thirty-eight, and every alarm is attached to a parent element</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root cause is the parent whose children have **all** alarmed, not the element with the most alarms</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names “all versus some” as the test, rather than just asserting “because it is the parent”</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4364A"/>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4364A"/>
                </a:solidFill>
                <a:latin typeface="Segoe UI" pitchFamily="34" charset="0"/>
                <a:ea typeface="Segoe UI" pitchFamily="34" charset="-122"/>
                <a:cs typeface="Segoe UI" pitchFamily="34" charset="-120"/>
              </a:rPr>
              <a:t>Scenario 02</a:t>
            </a:r>
            <a:endParaRPr lang="en-US" sz="1400" dirty="0"/>
          </a:p>
        </p:txBody>
      </p:sp>
      <p:sp>
        <p:nvSpPr>
          <p:cNvPr id="5" name="Shape 3"/>
          <p:cNvSpPr/>
          <p:nvPr/>
        </p:nvSpPr>
        <p:spPr>
          <a:xfrm>
            <a:off x="502920" y="1143000"/>
            <a:ext cx="1097280" cy="1097280"/>
          </a:xfrm>
          <a:prstGeom prst="ellipse">
            <a:avLst/>
          </a:prstGeom>
          <a:solidFill>
            <a:srgbClr val="14364A"/>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Telecom · Network Operations</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The Maintenance Window: the Quietest Three Hours Are the Ones You Cannot Use</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~15 min · Level ★★☆</a:t>
            </a:r>
            <a:endParaRPr lang="en-US" sz="1300" dirty="0"/>
          </a:p>
        </p:txBody>
      </p:sp>
      <p:sp>
        <p:nvSpPr>
          <p:cNvPr id="10" name="Shape 7"/>
          <p:cNvSpPr/>
          <p:nvPr/>
        </p:nvSpPr>
        <p:spPr>
          <a:xfrm>
            <a:off x="502920" y="4572000"/>
            <a:ext cx="813816" cy="402336"/>
          </a:xfrm>
          <a:prstGeom prst="roundRect">
            <a:avLst>
              <a:gd name="adj" fmla="val 50000"/>
            </a:avLst>
          </a:prstGeom>
          <a:solidFill>
            <a:srgbClr val="217346"/>
          </a:solidFill>
          <a:ln/>
        </p:spPr>
      </p:sp>
      <p:sp>
        <p:nvSpPr>
          <p:cNvPr id="11" name="Text 8"/>
          <p:cNvSpPr/>
          <p:nvPr/>
        </p:nvSpPr>
        <p:spPr>
          <a:xfrm>
            <a:off x="502920"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2" name="Shape 9"/>
          <p:cNvSpPr/>
          <p:nvPr/>
        </p:nvSpPr>
        <p:spPr>
          <a:xfrm>
            <a:off x="1499616" y="4572000"/>
            <a:ext cx="1316736" cy="402336"/>
          </a:xfrm>
          <a:prstGeom prst="roundRect">
            <a:avLst>
              <a:gd name="adj" fmla="val 50000"/>
            </a:avLst>
          </a:prstGeom>
          <a:solidFill>
            <a:srgbClr val="6366F1"/>
          </a:solidFill>
          <a:ln/>
        </p:spPr>
      </p:sp>
      <p:sp>
        <p:nvSpPr>
          <p:cNvPr id="13" name="Text 10"/>
          <p:cNvSpPr/>
          <p:nvPr/>
        </p:nvSpPr>
        <p:spPr>
          <a:xfrm>
            <a:off x="1499616" y="4572000"/>
            <a:ext cx="131673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Scheduling</a:t>
            </a:r>
            <a:endParaRPr lang="en-US" sz="1200" dirty="0"/>
          </a:p>
        </p:txBody>
      </p:sp>
      <p:sp>
        <p:nvSpPr>
          <p:cNvPr id="14" name="Shape 11"/>
          <p:cNvSpPr/>
          <p:nvPr/>
        </p:nvSpPr>
        <p:spPr>
          <a:xfrm>
            <a:off x="502920" y="5074920"/>
            <a:ext cx="813816" cy="402336"/>
          </a:xfrm>
          <a:prstGeom prst="roundRect">
            <a:avLst>
              <a:gd name="adj" fmla="val 50000"/>
            </a:avLst>
          </a:prstGeom>
          <a:solidFill>
            <a:srgbClr val="6366F1"/>
          </a:solidFill>
          <a:ln/>
        </p:spPr>
      </p:sp>
      <p:sp>
        <p:nvSpPr>
          <p:cNvPr id="15" name="Text 12"/>
          <p:cNvSpPr/>
          <p:nvPr/>
        </p:nvSpPr>
        <p:spPr>
          <a:xfrm>
            <a:off x="502920" y="507492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Email</a:t>
            </a:r>
            <a:endParaRPr lang="en-US" sz="1200" dirty="0"/>
          </a:p>
        </p:txBody>
      </p:sp>
      <p:sp>
        <p:nvSpPr>
          <p:cNvPr id="16" name="Text 13"/>
          <p:cNvSpPr/>
          <p:nvPr/>
        </p:nvSpPr>
        <p:spPr>
          <a:xfrm>
            <a:off x="4526280" y="566928"/>
            <a:ext cx="7132320" cy="1819656"/>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The upgrade is on the same aggregation node that failed in the previous scenario. Three hours of work, and the service has to go down. Instinct says overnight — fewest consumers awake. But a telco has two customer bases and their peaks fall at opposite ends of the clock: the consumer trough is the enterprise batch peak, and overnight also sits inside the residential noise restriction. Three conditions each kill one option, and they kill them for unrelated reasons — so an unusually low consumer count cannot buy you anything elsewhere. The scenario ends by putting the viable option into a real meeting.</a:t>
            </a:r>
            <a:endParaRPr lang="en-US" sz="1200" dirty="0"/>
          </a:p>
        </p:txBody>
      </p:sp>
      <p:sp>
        <p:nvSpPr>
          <p:cNvPr id="17" name="Text 14"/>
          <p:cNvSpPr/>
          <p:nvPr/>
        </p:nvSpPr>
        <p:spPr>
          <a:xfrm>
            <a:off x="4526280" y="2514600"/>
            <a:ext cx="7132320" cy="365760"/>
          </a:xfrm>
          <a:prstGeom prst="rect">
            <a:avLst/>
          </a:prstGeom>
          <a:noFill/>
          <a:ln/>
        </p:spPr>
        <p:txBody>
          <a:bodyPr wrap="square" rtlCol="0" anchor="ctr"/>
          <a:lstStyle/>
          <a:p>
            <a:pPr indent="0" marL="0">
              <a:buNone/>
            </a:pPr>
            <a:r>
              <a:rPr lang="en-US" sz="1500" b="1" dirty="0">
                <a:solidFill>
                  <a:srgbClr val="14364A"/>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971800"/>
            <a:ext cx="457200" cy="457200"/>
          </a:xfrm>
          <a:prstGeom prst="ellipse">
            <a:avLst/>
          </a:prstGeom>
          <a:solidFill>
            <a:srgbClr val="FFFFFF">
              <a:alpha val="12000"/>
            </a:srgbClr>
          </a:solidFill>
          <a:ln w="19050">
            <a:solidFill>
              <a:srgbClr val="14364A"/>
            </a:solidFill>
            <a:prstDash val="solid"/>
          </a:ln>
        </p:spPr>
      </p:sp>
      <p:sp>
        <p:nvSpPr>
          <p:cNvPr id="19" name="Text 16"/>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14364A"/>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Make it run each option through all three gates — not score them</a:t>
            </a:r>
            <a:endParaRPr lang="en-US" sz="1600" dirty="0"/>
          </a:p>
        </p:txBody>
      </p:sp>
      <p:sp>
        <p:nvSpPr>
          <p:cNvPr id="21" name="Text 18"/>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Both files are in TEL2_Maintenance_Wi…</a:t>
            </a:r>
            <a:endParaRPr lang="en-US" sz="1300" dirty="0"/>
          </a:p>
        </p:txBody>
      </p:sp>
      <p:sp>
        <p:nvSpPr>
          <p:cNvPr id="22" name="Shape 19"/>
          <p:cNvSpPr/>
          <p:nvPr/>
        </p:nvSpPr>
        <p:spPr>
          <a:xfrm>
            <a:off x="4526280" y="3831336"/>
            <a:ext cx="457200" cy="457200"/>
          </a:xfrm>
          <a:prstGeom prst="ellipse">
            <a:avLst/>
          </a:prstGeom>
          <a:solidFill>
            <a:srgbClr val="FFFFFF">
              <a:alpha val="12000"/>
            </a:srgbClr>
          </a:solidFill>
          <a:ln w="19050">
            <a:solidFill>
              <a:srgbClr val="14364A"/>
            </a:solidFill>
            <a:prstDash val="solid"/>
          </a:ln>
        </p:spPr>
      </p:sp>
      <p:sp>
        <p:nvSpPr>
          <p:cNvPr id="23" name="Text 20"/>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14364A"/>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Press on why the quietest window is the one you cannot use</a:t>
            </a:r>
            <a:endParaRPr lang="en-US" sz="1600" dirty="0"/>
          </a:p>
        </p:txBody>
      </p:sp>
      <p:sp>
        <p:nvSpPr>
          <p:cNvPr id="25" name="Text 22"/>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Ask after the three verdicts are in; otherwise it folds …</a:t>
            </a:r>
            <a:endParaRPr lang="en-US" sz="1300" dirty="0"/>
          </a:p>
        </p:txBody>
      </p:sp>
      <p:sp>
        <p:nvSpPr>
          <p:cNvPr id="26" name="Shape 23"/>
          <p:cNvSpPr/>
          <p:nvPr/>
        </p:nvSpPr>
        <p:spPr>
          <a:xfrm>
            <a:off x="4526280" y="4690872"/>
            <a:ext cx="457200" cy="457200"/>
          </a:xfrm>
          <a:prstGeom prst="ellipse">
            <a:avLst/>
          </a:prstGeom>
          <a:solidFill>
            <a:srgbClr val="FFFFFF">
              <a:alpha val="12000"/>
            </a:srgbClr>
          </a:solidFill>
          <a:ln w="19050">
            <a:solidFill>
              <a:srgbClr val="14364A"/>
            </a:solidFill>
            <a:prstDash val="solid"/>
          </a:ln>
        </p:spPr>
      </p:sp>
      <p:sp>
        <p:nvSpPr>
          <p:cNvPr id="27" name="Text 24"/>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14364A"/>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Put the viable option into a real coordination meeting</a:t>
            </a:r>
            <a:endParaRPr lang="en-US" sz="1600" dirty="0"/>
          </a:p>
        </p:txBody>
      </p:sp>
      <p:sp>
        <p:nvSpPr>
          <p:cNvPr id="29" name="Text 26"/>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really does send a meeting invitation; recipients c…</a:t>
            </a:r>
            <a:endParaRPr lang="en-US" sz="1300" dirty="0"/>
          </a:p>
        </p:txBody>
      </p:sp>
      <p:sp>
        <p:nvSpPr>
          <p:cNvPr id="30" name="Shape 27"/>
          <p:cNvSpPr/>
          <p:nvPr/>
        </p:nvSpPr>
        <p:spPr>
          <a:xfrm>
            <a:off x="4526280" y="5550408"/>
            <a:ext cx="457200" cy="457200"/>
          </a:xfrm>
          <a:prstGeom prst="ellipse">
            <a:avLst/>
          </a:prstGeom>
          <a:solidFill>
            <a:srgbClr val="FFFFFF">
              <a:alpha val="12000"/>
            </a:srgbClr>
          </a:solidFill>
          <a:ln w="19050">
            <a:solidFill>
              <a:srgbClr val="14364A"/>
            </a:solidFill>
            <a:prstDash val="solid"/>
          </a:ln>
        </p:spPr>
      </p:sp>
      <p:sp>
        <p:nvSpPr>
          <p:cNvPr id="31" name="Text 28"/>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14364A"/>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Ask for a customer notice as a draft — but don't send it</a:t>
            </a:r>
            <a:endParaRPr lang="en-US" sz="1600" dirty="0"/>
          </a:p>
        </p:txBody>
      </p:sp>
      <p:sp>
        <p:nvSpPr>
          <p:cNvPr id="33" name="Text 30"/>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Leave the draft in the conversation. The point of this s…</a:t>
            </a:r>
            <a:endParaRPr lang="en-US" sz="1300" dirty="0"/>
          </a:p>
        </p:txBody>
      </p:sp>
      <p:sp>
        <p:nvSpPr>
          <p:cNvPr id="34"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5"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4364A"/>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4364A"/>
                </a:solidFill>
                <a:latin typeface="Segoe UI" pitchFamily="34" charset="0"/>
                <a:ea typeface="Segoe UI" pitchFamily="34" charset="-122"/>
                <a:cs typeface="Segoe UI" pitchFamily="34" charset="-120"/>
              </a:rPr>
              <a:t>Scenario 02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tel2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4364A"/>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tel2_04_notice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4364A"/>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4364A"/>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All three options were tested against all three gates, each with its own figure and verdict — not collapsed into a score</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Exactly one option survives, and it is not the one with the fewest consumers affected</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noise restriction was decided on overlap in minutes, not on whether the window merely touches the restricted hours</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F3A5F"/>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F3A5F"/>
                </a:solidFill>
                <a:latin typeface="Segoe UI" pitchFamily="34" charset="0"/>
                <a:ea typeface="Segoe UI" pitchFamily="34" charset="-122"/>
                <a:cs typeface="Segoe UI" pitchFamily="34" charset="-120"/>
              </a:rPr>
              <a:t>Scenario 03</a:t>
            </a:r>
            <a:endParaRPr lang="en-US" sz="1400" dirty="0"/>
          </a:p>
        </p:txBody>
      </p:sp>
      <p:sp>
        <p:nvSpPr>
          <p:cNvPr id="5" name="Shape 3"/>
          <p:cNvSpPr/>
          <p:nvPr/>
        </p:nvSpPr>
        <p:spPr>
          <a:xfrm>
            <a:off x="502920" y="1143000"/>
            <a:ext cx="1097280" cy="1097280"/>
          </a:xfrm>
          <a:prstGeom prst="ellipse">
            <a:avLst/>
          </a:prstGeom>
          <a:solidFill>
            <a:srgbClr val="1F3A5F"/>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Telecom · Network Operations</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Availability Met, Compensation Due: the Second Threshold in the Contract</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~25 min · Level ★★★</a:t>
            </a:r>
            <a:endParaRPr lang="en-US" sz="1300" dirty="0"/>
          </a:p>
        </p:txBody>
      </p:sp>
      <p:sp>
        <p:nvSpPr>
          <p:cNvPr id="10" name="Shape 7"/>
          <p:cNvSpPr/>
          <p:nvPr/>
        </p:nvSpPr>
        <p:spPr>
          <a:xfrm>
            <a:off x="502920" y="4572000"/>
            <a:ext cx="813816" cy="402336"/>
          </a:xfrm>
          <a:prstGeom prst="roundRect">
            <a:avLst>
              <a:gd name="adj" fmla="val 50000"/>
            </a:avLst>
          </a:prstGeom>
          <a:solidFill>
            <a:srgbClr val="217346"/>
          </a:solidFill>
          <a:ln/>
        </p:spPr>
      </p:sp>
      <p:sp>
        <p:nvSpPr>
          <p:cNvPr id="11" name="Text 8"/>
          <p:cNvSpPr/>
          <p:nvPr/>
        </p:nvSpPr>
        <p:spPr>
          <a:xfrm>
            <a:off x="502920"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2" name="Shape 9"/>
          <p:cNvSpPr/>
          <p:nvPr/>
        </p:nvSpPr>
        <p:spPr>
          <a:xfrm>
            <a:off x="1499616" y="4572000"/>
            <a:ext cx="2121408" cy="402336"/>
          </a:xfrm>
          <a:prstGeom prst="roundRect">
            <a:avLst>
              <a:gd name="adj" fmla="val 50000"/>
            </a:avLst>
          </a:prstGeom>
          <a:solidFill>
            <a:srgbClr val="6366F1"/>
          </a:solidFill>
          <a:ln/>
        </p:spPr>
      </p:sp>
      <p:sp>
        <p:nvSpPr>
          <p:cNvPr id="13" name="Text 10"/>
          <p:cNvSpPr/>
          <p:nvPr/>
        </p:nvSpPr>
        <p:spPr>
          <a:xfrm>
            <a:off x="1499616" y="4572000"/>
            <a:ext cx="2121408"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Edit existing file</a:t>
            </a:r>
            <a:endParaRPr lang="en-US" sz="1200" dirty="0"/>
          </a:p>
        </p:txBody>
      </p:sp>
      <p:sp>
        <p:nvSpPr>
          <p:cNvPr id="14" name="Shape 11"/>
          <p:cNvSpPr/>
          <p:nvPr/>
        </p:nvSpPr>
        <p:spPr>
          <a:xfrm>
            <a:off x="502920" y="5074920"/>
            <a:ext cx="1517904" cy="402336"/>
          </a:xfrm>
          <a:prstGeom prst="roundRect">
            <a:avLst>
              <a:gd name="adj" fmla="val 50000"/>
            </a:avLst>
          </a:prstGeom>
          <a:solidFill>
            <a:srgbClr val="7A4DDB"/>
          </a:solidFill>
          <a:ln/>
        </p:spPr>
      </p:sp>
      <p:sp>
        <p:nvSpPr>
          <p:cNvPr id="15" name="Text 12"/>
          <p:cNvSpPr/>
          <p:nvPr/>
        </p:nvSpPr>
        <p:spPr>
          <a:xfrm>
            <a:off x="502920" y="5074920"/>
            <a:ext cx="151790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Custom skill</a:t>
            </a:r>
            <a:endParaRPr lang="en-US" sz="1200" dirty="0"/>
          </a:p>
        </p:txBody>
      </p:sp>
      <p:sp>
        <p:nvSpPr>
          <p:cNvPr id="16" name="Text 13"/>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The customer writes in: five hours of downtime last month, please compensate. The outage log says 312 minutes of interruption, which looks like a certain breach. But an SLA is not measured on interruption, it is measured on counted outage — planned maintenance, customer premises equipment and force majeure come out first. What remains is 32 minutes, and monthly availability is comfortably met. So you could reply that nothing is owed — except the contract has a second threshold, and it is assessed separately from the first. The scenario ends by turning the whole assessment into a skill you can reuse on the next circuit.</a:t>
            </a:r>
            <a:endParaRPr lang="en-US" sz="1200" dirty="0"/>
          </a:p>
        </p:txBody>
      </p:sp>
      <p:sp>
        <p:nvSpPr>
          <p:cNvPr id="17" name="Text 14"/>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1F3A5F"/>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112264"/>
            <a:ext cx="457200" cy="457200"/>
          </a:xfrm>
          <a:prstGeom prst="ellipse">
            <a:avLst/>
          </a:prstGeom>
          <a:solidFill>
            <a:srgbClr val="FFFFFF">
              <a:alpha val="12000"/>
            </a:srgbClr>
          </a:solidFill>
          <a:ln w="19050">
            <a:solidFill>
              <a:srgbClr val="1F3A5F"/>
            </a:solidFill>
            <a:prstDash val="solid"/>
          </a:ln>
        </p:spPr>
      </p:sp>
      <p:sp>
        <p:nvSpPr>
          <p:cNvPr id="19" name="Text 16"/>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1F3A5F"/>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Separate “went down” from “counts as down”, line by line</a:t>
            </a:r>
            <a:endParaRPr lang="en-US" sz="1600" dirty="0"/>
          </a:p>
        </p:txBody>
      </p:sp>
      <p:sp>
        <p:nvSpPr>
          <p:cNvPr id="21" name="Text 18"/>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Both files are in TEL3_Circuit_SLA.。</a:t>
            </a:r>
            <a:endParaRPr lang="en-US" sz="1300" dirty="0"/>
          </a:p>
        </p:txBody>
      </p:sp>
      <p:sp>
        <p:nvSpPr>
          <p:cNvPr id="22" name="Shape 19"/>
          <p:cNvSpPr/>
          <p:nvPr/>
        </p:nvSpPr>
        <p:spPr>
          <a:xfrm>
            <a:off x="4526280" y="2971800"/>
            <a:ext cx="457200" cy="457200"/>
          </a:xfrm>
          <a:prstGeom prst="ellipse">
            <a:avLst/>
          </a:prstGeom>
          <a:solidFill>
            <a:srgbClr val="FFFFFF">
              <a:alpha val="12000"/>
            </a:srgbClr>
          </a:solidFill>
          <a:ln w="19050">
            <a:solidFill>
              <a:srgbClr val="1F3A5F"/>
            </a:solidFill>
            <a:prstDash val="solid"/>
          </a:ln>
        </p:spPr>
      </p:sp>
      <p:sp>
        <p:nvSpPr>
          <p:cNvPr id="23" name="Text 20"/>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1F3A5F"/>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Now assess both thresholds — separately</a:t>
            </a:r>
            <a:endParaRPr lang="en-US" sz="1600" dirty="0"/>
          </a:p>
        </p:txBody>
      </p:sp>
      <p:sp>
        <p:nvSpPr>
          <p:cNvPr id="25" name="Text 22"/>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is the turn of the whole scenario. Watch whether it…</a:t>
            </a:r>
            <a:endParaRPr lang="en-US" sz="1300" dirty="0"/>
          </a:p>
        </p:txBody>
      </p:sp>
      <p:sp>
        <p:nvSpPr>
          <p:cNvPr id="26" name="Shape 23"/>
          <p:cNvSpPr/>
          <p:nvPr/>
        </p:nvSpPr>
        <p:spPr>
          <a:xfrm>
            <a:off x="4526280" y="3831336"/>
            <a:ext cx="457200" cy="457200"/>
          </a:xfrm>
          <a:prstGeom prst="ellipse">
            <a:avLst/>
          </a:prstGeom>
          <a:solidFill>
            <a:srgbClr val="FFFFFF">
              <a:alpha val="12000"/>
            </a:srgbClr>
          </a:solidFill>
          <a:ln w="19050">
            <a:solidFill>
              <a:srgbClr val="1F3A5F"/>
            </a:solidFill>
            <a:prstDash val="solid"/>
          </a:ln>
        </p:spPr>
      </p:sp>
      <p:sp>
        <p:nvSpPr>
          <p:cNvPr id="27" name="Text 24"/>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1F3A5F"/>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Work out the compensation — and ask the thing people get wrong</a:t>
            </a:r>
            <a:endParaRPr lang="en-US" sz="1600" dirty="0"/>
          </a:p>
        </p:txBody>
      </p:sp>
      <p:sp>
        <p:nvSpPr>
          <p:cNvPr id="29" name="Text 26"/>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The bands apply to the minutes in excess of the threshol…</a:t>
            </a:r>
            <a:endParaRPr lang="en-US" sz="1300" dirty="0"/>
          </a:p>
        </p:txBody>
      </p:sp>
      <p:sp>
        <p:nvSpPr>
          <p:cNvPr id="30" name="Shape 27"/>
          <p:cNvSpPr/>
          <p:nvPr/>
        </p:nvSpPr>
        <p:spPr>
          <a:xfrm>
            <a:off x="4526280" y="4690872"/>
            <a:ext cx="457200" cy="457200"/>
          </a:xfrm>
          <a:prstGeom prst="ellipse">
            <a:avLst/>
          </a:prstGeom>
          <a:solidFill>
            <a:srgbClr val="FFFFFF">
              <a:alpha val="12000"/>
            </a:srgbClr>
          </a:solidFill>
          <a:ln w="19050">
            <a:solidFill>
              <a:srgbClr val="1F3A5F"/>
            </a:solidFill>
            <a:prstDash val="solid"/>
          </a:ln>
        </p:spPr>
      </p:sp>
      <p:sp>
        <p:nvSpPr>
          <p:cNvPr id="31" name="Text 28"/>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1F3A5F"/>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Write the verdict back into the outage log itself</a:t>
            </a:r>
            <a:endParaRPr lang="en-US" sz="1600" dirty="0"/>
          </a:p>
        </p:txBody>
      </p:sp>
      <p:sp>
        <p:nvSpPr>
          <p:cNvPr id="33" name="Text 30"/>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modifies the file on OneDrive in place — it is not …</a:t>
            </a:r>
            <a:endParaRPr lang="en-US" sz="1300" dirty="0"/>
          </a:p>
        </p:txBody>
      </p:sp>
      <p:sp>
        <p:nvSpPr>
          <p:cNvPr id="34" name="Shape 31"/>
          <p:cNvSpPr/>
          <p:nvPr/>
        </p:nvSpPr>
        <p:spPr>
          <a:xfrm>
            <a:off x="4526280" y="5550408"/>
            <a:ext cx="457200" cy="457200"/>
          </a:xfrm>
          <a:prstGeom prst="ellipse">
            <a:avLst/>
          </a:prstGeom>
          <a:solidFill>
            <a:srgbClr val="FFFFFF">
              <a:alpha val="12000"/>
            </a:srgbClr>
          </a:solidFill>
          <a:ln w="19050">
            <a:solidFill>
              <a:srgbClr val="1F3A5F"/>
            </a:solidFill>
            <a:prstDash val="solid"/>
          </a:ln>
        </p:spPr>
      </p:sp>
      <p:sp>
        <p:nvSpPr>
          <p:cNvPr id="35" name="Text 32"/>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1F3A5F"/>
                </a:solidFill>
                <a:latin typeface="Segoe UI" pitchFamily="34" charset="0"/>
                <a:ea typeface="Segoe UI" pitchFamily="34" charset="-122"/>
                <a:cs typeface="Segoe UI" pitchFamily="34" charset="-120"/>
              </a:rPr>
              <a:t>5</a:t>
            </a:r>
            <a:endParaRPr lang="en-US" sz="1600" dirty="0"/>
          </a:p>
        </p:txBody>
      </p:sp>
      <p:sp>
        <p:nvSpPr>
          <p:cNvPr id="36" name="Text 33"/>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Turn it into a skill for next month's circuit</a:t>
            </a:r>
            <a:endParaRPr lang="en-US" sz="1600" dirty="0"/>
          </a:p>
        </p:txBody>
      </p:sp>
      <p:sp>
        <p:nvSpPr>
          <p:cNvPr id="37" name="Text 34"/>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Custom skills are not supported on mobile — use a deskto…</a:t>
            </a:r>
            <a:endParaRPr lang="en-US" sz="1300" dirty="0"/>
          </a:p>
        </p:txBody>
      </p:sp>
      <p:sp>
        <p:nvSpPr>
          <p:cNvPr id="38" name="Text 3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9" name="Text 3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F3A5F"/>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F3A5F"/>
                </a:solidFill>
                <a:latin typeface="Segoe UI" pitchFamily="34" charset="0"/>
                <a:ea typeface="Segoe UI" pitchFamily="34" charset="-122"/>
                <a:cs typeface="Segoe UI" pitchFamily="34" charset="-120"/>
              </a:rPr>
              <a:t>Scenario 03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tel3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F3A5F"/>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tel3_05b_saved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F3A5F"/>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F3A5F"/>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All six outages were judged counted or excluded, each with the clause it relies on</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Total interruption and counted outage are two different numbers, and far apart</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monthly availability verdict is **met** — it did not rule breach just because the total interruption was long</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4A2B14"/>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4A2B14"/>
                </a:solidFill>
                <a:latin typeface="Segoe UI" pitchFamily="34" charset="0"/>
                <a:ea typeface="Segoe UI" pitchFamily="34" charset="-122"/>
                <a:cs typeface="Segoe UI" pitchFamily="34" charset="-120"/>
              </a:rPr>
              <a:t>Scenario 04</a:t>
            </a:r>
            <a:endParaRPr lang="en-US" sz="1400" dirty="0"/>
          </a:p>
        </p:txBody>
      </p:sp>
      <p:sp>
        <p:nvSpPr>
          <p:cNvPr id="5" name="Shape 3"/>
          <p:cNvSpPr/>
          <p:nvPr/>
        </p:nvSpPr>
        <p:spPr>
          <a:xfrm>
            <a:off x="502920" y="1143000"/>
            <a:ext cx="1097280" cy="1097280"/>
          </a:xfrm>
          <a:prstGeom prst="ellipse">
            <a:avLst/>
          </a:prstGeom>
          <a:solidFill>
            <a:srgbClr val="4A2B14"/>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Telecom · Network Operations</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Below the Subscriber Threshold — and the Two-Hour Clock Is Already Running</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1719072" cy="402336"/>
          </a:xfrm>
          <a:prstGeom prst="roundRect">
            <a:avLst>
              <a:gd name="adj" fmla="val 50000"/>
            </a:avLst>
          </a:prstGeom>
          <a:solidFill>
            <a:srgbClr val="6366F1"/>
          </a:solidFill>
          <a:ln/>
        </p:spPr>
      </p:sp>
      <p:sp>
        <p:nvSpPr>
          <p:cNvPr id="11" name="Text 8"/>
          <p:cNvSpPr/>
          <p:nvPr/>
        </p:nvSpPr>
        <p:spPr>
          <a:xfrm>
            <a:off x="502920" y="4572000"/>
            <a:ext cx="171907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Communications</a:t>
            </a:r>
            <a:endParaRPr lang="en-US" sz="1200" dirty="0"/>
          </a:p>
        </p:txBody>
      </p:sp>
      <p:sp>
        <p:nvSpPr>
          <p:cNvPr id="12" name="Shape 9"/>
          <p:cNvSpPr/>
          <p:nvPr/>
        </p:nvSpPr>
        <p:spPr>
          <a:xfrm>
            <a:off x="2404872" y="4572000"/>
            <a:ext cx="813816" cy="402336"/>
          </a:xfrm>
          <a:prstGeom prst="roundRect">
            <a:avLst>
              <a:gd name="adj" fmla="val 50000"/>
            </a:avLst>
          </a:prstGeom>
          <a:solidFill>
            <a:srgbClr val="217346"/>
          </a:solidFill>
          <a:ln/>
        </p:spPr>
      </p:sp>
      <p:sp>
        <p:nvSpPr>
          <p:cNvPr id="13" name="Text 10"/>
          <p:cNvSpPr/>
          <p:nvPr/>
        </p:nvSpPr>
        <p:spPr>
          <a:xfrm>
            <a:off x="2404872"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4" name="Shape 11"/>
          <p:cNvSpPr/>
          <p:nvPr/>
        </p:nvSpPr>
        <p:spPr>
          <a:xfrm>
            <a:off x="502920" y="5074920"/>
            <a:ext cx="813816" cy="402336"/>
          </a:xfrm>
          <a:prstGeom prst="roundRect">
            <a:avLst>
              <a:gd name="adj" fmla="val 50000"/>
            </a:avLst>
          </a:prstGeom>
          <a:solidFill>
            <a:srgbClr val="6366F1"/>
          </a:solidFill>
          <a:ln/>
        </p:spPr>
      </p:sp>
      <p:sp>
        <p:nvSpPr>
          <p:cNvPr id="15" name="Text 12"/>
          <p:cNvSpPr/>
          <p:nvPr/>
        </p:nvSpPr>
        <p:spPr>
          <a:xfrm>
            <a:off x="502920" y="507492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Email</a:t>
            </a:r>
            <a:endParaRPr lang="en-US" sz="1200" dirty="0"/>
          </a:p>
        </p:txBody>
      </p:sp>
      <p:sp>
        <p:nvSpPr>
          <p:cNvPr id="16" name="Shape 13"/>
          <p:cNvSpPr/>
          <p:nvPr/>
        </p:nvSpPr>
        <p:spPr>
          <a:xfrm>
            <a:off x="1499616" y="5074920"/>
            <a:ext cx="1920240" cy="402336"/>
          </a:xfrm>
          <a:prstGeom prst="roundRect">
            <a:avLst>
              <a:gd name="adj" fmla="val 50000"/>
            </a:avLst>
          </a:prstGeom>
          <a:solidFill>
            <a:srgbClr val="6366F1"/>
          </a:solidFill>
          <a:ln/>
        </p:spPr>
      </p:sp>
      <p:sp>
        <p:nvSpPr>
          <p:cNvPr id="17" name="Text 14"/>
          <p:cNvSpPr/>
          <p:nvPr/>
        </p:nvSpPr>
        <p:spPr>
          <a:xfrm>
            <a:off x="1499616" y="5074920"/>
            <a:ext cx="1920240"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Scheduled prompt</a:t>
            </a:r>
            <a:endParaRPr lang="en-US" sz="1200" dirty="0"/>
          </a:p>
        </p:txBody>
      </p:sp>
      <p:sp>
        <p:nvSpPr>
          <p:cNvPr id="18" name="Text 15"/>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The overnight failure affected 8,400 subscribers. The general reporting threshold is 10,000, so on that basis no report is due. Nine times out of ten the regulatory desk stops right there. The problem is the second limb: if emergency call access was affected, the obligation applies regardless of subscriber numbers — and on a far shorter clock. On top of which the clock runs from the moment the NOC raised the alarm, not from when regulatory affairs was told, so by the time the email lands on the desk most of the window is already gone. The scenario ends by putting “check what is about to run out” on a schedule.</a:t>
            </a:r>
            <a:endParaRPr lang="en-US" sz="1200" dirty="0"/>
          </a:p>
        </p:txBody>
      </p:sp>
      <p:sp>
        <p:nvSpPr>
          <p:cNvPr id="19" name="Text 16"/>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4A2B14"/>
                </a:solidFill>
                <a:latin typeface="Segoe UI" pitchFamily="34" charset="0"/>
                <a:ea typeface="Segoe UI" pitchFamily="34" charset="-122"/>
                <a:cs typeface="Segoe UI" pitchFamily="34" charset="-120"/>
              </a:rPr>
              <a:t>Agentic workflow</a:t>
            </a:r>
            <a:endParaRPr lang="en-US" sz="1500" dirty="0"/>
          </a:p>
        </p:txBody>
      </p:sp>
      <p:sp>
        <p:nvSpPr>
          <p:cNvPr id="20" name="Shape 17"/>
          <p:cNvSpPr/>
          <p:nvPr/>
        </p:nvSpPr>
        <p:spPr>
          <a:xfrm>
            <a:off x="4526280" y="2112264"/>
            <a:ext cx="457200" cy="457200"/>
          </a:xfrm>
          <a:prstGeom prst="ellipse">
            <a:avLst/>
          </a:prstGeom>
          <a:solidFill>
            <a:srgbClr val="FFFFFF">
              <a:alpha val="12000"/>
            </a:srgbClr>
          </a:solidFill>
          <a:ln w="19050">
            <a:solidFill>
              <a:srgbClr val="4A2B14"/>
            </a:solidFill>
            <a:prstDash val="solid"/>
          </a:ln>
        </p:spPr>
      </p:sp>
      <p:sp>
        <p:nvSpPr>
          <p:cNvPr id="21" name="Text 18"/>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4A2B14"/>
                </a:solidFill>
                <a:latin typeface="Segoe UI" pitchFamily="34" charset="0"/>
                <a:ea typeface="Segoe UI" pitchFamily="34" charset="-122"/>
                <a:cs typeface="Segoe UI" pitchFamily="34" charset="-120"/>
              </a:rPr>
              <a:t>1</a:t>
            </a:r>
            <a:endParaRPr lang="en-US" sz="1600" dirty="0"/>
          </a:p>
        </p:txBody>
      </p:sp>
      <p:sp>
        <p:nvSpPr>
          <p:cNvPr id="22" name="Text 19"/>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Start with the simple question: is this reportable?</a:t>
            </a:r>
            <a:endParaRPr lang="en-US" sz="1600" dirty="0"/>
          </a:p>
        </p:txBody>
      </p:sp>
      <p:sp>
        <p:nvSpPr>
          <p:cNvPr id="23" name="Text 20"/>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Both files are in TEL4_Regulator_Noti…</a:t>
            </a:r>
            <a:endParaRPr lang="en-US" sz="1300" dirty="0"/>
          </a:p>
        </p:txBody>
      </p:sp>
      <p:sp>
        <p:nvSpPr>
          <p:cNvPr id="24" name="Shape 21"/>
          <p:cNvSpPr/>
          <p:nvPr/>
        </p:nvSpPr>
        <p:spPr>
          <a:xfrm>
            <a:off x="4526280" y="2971800"/>
            <a:ext cx="457200" cy="457200"/>
          </a:xfrm>
          <a:prstGeom prst="ellipse">
            <a:avLst/>
          </a:prstGeom>
          <a:solidFill>
            <a:srgbClr val="FFFFFF">
              <a:alpha val="12000"/>
            </a:srgbClr>
          </a:solidFill>
          <a:ln w="19050">
            <a:solidFill>
              <a:srgbClr val="4A2B14"/>
            </a:solidFill>
            <a:prstDash val="solid"/>
          </a:ln>
        </p:spPr>
      </p:sp>
      <p:sp>
        <p:nvSpPr>
          <p:cNvPr id="25" name="Text 22"/>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4A2B14"/>
                </a:solidFill>
                <a:latin typeface="Segoe UI" pitchFamily="34" charset="0"/>
                <a:ea typeface="Segoe UI" pitchFamily="34" charset="-122"/>
                <a:cs typeface="Segoe UI" pitchFamily="34" charset="-120"/>
              </a:rPr>
              <a:t>2</a:t>
            </a:r>
            <a:endParaRPr lang="en-US" sz="1600" dirty="0"/>
          </a:p>
        </p:txBody>
      </p:sp>
      <p:sp>
        <p:nvSpPr>
          <p:cNvPr id="26" name="Text 23"/>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Press on the clock: when did it start, how much is left</a:t>
            </a:r>
            <a:endParaRPr lang="en-US" sz="1600" dirty="0"/>
          </a:p>
        </p:txBody>
      </p:sp>
      <p:sp>
        <p:nvSpPr>
          <p:cNvPr id="27" name="Text 24"/>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The answer here decides whether the next step is an init…</a:t>
            </a:r>
            <a:endParaRPr lang="en-US" sz="1300" dirty="0"/>
          </a:p>
        </p:txBody>
      </p:sp>
      <p:sp>
        <p:nvSpPr>
          <p:cNvPr id="28" name="Shape 25"/>
          <p:cNvSpPr/>
          <p:nvPr/>
        </p:nvSpPr>
        <p:spPr>
          <a:xfrm>
            <a:off x="4526280" y="3831336"/>
            <a:ext cx="457200" cy="457200"/>
          </a:xfrm>
          <a:prstGeom prst="ellipse">
            <a:avLst/>
          </a:prstGeom>
          <a:solidFill>
            <a:srgbClr val="FFFFFF">
              <a:alpha val="12000"/>
            </a:srgbClr>
          </a:solidFill>
          <a:ln w="19050">
            <a:solidFill>
              <a:srgbClr val="4A2B14"/>
            </a:solidFill>
            <a:prstDash val="solid"/>
          </a:ln>
        </p:spPr>
      </p:sp>
      <p:sp>
        <p:nvSpPr>
          <p:cNvPr id="29" name="Text 26"/>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4A2B14"/>
                </a:solidFill>
                <a:latin typeface="Segoe UI" pitchFamily="34" charset="0"/>
                <a:ea typeface="Segoe UI" pitchFamily="34" charset="-122"/>
                <a:cs typeface="Segoe UI" pitchFamily="34" charset="-120"/>
              </a:rPr>
              <a:t>3</a:t>
            </a:r>
            <a:endParaRPr lang="en-US" sz="1600" dirty="0"/>
          </a:p>
        </p:txBody>
      </p:sp>
      <p:sp>
        <p:nvSpPr>
          <p:cNvPr id="30" name="Text 27"/>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Draft the notification itself</a:t>
            </a:r>
            <a:endParaRPr lang="en-US" sz="1600" dirty="0"/>
          </a:p>
        </p:txBody>
      </p:sp>
      <p:sp>
        <p:nvSpPr>
          <p:cNvPr id="31" name="Text 28"/>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Formal register, item by item against section 3 of the g…</a:t>
            </a:r>
            <a:endParaRPr lang="en-US" sz="1300" dirty="0"/>
          </a:p>
        </p:txBody>
      </p:sp>
      <p:sp>
        <p:nvSpPr>
          <p:cNvPr id="32" name="Shape 29"/>
          <p:cNvSpPr/>
          <p:nvPr/>
        </p:nvSpPr>
        <p:spPr>
          <a:xfrm>
            <a:off x="4526280" y="4690872"/>
            <a:ext cx="457200" cy="457200"/>
          </a:xfrm>
          <a:prstGeom prst="ellipse">
            <a:avLst/>
          </a:prstGeom>
          <a:solidFill>
            <a:srgbClr val="FFFFFF">
              <a:alpha val="12000"/>
            </a:srgbClr>
          </a:solidFill>
          <a:ln w="19050">
            <a:solidFill>
              <a:srgbClr val="4A2B14"/>
            </a:solidFill>
            <a:prstDash val="solid"/>
          </a:ln>
        </p:spPr>
      </p:sp>
      <p:sp>
        <p:nvSpPr>
          <p:cNvPr id="33" name="Text 30"/>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4A2B14"/>
                </a:solidFill>
                <a:latin typeface="Segoe UI" pitchFamily="34" charset="0"/>
                <a:ea typeface="Segoe UI" pitchFamily="34" charset="-122"/>
                <a:cs typeface="Segoe UI" pitchFamily="34" charset="-120"/>
              </a:rPr>
              <a:t>4</a:t>
            </a:r>
            <a:endParaRPr lang="en-US" sz="1600" dirty="0"/>
          </a:p>
        </p:txBody>
      </p:sp>
      <p:sp>
        <p:nvSpPr>
          <p:cNvPr id="34" name="Text 31"/>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Send it to the department head for sign-off — not to the regulator</a:t>
            </a:r>
            <a:endParaRPr lang="en-US" sz="1600" dirty="0"/>
          </a:p>
        </p:txBody>
      </p:sp>
      <p:sp>
        <p:nvSpPr>
          <p:cNvPr id="35" name="Text 32"/>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really does send mail; recipients come from Contact…</a:t>
            </a:r>
            <a:endParaRPr lang="en-US" sz="1300" dirty="0"/>
          </a:p>
        </p:txBody>
      </p:sp>
      <p:sp>
        <p:nvSpPr>
          <p:cNvPr id="36" name="Shape 33"/>
          <p:cNvSpPr/>
          <p:nvPr/>
        </p:nvSpPr>
        <p:spPr>
          <a:xfrm>
            <a:off x="4526280" y="5550408"/>
            <a:ext cx="457200" cy="457200"/>
          </a:xfrm>
          <a:prstGeom prst="ellipse">
            <a:avLst/>
          </a:prstGeom>
          <a:solidFill>
            <a:srgbClr val="FFFFFF">
              <a:alpha val="12000"/>
            </a:srgbClr>
          </a:solidFill>
          <a:ln w="19050">
            <a:solidFill>
              <a:srgbClr val="4A2B14"/>
            </a:solidFill>
            <a:prstDash val="solid"/>
          </a:ln>
        </p:spPr>
      </p:sp>
      <p:sp>
        <p:nvSpPr>
          <p:cNvPr id="37" name="Text 34"/>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4A2B14"/>
                </a:solidFill>
                <a:latin typeface="Segoe UI" pitchFamily="34" charset="0"/>
                <a:ea typeface="Segoe UI" pitchFamily="34" charset="-122"/>
                <a:cs typeface="Segoe UI" pitchFamily="34" charset="-120"/>
              </a:rPr>
              <a:t>5</a:t>
            </a:r>
            <a:endParaRPr lang="en-US" sz="1600" dirty="0"/>
          </a:p>
        </p:txBody>
      </p:sp>
      <p:sp>
        <p:nvSpPr>
          <p:cNvPr id="38" name="Text 35"/>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Put the deadline sweep on a schedule</a:t>
            </a:r>
            <a:endParaRPr lang="en-US" sz="1600" dirty="0"/>
          </a:p>
        </p:txBody>
      </p:sp>
      <p:sp>
        <p:nvSpPr>
          <p:cNvPr id="39" name="Text 36"/>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really does create a scheduled prompt. Pause it whe…</a:t>
            </a:r>
            <a:endParaRPr lang="en-US" sz="1300" dirty="0"/>
          </a:p>
        </p:txBody>
      </p:sp>
      <p:sp>
        <p:nvSpPr>
          <p:cNvPr id="40" name="Text 3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41" name="Text 3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4A2B14"/>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4A2B14"/>
                </a:solidFill>
                <a:latin typeface="Segoe UI" pitchFamily="34" charset="0"/>
                <a:ea typeface="Segoe UI" pitchFamily="34" charset="-122"/>
                <a:cs typeface="Segoe UI" pitchFamily="34" charset="-120"/>
              </a:rPr>
              <a:t>Scenario 04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tel4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4A2B14"/>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tel4_05b_automations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4A2B14"/>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4A2B14"/>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**Both** triggers were checked — it did not stop once the subscriber count fell short</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states that the general limb is not met on subscriber numbers but the emergency limb is</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can say that the emergency limb has **no subscriber floor**</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2C1F4A"/>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2C1F4A"/>
                </a:solidFill>
                <a:latin typeface="Segoe UI" pitchFamily="34" charset="0"/>
                <a:ea typeface="Segoe UI" pitchFamily="34" charset="-122"/>
                <a:cs typeface="Segoe UI" pitchFamily="34" charset="-120"/>
              </a:rPr>
              <a:t>Scenario 05</a:t>
            </a:r>
            <a:endParaRPr lang="en-US" sz="1400" dirty="0"/>
          </a:p>
        </p:txBody>
      </p:sp>
      <p:sp>
        <p:nvSpPr>
          <p:cNvPr id="5" name="Shape 3"/>
          <p:cNvSpPr/>
          <p:nvPr/>
        </p:nvSpPr>
        <p:spPr>
          <a:xfrm>
            <a:off x="502920" y="1143000"/>
            <a:ext cx="1097280" cy="1097280"/>
          </a:xfrm>
          <a:prstGeom prst="ellipse">
            <a:avLst/>
          </a:prstGeom>
          <a:solidFill>
            <a:srgbClr val="2C1F4A"/>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Telecom · Network Operations</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On the Average, This Tariff Is Perfectly Safe</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~25 min · Level ★★★</a:t>
            </a:r>
            <a:endParaRPr lang="en-US" sz="1300" dirty="0"/>
          </a:p>
        </p:txBody>
      </p:sp>
      <p:sp>
        <p:nvSpPr>
          <p:cNvPr id="10" name="Shape 7"/>
          <p:cNvSpPr/>
          <p:nvPr/>
        </p:nvSpPr>
        <p:spPr>
          <a:xfrm>
            <a:off x="502920" y="4572000"/>
            <a:ext cx="1417320" cy="402336"/>
          </a:xfrm>
          <a:prstGeom prst="roundRect">
            <a:avLst>
              <a:gd name="adj" fmla="val 50000"/>
            </a:avLst>
          </a:prstGeom>
          <a:solidFill>
            <a:srgbClr val="6366F1"/>
          </a:solidFill>
          <a:ln/>
        </p:spPr>
      </p:sp>
      <p:sp>
        <p:nvSpPr>
          <p:cNvPr id="11" name="Text 8"/>
          <p:cNvSpPr/>
          <p:nvPr/>
        </p:nvSpPr>
        <p:spPr>
          <a:xfrm>
            <a:off x="502920" y="4572000"/>
            <a:ext cx="1417320"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File upload</a:t>
            </a:r>
            <a:endParaRPr lang="en-US" sz="1200" dirty="0"/>
          </a:p>
        </p:txBody>
      </p:sp>
      <p:sp>
        <p:nvSpPr>
          <p:cNvPr id="12" name="Shape 9"/>
          <p:cNvSpPr/>
          <p:nvPr/>
        </p:nvSpPr>
        <p:spPr>
          <a:xfrm>
            <a:off x="2103120" y="4572000"/>
            <a:ext cx="813816" cy="402336"/>
          </a:xfrm>
          <a:prstGeom prst="roundRect">
            <a:avLst>
              <a:gd name="adj" fmla="val 50000"/>
            </a:avLst>
          </a:prstGeom>
          <a:solidFill>
            <a:srgbClr val="217346"/>
          </a:solidFill>
          <a:ln/>
        </p:spPr>
      </p:sp>
      <p:sp>
        <p:nvSpPr>
          <p:cNvPr id="13" name="Text 10"/>
          <p:cNvSpPr/>
          <p:nvPr/>
        </p:nvSpPr>
        <p:spPr>
          <a:xfrm>
            <a:off x="2103120"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4" name="Shape 11"/>
          <p:cNvSpPr/>
          <p:nvPr/>
        </p:nvSpPr>
        <p:spPr>
          <a:xfrm>
            <a:off x="502920" y="5074920"/>
            <a:ext cx="1316736" cy="402336"/>
          </a:xfrm>
          <a:prstGeom prst="roundRect">
            <a:avLst>
              <a:gd name="adj" fmla="val 50000"/>
            </a:avLst>
          </a:prstGeom>
          <a:solidFill>
            <a:srgbClr val="C43E1C"/>
          </a:solidFill>
          <a:ln/>
        </p:spPr>
      </p:sp>
      <p:sp>
        <p:nvSpPr>
          <p:cNvPr id="15" name="Text 12"/>
          <p:cNvSpPr/>
          <p:nvPr/>
        </p:nvSpPr>
        <p:spPr>
          <a:xfrm>
            <a:off x="502920" y="5074920"/>
            <a:ext cx="131673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PowerPoint</a:t>
            </a:r>
            <a:endParaRPr lang="en-US" sz="1200" dirty="0"/>
          </a:p>
        </p:txBody>
      </p:sp>
      <p:sp>
        <p:nvSpPr>
          <p:cNvPr id="16" name="Text 13"/>
          <p:cNvSpPr/>
          <p:nvPr/>
        </p:nvSpPr>
        <p:spPr>
          <a:xfrm>
            <a:off x="4526280" y="566928"/>
            <a:ext cx="7132320" cy="1819656"/>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Marketing wants to launch Unlimited Streaming in December, with 120,000 new subscribers expected. Multiply that by the expected average usage and the network has headroom to spare — one slide and you are done. But mobile data usage is heavily skewed: the top 5% take more than thirty per cent of the traffic, and they are not spread evenly across the country. Redo it by region, on the P95 rather than the mean, and three regions will not hold. What this scenario produces is a deck that puts the bad news in front of the decision forum.</a:t>
            </a:r>
            <a:endParaRPr lang="en-US" sz="1200" dirty="0"/>
          </a:p>
        </p:txBody>
      </p:sp>
      <p:sp>
        <p:nvSpPr>
          <p:cNvPr id="17" name="Text 14"/>
          <p:cNvSpPr/>
          <p:nvPr/>
        </p:nvSpPr>
        <p:spPr>
          <a:xfrm>
            <a:off x="4526280" y="2514600"/>
            <a:ext cx="7132320" cy="365760"/>
          </a:xfrm>
          <a:prstGeom prst="rect">
            <a:avLst/>
          </a:prstGeom>
          <a:noFill/>
          <a:ln/>
        </p:spPr>
        <p:txBody>
          <a:bodyPr wrap="square" rtlCol="0" anchor="ctr"/>
          <a:lstStyle/>
          <a:p>
            <a:pPr indent="0" marL="0">
              <a:buNone/>
            </a:pPr>
            <a:r>
              <a:rPr lang="en-US" sz="1500" b="1" dirty="0">
                <a:solidFill>
                  <a:srgbClr val="2C1F4A"/>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971800"/>
            <a:ext cx="457200" cy="457200"/>
          </a:xfrm>
          <a:prstGeom prst="ellipse">
            <a:avLst/>
          </a:prstGeom>
          <a:solidFill>
            <a:srgbClr val="FFFFFF">
              <a:alpha val="12000"/>
            </a:srgbClr>
          </a:solidFill>
          <a:ln w="19050">
            <a:solidFill>
              <a:srgbClr val="2C1F4A"/>
            </a:solidFill>
            <a:prstDash val="solid"/>
          </a:ln>
        </p:spPr>
      </p:sp>
      <p:sp>
        <p:nvSpPr>
          <p:cNvPr id="19" name="Text 16"/>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2C1F4A"/>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Do it marketing's way first, and confirm that it passes</a:t>
            </a:r>
            <a:endParaRPr lang="en-US" sz="1600" dirty="0"/>
          </a:p>
        </p:txBody>
      </p:sp>
      <p:sp>
        <p:nvSpPr>
          <p:cNvPr id="21" name="Text 18"/>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Drag TEL5_Existing_Plan_Usage.csv into the chat. The oth…</a:t>
            </a:r>
            <a:endParaRPr lang="en-US" sz="1300" dirty="0"/>
          </a:p>
        </p:txBody>
      </p:sp>
      <p:sp>
        <p:nvSpPr>
          <p:cNvPr id="22" name="Shape 19"/>
          <p:cNvSpPr/>
          <p:nvPr/>
        </p:nvSpPr>
        <p:spPr>
          <a:xfrm>
            <a:off x="4526280" y="3831336"/>
            <a:ext cx="457200" cy="457200"/>
          </a:xfrm>
          <a:prstGeom prst="ellipse">
            <a:avLst/>
          </a:prstGeom>
          <a:solidFill>
            <a:srgbClr val="FFFFFF">
              <a:alpha val="12000"/>
            </a:srgbClr>
          </a:solidFill>
          <a:ln w="19050">
            <a:solidFill>
              <a:srgbClr val="2C1F4A"/>
            </a:solidFill>
            <a:prstDash val="solid"/>
          </a:ln>
        </p:spPr>
      </p:sp>
      <p:sp>
        <p:nvSpPr>
          <p:cNvPr id="23" name="Text 20"/>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2C1F4A"/>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Now do it by region, on the P95</a:t>
            </a:r>
            <a:endParaRPr lang="en-US" sz="1600" dirty="0"/>
          </a:p>
        </p:txBody>
      </p:sp>
      <p:sp>
        <p:nvSpPr>
          <p:cNvPr id="25" name="Text 22"/>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Same data, different cut. This is the turn of the whole …</a:t>
            </a:r>
            <a:endParaRPr lang="en-US" sz="1300" dirty="0"/>
          </a:p>
        </p:txBody>
      </p:sp>
      <p:sp>
        <p:nvSpPr>
          <p:cNvPr id="26" name="Shape 23"/>
          <p:cNvSpPr/>
          <p:nvPr/>
        </p:nvSpPr>
        <p:spPr>
          <a:xfrm>
            <a:off x="4526280" y="4690872"/>
            <a:ext cx="457200" cy="457200"/>
          </a:xfrm>
          <a:prstGeom prst="ellipse">
            <a:avLst/>
          </a:prstGeom>
          <a:solidFill>
            <a:srgbClr val="FFFFFF">
              <a:alpha val="12000"/>
            </a:srgbClr>
          </a:solidFill>
          <a:ln w="19050">
            <a:solidFill>
              <a:srgbClr val="2C1F4A"/>
            </a:solidFill>
            <a:prstDash val="solid"/>
          </a:ln>
        </p:spPr>
      </p:sp>
      <p:sp>
        <p:nvSpPr>
          <p:cNvPr id="27" name="Text 24"/>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2C1F4A"/>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Build the deck for the decision forum</a:t>
            </a:r>
            <a:endParaRPr lang="en-US" sz="1600" dirty="0"/>
          </a:p>
        </p:txBody>
      </p:sp>
      <p:sp>
        <p:nvSpPr>
          <p:cNvPr id="29" name="Text 26"/>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Section 4 of the standard lists five things the deck mus…</a:t>
            </a:r>
            <a:endParaRPr lang="en-US" sz="1300" dirty="0"/>
          </a:p>
        </p:txBody>
      </p:sp>
      <p:sp>
        <p:nvSpPr>
          <p:cNvPr id="30" name="Shape 27"/>
          <p:cNvSpPr/>
          <p:nvPr/>
        </p:nvSpPr>
        <p:spPr>
          <a:xfrm>
            <a:off x="4526280" y="5550408"/>
            <a:ext cx="457200" cy="457200"/>
          </a:xfrm>
          <a:prstGeom prst="ellipse">
            <a:avLst/>
          </a:prstGeom>
          <a:solidFill>
            <a:srgbClr val="FFFFFF">
              <a:alpha val="12000"/>
            </a:srgbClr>
          </a:solidFill>
          <a:ln w="19050">
            <a:solidFill>
              <a:srgbClr val="2C1F4A"/>
            </a:solidFill>
            <a:prstDash val="solid"/>
          </a:ln>
        </p:spPr>
      </p:sp>
      <p:sp>
        <p:nvSpPr>
          <p:cNvPr id="31" name="Text 28"/>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2C1F4A"/>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Rehearse the question you will actually be asked</a:t>
            </a:r>
            <a:endParaRPr lang="en-US" sz="1600" dirty="0"/>
          </a:p>
        </p:txBody>
      </p:sp>
      <p:sp>
        <p:nvSpPr>
          <p:cNvPr id="33" name="Text 30"/>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Marketing will say “but the network has headroom”. Have …</a:t>
            </a:r>
            <a:endParaRPr lang="en-US" sz="1300" dirty="0"/>
          </a:p>
        </p:txBody>
      </p:sp>
      <p:sp>
        <p:nvSpPr>
          <p:cNvPr id="34"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5"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2C1F4A"/>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2C1F4A"/>
                </a:solidFill>
                <a:latin typeface="Segoe UI" pitchFamily="34" charset="0"/>
                <a:ea typeface="Segoe UI" pitchFamily="34" charset="-122"/>
                <a:cs typeface="Segoe UI" pitchFamily="34" charset="-120"/>
              </a:rPr>
              <a:t>Scenario 05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tel5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2C1F4A"/>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tel5_04_notes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2C1F4A"/>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2C1F4A"/>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Level one really does come out as a pass — it did not jump straight to “there's a problem”</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Level two covers all six regions — none skipped</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 region is high risk only when **both** tests are met, not one of them</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3A2340"/>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3A2340"/>
                </a:solidFill>
                <a:latin typeface="Segoe UI" pitchFamily="34" charset="0"/>
                <a:ea typeface="Segoe UI" pitchFamily="34" charset="-122"/>
                <a:cs typeface="Segoe UI" pitchFamily="34" charset="-120"/>
              </a:rPr>
              <a:t>Scenario 06</a:t>
            </a:r>
            <a:endParaRPr lang="en-US" sz="1400" dirty="0"/>
          </a:p>
        </p:txBody>
      </p:sp>
      <p:sp>
        <p:nvSpPr>
          <p:cNvPr id="5" name="Shape 3"/>
          <p:cNvSpPr/>
          <p:nvPr/>
        </p:nvSpPr>
        <p:spPr>
          <a:xfrm>
            <a:off x="502920" y="1143000"/>
            <a:ext cx="1097280" cy="1097280"/>
          </a:xfrm>
          <a:prstGeom prst="ellipse">
            <a:avLst/>
          </a:prstGeom>
          <a:solidFill>
            <a:srgbClr val="3A2340"/>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Telecom · Network Operations</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This Order Cannot Be Fully Answered — and Cannot Be Refused</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1417320" cy="402336"/>
          </a:xfrm>
          <a:prstGeom prst="roundRect">
            <a:avLst>
              <a:gd name="adj" fmla="val 50000"/>
            </a:avLst>
          </a:prstGeom>
          <a:solidFill>
            <a:srgbClr val="6366F1"/>
          </a:solidFill>
          <a:ln/>
        </p:spPr>
      </p:sp>
      <p:sp>
        <p:nvSpPr>
          <p:cNvPr id="11" name="Text 8"/>
          <p:cNvSpPr/>
          <p:nvPr/>
        </p:nvSpPr>
        <p:spPr>
          <a:xfrm>
            <a:off x="502920" y="4572000"/>
            <a:ext cx="1417320"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File upload</a:t>
            </a:r>
            <a:endParaRPr lang="en-US" sz="1200" dirty="0"/>
          </a:p>
        </p:txBody>
      </p:sp>
      <p:sp>
        <p:nvSpPr>
          <p:cNvPr id="12" name="Shape 9"/>
          <p:cNvSpPr/>
          <p:nvPr/>
        </p:nvSpPr>
        <p:spPr>
          <a:xfrm>
            <a:off x="2103120" y="4572000"/>
            <a:ext cx="612648" cy="402336"/>
          </a:xfrm>
          <a:prstGeom prst="roundRect">
            <a:avLst>
              <a:gd name="adj" fmla="val 50000"/>
            </a:avLst>
          </a:prstGeom>
          <a:solidFill>
            <a:srgbClr val="6366F1"/>
          </a:solidFill>
          <a:ln/>
        </p:spPr>
      </p:sp>
      <p:sp>
        <p:nvSpPr>
          <p:cNvPr id="13" name="Text 10"/>
          <p:cNvSpPr/>
          <p:nvPr/>
        </p:nvSpPr>
        <p:spPr>
          <a:xfrm>
            <a:off x="2103120" y="4572000"/>
            <a:ext cx="612648"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PDF</a:t>
            </a:r>
            <a:endParaRPr lang="en-US" sz="1200" dirty="0"/>
          </a:p>
        </p:txBody>
      </p:sp>
      <p:sp>
        <p:nvSpPr>
          <p:cNvPr id="14" name="Shape 11"/>
          <p:cNvSpPr/>
          <p:nvPr/>
        </p:nvSpPr>
        <p:spPr>
          <a:xfrm>
            <a:off x="2898648" y="4572000"/>
            <a:ext cx="713232" cy="402336"/>
          </a:xfrm>
          <a:prstGeom prst="roundRect">
            <a:avLst>
              <a:gd name="adj" fmla="val 50000"/>
            </a:avLst>
          </a:prstGeom>
          <a:solidFill>
            <a:srgbClr val="2B579A"/>
          </a:solidFill>
          <a:ln/>
        </p:spPr>
      </p:sp>
      <p:sp>
        <p:nvSpPr>
          <p:cNvPr id="15" name="Text 12"/>
          <p:cNvSpPr/>
          <p:nvPr/>
        </p:nvSpPr>
        <p:spPr>
          <a:xfrm>
            <a:off x="2898648" y="4572000"/>
            <a:ext cx="71323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Word</a:t>
            </a:r>
            <a:endParaRPr lang="en-US" sz="1200" dirty="0"/>
          </a:p>
        </p:txBody>
      </p:sp>
      <p:sp>
        <p:nvSpPr>
          <p:cNvPr id="16" name="Text 13"/>
          <p:cNvSpPr/>
          <p:nvPr/>
        </p:nvSpPr>
        <p:spPr>
          <a:xfrm>
            <a:off x="4526280" y="566928"/>
            <a:ext cx="7132320" cy="1819656"/>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A disclosure order arrives: everything on one number from February to November, reply within seven days. There are two instinctive responses — hand over everything, or write back that the period is too long and refuse. Both are wrong, because retention periods differ by record type: call records are kept twelve months and billing five years, but internet session logs and cell site location are kept only six. On one order, some categories can be answered in full while for others the first half of the period has already been lawfully deleted. The reply has to go category by category, and the withheld part needs its legal basis stated.</a:t>
            </a:r>
            <a:endParaRPr lang="en-US" sz="1200" dirty="0"/>
          </a:p>
        </p:txBody>
      </p:sp>
      <p:sp>
        <p:nvSpPr>
          <p:cNvPr id="17" name="Text 14"/>
          <p:cNvSpPr/>
          <p:nvPr/>
        </p:nvSpPr>
        <p:spPr>
          <a:xfrm>
            <a:off x="4526280" y="2514600"/>
            <a:ext cx="7132320" cy="365760"/>
          </a:xfrm>
          <a:prstGeom prst="rect">
            <a:avLst/>
          </a:prstGeom>
          <a:noFill/>
          <a:ln/>
        </p:spPr>
        <p:txBody>
          <a:bodyPr wrap="square" rtlCol="0" anchor="ctr"/>
          <a:lstStyle/>
          <a:p>
            <a:pPr indent="0" marL="0">
              <a:buNone/>
            </a:pPr>
            <a:r>
              <a:rPr lang="en-US" sz="1500" b="1" dirty="0">
                <a:solidFill>
                  <a:srgbClr val="3A2340"/>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971800"/>
            <a:ext cx="457200" cy="457200"/>
          </a:xfrm>
          <a:prstGeom prst="ellipse">
            <a:avLst/>
          </a:prstGeom>
          <a:solidFill>
            <a:srgbClr val="FFFFFF">
              <a:alpha val="12000"/>
            </a:srgbClr>
          </a:solidFill>
          <a:ln w="19050">
            <a:solidFill>
              <a:srgbClr val="3A2340"/>
            </a:solidFill>
            <a:prstDash val="solid"/>
          </a:ln>
        </p:spPr>
      </p:sp>
      <p:sp>
        <p:nvSpPr>
          <p:cNvPr id="19" name="Text 16"/>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3A2340"/>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Read the order and take apart what it actually asks for</a:t>
            </a:r>
            <a:endParaRPr lang="en-US" sz="1600" dirty="0"/>
          </a:p>
        </p:txBody>
      </p:sp>
      <p:sp>
        <p:nvSpPr>
          <p:cNvPr id="21" name="Text 18"/>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Drag TEL6_Disclosure_Order.pdf into the chat. The other …</a:t>
            </a:r>
            <a:endParaRPr lang="en-US" sz="1300" dirty="0"/>
          </a:p>
        </p:txBody>
      </p:sp>
      <p:sp>
        <p:nvSpPr>
          <p:cNvPr id="22" name="Shape 19"/>
          <p:cNvSpPr/>
          <p:nvPr/>
        </p:nvSpPr>
        <p:spPr>
          <a:xfrm>
            <a:off x="4526280" y="3831336"/>
            <a:ext cx="457200" cy="457200"/>
          </a:xfrm>
          <a:prstGeom prst="ellipse">
            <a:avLst/>
          </a:prstGeom>
          <a:solidFill>
            <a:srgbClr val="FFFFFF">
              <a:alpha val="12000"/>
            </a:srgbClr>
          </a:solidFill>
          <a:ln w="19050">
            <a:solidFill>
              <a:srgbClr val="3A2340"/>
            </a:solidFill>
            <a:prstDash val="solid"/>
          </a:ln>
        </p:spPr>
      </p:sp>
      <p:sp>
        <p:nvSpPr>
          <p:cNvPr id="23" name="Text 20"/>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3A2340"/>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Work out each category's retention start and see which ones fall short</a:t>
            </a:r>
            <a:endParaRPr lang="en-US" sz="1600" dirty="0"/>
          </a:p>
        </p:txBody>
      </p:sp>
      <p:sp>
        <p:nvSpPr>
          <p:cNvPr id="25" name="Text 22"/>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is the turn of the scenario: there is not one answe…</a:t>
            </a:r>
            <a:endParaRPr lang="en-US" sz="1300" dirty="0"/>
          </a:p>
        </p:txBody>
      </p:sp>
      <p:sp>
        <p:nvSpPr>
          <p:cNvPr id="26" name="Shape 23"/>
          <p:cNvSpPr/>
          <p:nvPr/>
        </p:nvSpPr>
        <p:spPr>
          <a:xfrm>
            <a:off x="4526280" y="4690872"/>
            <a:ext cx="457200" cy="457200"/>
          </a:xfrm>
          <a:prstGeom prst="ellipse">
            <a:avLst/>
          </a:prstGeom>
          <a:solidFill>
            <a:srgbClr val="FFFFFF">
              <a:alpha val="12000"/>
            </a:srgbClr>
          </a:solidFill>
          <a:ln w="19050">
            <a:solidFill>
              <a:srgbClr val="3A2340"/>
            </a:solidFill>
            <a:prstDash val="solid"/>
          </a:ln>
        </p:spPr>
      </p:sp>
      <p:sp>
        <p:nvSpPr>
          <p:cNvPr id="27" name="Text 24"/>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3A2340"/>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Write the reply as a Word document</a:t>
            </a:r>
            <a:endParaRPr lang="en-US" sz="1600" dirty="0"/>
          </a:p>
        </p:txBody>
      </p:sp>
      <p:sp>
        <p:nvSpPr>
          <p:cNvPr id="29" name="Text 26"/>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is a formal letter that goes out under seal — neith…</a:t>
            </a:r>
            <a:endParaRPr lang="en-US" sz="1300" dirty="0"/>
          </a:p>
        </p:txBody>
      </p:sp>
      <p:sp>
        <p:nvSpPr>
          <p:cNvPr id="30" name="Shape 27"/>
          <p:cNvSpPr/>
          <p:nvPr/>
        </p:nvSpPr>
        <p:spPr>
          <a:xfrm>
            <a:off x="4526280" y="5550408"/>
            <a:ext cx="457200" cy="457200"/>
          </a:xfrm>
          <a:prstGeom prst="ellipse">
            <a:avLst/>
          </a:prstGeom>
          <a:solidFill>
            <a:srgbClr val="FFFFFF">
              <a:alpha val="12000"/>
            </a:srgbClr>
          </a:solidFill>
          <a:ln w="19050">
            <a:solidFill>
              <a:srgbClr val="3A2340"/>
            </a:solidFill>
            <a:prstDash val="solid"/>
          </a:ln>
        </p:spPr>
      </p:sp>
      <p:sp>
        <p:nvSpPr>
          <p:cNvPr id="31" name="Text 28"/>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3A2340"/>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Finally, have it check itself for overreach</a:t>
            </a:r>
            <a:endParaRPr lang="en-US" sz="1600" dirty="0"/>
          </a:p>
        </p:txBody>
      </p:sp>
      <p:sp>
        <p:nvSpPr>
          <p:cNvPr id="33" name="Text 30"/>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Overreach is worse than a shortfall: that one is our own…</a:t>
            </a:r>
            <a:endParaRPr lang="en-US" sz="1300" dirty="0"/>
          </a:p>
        </p:txBody>
      </p:sp>
      <p:sp>
        <p:nvSpPr>
          <p:cNvPr id="34"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5"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3A2340"/>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3A2340"/>
                </a:solidFill>
                <a:latin typeface="Segoe UI" pitchFamily="34" charset="0"/>
                <a:ea typeface="Segoe UI" pitchFamily="34" charset="-122"/>
                <a:cs typeface="Segoe UI" pitchFamily="34" charset="-120"/>
              </a:rPr>
              <a:t>Scenario 06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tel6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3A2340"/>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tel6_04_selfcheck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3A2340"/>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3A2340"/>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 retention start was calculated for each of the four categories — not one date applied to all</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retention start is counted back from the **date received**, not from today or from the order's own start date</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outcome is **partial**: some categories in full, others only from the retention start</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43A2C"/>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43A2C"/>
                </a:solidFill>
                <a:latin typeface="Segoe UI" pitchFamily="34" charset="0"/>
                <a:ea typeface="Segoe UI" pitchFamily="34" charset="-122"/>
                <a:cs typeface="Segoe UI" pitchFamily="34" charset="-120"/>
              </a:rPr>
              <a:t>Scenario 07</a:t>
            </a:r>
            <a:endParaRPr lang="en-US" sz="1400" dirty="0"/>
          </a:p>
        </p:txBody>
      </p:sp>
      <p:sp>
        <p:nvSpPr>
          <p:cNvPr id="5" name="Shape 3"/>
          <p:cNvSpPr/>
          <p:nvPr/>
        </p:nvSpPr>
        <p:spPr>
          <a:xfrm>
            <a:off x="502920" y="1143000"/>
            <a:ext cx="1097280" cy="1097280"/>
          </a:xfrm>
          <a:prstGeom prst="ellipse">
            <a:avLst/>
          </a:prstGeom>
          <a:solidFill>
            <a:srgbClr val="143A2C"/>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Telecom · Network Operations</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The Month the Network Met Target and One Region Fell Apart</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1719072" cy="402336"/>
          </a:xfrm>
          <a:prstGeom prst="roundRect">
            <a:avLst>
              <a:gd name="adj" fmla="val 50000"/>
            </a:avLst>
          </a:prstGeom>
          <a:solidFill>
            <a:srgbClr val="6366F1"/>
          </a:solidFill>
          <a:ln/>
        </p:spPr>
      </p:sp>
      <p:sp>
        <p:nvSpPr>
          <p:cNvPr id="11" name="Text 8"/>
          <p:cNvSpPr/>
          <p:nvPr/>
        </p:nvSpPr>
        <p:spPr>
          <a:xfrm>
            <a:off x="502920" y="4572000"/>
            <a:ext cx="171907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Daily Briefing</a:t>
            </a:r>
            <a:endParaRPr lang="en-US" sz="1200" dirty="0"/>
          </a:p>
        </p:txBody>
      </p:sp>
      <p:sp>
        <p:nvSpPr>
          <p:cNvPr id="12" name="Shape 9"/>
          <p:cNvSpPr/>
          <p:nvPr/>
        </p:nvSpPr>
        <p:spPr>
          <a:xfrm>
            <a:off x="2404872" y="4572000"/>
            <a:ext cx="813816" cy="402336"/>
          </a:xfrm>
          <a:prstGeom prst="roundRect">
            <a:avLst>
              <a:gd name="adj" fmla="val 50000"/>
            </a:avLst>
          </a:prstGeom>
          <a:solidFill>
            <a:srgbClr val="217346"/>
          </a:solidFill>
          <a:ln/>
        </p:spPr>
      </p:sp>
      <p:sp>
        <p:nvSpPr>
          <p:cNvPr id="13" name="Text 10"/>
          <p:cNvSpPr/>
          <p:nvPr/>
        </p:nvSpPr>
        <p:spPr>
          <a:xfrm>
            <a:off x="2404872"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Enterprise Search</a:t>
            </a:r>
            <a:endParaRPr lang="en-US" sz="1200" dirty="0"/>
          </a:p>
        </p:txBody>
      </p:sp>
      <p:sp>
        <p:nvSpPr>
          <p:cNvPr id="16" name="Text 13"/>
          <p:cNvSpPr/>
          <p:nvPr/>
        </p:nvSpPr>
        <p:spPr>
          <a:xfrm>
            <a:off x="4526280" y="566928"/>
            <a:ext cx="7132320" cy="1819656"/>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October's network drop-call rate was 0.43% against a 0.5% target. Target met. A monthly report could stop right there — and that is exactly the problem. The network figure is a traffic-weighted average, and a low-volume region can triple its rate without moving it. Taichung came in at 1.38%, four and a half times the average of the others, and accounted for six in every ten complaints that month. Take it out and the network reads 0.31%. This scenario is about making the report say what the average is hiding, with complaint volume brought in to corroborate it.</a:t>
            </a:r>
            <a:endParaRPr lang="en-US" sz="1200" dirty="0"/>
          </a:p>
        </p:txBody>
      </p:sp>
      <p:sp>
        <p:nvSpPr>
          <p:cNvPr id="17" name="Text 14"/>
          <p:cNvSpPr/>
          <p:nvPr/>
        </p:nvSpPr>
        <p:spPr>
          <a:xfrm>
            <a:off x="4526280" y="2514600"/>
            <a:ext cx="7132320" cy="365760"/>
          </a:xfrm>
          <a:prstGeom prst="rect">
            <a:avLst/>
          </a:prstGeom>
          <a:noFill/>
          <a:ln/>
        </p:spPr>
        <p:txBody>
          <a:bodyPr wrap="square" rtlCol="0" anchor="ctr"/>
          <a:lstStyle/>
          <a:p>
            <a:pPr indent="0" marL="0">
              <a:buNone/>
            </a:pPr>
            <a:r>
              <a:rPr lang="en-US" sz="1500" b="1" dirty="0">
                <a:solidFill>
                  <a:srgbClr val="143A2C"/>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971800"/>
            <a:ext cx="457200" cy="457200"/>
          </a:xfrm>
          <a:prstGeom prst="ellipse">
            <a:avLst/>
          </a:prstGeom>
          <a:solidFill>
            <a:srgbClr val="FFFFFF">
              <a:alpha val="12000"/>
            </a:srgbClr>
          </a:solidFill>
          <a:ln w="19050">
            <a:solidFill>
              <a:srgbClr val="143A2C"/>
            </a:solidFill>
            <a:prstDash val="solid"/>
          </a:ln>
        </p:spPr>
      </p:sp>
      <p:sp>
        <p:nvSpPr>
          <p:cNvPr id="19" name="Text 16"/>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143A2C"/>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Start by getting the “nothing to see here” network figure</a:t>
            </a:r>
            <a:endParaRPr lang="en-US" sz="1600" dirty="0"/>
          </a:p>
        </p:txBody>
      </p:sp>
      <p:sp>
        <p:nvSpPr>
          <p:cNvPr id="21" name="Text 18"/>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Both files are in TEL7_Quality_Report…</a:t>
            </a:r>
            <a:endParaRPr lang="en-US" sz="1300" dirty="0"/>
          </a:p>
        </p:txBody>
      </p:sp>
      <p:sp>
        <p:nvSpPr>
          <p:cNvPr id="22" name="Shape 19"/>
          <p:cNvSpPr/>
          <p:nvPr/>
        </p:nvSpPr>
        <p:spPr>
          <a:xfrm>
            <a:off x="4526280" y="3831336"/>
            <a:ext cx="457200" cy="457200"/>
          </a:xfrm>
          <a:prstGeom prst="ellipse">
            <a:avLst/>
          </a:prstGeom>
          <a:solidFill>
            <a:srgbClr val="FFFFFF">
              <a:alpha val="12000"/>
            </a:srgbClr>
          </a:solidFill>
          <a:ln w="19050">
            <a:solidFill>
              <a:srgbClr val="143A2C"/>
            </a:solidFill>
            <a:prstDash val="solid"/>
          </a:ln>
        </p:spPr>
      </p:sp>
      <p:sp>
        <p:nvSpPr>
          <p:cNvPr id="23" name="Text 20"/>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143A2C"/>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Run the exclusion test and measure what the average hid</a:t>
            </a:r>
            <a:endParaRPr lang="en-US" sz="1600" dirty="0"/>
          </a:p>
        </p:txBody>
      </p:sp>
      <p:sp>
        <p:nvSpPr>
          <p:cNvPr id="25" name="Text 22"/>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Section 2 of the guide describes this. It is the turn of…</a:t>
            </a:r>
            <a:endParaRPr lang="en-US" sz="1300" dirty="0"/>
          </a:p>
        </p:txBody>
      </p:sp>
      <p:sp>
        <p:nvSpPr>
          <p:cNvPr id="26" name="Shape 23"/>
          <p:cNvSpPr/>
          <p:nvPr/>
        </p:nvSpPr>
        <p:spPr>
          <a:xfrm>
            <a:off x="4526280" y="4690872"/>
            <a:ext cx="457200" cy="457200"/>
          </a:xfrm>
          <a:prstGeom prst="ellipse">
            <a:avLst/>
          </a:prstGeom>
          <a:solidFill>
            <a:srgbClr val="FFFFFF">
              <a:alpha val="12000"/>
            </a:srgbClr>
          </a:solidFill>
          <a:ln w="19050">
            <a:solidFill>
              <a:srgbClr val="143A2C"/>
            </a:solidFill>
            <a:prstDash val="solid"/>
          </a:ln>
        </p:spPr>
      </p:sp>
      <p:sp>
        <p:nvSpPr>
          <p:cNvPr id="27" name="Text 24"/>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143A2C"/>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Bring complaints in to corroborate</a:t>
            </a:r>
            <a:endParaRPr lang="en-US" sz="1600" dirty="0"/>
          </a:p>
        </p:txBody>
      </p:sp>
      <p:sp>
        <p:nvSpPr>
          <p:cNvPr id="29" name="Text 26"/>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KPIs are what we measure; complaints are what subscriber…</a:t>
            </a:r>
            <a:endParaRPr lang="en-US" sz="1300" dirty="0"/>
          </a:p>
        </p:txBody>
      </p:sp>
      <p:sp>
        <p:nvSpPr>
          <p:cNvPr id="30" name="Shape 27"/>
          <p:cNvSpPr/>
          <p:nvPr/>
        </p:nvSpPr>
        <p:spPr>
          <a:xfrm>
            <a:off x="4526280" y="5550408"/>
            <a:ext cx="457200" cy="457200"/>
          </a:xfrm>
          <a:prstGeom prst="ellipse">
            <a:avLst/>
          </a:prstGeom>
          <a:solidFill>
            <a:srgbClr val="FFFFFF">
              <a:alpha val="12000"/>
            </a:srgbClr>
          </a:solidFill>
          <a:ln w="19050">
            <a:solidFill>
              <a:srgbClr val="143A2C"/>
            </a:solidFill>
            <a:prstDash val="solid"/>
          </a:ln>
        </p:spPr>
      </p:sp>
      <p:sp>
        <p:nvSpPr>
          <p:cNvPr id="31" name="Text 28"/>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143A2C"/>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Turn it into the standing monthly briefing format</a:t>
            </a:r>
            <a:endParaRPr lang="en-US" sz="1600" dirty="0"/>
          </a:p>
        </p:txBody>
      </p:sp>
      <p:sp>
        <p:nvSpPr>
          <p:cNvPr id="33" name="Text 30"/>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Section 2 of the guide lists four views; none may be dro…</a:t>
            </a:r>
            <a:endParaRPr lang="en-US" sz="1300" dirty="0"/>
          </a:p>
        </p:txBody>
      </p:sp>
      <p:sp>
        <p:nvSpPr>
          <p:cNvPr id="34"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5"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43A2C"/>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43A2C"/>
                </a:solidFill>
                <a:latin typeface="Segoe UI" pitchFamily="34" charset="0"/>
                <a:ea typeface="Segoe UI" pitchFamily="34" charset="-122"/>
                <a:cs typeface="Segoe UI" pitchFamily="34" charset="-120"/>
              </a:rPr>
              <a:t>Scenario 07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tel7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43A2C"/>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tel7_04b_full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43A2C"/>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43A2C"/>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network rate comes out as **meeting target** — it did not overstate the problem to make a point</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All six regional rates were calculated and compared with the prior month</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exclusion test was run, with the resulting figure and the gap in points</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MAKE IT YOURS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Extend it to your own work</a:t>
            </a:r>
            <a:endParaRPr lang="en-US" sz="3000" dirty="0"/>
          </a:p>
        </p:txBody>
      </p:sp>
      <p:sp>
        <p:nvSpPr>
          <p:cNvPr id="5" name="Shape 3"/>
          <p:cNvSpPr/>
          <p:nvPr/>
        </p:nvSpPr>
        <p:spPr>
          <a:xfrm>
            <a:off x="640080" y="1783080"/>
            <a:ext cx="10911535" cy="549946"/>
          </a:xfrm>
          <a:prstGeom prst="rect">
            <a:avLst/>
          </a:prstGeom>
          <a:solidFill>
            <a:srgbClr val="FFFFFF"/>
          </a:solidFill>
          <a:ln w="12700">
            <a:solidFill>
              <a:srgbClr val="E4E7F2"/>
            </a:solidFill>
            <a:prstDash val="solid"/>
          </a:ln>
        </p:spPr>
      </p:sp>
      <p:sp>
        <p:nvSpPr>
          <p:cNvPr id="6" name="Shape 4"/>
          <p:cNvSpPr/>
          <p:nvPr/>
        </p:nvSpPr>
        <p:spPr>
          <a:xfrm>
            <a:off x="868680" y="1811165"/>
            <a:ext cx="493776" cy="493776"/>
          </a:xfrm>
          <a:prstGeom prst="ellipse">
            <a:avLst/>
          </a:prstGeom>
          <a:solidFill>
            <a:srgbClr val="0B2F3A"/>
          </a:solidFill>
          <a:ln/>
        </p:spPr>
      </p:sp>
      <p:pic>
        <p:nvPicPr>
          <p:cNvPr id="7" name="Image 0" descr="preencoded.png">    </p:cNvPr>
          <p:cNvPicPr>
            <a:picLocks noChangeAspect="1"/>
          </p:cNvPicPr>
          <p:nvPr/>
        </p:nvPicPr>
        <p:blipFill>
          <a:blip r:embed="rId1"/>
          <a:stretch>
            <a:fillRect/>
          </a:stretch>
        </p:blipFill>
        <p:spPr>
          <a:xfrm>
            <a:off x="996696" y="1939181"/>
            <a:ext cx="237744" cy="237744"/>
          </a:xfrm>
          <a:prstGeom prst="rect">
            <a:avLst/>
          </a:prstGeom>
        </p:spPr>
      </p:pic>
      <p:sp>
        <p:nvSpPr>
          <p:cNvPr id="8" name="Text 5"/>
          <p:cNvSpPr/>
          <p:nvPr/>
        </p:nvSpPr>
        <p:spPr>
          <a:xfrm>
            <a:off x="1554480" y="1819656"/>
            <a:ext cx="2286000" cy="476794"/>
          </a:xfrm>
          <a:prstGeom prst="rect">
            <a:avLst/>
          </a:prstGeom>
          <a:noFill/>
          <a:ln/>
        </p:spPr>
        <p:txBody>
          <a:bodyPr wrap="square" rtlCol="0" anchor="ctr"/>
          <a:lstStyle/>
          <a:p>
            <a:pPr indent="0" marL="0">
              <a:buNone/>
            </a:pPr>
            <a:r>
              <a:rPr lang="en-US" sz="1300" b="1" dirty="0">
                <a:solidFill>
                  <a:srgbClr val="0B2F3A"/>
                </a:solidFill>
                <a:latin typeface="Segoe UI" pitchFamily="34" charset="0"/>
                <a:ea typeface="Segoe UI" pitchFamily="34" charset="-122"/>
                <a:cs typeface="Segoe UI" pitchFamily="34" charset="-120"/>
              </a:rPr>
              <a:t>Telecom · Network Operations</a:t>
            </a:r>
            <a:endParaRPr lang="en-US" sz="1300" dirty="0"/>
          </a:p>
        </p:txBody>
      </p:sp>
      <p:sp>
        <p:nvSpPr>
          <p:cNvPr id="9" name="Text 6"/>
          <p:cNvSpPr/>
          <p:nvPr/>
        </p:nvSpPr>
        <p:spPr>
          <a:xfrm>
            <a:off x="3749040" y="1819656"/>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Reassign one cell to a different parent in the topology register and see whether the verdict follows.</a:t>
            </a:r>
            <a:endParaRPr lang="en-US" sz="1250" dirty="0"/>
          </a:p>
        </p:txBody>
      </p:sp>
      <p:sp>
        <p:nvSpPr>
          <p:cNvPr id="10" name="Shape 7"/>
          <p:cNvSpPr/>
          <p:nvPr/>
        </p:nvSpPr>
        <p:spPr>
          <a:xfrm>
            <a:off x="640080" y="2442754"/>
            <a:ext cx="10911535" cy="549946"/>
          </a:xfrm>
          <a:prstGeom prst="rect">
            <a:avLst/>
          </a:prstGeom>
          <a:solidFill>
            <a:srgbClr val="FFFFFF"/>
          </a:solidFill>
          <a:ln w="12700">
            <a:solidFill>
              <a:srgbClr val="E4E7F2"/>
            </a:solidFill>
            <a:prstDash val="solid"/>
          </a:ln>
        </p:spPr>
      </p:sp>
      <p:sp>
        <p:nvSpPr>
          <p:cNvPr id="11" name="Shape 8"/>
          <p:cNvSpPr/>
          <p:nvPr/>
        </p:nvSpPr>
        <p:spPr>
          <a:xfrm>
            <a:off x="868680" y="2470839"/>
            <a:ext cx="493776" cy="493776"/>
          </a:xfrm>
          <a:prstGeom prst="ellipse">
            <a:avLst/>
          </a:prstGeom>
          <a:solidFill>
            <a:srgbClr val="14364A"/>
          </a:solidFill>
          <a:ln/>
        </p:spPr>
      </p:sp>
      <p:pic>
        <p:nvPicPr>
          <p:cNvPr id="12" name="Image 1" descr="preencoded.png">    </p:cNvPr>
          <p:cNvPicPr>
            <a:picLocks noChangeAspect="1"/>
          </p:cNvPicPr>
          <p:nvPr/>
        </p:nvPicPr>
        <p:blipFill>
          <a:blip r:embed="rId2"/>
          <a:stretch>
            <a:fillRect/>
          </a:stretch>
        </p:blipFill>
        <p:spPr>
          <a:xfrm>
            <a:off x="996696" y="2598855"/>
            <a:ext cx="237744" cy="237744"/>
          </a:xfrm>
          <a:prstGeom prst="rect">
            <a:avLst/>
          </a:prstGeom>
        </p:spPr>
      </p:pic>
      <p:sp>
        <p:nvSpPr>
          <p:cNvPr id="13" name="Text 9"/>
          <p:cNvSpPr/>
          <p:nvPr/>
        </p:nvSpPr>
        <p:spPr>
          <a:xfrm>
            <a:off x="1554480" y="2479330"/>
            <a:ext cx="2286000" cy="476794"/>
          </a:xfrm>
          <a:prstGeom prst="rect">
            <a:avLst/>
          </a:prstGeom>
          <a:noFill/>
          <a:ln/>
        </p:spPr>
        <p:txBody>
          <a:bodyPr wrap="square" rtlCol="0" anchor="ctr"/>
          <a:lstStyle/>
          <a:p>
            <a:pPr indent="0" marL="0">
              <a:buNone/>
            </a:pPr>
            <a:r>
              <a:rPr lang="en-US" sz="1300" b="1" dirty="0">
                <a:solidFill>
                  <a:srgbClr val="14364A"/>
                </a:solidFill>
                <a:latin typeface="Segoe UI" pitchFamily="34" charset="0"/>
                <a:ea typeface="Segoe UI" pitchFamily="34" charset="-122"/>
                <a:cs typeface="Segoe UI" pitchFamily="34" charset="-120"/>
              </a:rPr>
              <a:t>Telecom · Network Operations</a:t>
            </a:r>
            <a:endParaRPr lang="en-US" sz="1300" dirty="0"/>
          </a:p>
        </p:txBody>
      </p:sp>
      <p:sp>
        <p:nvSpPr>
          <p:cNvPr id="14" name="Text 10"/>
          <p:cNvSpPr/>
          <p:nvPr/>
        </p:nvSpPr>
        <p:spPr>
          <a:xfrm>
            <a:off x="3749040" y="2479330"/>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Cut the work from three hours to two and see whether more windows become viable.</a:t>
            </a:r>
            <a:endParaRPr lang="en-US" sz="1250" dirty="0"/>
          </a:p>
        </p:txBody>
      </p:sp>
      <p:sp>
        <p:nvSpPr>
          <p:cNvPr id="15" name="Shape 11"/>
          <p:cNvSpPr/>
          <p:nvPr/>
        </p:nvSpPr>
        <p:spPr>
          <a:xfrm>
            <a:off x="640080" y="3102429"/>
            <a:ext cx="10911535" cy="549946"/>
          </a:xfrm>
          <a:prstGeom prst="rect">
            <a:avLst/>
          </a:prstGeom>
          <a:solidFill>
            <a:srgbClr val="FFFFFF"/>
          </a:solidFill>
          <a:ln w="12700">
            <a:solidFill>
              <a:srgbClr val="E4E7F2"/>
            </a:solidFill>
            <a:prstDash val="solid"/>
          </a:ln>
        </p:spPr>
      </p:sp>
      <p:sp>
        <p:nvSpPr>
          <p:cNvPr id="16" name="Shape 12"/>
          <p:cNvSpPr/>
          <p:nvPr/>
        </p:nvSpPr>
        <p:spPr>
          <a:xfrm>
            <a:off x="868680" y="3130514"/>
            <a:ext cx="493776" cy="493776"/>
          </a:xfrm>
          <a:prstGeom prst="ellipse">
            <a:avLst/>
          </a:prstGeom>
          <a:solidFill>
            <a:srgbClr val="1F3A5F"/>
          </a:solidFill>
          <a:ln/>
        </p:spPr>
      </p:sp>
      <p:pic>
        <p:nvPicPr>
          <p:cNvPr id="17" name="Image 2" descr="preencoded.png">    </p:cNvPr>
          <p:cNvPicPr>
            <a:picLocks noChangeAspect="1"/>
          </p:cNvPicPr>
          <p:nvPr/>
        </p:nvPicPr>
        <p:blipFill>
          <a:blip r:embed="rId3"/>
          <a:stretch>
            <a:fillRect/>
          </a:stretch>
        </p:blipFill>
        <p:spPr>
          <a:xfrm>
            <a:off x="996696" y="3258530"/>
            <a:ext cx="237744" cy="237744"/>
          </a:xfrm>
          <a:prstGeom prst="rect">
            <a:avLst/>
          </a:prstGeom>
        </p:spPr>
      </p:pic>
      <p:sp>
        <p:nvSpPr>
          <p:cNvPr id="18" name="Text 13"/>
          <p:cNvSpPr/>
          <p:nvPr/>
        </p:nvSpPr>
        <p:spPr>
          <a:xfrm>
            <a:off x="1554480" y="3139005"/>
            <a:ext cx="2286000" cy="476794"/>
          </a:xfrm>
          <a:prstGeom prst="rect">
            <a:avLst/>
          </a:prstGeom>
          <a:noFill/>
          <a:ln/>
        </p:spPr>
        <p:txBody>
          <a:bodyPr wrap="square" rtlCol="0" anchor="ctr"/>
          <a:lstStyle/>
          <a:p>
            <a:pPr indent="0" marL="0">
              <a:buNone/>
            </a:pPr>
            <a:r>
              <a:rPr lang="en-US" sz="1300" b="1" dirty="0">
                <a:solidFill>
                  <a:srgbClr val="1F3A5F"/>
                </a:solidFill>
                <a:latin typeface="Segoe UI" pitchFamily="34" charset="0"/>
                <a:ea typeface="Segoe UI" pitchFamily="34" charset="-122"/>
                <a:cs typeface="Segoe UI" pitchFamily="34" charset="-120"/>
              </a:rPr>
              <a:t>Telecom · Network Operations</a:t>
            </a:r>
            <a:endParaRPr lang="en-US" sz="1300" dirty="0"/>
          </a:p>
        </p:txBody>
      </p:sp>
      <p:sp>
        <p:nvSpPr>
          <p:cNvPr id="19" name="Text 14"/>
          <p:cNvSpPr/>
          <p:nvPr/>
        </p:nvSpPr>
        <p:spPr>
          <a:xfrm>
            <a:off x="3749040" y="3139005"/>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Raise the guaranteed window threshold to 25 minutes and see whether the verdict flips to nothing owed.</a:t>
            </a:r>
            <a:endParaRPr lang="en-US" sz="1250" dirty="0"/>
          </a:p>
        </p:txBody>
      </p:sp>
      <p:sp>
        <p:nvSpPr>
          <p:cNvPr id="20" name="Shape 15"/>
          <p:cNvSpPr/>
          <p:nvPr/>
        </p:nvSpPr>
        <p:spPr>
          <a:xfrm>
            <a:off x="640080" y="3762103"/>
            <a:ext cx="10911535" cy="549946"/>
          </a:xfrm>
          <a:prstGeom prst="rect">
            <a:avLst/>
          </a:prstGeom>
          <a:solidFill>
            <a:srgbClr val="FFFFFF"/>
          </a:solidFill>
          <a:ln w="12700">
            <a:solidFill>
              <a:srgbClr val="E4E7F2"/>
            </a:solidFill>
            <a:prstDash val="solid"/>
          </a:ln>
        </p:spPr>
      </p:sp>
      <p:sp>
        <p:nvSpPr>
          <p:cNvPr id="21" name="Shape 16"/>
          <p:cNvSpPr/>
          <p:nvPr/>
        </p:nvSpPr>
        <p:spPr>
          <a:xfrm>
            <a:off x="868680" y="3790188"/>
            <a:ext cx="493776" cy="493776"/>
          </a:xfrm>
          <a:prstGeom prst="ellipse">
            <a:avLst/>
          </a:prstGeom>
          <a:solidFill>
            <a:srgbClr val="4A2B14"/>
          </a:solidFill>
          <a:ln/>
        </p:spPr>
      </p:sp>
      <p:pic>
        <p:nvPicPr>
          <p:cNvPr id="22" name="Image 3" descr="preencoded.png">    </p:cNvPr>
          <p:cNvPicPr>
            <a:picLocks noChangeAspect="1"/>
          </p:cNvPicPr>
          <p:nvPr/>
        </p:nvPicPr>
        <p:blipFill>
          <a:blip r:embed="rId4"/>
          <a:stretch>
            <a:fillRect/>
          </a:stretch>
        </p:blipFill>
        <p:spPr>
          <a:xfrm>
            <a:off x="996696" y="3918204"/>
            <a:ext cx="237744" cy="237744"/>
          </a:xfrm>
          <a:prstGeom prst="rect">
            <a:avLst/>
          </a:prstGeom>
        </p:spPr>
      </p:pic>
      <p:sp>
        <p:nvSpPr>
          <p:cNvPr id="23" name="Text 17"/>
          <p:cNvSpPr/>
          <p:nvPr/>
        </p:nvSpPr>
        <p:spPr>
          <a:xfrm>
            <a:off x="1554480" y="3798679"/>
            <a:ext cx="2286000" cy="476794"/>
          </a:xfrm>
          <a:prstGeom prst="rect">
            <a:avLst/>
          </a:prstGeom>
          <a:noFill/>
          <a:ln/>
        </p:spPr>
        <p:txBody>
          <a:bodyPr wrap="square" rtlCol="0" anchor="ctr"/>
          <a:lstStyle/>
          <a:p>
            <a:pPr indent="0" marL="0">
              <a:buNone/>
            </a:pPr>
            <a:r>
              <a:rPr lang="en-US" sz="1300" b="1" dirty="0">
                <a:solidFill>
                  <a:srgbClr val="4A2B14"/>
                </a:solidFill>
                <a:latin typeface="Segoe UI" pitchFamily="34" charset="0"/>
                <a:ea typeface="Segoe UI" pitchFamily="34" charset="-122"/>
                <a:cs typeface="Segoe UI" pitchFamily="34" charset="-120"/>
              </a:rPr>
              <a:t>Telecom · Network Operations</a:t>
            </a:r>
            <a:endParaRPr lang="en-US" sz="1300" dirty="0"/>
          </a:p>
        </p:txBody>
      </p:sp>
      <p:sp>
        <p:nvSpPr>
          <p:cNvPr id="24" name="Text 18"/>
          <p:cNvSpPr/>
          <p:nvPr/>
        </p:nvSpPr>
        <p:spPr>
          <a:xfrm>
            <a:off x="3749040" y="3798679"/>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Change the subscriber count to 12,000 and see whether it switches to the general limb's deadline.</a:t>
            </a:r>
            <a:endParaRPr lang="en-US" sz="1250" dirty="0"/>
          </a:p>
        </p:txBody>
      </p:sp>
      <p:sp>
        <p:nvSpPr>
          <p:cNvPr id="25" name="Shape 19"/>
          <p:cNvSpPr/>
          <p:nvPr/>
        </p:nvSpPr>
        <p:spPr>
          <a:xfrm>
            <a:off x="640080" y="4421777"/>
            <a:ext cx="10911535" cy="549946"/>
          </a:xfrm>
          <a:prstGeom prst="rect">
            <a:avLst/>
          </a:prstGeom>
          <a:solidFill>
            <a:srgbClr val="FFFFFF"/>
          </a:solidFill>
          <a:ln w="12700">
            <a:solidFill>
              <a:srgbClr val="E4E7F2"/>
            </a:solidFill>
            <a:prstDash val="solid"/>
          </a:ln>
        </p:spPr>
      </p:sp>
      <p:sp>
        <p:nvSpPr>
          <p:cNvPr id="26" name="Shape 20"/>
          <p:cNvSpPr/>
          <p:nvPr/>
        </p:nvSpPr>
        <p:spPr>
          <a:xfrm>
            <a:off x="868680" y="4449862"/>
            <a:ext cx="493776" cy="493776"/>
          </a:xfrm>
          <a:prstGeom prst="ellipse">
            <a:avLst/>
          </a:prstGeom>
          <a:solidFill>
            <a:srgbClr val="2C1F4A"/>
          </a:solidFill>
          <a:ln/>
        </p:spPr>
      </p:sp>
      <p:pic>
        <p:nvPicPr>
          <p:cNvPr id="27" name="Image 4" descr="preencoded.png">    </p:cNvPr>
          <p:cNvPicPr>
            <a:picLocks noChangeAspect="1"/>
          </p:cNvPicPr>
          <p:nvPr/>
        </p:nvPicPr>
        <p:blipFill>
          <a:blip r:embed="rId5"/>
          <a:stretch>
            <a:fillRect/>
          </a:stretch>
        </p:blipFill>
        <p:spPr>
          <a:xfrm>
            <a:off x="996696" y="4577878"/>
            <a:ext cx="237744" cy="237744"/>
          </a:xfrm>
          <a:prstGeom prst="rect">
            <a:avLst/>
          </a:prstGeom>
        </p:spPr>
      </p:pic>
      <p:sp>
        <p:nvSpPr>
          <p:cNvPr id="28" name="Text 21"/>
          <p:cNvSpPr/>
          <p:nvPr/>
        </p:nvSpPr>
        <p:spPr>
          <a:xfrm>
            <a:off x="1554480" y="4458353"/>
            <a:ext cx="2286000" cy="476794"/>
          </a:xfrm>
          <a:prstGeom prst="rect">
            <a:avLst/>
          </a:prstGeom>
          <a:noFill/>
          <a:ln/>
        </p:spPr>
        <p:txBody>
          <a:bodyPr wrap="square" rtlCol="0" anchor="ctr"/>
          <a:lstStyle/>
          <a:p>
            <a:pPr indent="0" marL="0">
              <a:buNone/>
            </a:pPr>
            <a:r>
              <a:rPr lang="en-US" sz="1300" b="1" dirty="0">
                <a:solidFill>
                  <a:srgbClr val="2C1F4A"/>
                </a:solidFill>
                <a:latin typeface="Segoe UI" pitchFamily="34" charset="0"/>
                <a:ea typeface="Segoe UI" pitchFamily="34" charset="-122"/>
                <a:cs typeface="Segoe UI" pitchFamily="34" charset="-120"/>
              </a:rPr>
              <a:t>Telecom · Network Operations</a:t>
            </a:r>
            <a:endParaRPr lang="en-US" sz="1300" dirty="0"/>
          </a:p>
        </p:txBody>
      </p:sp>
      <p:sp>
        <p:nvSpPr>
          <p:cNvPr id="29" name="Text 22"/>
          <p:cNvSpPr/>
          <p:nvPr/>
        </p:nvSpPr>
        <p:spPr>
          <a:xfrm>
            <a:off x="3749040" y="4458353"/>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Halve the expected new subscribers and see whether one of the high-risk regions drops out.</a:t>
            </a:r>
            <a:endParaRPr lang="en-US" sz="1250" dirty="0"/>
          </a:p>
        </p:txBody>
      </p:sp>
      <p:sp>
        <p:nvSpPr>
          <p:cNvPr id="30" name="Shape 23"/>
          <p:cNvSpPr/>
          <p:nvPr/>
        </p:nvSpPr>
        <p:spPr>
          <a:xfrm>
            <a:off x="640080" y="5081451"/>
            <a:ext cx="10911535" cy="549946"/>
          </a:xfrm>
          <a:prstGeom prst="rect">
            <a:avLst/>
          </a:prstGeom>
          <a:solidFill>
            <a:srgbClr val="FFFFFF"/>
          </a:solidFill>
          <a:ln w="12700">
            <a:solidFill>
              <a:srgbClr val="E4E7F2"/>
            </a:solidFill>
            <a:prstDash val="solid"/>
          </a:ln>
        </p:spPr>
      </p:sp>
      <p:sp>
        <p:nvSpPr>
          <p:cNvPr id="31" name="Shape 24"/>
          <p:cNvSpPr/>
          <p:nvPr/>
        </p:nvSpPr>
        <p:spPr>
          <a:xfrm>
            <a:off x="868680" y="5109537"/>
            <a:ext cx="493776" cy="493776"/>
          </a:xfrm>
          <a:prstGeom prst="ellipse">
            <a:avLst/>
          </a:prstGeom>
          <a:solidFill>
            <a:srgbClr val="3A2340"/>
          </a:solidFill>
          <a:ln/>
        </p:spPr>
      </p:sp>
      <p:pic>
        <p:nvPicPr>
          <p:cNvPr id="32" name="Image 5" descr="preencoded.png">    </p:cNvPr>
          <p:cNvPicPr>
            <a:picLocks noChangeAspect="1"/>
          </p:cNvPicPr>
          <p:nvPr/>
        </p:nvPicPr>
        <p:blipFill>
          <a:blip r:embed="rId6"/>
          <a:stretch>
            <a:fillRect/>
          </a:stretch>
        </p:blipFill>
        <p:spPr>
          <a:xfrm>
            <a:off x="996696" y="5237553"/>
            <a:ext cx="237744" cy="237744"/>
          </a:xfrm>
          <a:prstGeom prst="rect">
            <a:avLst/>
          </a:prstGeom>
        </p:spPr>
      </p:pic>
      <p:sp>
        <p:nvSpPr>
          <p:cNvPr id="33" name="Text 25"/>
          <p:cNvSpPr/>
          <p:nvPr/>
        </p:nvSpPr>
        <p:spPr>
          <a:xfrm>
            <a:off x="1554480" y="5118027"/>
            <a:ext cx="2286000" cy="476794"/>
          </a:xfrm>
          <a:prstGeom prst="rect">
            <a:avLst/>
          </a:prstGeom>
          <a:noFill/>
          <a:ln/>
        </p:spPr>
        <p:txBody>
          <a:bodyPr wrap="square" rtlCol="0" anchor="ctr"/>
          <a:lstStyle/>
          <a:p>
            <a:pPr indent="0" marL="0">
              <a:buNone/>
            </a:pPr>
            <a:r>
              <a:rPr lang="en-US" sz="1300" b="1" dirty="0">
                <a:solidFill>
                  <a:srgbClr val="3A2340"/>
                </a:solidFill>
                <a:latin typeface="Segoe UI" pitchFamily="34" charset="0"/>
                <a:ea typeface="Segoe UI" pitchFamily="34" charset="-122"/>
                <a:cs typeface="Segoe UI" pitchFamily="34" charset="-120"/>
              </a:rPr>
              <a:t>Telecom · Network Operations</a:t>
            </a:r>
            <a:endParaRPr lang="en-US" sz="1300" dirty="0"/>
          </a:p>
        </p:txBody>
      </p:sp>
      <p:sp>
        <p:nvSpPr>
          <p:cNvPr id="34" name="Text 26"/>
          <p:cNvSpPr/>
          <p:nvPr/>
        </p:nvSpPr>
        <p:spPr>
          <a:xfrm>
            <a:off x="3749040" y="5118027"/>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Move the order's start date to August and see whether all four categories become fully answerable.</a:t>
            </a:r>
            <a:endParaRPr lang="en-US" sz="1250" dirty="0"/>
          </a:p>
        </p:txBody>
      </p:sp>
      <p:sp>
        <p:nvSpPr>
          <p:cNvPr id="35" name="Shape 27"/>
          <p:cNvSpPr/>
          <p:nvPr/>
        </p:nvSpPr>
        <p:spPr>
          <a:xfrm>
            <a:off x="640080" y="5741126"/>
            <a:ext cx="10911535" cy="549946"/>
          </a:xfrm>
          <a:prstGeom prst="rect">
            <a:avLst/>
          </a:prstGeom>
          <a:solidFill>
            <a:srgbClr val="FFFFFF"/>
          </a:solidFill>
          <a:ln w="12700">
            <a:solidFill>
              <a:srgbClr val="E4E7F2"/>
            </a:solidFill>
            <a:prstDash val="solid"/>
          </a:ln>
        </p:spPr>
      </p:sp>
      <p:sp>
        <p:nvSpPr>
          <p:cNvPr id="36" name="Shape 28"/>
          <p:cNvSpPr/>
          <p:nvPr/>
        </p:nvSpPr>
        <p:spPr>
          <a:xfrm>
            <a:off x="868680" y="5769211"/>
            <a:ext cx="493776" cy="493776"/>
          </a:xfrm>
          <a:prstGeom prst="ellipse">
            <a:avLst/>
          </a:prstGeom>
          <a:solidFill>
            <a:srgbClr val="143A2C"/>
          </a:solidFill>
          <a:ln/>
        </p:spPr>
      </p:sp>
      <p:pic>
        <p:nvPicPr>
          <p:cNvPr id="37" name="Image 6" descr="preencoded.png">    </p:cNvPr>
          <p:cNvPicPr>
            <a:picLocks noChangeAspect="1"/>
          </p:cNvPicPr>
          <p:nvPr/>
        </p:nvPicPr>
        <p:blipFill>
          <a:blip r:embed="rId7"/>
          <a:stretch>
            <a:fillRect/>
          </a:stretch>
        </p:blipFill>
        <p:spPr>
          <a:xfrm>
            <a:off x="996696" y="5897227"/>
            <a:ext cx="237744" cy="237744"/>
          </a:xfrm>
          <a:prstGeom prst="rect">
            <a:avLst/>
          </a:prstGeom>
        </p:spPr>
      </p:pic>
      <p:sp>
        <p:nvSpPr>
          <p:cNvPr id="38" name="Text 29"/>
          <p:cNvSpPr/>
          <p:nvPr/>
        </p:nvSpPr>
        <p:spPr>
          <a:xfrm>
            <a:off x="1554480" y="5777702"/>
            <a:ext cx="2286000" cy="476794"/>
          </a:xfrm>
          <a:prstGeom prst="rect">
            <a:avLst/>
          </a:prstGeom>
          <a:noFill/>
          <a:ln/>
        </p:spPr>
        <p:txBody>
          <a:bodyPr wrap="square" rtlCol="0" anchor="ctr"/>
          <a:lstStyle/>
          <a:p>
            <a:pPr indent="0" marL="0">
              <a:buNone/>
            </a:pPr>
            <a:r>
              <a:rPr lang="en-US" sz="1300" b="1" dirty="0">
                <a:solidFill>
                  <a:srgbClr val="143A2C"/>
                </a:solidFill>
                <a:latin typeface="Segoe UI" pitchFamily="34" charset="0"/>
                <a:ea typeface="Segoe UI" pitchFamily="34" charset="-122"/>
                <a:cs typeface="Segoe UI" pitchFamily="34" charset="-120"/>
              </a:rPr>
              <a:t>Telecom · Network Operations</a:t>
            </a:r>
            <a:endParaRPr lang="en-US" sz="1300" dirty="0"/>
          </a:p>
        </p:txBody>
      </p:sp>
      <p:sp>
        <p:nvSpPr>
          <p:cNvPr id="39" name="Text 30"/>
          <p:cNvSpPr/>
          <p:nvPr/>
        </p:nvSpPr>
        <p:spPr>
          <a:xfrm>
            <a:off x="3749040" y="5777702"/>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Make the outlier the highest-volume region and see whether the exclusion test still finds it.</a:t>
            </a:r>
            <a:endParaRPr lang="en-US" sz="1250" dirty="0"/>
          </a:p>
        </p:txBody>
      </p:sp>
      <p:sp>
        <p:nvSpPr>
          <p:cNvPr id="40"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1"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22D3EE"/>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22D3EE"/>
                </a:solidFill>
                <a:latin typeface="Segoe UI" pitchFamily="34" charset="0"/>
                <a:ea typeface="Segoe UI" pitchFamily="34" charset="-122"/>
                <a:cs typeface="Segoe UI" pitchFamily="34" charset="-120"/>
              </a:rPr>
              <a:t>TRUST &amp; CONTROL</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Automated — but you're still the decision maker</a:t>
            </a:r>
            <a:endParaRPr lang="en-US" sz="3000" dirty="0"/>
          </a:p>
        </p:txBody>
      </p:sp>
      <p:sp>
        <p:nvSpPr>
          <p:cNvPr id="5" name="Shape 3"/>
          <p:cNvSpPr/>
          <p:nvPr/>
        </p:nvSpPr>
        <p:spPr>
          <a:xfrm>
            <a:off x="640080" y="1874520"/>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6" name="Image 0" descr="preencoded.png">    </p:cNvPr>
          <p:cNvPicPr>
            <a:picLocks noChangeAspect="1"/>
          </p:cNvPicPr>
          <p:nvPr/>
        </p:nvPicPr>
        <p:blipFill>
          <a:blip r:embed="rId2"/>
          <a:stretch>
            <a:fillRect/>
          </a:stretch>
        </p:blipFill>
        <p:spPr>
          <a:xfrm>
            <a:off x="804672" y="2039112"/>
            <a:ext cx="448056" cy="448056"/>
          </a:xfrm>
          <a:prstGeom prst="rect">
            <a:avLst/>
          </a:prstGeom>
        </p:spPr>
      </p:pic>
      <p:sp>
        <p:nvSpPr>
          <p:cNvPr id="7" name="Text 4"/>
          <p:cNvSpPr/>
          <p:nvPr/>
        </p:nvSpPr>
        <p:spPr>
          <a:xfrm>
            <a:off x="1691640" y="1856232"/>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Approval before action</a:t>
            </a:r>
            <a:endParaRPr lang="en-US" sz="1700" dirty="0"/>
          </a:p>
        </p:txBody>
      </p:sp>
      <p:sp>
        <p:nvSpPr>
          <p:cNvPr id="8" name="Text 5"/>
          <p:cNvSpPr/>
          <p:nvPr/>
        </p:nvSpPr>
        <p:spPr>
          <a:xfrm>
            <a:off x="1691640" y="2203704"/>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Medium/high-risk actions show a RISK-LEVEL; sending mail, posting to Teams or creating meetings all open as an editable preview and go out only after approval.</a:t>
            </a:r>
            <a:endParaRPr lang="en-US" sz="1300" dirty="0"/>
          </a:p>
        </p:txBody>
      </p:sp>
      <p:sp>
        <p:nvSpPr>
          <p:cNvPr id="9" name="Shape 6"/>
          <p:cNvSpPr/>
          <p:nvPr/>
        </p:nvSpPr>
        <p:spPr>
          <a:xfrm>
            <a:off x="640080" y="3044952"/>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0" name="Image 1" descr="preencoded.png">    </p:cNvPr>
          <p:cNvPicPr>
            <a:picLocks noChangeAspect="1"/>
          </p:cNvPicPr>
          <p:nvPr/>
        </p:nvPicPr>
        <p:blipFill>
          <a:blip r:embed="rId3"/>
          <a:stretch>
            <a:fillRect/>
          </a:stretch>
        </p:blipFill>
        <p:spPr>
          <a:xfrm>
            <a:off x="804672" y="3209544"/>
            <a:ext cx="448056" cy="448056"/>
          </a:xfrm>
          <a:prstGeom prst="rect">
            <a:avLst/>
          </a:prstGeom>
        </p:spPr>
      </p:pic>
      <p:sp>
        <p:nvSpPr>
          <p:cNvPr id="11" name="Text 7"/>
          <p:cNvSpPr/>
          <p:nvPr/>
        </p:nvSpPr>
        <p:spPr>
          <a:xfrm>
            <a:off x="1691640" y="3026664"/>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Scope you control</a:t>
            </a:r>
            <a:endParaRPr lang="en-US" sz="1700" dirty="0"/>
          </a:p>
        </p:txBody>
      </p:sp>
      <p:sp>
        <p:nvSpPr>
          <p:cNvPr id="12" name="Text 8"/>
          <p:cNvSpPr/>
          <p:nvPr/>
        </p:nvSpPr>
        <p:spPr>
          <a:xfrm>
            <a:off x="1691640" y="3374136"/>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Don't-ask-again can be limited to a recipient, a domain, or always; tasks can be soft/hard paused, resumed or cancelled.</a:t>
            </a:r>
            <a:endParaRPr lang="en-US" sz="1300" dirty="0"/>
          </a:p>
        </p:txBody>
      </p:sp>
      <p:sp>
        <p:nvSpPr>
          <p:cNvPr id="13" name="Shape 9"/>
          <p:cNvSpPr/>
          <p:nvPr/>
        </p:nvSpPr>
        <p:spPr>
          <a:xfrm>
            <a:off x="640080" y="4215384"/>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4" name="Image 2" descr="preencoded.png">    </p:cNvPr>
          <p:cNvPicPr>
            <a:picLocks noChangeAspect="1"/>
          </p:cNvPicPr>
          <p:nvPr/>
        </p:nvPicPr>
        <p:blipFill>
          <a:blip r:embed="rId4"/>
          <a:stretch>
            <a:fillRect/>
          </a:stretch>
        </p:blipFill>
        <p:spPr>
          <a:xfrm>
            <a:off x="804672" y="4379976"/>
            <a:ext cx="448056" cy="448056"/>
          </a:xfrm>
          <a:prstGeom prst="rect">
            <a:avLst/>
          </a:prstGeom>
        </p:spPr>
      </p:pic>
      <p:sp>
        <p:nvSpPr>
          <p:cNvPr id="15" name="Text 10"/>
          <p:cNvSpPr/>
          <p:nvPr/>
        </p:nvSpPr>
        <p:spPr>
          <a:xfrm>
            <a:off x="1691640" y="4197096"/>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Automated tasks have guardrails too</a:t>
            </a:r>
            <a:endParaRPr lang="en-US" sz="1700" dirty="0"/>
          </a:p>
        </p:txBody>
      </p:sp>
      <p:sp>
        <p:nvSpPr>
          <p:cNvPr id="16" name="Text 11"/>
          <p:cNvSpPr/>
          <p:nvPr/>
        </p:nvSpPr>
        <p:spPr>
          <a:xfrm>
            <a:off x="1691640" y="4544568"/>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Scheduled prompts and event-driven tasks have run-frequency limits and loop protection; they always run with the creator's permissions, and are recorded in the unified audit log alongside all other Cowork activity, under Microsoft Purview policy.</a:t>
            </a:r>
            <a:endParaRPr lang="en-US" sz="1300" dirty="0"/>
          </a:p>
        </p:txBody>
      </p:sp>
      <p:sp>
        <p:nvSpPr>
          <p:cNvPr id="17" name="Shape 12"/>
          <p:cNvSpPr/>
          <p:nvPr/>
        </p:nvSpPr>
        <p:spPr>
          <a:xfrm>
            <a:off x="640080" y="5385816"/>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8" name="Image 3" descr="preencoded.png">    </p:cNvPr>
          <p:cNvPicPr>
            <a:picLocks noChangeAspect="1"/>
          </p:cNvPicPr>
          <p:nvPr/>
        </p:nvPicPr>
        <p:blipFill>
          <a:blip r:embed="rId5"/>
          <a:stretch>
            <a:fillRect/>
          </a:stretch>
        </p:blipFill>
        <p:spPr>
          <a:xfrm>
            <a:off x="804672" y="5550408"/>
            <a:ext cx="448056" cy="448056"/>
          </a:xfrm>
          <a:prstGeom prst="rect">
            <a:avLst/>
          </a:prstGeom>
        </p:spPr>
      </p:pic>
      <p:sp>
        <p:nvSpPr>
          <p:cNvPr id="19" name="Text 13"/>
          <p:cNvSpPr/>
          <p:nvPr/>
        </p:nvSpPr>
        <p:spPr>
          <a:xfrm>
            <a:off x="1691640" y="5367528"/>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Know the limits</a:t>
            </a:r>
            <a:endParaRPr lang="en-US" sz="1700" dirty="0"/>
          </a:p>
        </p:txBody>
      </p:sp>
      <p:sp>
        <p:nvSpPr>
          <p:cNvPr id="20" name="Text 14"/>
          <p:cNvSpPr/>
          <p:nvPr/>
        </p:nvSpPr>
        <p:spPr>
          <a:xfrm>
            <a:off x="1691640" y="5715000"/>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No access to local files, no deleting OneDrive/SharePoint files, no reading encrypted files; attachments under 200MB; custom skills and third-party plugins aren't validated by Microsoft, so review the output yourself. Microsoft explicitly lists it as unsuitable where accuracy must be guaranteed without human review.</a:t>
            </a:r>
            <a:endParaRPr lang="en-US" sz="1300" dirty="0"/>
          </a:p>
        </p:txBody>
      </p:sp>
      <p:sp>
        <p:nvSpPr>
          <p:cNvPr id="21" name="Text 1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22" name="Text 1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554480"/>
            <a:ext cx="10058400" cy="82296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Start practising now</a:t>
            </a:r>
            <a:endParaRPr lang="en-US" sz="4000" dirty="0"/>
          </a:p>
        </p:txBody>
      </p:sp>
      <p:sp>
        <p:nvSpPr>
          <p:cNvPr id="3" name="Shape 1"/>
          <p:cNvSpPr/>
          <p:nvPr/>
        </p:nvSpPr>
        <p:spPr>
          <a:xfrm>
            <a:off x="640080" y="2606040"/>
            <a:ext cx="8686800" cy="868680"/>
          </a:xfrm>
          <a:prstGeom prst="roundRect">
            <a:avLst>
              <a:gd name="adj" fmla="val 12632"/>
            </a:avLst>
          </a:prstGeom>
          <a:solidFill>
            <a:srgbClr val="FFFFFF">
              <a:alpha val="10000"/>
            </a:srgbClr>
          </a:solidFill>
          <a:ln w="12700">
            <a:solidFill>
              <a:srgbClr val="FFFFFF">
                <a:alpha val="35000"/>
              </a:srgbClr>
            </a:solidFill>
            <a:prstDash val="solid"/>
          </a:ln>
        </p:spPr>
      </p:sp>
      <p:pic>
        <p:nvPicPr>
          <p:cNvPr id="4" name="Image 0" descr="preencoded.png">    </p:cNvPr>
          <p:cNvPicPr>
            <a:picLocks noChangeAspect="1"/>
          </p:cNvPicPr>
          <p:nvPr/>
        </p:nvPicPr>
        <p:blipFill>
          <a:blip r:embed="rId2"/>
          <a:stretch>
            <a:fillRect/>
          </a:stretch>
        </p:blipFill>
        <p:spPr>
          <a:xfrm>
            <a:off x="914400" y="2880360"/>
            <a:ext cx="329184" cy="329184"/>
          </a:xfrm>
          <a:prstGeom prst="rect">
            <a:avLst/>
          </a:prstGeom>
        </p:spPr>
      </p:pic>
      <p:sp>
        <p:nvSpPr>
          <p:cNvPr id="5" name="Text 2"/>
          <p:cNvSpPr/>
          <p:nvPr/>
        </p:nvSpPr>
        <p:spPr>
          <a:xfrm>
            <a:off x="1417320" y="2715768"/>
            <a:ext cx="7315200"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Cowork Playbook</a:t>
            </a:r>
            <a:endParaRPr lang="en-US" sz="1400" dirty="0"/>
          </a:p>
        </p:txBody>
      </p:sp>
      <p:sp>
        <p:nvSpPr>
          <p:cNvPr id="6" name="Text 3">
            <a:hlinkClick r:id="rId3" tooltip=""/>
          </p:cNvPr>
          <p:cNvSpPr/>
          <p:nvPr/>
        </p:nvSpPr>
        <p:spPr>
          <a:xfrm>
            <a:off x="1417320" y="3008376"/>
            <a:ext cx="7772400" cy="320040"/>
          </a:xfrm>
          <a:prstGeom prst="rect">
            <a:avLst/>
          </a:prstGeom>
          <a:noFill/>
          <a:ln/>
        </p:spPr>
        <p:txBody>
          <a:bodyPr wrap="square" rtlCol="0" anchor="ctr"/>
          <a:lstStyle/>
          <a:p>
            <a:pPr indent="0" marL="0">
              <a:buNone/>
            </a:pPr>
            <a:r>
              <a:rPr lang="en-US" sz="1300" u="sng" dirty="0">
                <a:solidFill>
                  <a:srgbClr val="9FE9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aka.ms/CoworkPlaybook</a:t>
            </a:r>
            <a:endParaRPr lang="en-US" sz="1300" dirty="0"/>
          </a:p>
        </p:txBody>
      </p:sp>
      <p:pic>
        <p:nvPicPr>
          <p:cNvPr id="7" name="Image 1" descr="preencoded.png">    </p:cNvPr>
          <p:cNvPicPr>
            <a:picLocks noChangeAspect="1"/>
          </p:cNvPicPr>
          <p:nvPr/>
        </p:nvPicPr>
        <p:blipFill>
          <a:blip r:embed="rId4"/>
          <a:stretch>
            <a:fillRect/>
          </a:stretch>
        </p:blipFill>
        <p:spPr>
          <a:xfrm>
            <a:off x="640080" y="3950208"/>
            <a:ext cx="237744" cy="237744"/>
          </a:xfrm>
          <a:prstGeom prst="rect">
            <a:avLst/>
          </a:prstGeom>
        </p:spPr>
      </p:pic>
      <p:sp>
        <p:nvSpPr>
          <p:cNvPr id="8" name="Text 4"/>
          <p:cNvSpPr/>
          <p:nvPr/>
        </p:nvSpPr>
        <p:spPr>
          <a:xfrm>
            <a:off x="1005840" y="3895344"/>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Start with the scenario closest to your own work</a:t>
            </a:r>
            <a:endParaRPr lang="en-US" sz="1400" dirty="0"/>
          </a:p>
        </p:txBody>
      </p:sp>
      <p:pic>
        <p:nvPicPr>
          <p:cNvPr id="9" name="Image 2" descr="preencoded.png">    </p:cNvPr>
          <p:cNvPicPr>
            <a:picLocks noChangeAspect="1"/>
          </p:cNvPicPr>
          <p:nvPr/>
        </p:nvPicPr>
        <p:blipFill>
          <a:blip r:embed="rId5"/>
          <a:stretch>
            <a:fillRect/>
          </a:stretch>
        </p:blipFill>
        <p:spPr>
          <a:xfrm>
            <a:off x="640080" y="4425696"/>
            <a:ext cx="237744" cy="237744"/>
          </a:xfrm>
          <a:prstGeom prst="rect">
            <a:avLst/>
          </a:prstGeom>
        </p:spPr>
      </p:pic>
      <p:sp>
        <p:nvSpPr>
          <p:cNvPr id="10" name="Text 5"/>
          <p:cNvSpPr/>
          <p:nvPr/>
        </p:nvSpPr>
        <p:spPr>
          <a:xfrm>
            <a:off x="1005840" y="4370832"/>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Custom skills live in OneDrive at /Documents/Cowork/skills/ as SKILL.md (up to 50, 1MB each)</a:t>
            </a:r>
            <a:endParaRPr lang="en-US" sz="1400" dirty="0"/>
          </a:p>
        </p:txBody>
      </p:sp>
      <p:pic>
        <p:nvPicPr>
          <p:cNvPr id="11" name="Image 3" descr="preencoded.png">    </p:cNvPr>
          <p:cNvPicPr>
            <a:picLocks noChangeAspect="1"/>
          </p:cNvPicPr>
          <p:nvPr/>
        </p:nvPicPr>
        <p:blipFill>
          <a:blip r:embed="rId6"/>
          <a:stretch>
            <a:fillRect/>
          </a:stretch>
        </p:blipFill>
        <p:spPr>
          <a:xfrm>
            <a:off x="640080" y="4901184"/>
            <a:ext cx="237744" cy="237744"/>
          </a:xfrm>
          <a:prstGeom prst="rect">
            <a:avLst/>
          </a:prstGeom>
        </p:spPr>
      </p:pic>
      <p:sp>
        <p:nvSpPr>
          <p:cNvPr id="12" name="Text 6"/>
          <p:cNvSpPr/>
          <p:nvPr/>
        </p:nvSpPr>
        <p:spPr>
          <a:xfrm>
            <a:off x="1005840" y="4846320"/>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Model picker: Auto (default), GPT 5.5 Frontier, GPT 5.6 Sol/Terra, GPT 6 Astra, Opus 5, Claude Sonnet 5, Claude Fable 5.1</a:t>
            </a:r>
            <a:endParaRPr lang="en-US" sz="1400" dirty="0"/>
          </a:p>
        </p:txBody>
      </p:sp>
      <p:pic>
        <p:nvPicPr>
          <p:cNvPr id="13" name="Image 4" descr="preencoded.png">    </p:cNvPr>
          <p:cNvPicPr>
            <a:picLocks noChangeAspect="1"/>
          </p:cNvPicPr>
          <p:nvPr/>
        </p:nvPicPr>
        <p:blipFill>
          <a:blip r:embed="rId7"/>
          <a:stretch>
            <a:fillRect/>
          </a:stretch>
        </p:blipFill>
        <p:spPr>
          <a:xfrm>
            <a:off x="640080" y="5376672"/>
            <a:ext cx="237744" cy="237744"/>
          </a:xfrm>
          <a:prstGeom prst="rect">
            <a:avLst/>
          </a:prstGeom>
        </p:spPr>
      </p:pic>
      <p:sp>
        <p:nvSpPr>
          <p:cNvPr id="14" name="Text 7"/>
          <p:cNvSpPr/>
          <p:nvPr/>
        </p:nvSpPr>
        <p:spPr>
          <a:xfrm>
            <a:off x="1005840" y="5321808"/>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Effort: Light / Medium (default) / High / Extra High / Max — higher is more thorough, but slower and uses more credits</a:t>
            </a:r>
            <a:endParaRPr lang="en-US" sz="1400" dirty="0"/>
          </a:p>
        </p:txBody>
      </p:sp>
      <p:pic>
        <p:nvPicPr>
          <p:cNvPr id="15" name="Image 5" descr="preencoded.png">    </p:cNvPr>
          <p:cNvPicPr>
            <a:picLocks noChangeAspect="1"/>
          </p:cNvPicPr>
          <p:nvPr/>
        </p:nvPicPr>
        <p:blipFill>
          <a:blip r:embed="rId8"/>
          <a:stretch>
            <a:fillRect/>
          </a:stretch>
        </p:blipFill>
        <p:spPr>
          <a:xfrm>
            <a:off x="640080" y="5852160"/>
            <a:ext cx="237744" cy="237744"/>
          </a:xfrm>
          <a:prstGeom prst="rect">
            <a:avLst/>
          </a:prstGeom>
        </p:spPr>
      </p:pic>
      <p:sp>
        <p:nvSpPr>
          <p:cNvPr id="16" name="Text 8"/>
          <p:cNvSpPr/>
          <p:nvPr/>
        </p:nvSpPr>
        <p:spPr>
          <a:xfrm>
            <a:off x="1005840" y="5797296"/>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Want it to fire by itself? Set a scheduled prompt (up to 25) or an event-driven task (incoming mail / @mention) on the "Automations" page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2377440"/>
            <a:ext cx="10058400" cy="1097280"/>
          </a:xfrm>
          <a:prstGeom prst="rect">
            <a:avLst/>
          </a:prstGeom>
          <a:noFill/>
          <a:ln/>
        </p:spPr>
        <p:txBody>
          <a:bodyPr wrap="square" rtlCol="0" anchor="ctr"/>
          <a:lstStyle/>
          <a:p>
            <a:pPr indent="0" marL="0">
              <a:buNone/>
            </a:pPr>
            <a:r>
              <a:rPr lang="en-US" sz="6000" b="1" dirty="0">
                <a:solidFill>
                  <a:srgbClr val="FFFFFF"/>
                </a:solidFill>
                <a:latin typeface="Segoe UI" pitchFamily="34" charset="0"/>
                <a:ea typeface="Segoe UI" pitchFamily="34" charset="-122"/>
                <a:cs typeface="Segoe UI" pitchFamily="34" charset="-120"/>
              </a:rPr>
              <a:t>Thank you</a:t>
            </a:r>
            <a:endParaRPr lang="en-US" sz="6000" dirty="0"/>
          </a:p>
        </p:txBody>
      </p:sp>
      <p:sp>
        <p:nvSpPr>
          <p:cNvPr id="3" name="Text 1"/>
          <p:cNvSpPr/>
          <p:nvPr/>
        </p:nvSpPr>
        <p:spPr>
          <a:xfrm>
            <a:off x="640080" y="3611880"/>
            <a:ext cx="10058400" cy="548640"/>
          </a:xfrm>
          <a:prstGeom prst="rect">
            <a:avLst/>
          </a:prstGeom>
          <a:noFill/>
          <a:ln/>
        </p:spPr>
        <p:txBody>
          <a:bodyPr wrap="square" rtlCol="0" anchor="ctr"/>
          <a:lstStyle/>
          <a:p>
            <a:pPr indent="0" marL="0">
              <a:buNone/>
            </a:pPr>
            <a:r>
              <a:rPr lang="en-US" sz="1800" dirty="0">
                <a:solidFill>
                  <a:srgbClr val="C7CAEC"/>
                </a:solidFill>
                <a:latin typeface="Segoe UI" pitchFamily="34" charset="0"/>
                <a:ea typeface="Segoe UI" pitchFamily="34" charset="-122"/>
                <a:cs typeface="Segoe UI" pitchFamily="34" charset="-120"/>
              </a:rPr>
              <a:t>From asking to delegating — you set the standard, Cowork does the work.</a:t>
            </a:r>
            <a:endParaRPr lang="en-US" sz="1800" dirty="0"/>
          </a:p>
        </p:txBody>
      </p:sp>
      <p:sp>
        <p:nvSpPr>
          <p:cNvPr id="4" name="Shape 2"/>
          <p:cNvSpPr/>
          <p:nvPr/>
        </p:nvSpPr>
        <p:spPr>
          <a:xfrm>
            <a:off x="640080" y="4389120"/>
            <a:ext cx="3200400" cy="0"/>
          </a:xfrm>
          <a:prstGeom prst="line">
            <a:avLst/>
          </a:prstGeom>
          <a:noFill/>
          <a:ln w="12700">
            <a:solidFill>
              <a:srgbClr val="FFFFFF">
                <a:alpha val="30000"/>
              </a:srgbClr>
            </a:solidFill>
            <a:prstDash val="solid"/>
          </a:ln>
        </p:spPr>
      </p:sp>
      <p:sp>
        <p:nvSpPr>
          <p:cNvPr id="5" name="Text 3"/>
          <p:cNvSpPr/>
          <p:nvPr/>
        </p:nvSpPr>
        <p:spPr>
          <a:xfrm>
            <a:off x="640080" y="4526280"/>
            <a:ext cx="10058400" cy="365760"/>
          </a:xfrm>
          <a:prstGeom prst="rect">
            <a:avLst/>
          </a:prstGeom>
          <a:noFill/>
          <a:ln/>
        </p:spPr>
        <p:txBody>
          <a:bodyPr wrap="square" rtlCol="0" anchor="ctr"/>
          <a:lstStyle/>
          <a:p>
            <a:pPr indent="0" marL="0">
              <a:buNone/>
            </a:pPr>
            <a:r>
              <a:rPr lang="en-US" sz="1200" dirty="0">
                <a:solidFill>
                  <a:srgbClr val="9FA3CC"/>
                </a:solidFill>
                <a:latin typeface="Segoe UI" pitchFamily="34" charset="0"/>
                <a:ea typeface="Segoe UI" pitchFamily="34" charset="-122"/>
                <a:cs typeface="Segoe UI" pitchFamily="34" charset="-120"/>
              </a:rPr>
              <a:t>Microsoft 365 Copilot Cowork · Training deck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365 Copilot Cowork Training</dc:title>
  <dc:subject>PptxGenJS Presentation</dc:subject>
  <dc:creator>Andy Hung</dc:creator>
  <cp:lastModifiedBy>Andy Hung</cp:lastModifiedBy>
  <cp:revision>1</cp:revision>
  <dcterms:created xsi:type="dcterms:W3CDTF">2026-10-05T05:52:28Z</dcterms:created>
  <dcterms:modified xsi:type="dcterms:W3CDTF">2026-10-05T05:52:28Z</dcterms:modified>
</cp:coreProperties>
</file>