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CoworkPlaybook" TargetMode="External"/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5" Type="http://schemas.openxmlformats.org/officeDocument/2006/relationships/image" Target="../media/image-25-4.png"/><Relationship Id="rId6" Type="http://schemas.openxmlformats.org/officeDocument/2006/relationships/image" Target="../media/image-25-5.png"/><Relationship Id="rId7" Type="http://schemas.openxmlformats.org/officeDocument/2006/relationships/image" Target="../media/image-25-6.png"/><Relationship Id="rId8" Type="http://schemas.openxmlformats.org/officeDocument/2006/relationships/image" Target="../media/image-25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 AI 的实战工作流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7 个零售渠道运营实战场景，看 Copilot 如何把渠道承诺拆回门店、批次、成本和数据边界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培训演示文稿 · 客户分享版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今天的内容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什么是代理式 AI，和一般 Copilot Chat 有什么不同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核心能力与运作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技能、工作区、操作前审批、自检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练习环境准备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示例文件下载后拖进对话，以及哪些场景会动到邮箱和日历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七大零售渠道实战场景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冷链隔离、促销配货、新品毛利、退货政策、开业日期、供应商净成本和 KPI 观察，逐一拆解工作流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用到你的日常工作里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如何把这些场景延伸到自己的工作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从「对话」到「代理执行」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你交付一个目标，它会自己拆解步骤、读取云端文件、加载需要的技能，跨应用产出成果并自检——中高风险操作会显示风险等级并停下来请你批准。你从「快速单轮问答」升级为「交付一个可执行的任务」。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快速单轮问答；适合即时回答和头脑风暴。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你给目标，它跨应用多步骤自主执行，可以运行几分钟到几小时。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你仍然主导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对外或影响别人的操作，一律先暂停等你批准。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与一般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交付目标，跨应用自主多步执行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快速单轮问答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交付目标，跨应用自主多步执行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分钟～数小时（自主执行）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秒～分钟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分钟～数小时（自主执行）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跨任务与来源的多步骤工作流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单步骤、单个会话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跨任务与来源的多步骤工作流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读取云端附件、产出新文件；不访问本地文件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粘贴片段内容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读取云端附件、产出新文件；不访问本地文件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自动加载 14 个内置技能和自定义技能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单一对话能力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自动加载 14 个内置技能和自定义技能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里真实的文档、电子表格、演示文稿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聊天窗口里的文字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里真实的文档、电子表格、演示文稿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计划提示／事件触发：收到邮件或被 @提及时自动执行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每次都要你打开并下指令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计划提示／事件触发：收到邮件或被 @提及时自动执行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可以通过 Plugins／MCP 连外部系统，官方目录已有 92 个合作伙伴 plugin（D365、SAP、Fabric 等）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接地于 M365 数据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可以通过 Plugins／MCP 连外部系统，官方目录已有 92 个合作伙伴 plugin（D365、SAP、Fabric 等）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中高风险操作显示风险等级，批准后才执行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你自己判断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中高风险操作显示风险等级，批准后才执行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四个让 Cowork 不一样的能力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29514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个内置技能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Word、Excel、PowerPoint、PDF、Email、Scheduling、Calendar Management、Meetings、Daily Briefing、Enterprise Search、Deep Research、Communications、Adaptive Cards、App（Frontier）。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29514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工作区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右侧面板同时显示进度、输入文件、输出文件、已加载技能、计划任务和已批准的权限，过程透明可追溯。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80974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操作前审批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中高风险操作显示 RISK-LEVEL；可以批准、取消，或者设置仅限此收件人／仅限此域名／始终允许；多条待审可以一起批准。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80974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计划提示（上限 25 个）和事件触发任务、工作量级别五档调节质量与成本、自定义技能创建后自动生成技能报告（0–100 分四个维度，另有含安全与 RAI 扫描的 5 道独立关卡）、本机 Edge 浏览器（2026/8 GA）、图像生成、Plugins／MCP 连外部系统。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一次代理式工作流，背后发生什么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接收目标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下达指令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理解任务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拆成步骤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内置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自定义技能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执行产出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创建文档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电子表格／邮件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核对数字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操作前审批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对外操作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等你批准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整个过程在「工作区」面板里透明呈现；可以软／硬暂停、恢复或取消任务。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启动方式不只是聊天下指令：也能设置「收到指定邮件／被 @提及时」自动触发（事件驱动任务），一样走相同的自检和审批流程。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练习环境准备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素材下载后拖进对话即可，不需要事先放进 OneDrive · 准备时间 约 10 分钟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建立零售渠道文件夹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OneDrive 建立 文件/Cowork_Lab/零售渠道，并把七个 RET 子文件夹的素材放入。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👤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CIO 自己验证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本版不建立第二账号流程；所有练习先在 CIO 自己的权限范围内完成。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开课前最后检查</a:t>
            </a:r>
            <a:endParaRPr lang="en-US" sz="12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七个 RET 文件夹都能被 Cowork 搜索到</a:t>
            </a:r>
            <a:endParaRPr lang="en-US" sz="10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事件触发或计划验证后已停用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七个零售渠道实战场景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355010" cy="109728"/>
          </a:xfrm>
          <a:prstGeom prst="rect">
            <a:avLst/>
          </a:prstGeom>
          <a:solidFill>
            <a:srgbClr val="0B5A5E"/>
          </a:solidFill>
          <a:ln/>
        </p:spPr>
      </p:sp>
      <p:sp>
        <p:nvSpPr>
          <p:cNvPr id="7" name="Shape 5"/>
          <p:cNvSpPr/>
          <p:nvPr/>
        </p:nvSpPr>
        <p:spPr>
          <a:xfrm>
            <a:off x="860385" y="2194560"/>
            <a:ext cx="914400" cy="914400"/>
          </a:xfrm>
          <a:prstGeom prst="ellipse">
            <a:avLst/>
          </a:prstGeom>
          <a:solidFill>
            <a:srgbClr val="0B5A5E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55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978" dirty="0"/>
          </a:p>
        </p:txBody>
      </p:sp>
      <p:sp>
        <p:nvSpPr>
          <p:cNvPr id="10" name="Text 7"/>
          <p:cNvSpPr/>
          <p:nvPr/>
        </p:nvSpPr>
        <p:spPr>
          <a:xfrm>
            <a:off x="731520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冷链异常：不是每条超温记录都要报废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731520" y="4255262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 · Excel · 审批与治理</a:t>
            </a:r>
            <a:endParaRPr lang="en-US" sz="1020" dirty="0"/>
          </a:p>
        </p:txBody>
      </p:sp>
      <p:sp>
        <p:nvSpPr>
          <p:cNvPr id="12" name="Text 9"/>
          <p:cNvSpPr/>
          <p:nvPr/>
        </p:nvSpPr>
        <p:spPr>
          <a:xfrm>
            <a:off x="731520" y="4842764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13" name="Shape 10"/>
          <p:cNvSpPr/>
          <p:nvPr/>
        </p:nvSpPr>
        <p:spPr>
          <a:xfrm>
            <a:off x="2232834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232834" y="1828800"/>
            <a:ext cx="1355010" cy="109728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15" name="Shape 12"/>
          <p:cNvSpPr/>
          <p:nvPr/>
        </p:nvSpPr>
        <p:spPr>
          <a:xfrm>
            <a:off x="2453139" y="2194560"/>
            <a:ext cx="914400" cy="914400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307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324274" y="3163824"/>
            <a:ext cx="1172130" cy="34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8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058" dirty="0"/>
          </a:p>
        </p:txBody>
      </p:sp>
      <p:sp>
        <p:nvSpPr>
          <p:cNvPr id="18" name="Text 14"/>
          <p:cNvSpPr/>
          <p:nvPr/>
        </p:nvSpPr>
        <p:spPr>
          <a:xfrm>
            <a:off x="2324274" y="3568040"/>
            <a:ext cx="1172130" cy="911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8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促销配货：总量够不代表门店放得下</a:t>
            </a:r>
            <a:endParaRPr lang="en-US" sz="1380" dirty="0"/>
          </a:p>
        </p:txBody>
      </p:sp>
      <p:sp>
        <p:nvSpPr>
          <p:cNvPr id="19" name="Text 15"/>
          <p:cNvSpPr/>
          <p:nvPr/>
        </p:nvSpPr>
        <p:spPr>
          <a:xfrm>
            <a:off x="2324274" y="4561688"/>
            <a:ext cx="1172130" cy="3645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4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 · Excel</a:t>
            </a:r>
            <a:endParaRPr lang="en-US" sz="1104" dirty="0"/>
          </a:p>
        </p:txBody>
      </p:sp>
      <p:sp>
        <p:nvSpPr>
          <p:cNvPr id="20" name="Text 16"/>
          <p:cNvSpPr/>
          <p:nvPr/>
        </p:nvSpPr>
        <p:spPr>
          <a:xfrm>
            <a:off x="2324274" y="5008524"/>
            <a:ext cx="1172130" cy="3341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12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1012" dirty="0"/>
          </a:p>
          <a:p>
            <a:pPr algn="ctr" indent="0" marL="0">
              <a:buNone/>
            </a:pPr>
            <a:r>
              <a:rPr lang="en-US" sz="1012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1012" dirty="0"/>
          </a:p>
        </p:txBody>
      </p:sp>
      <p:sp>
        <p:nvSpPr>
          <p:cNvPr id="21" name="Shape 17"/>
          <p:cNvSpPr/>
          <p:nvPr/>
        </p:nvSpPr>
        <p:spPr>
          <a:xfrm>
            <a:off x="3825588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825588" y="1828800"/>
            <a:ext cx="1355010" cy="109728"/>
          </a:xfrm>
          <a:prstGeom prst="rect">
            <a:avLst/>
          </a:prstGeom>
          <a:solidFill>
            <a:srgbClr val="5B3A8A"/>
          </a:solidFill>
          <a:ln/>
        </p:spPr>
      </p:sp>
      <p:sp>
        <p:nvSpPr>
          <p:cNvPr id="23" name="Shape 19"/>
          <p:cNvSpPr/>
          <p:nvPr/>
        </p:nvSpPr>
        <p:spPr>
          <a:xfrm>
            <a:off x="4045893" y="2194560"/>
            <a:ext cx="914400" cy="914400"/>
          </a:xfrm>
          <a:prstGeom prst="ellipse">
            <a:avLst/>
          </a:prstGeom>
          <a:solidFill>
            <a:srgbClr val="5B3A8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0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3917028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978" dirty="0"/>
          </a:p>
        </p:txBody>
      </p:sp>
      <p:sp>
        <p:nvSpPr>
          <p:cNvPr id="26" name="Text 21"/>
          <p:cNvSpPr/>
          <p:nvPr/>
        </p:nvSpPr>
        <p:spPr>
          <a:xfrm>
            <a:off x="3917028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新品上市：营收达标仍可能跌破毛利底线</a:t>
            </a:r>
            <a:endParaRPr lang="en-US" sz="1275" dirty="0"/>
          </a:p>
        </p:txBody>
      </p:sp>
      <p:sp>
        <p:nvSpPr>
          <p:cNvPr id="27" name="Text 22"/>
          <p:cNvSpPr/>
          <p:nvPr/>
        </p:nvSpPr>
        <p:spPr>
          <a:xfrm>
            <a:off x="3917028" y="4255262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 · Excel · PowerPoint</a:t>
            </a:r>
            <a:endParaRPr lang="en-US" sz="1020" dirty="0"/>
          </a:p>
        </p:txBody>
      </p:sp>
      <p:sp>
        <p:nvSpPr>
          <p:cNvPr id="28" name="Text 23"/>
          <p:cNvSpPr/>
          <p:nvPr/>
        </p:nvSpPr>
        <p:spPr>
          <a:xfrm>
            <a:off x="3917028" y="4842764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29" name="Shape 24"/>
          <p:cNvSpPr/>
          <p:nvPr/>
        </p:nvSpPr>
        <p:spPr>
          <a:xfrm>
            <a:off x="5418343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418343" y="1828800"/>
            <a:ext cx="1355010" cy="109728"/>
          </a:xfrm>
          <a:prstGeom prst="rect">
            <a:avLst/>
          </a:prstGeom>
          <a:solidFill>
            <a:srgbClr val="7B2838"/>
          </a:solidFill>
          <a:ln/>
        </p:spPr>
      </p:sp>
      <p:sp>
        <p:nvSpPr>
          <p:cNvPr id="31" name="Shape 26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7B283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5509783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978" dirty="0"/>
          </a:p>
        </p:txBody>
      </p:sp>
      <p:sp>
        <p:nvSpPr>
          <p:cNvPr id="34" name="Text 28"/>
          <p:cNvSpPr/>
          <p:nvPr/>
        </p:nvSpPr>
        <p:spPr>
          <a:xfrm>
            <a:off x="5509783" y="3541459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退货政策：已开封个护品不等于无条件退款</a:t>
            </a:r>
            <a:endParaRPr lang="en-US" sz="1275" dirty="0"/>
          </a:p>
        </p:txBody>
      </p:sp>
      <p:sp>
        <p:nvSpPr>
          <p:cNvPr id="35" name="Text 29"/>
          <p:cNvSpPr/>
          <p:nvPr/>
        </p:nvSpPr>
        <p:spPr>
          <a:xfrm>
            <a:off x="5509783" y="4465765"/>
            <a:ext cx="1172130" cy="5052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 · Word · 审批与治理</a:t>
            </a:r>
            <a:endParaRPr lang="en-US" sz="1020" dirty="0"/>
          </a:p>
        </p:txBody>
      </p:sp>
      <p:sp>
        <p:nvSpPr>
          <p:cNvPr id="36" name="Text 30"/>
          <p:cNvSpPr/>
          <p:nvPr/>
        </p:nvSpPr>
        <p:spPr>
          <a:xfrm>
            <a:off x="5509783" y="5053267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37" name="Shape 31"/>
          <p:cNvSpPr/>
          <p:nvPr/>
        </p:nvSpPr>
        <p:spPr>
          <a:xfrm>
            <a:off x="7011097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7011097" y="1828800"/>
            <a:ext cx="1355010" cy="109728"/>
          </a:xfrm>
          <a:prstGeom prst="rect">
            <a:avLst/>
          </a:prstGeom>
          <a:solidFill>
            <a:srgbClr val="1D5B8F"/>
          </a:solidFill>
          <a:ln/>
        </p:spPr>
      </p:sp>
      <p:sp>
        <p:nvSpPr>
          <p:cNvPr id="39" name="Shape 33"/>
          <p:cNvSpPr/>
          <p:nvPr/>
        </p:nvSpPr>
        <p:spPr>
          <a:xfrm>
            <a:off x="7231402" y="2194560"/>
            <a:ext cx="914400" cy="914400"/>
          </a:xfrm>
          <a:prstGeom prst="ellipse">
            <a:avLst/>
          </a:prstGeom>
          <a:solidFill>
            <a:srgbClr val="1D5B8F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2570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7102537" y="3163824"/>
            <a:ext cx="1172130" cy="322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78" b="1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978" dirty="0"/>
          </a:p>
        </p:txBody>
      </p:sp>
      <p:sp>
        <p:nvSpPr>
          <p:cNvPr id="42" name="Text 35"/>
          <p:cNvSpPr/>
          <p:nvPr/>
        </p:nvSpPr>
        <p:spPr>
          <a:xfrm>
            <a:off x="7102537" y="3541459"/>
            <a:ext cx="1172130" cy="631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门店开业：只有一个日期通过所有黑名单</a:t>
            </a:r>
            <a:endParaRPr lang="en-US" sz="1275" dirty="0"/>
          </a:p>
        </p:txBody>
      </p:sp>
      <p:sp>
        <p:nvSpPr>
          <p:cNvPr id="43" name="Text 36"/>
          <p:cNvSpPr/>
          <p:nvPr/>
        </p:nvSpPr>
        <p:spPr>
          <a:xfrm>
            <a:off x="7102537" y="4255262"/>
            <a:ext cx="1172130" cy="8420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2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 · Excel · 计划提示 Scheduled prompt</a:t>
            </a:r>
            <a:endParaRPr lang="en-US" sz="1020" dirty="0"/>
          </a:p>
        </p:txBody>
      </p:sp>
      <p:sp>
        <p:nvSpPr>
          <p:cNvPr id="44" name="Text 37"/>
          <p:cNvSpPr/>
          <p:nvPr/>
        </p:nvSpPr>
        <p:spPr>
          <a:xfrm>
            <a:off x="7102537" y="5179568"/>
            <a:ext cx="1172130" cy="30873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935" dirty="0"/>
          </a:p>
          <a:p>
            <a:pPr algn="ctr" indent="0" marL="0">
              <a:buNone/>
            </a:pPr>
            <a:r>
              <a:rPr lang="en-US" sz="935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935" dirty="0"/>
          </a:p>
        </p:txBody>
      </p:sp>
      <p:sp>
        <p:nvSpPr>
          <p:cNvPr id="45" name="Shape 38"/>
          <p:cNvSpPr/>
          <p:nvPr/>
        </p:nvSpPr>
        <p:spPr>
          <a:xfrm>
            <a:off x="8603851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8603851" y="1828800"/>
            <a:ext cx="1355010" cy="109728"/>
          </a:xfrm>
          <a:prstGeom prst="rect">
            <a:avLst/>
          </a:prstGeom>
          <a:solidFill>
            <a:srgbClr val="375A3D"/>
          </a:solidFill>
          <a:ln/>
        </p:spPr>
      </p:sp>
      <p:sp>
        <p:nvSpPr>
          <p:cNvPr id="47" name="Shape 40"/>
          <p:cNvSpPr/>
          <p:nvPr/>
        </p:nvSpPr>
        <p:spPr>
          <a:xfrm>
            <a:off x="8824156" y="2194560"/>
            <a:ext cx="914400" cy="914400"/>
          </a:xfrm>
          <a:prstGeom prst="ellipse">
            <a:avLst/>
          </a:prstGeom>
          <a:solidFill>
            <a:srgbClr val="375A3D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5324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8695291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897" dirty="0"/>
          </a:p>
        </p:txBody>
      </p:sp>
      <p:sp>
        <p:nvSpPr>
          <p:cNvPr id="50" name="Text 42"/>
          <p:cNvSpPr/>
          <p:nvPr/>
        </p:nvSpPr>
        <p:spPr>
          <a:xfrm>
            <a:off x="8695291" y="3514877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供应商续约：最低报价不一定是最低净成本</a:t>
            </a:r>
            <a:endParaRPr lang="en-US" sz="1170" dirty="0"/>
          </a:p>
        </p:txBody>
      </p:sp>
      <p:sp>
        <p:nvSpPr>
          <p:cNvPr id="51" name="Text 43"/>
          <p:cNvSpPr/>
          <p:nvPr/>
        </p:nvSpPr>
        <p:spPr>
          <a:xfrm>
            <a:off x="8695291" y="4369841"/>
            <a:ext cx="1172130" cy="4636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 · Excel · Word · 审批与治理</a:t>
            </a:r>
            <a:endParaRPr lang="en-US" sz="936" dirty="0"/>
          </a:p>
        </p:txBody>
      </p:sp>
      <p:sp>
        <p:nvSpPr>
          <p:cNvPr id="52" name="Text 44"/>
          <p:cNvSpPr/>
          <p:nvPr/>
        </p:nvSpPr>
        <p:spPr>
          <a:xfrm>
            <a:off x="8695291" y="4915738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858" dirty="0"/>
          </a:p>
        </p:txBody>
      </p:sp>
      <p:sp>
        <p:nvSpPr>
          <p:cNvPr id="53" name="Shape 45"/>
          <p:cNvSpPr/>
          <p:nvPr/>
        </p:nvSpPr>
        <p:spPr>
          <a:xfrm>
            <a:off x="10196605" y="1828800"/>
            <a:ext cx="135501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54" name="Shape 46"/>
          <p:cNvSpPr/>
          <p:nvPr/>
        </p:nvSpPr>
        <p:spPr>
          <a:xfrm>
            <a:off x="10196605" y="1828800"/>
            <a:ext cx="1355010" cy="109728"/>
          </a:xfrm>
          <a:prstGeom prst="rect">
            <a:avLst/>
          </a:prstGeom>
          <a:solidFill>
            <a:srgbClr val="6B4B2A"/>
          </a:solidFill>
          <a:ln/>
        </p:spPr>
      </p:sp>
      <p:sp>
        <p:nvSpPr>
          <p:cNvPr id="55" name="Shape 47"/>
          <p:cNvSpPr/>
          <p:nvPr/>
        </p:nvSpPr>
        <p:spPr>
          <a:xfrm>
            <a:off x="10416910" y="2194560"/>
            <a:ext cx="914400" cy="914400"/>
          </a:xfrm>
          <a:prstGeom prst="ellipse">
            <a:avLst/>
          </a:prstGeom>
          <a:solidFill>
            <a:srgbClr val="6B4B2A"/>
          </a:solidFill>
          <a:ln/>
        </p:spPr>
      </p:sp>
      <p:pic>
        <p:nvPicPr>
          <p:cNvPr id="5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8078" y="2395728"/>
            <a:ext cx="512064" cy="512064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10288045" y="3163824"/>
            <a:ext cx="1172130" cy="2961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97" b="1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897" dirty="0"/>
          </a:p>
        </p:txBody>
      </p:sp>
      <p:sp>
        <p:nvSpPr>
          <p:cNvPr id="58" name="Text 49"/>
          <p:cNvSpPr/>
          <p:nvPr/>
        </p:nvSpPr>
        <p:spPr>
          <a:xfrm>
            <a:off x="10288045" y="3514877"/>
            <a:ext cx="1172130" cy="579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7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运营周报：同店销售上升不代表毛利健康</a:t>
            </a:r>
            <a:endParaRPr lang="en-US" sz="1170" dirty="0"/>
          </a:p>
        </p:txBody>
      </p:sp>
      <p:sp>
        <p:nvSpPr>
          <p:cNvPr id="59" name="Text 50"/>
          <p:cNvSpPr/>
          <p:nvPr/>
        </p:nvSpPr>
        <p:spPr>
          <a:xfrm>
            <a:off x="10288045" y="4176674"/>
            <a:ext cx="1172130" cy="7726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36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 · Excel · PowerPoint · 计划提示 Scheduled prompt</a:t>
            </a:r>
            <a:endParaRPr lang="en-US" sz="936" dirty="0"/>
          </a:p>
        </p:txBody>
      </p:sp>
      <p:sp>
        <p:nvSpPr>
          <p:cNvPr id="60" name="Text 51"/>
          <p:cNvSpPr/>
          <p:nvPr/>
        </p:nvSpPr>
        <p:spPr>
          <a:xfrm>
            <a:off x="10288045" y="5031638"/>
            <a:ext cx="1172130" cy="28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858" dirty="0"/>
          </a:p>
          <a:p>
            <a:pPr algn="ctr" indent="0" marL="0">
              <a:buNone/>
            </a:pPr>
            <a:r>
              <a:rPr lang="en-US" sz="858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★★★</a:t>
            </a:r>
            <a:endParaRPr lang="en-US" sz="858" dirty="0"/>
          </a:p>
        </p:txBody>
      </p:sp>
      <p:sp>
        <p:nvSpPr>
          <p:cNvPr id="61" name="Text 5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62" name="Text 5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5A5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B5A5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冷链异常：不是每条超温记录都要报废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审批与治理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冷藏展示柜出现一条超温记录。要把门店、批次和配送中心数据放在一起，区分隔离范围与可放行库存。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5A5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先按门店与批次整理读数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请读取 OneDrive 中的 RET1 数据。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5A5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产出隔离与放行建议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不要直接报废整批。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5A5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确认决策边界和下一步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把需要人工确认的事项、责任人和后续动作列成清单。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B5A5E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B5A5E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把关重点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涉及对外发送、退款、计划或触发器时，先检查收件人、内容和执行范围；本练习只在 CIO 自己的账号内验证。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B5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01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1_01_readings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1_02_recommendation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B5A5E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只隔离有超温证据的节点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保留人工审批边界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清楚标示数据限制和假设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促销配货：总量够不代表门店放得下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促销需求为 1,920 件，总库存看似足够；真正瓶颈在门店容量、箱规和最后一公里分配。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找出不可行的配置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 RET2 数据，先不要平均分配。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提出可执行配货方案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请给出整箱、不超过容量、保留电商履约量的配货方案，并明确列出缺口。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4B0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确认决策边界和下一步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把需要人工确认的事项、责任人和后续动作列成清单。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8A4B08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8A4B08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把关重点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涉及对外发送、退款、计划或触发器时，先检查收件人、内容和执行范围；本练习只在 CIO 自己的账号内验证。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02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2_01_constraints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2_02_plan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8A4B0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容量和箱规都不能违反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透明呈现缺口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清楚标示数据限制和假设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B3A8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B3A8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新品上市：营收达标仍可能跌破毛利底线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新品直接营收高于目标，但扣除蚕食和促销成本后，重点是第二阶段是否仍守住毛利底线。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3A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重算净销售和毛利判断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请读取 RET3，从直接营收扣除蚕食和促销成本，对照目标和毛利底线。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3A8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写成主管决策摘要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请用三段摘要：已达成什么、仍有什么风险、第二阶段应采用什么条件。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B3A8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确认决策边界和下一步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把需要人工确认的事项、责任人和后续动作列成清单。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B3A8A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B3A8A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把关重点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涉及对外发送、退款、计划或触发器时，先检查收件人、内容和执行范围；本练习只在 CIO 自己的账号内验证。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B3A8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03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3_01_model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3_02_brief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5B3A8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不要把营收达标当成毛利达标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清楚标示数据限制和假设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不把高风险动作自动化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B283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7B283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退货政策：已开封个护品不等于无条件退款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713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审批与治理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Marketplace 订单已开封但有收据。要根据渠道政策和商品类别判断换货、退款或人工审核，而不是只看顾客诉求。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B28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抽取适用条款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 RET4，列出渠道、品类、开封状态和收据对结果的影响。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B28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产出客服回复草稿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请给出换货、退款和人工审核判断，并写一段不过度承诺的客服回复。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B28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确认决策边界和下一步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把需要人工确认的事项、责任人和后续动作列成清单。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7B2838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7B2838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把关重点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涉及对外发送、退款、计划或触发器时，先检查收件人、内容和执行范围；本练习只在 CIO 自己的账号内验证。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7B283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04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4_01_policy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4_02_reply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7B283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逐项对应政策条件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清楚标示数据限制和假设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不把高风险动作自动化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5B8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1D5B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门店开业：只有一个日期通过所有黑名单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7523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752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 Scheduled prompt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三个开业候选日期分别撞上盘点封锁和商场消防演练。要把事件限制和运营准备期放在同一张表判断。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D5B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建立日期可行性矩阵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请读取 RET5，逐一检查候选日期是否碰到黑名单事件。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D5B8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写出决策与依据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只选择通过全部限制的日期，并说明其他日期为什么不可用。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1D5B8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确认决策边界和下一步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把需要人工确认的事项、责任人和后续动作列成清单。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1D5B8F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1D5B8F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把关重点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涉及对外发送、退款、计划或触发器时，先检查收件人、内容和执行范围；本练习只在 CIO 自己的账号内验证。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1D5B8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05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5_01_matrix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5_02_decision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1D5B8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不可用日期不能靠平均分数洗白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清楚标示数据限制和假设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不把高风险动作自动化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5A3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375A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供应商续约：最低报价不一定是最低净成本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713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399032" y="5074920"/>
            <a:ext cx="12252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1399032" y="5074920"/>
            <a:ext cx="12252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审批与治理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两家供应商的报价、返利门槛、运费和预测量不同。要计算净成本，再把合同条件写进续约摘要。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375A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算出两家的可比净成本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请读取 RET6，按实际数量判断返利是否生效，再计算含运费的净成本。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375A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写成续约建议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请用表格列出计算式、敏感条件和建议谈判条款。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375A3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确认决策边界和下一步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把需要人工确认的事项、责任人和后续动作列成清单。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375A3D">
                <a:alpha val="6500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375A3D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把关重点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涉及对外发送、退款、计划或触发器时，先检查收件人、内容和执行范围；本练习只在 CIO 自己的账号内验证。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375A3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06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6_01_cost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6_02_renewal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375A3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只有达到门槛才能计入返利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清楚标示数据限制和假设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不把高风险动作自动化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B4B2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6B4B2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运营周报：同店销售上升不代表毛利健康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14884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148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/ 企业搜索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3464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283464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577840"/>
            <a:ext cx="27523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577840"/>
            <a:ext cx="2752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 Scheduled prompt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同店销售上升，但毛利率下降、折扣品占比上升。周报不能只报喜，必须把营收和毛利信号放在一起。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17007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4B2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1700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16824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找出互相矛盾的信号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0482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请读取 RET7，把三个 KPI 放在同一张表，标出升降方向。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7249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4B2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7249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7066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写成每周运营摘要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0723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请先说明表面上的好消息，再指出毛利风险和下周要追踪的指标。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74904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6B4B2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749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73075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确认决策边界和下一步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09651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把需要人工确认的事项、责任人和后续动作列成清单。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6B4B2A">
                <a:alpha val="6500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6B4B2A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把关重点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涉及对外发送、退款、计划或触发器时，先检查收件人、内容和执行范围；本练习只在 CIO 自己的账号内验证。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B4B2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07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3\_working\screenshots\ret7_01_kpi_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3\_working\screenshots\ret7_02_brief_c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6B4B2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营收和毛利不能只看单一指标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清楚标示数据限制和假设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不把高风险动作自动化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把场景延伸到你的日常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811165"/>
            <a:ext cx="493776" cy="493776"/>
          </a:xfrm>
          <a:prstGeom prst="ellipse">
            <a:avLst/>
          </a:prstGeom>
          <a:solidFill>
            <a:srgbClr val="0B5A5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1939181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19656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A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49040" y="1819656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可扩展为收到冷链异常邮件就自动整理的事件触发。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2442754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2470839"/>
            <a:ext cx="493776" cy="493776"/>
          </a:xfrm>
          <a:prstGeom prst="ellipse">
            <a:avLst/>
          </a:prstGeom>
          <a:solidFill>
            <a:srgbClr val="8A4B0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2598855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479330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4B0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749040" y="2479330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可扩展为每周促销配货的计划提示。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40080" y="3102429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8680" y="3130514"/>
            <a:ext cx="493776" cy="493776"/>
          </a:xfrm>
          <a:prstGeom prst="ellipse">
            <a:avLst/>
          </a:prstGeom>
          <a:solidFill>
            <a:srgbClr val="5B3A8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25853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139005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3A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3749040" y="3139005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可将摘要改成一页 PowerPoint 决策卡。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40080" y="3762103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68680" y="3790188"/>
            <a:ext cx="493776" cy="493776"/>
          </a:xfrm>
          <a:prstGeom prst="ellipse">
            <a:avLst/>
          </a:prstGeom>
          <a:solidFill>
            <a:srgbClr val="7B283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3918204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3798679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3749040" y="3798679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可扩展为客服自定义技能，但仍保留人工审批退款。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640080" y="4421777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68680" y="4449862"/>
            <a:ext cx="493776" cy="493776"/>
          </a:xfrm>
          <a:prstGeom prst="ellipse">
            <a:avLst/>
          </a:prstGeom>
          <a:solidFill>
            <a:srgbClr val="1D5B8F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4577878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4458353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8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3749040" y="4458353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可扩展为会议排程或提醒任务。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640080" y="5081451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68680" y="5109537"/>
            <a:ext cx="493776" cy="493776"/>
          </a:xfrm>
          <a:prstGeom prst="ellipse">
            <a:avLst/>
          </a:prstGeom>
          <a:solidFill>
            <a:srgbClr val="375A3D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5237553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554480" y="5118027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5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3749040" y="5118027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可将条款摘要做成现有 Word 合同附件草稿。</a:t>
            </a:r>
            <a:endParaRPr lang="en-US" sz="1250" dirty="0"/>
          </a:p>
        </p:txBody>
      </p:sp>
      <p:sp>
        <p:nvSpPr>
          <p:cNvPr id="35" name="Shape 27"/>
          <p:cNvSpPr/>
          <p:nvPr/>
        </p:nvSpPr>
        <p:spPr>
          <a:xfrm>
            <a:off x="640080" y="5741126"/>
            <a:ext cx="10911535" cy="54994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868680" y="5769211"/>
            <a:ext cx="493776" cy="493776"/>
          </a:xfrm>
          <a:prstGeom prst="ellipse">
            <a:avLst/>
          </a:prstGeom>
          <a:solidFill>
            <a:srgbClr val="6B4B2A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" y="5897227"/>
            <a:ext cx="237744" cy="237744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554480" y="5777702"/>
            <a:ext cx="2286000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B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零售渠道 · 运营决策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3749040" y="5777702"/>
            <a:ext cx="7619695" cy="4767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可设置每周一早上的计划提示自动产出初稿。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自动化，但你始终是决策者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操作前审批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中高风险操作会显示 RISK-LEVEL；发邮件、发 Teams、创建会议等操作会先摊开成可编辑的预览，批准后才发出。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控制范围清楚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「不再询问」可以限定此收件人、此域名，或者始终允许；任务可以软／硬暂停、恢复或取消。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自动化任务也有把关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计划提示和事件驱动任务有执行频率限制和防循环保护；一律以创建者的权限执行，而且与其他 Cowork 活动一起记录在统一审核日志里，适用 Microsoft Purview 策略。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不能访问本地文件、删除 OneDrive/SharePoint 文件或读取加密文件；附件 &lt;200MB；自定义技能和第三方 plugin 未经 Microsoft 验证，需要自行审阅。官方明确列出不适用于「免人工审查即需保证正确」的用途。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现在就开始练习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60604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8036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27157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练习手册</a:t>
            </a:r>
            <a:endParaRPr lang="en-US" sz="1400" dirty="0"/>
          </a:p>
        </p:txBody>
      </p:sp>
      <p:sp>
        <p:nvSpPr>
          <p:cNvPr id="6" name="Text 3">
            <a:hlinkClick r:id="rId3" tooltip=""/>
          </p:cNvPr>
          <p:cNvSpPr/>
          <p:nvPr/>
        </p:nvSpPr>
        <p:spPr>
          <a:xfrm>
            <a:off x="1417320" y="300837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aka.ms/CoworkPlaybook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502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38953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挑一个最贴近你工作的场景开始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25696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437083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自定义技能放 OneDrive /Documents/Cowork/skills/ 下的 SKILL.md（最多 50 个、每个 1MB）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01184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4846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模型选择器：Auto（默认）、GPT 5.5 Frontier、GPT 5.6 Sol／Terra、GPT 6 Astra、Opus 5、Claude Sonnet 5、Claude Fable 5.1</a:t>
            </a:r>
            <a:endParaRPr lang="en-US" sz="14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376672"/>
            <a:ext cx="237744" cy="23774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532180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工作量级别：Light／Medium（默认）／High／Extra High／Max —— 越高越彻底，但更慢且消耗更多点数</a:t>
            </a:r>
            <a:endParaRPr lang="en-US" sz="14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852160"/>
            <a:ext cx="237744" cy="23774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5797296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想要自动触发？到「自动化」页设置计划提示（上限 25 个）或事件触发任务（收到邮件／被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从提问到交办，标准你决定，执行交给 Cowork。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 · 培训演示文稿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培训</dc:title>
  <dc:subject>PptxGenJS Presentation</dc:subject>
  <dc:creator>Andy Hung</dc:creator>
  <cp:lastModifiedBy>Andy Hung</cp:lastModifiedBy>
  <cp:revision>1</cp:revision>
  <dcterms:created xsi:type="dcterms:W3CDTF">2026-10-15T04:36:28Z</dcterms:created>
  <dcterms:modified xsi:type="dcterms:W3CDTF">2026-10-15T04:36:28Z</dcterms:modified>
</cp:coreProperties>
</file>